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slides on the data set (records, friction, noise, band), then the first results and the main issue. The last slide lists the decisions I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record shares one truth, one controller and one timing. Validation only selects the checkpoint; test records are never used for any choice. Stroke of the machine: X +-3.75×10⁻¹ m, Y +-4.0×10⁻¹ m, so there is room outside the training range for extrapolation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E and its I partner differ in one quantity, the change in error is attributable to that quantity. Honest caveat: I2 is held out as a standstill point, but training moves pass through its Y; the truly unseen positions are only |Y| &gt; 3.0×10⁻¹ m (E1, E2). TF records are only for the FRF check (result R3).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smooth: a set-valued stick law made the simulated stage stick-slip at standstill, which the machine does not do. How to read the figure: at g = 1000 the curve is flat (Coulomb) where the rails move under the multisine, at g = 100 it is still rising, so it acts as a viscous damper. At g = 1000 the stage still settles at standstill (6×10⁻¹¹ / 10⁻¹⁰ / 1.7×10⁻⁹ m); g = 3000 already creeps. ASMPT: higher is more accurate. Limit: below 10⁻³ m/s it is a steep damper, slope cc g about 1.7×10⁴ N s/m, not a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controller sees y = q + v, reacts to the noise and moves the plant, as on the machine; training reads the measured y. Inside the loop the recorded error is e = -S v, so the loop reshapes the noise; we inject v with spectrum Phi_meas / |S|^2. Below the loop bandwidth |S| is very small, so that correction would give a large slow encoder error that the controller would follow and physically move the stage; so below 50 Hz the measured spectrum is injected without correction. Cost: the simulated error there is 0.7 to 0.9 of the measured, under 1 % of the total variance. 50 Hz is a heuristic (noise design note CN-012), to confirm with Jasper. Check (what Jasper asked, shape): per band above 50 Hz the ratio simulated / measured is 0.97 to 1.03.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closed-loop FRF of the truth (with friction, so its BLA) with K1 at the five training Y, broadband 1 Hz to 1 kHz, 10 phase realisations; subtract the baseline FRF. Step 2: a difference counts where it exceeds the measurement spread (2.45 sigma, 95 %). Step 3: below the 106 Hz crossover the motion references already excite the differences (70 to 85 % resolved) and all ten parameter combinations are separable with the references alone. Step 4: 90 % is a choice; 80 % gives 111 to 276 Hz, 95 % gives 106 to 323 Hz. Above 297 Hz the difference falls off steeply (2.3×10⁻⁷ m/N at 250 Hz to about 3×10⁻⁹ m/N at 1 kHz). The same band serves the nominal and the 10 % detuned baseline. Multisine: 383 lines on a 0.5 Hz grid (repeats every 2 s), random phases, lowest crest factor of 30 draws, 240 N / 87 N m / 180 N, inside all force and position limits. Bridge: the largest difference sits at 230 to 297 Hz on Y, above the 212 Hz pole; that is where the model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= unconstrained augmentation, OBC = orthogonal projection. Numbers: best validation free-run rms error from the server logs of 30 September; the OBC runs were not finished. Key point: OBC with 0 added states (run 47) reaches the same level as OBC with 2 (run 41). Update from the server before the meeting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figure shows learned correction divided by the correction the truth needs, Y channel, on the multisine validation records; 1 is perfect. It is 1.0 at 150 Hz, 0.60 at 212, 0.26 at 264 and 0.42 at 296 Hz: a broad over-damped bump, not the sharp pole. Coherence is 0.98 to 1.00, so it is systematic, not noise. Same shape in runs 42, 44 and 48 (U and OBC, 2 and 4 states, two seeds), within 0.02 in gain. The band numbers are Y error energy removed, run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Ruled out, one line each in the backup: data, noise, friction, controller, weighting, too few epochs, capacity, seed, OBC, pipeline. With the static path switched off (local test) the added states learn the same static map with one sample delay; growing a resonance from there is still uphill. So whatever path learns first learns the memoryless part of the absorber, and from there the resonance is uphill. Side finding: the OBC reference set uses x_a = 0, so the projection constrains only the static part; to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2 refers to Hoekstra arXiv:2602.17297, Eq. 29: a ResNet form with a linear part, with the added states co-estimated in the encoder. Option 3: our learning rate is 10⁻⁵ against Hoekstra's 10⁻³. Option 4: report that the augmentation fits the absorber below the pole and that the added states stay static, with the error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Settling: show a fixed 2×10⁻¹ to 4×10⁻¹ s post-move interval, or leave it out. Jasper and Dragan for the ASMPT routes and the noise. Phase margin: 28.5 deg with K1, 25 deg with K2.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this list matches the 28 September agreement. R5 needs a separate truth that is not generated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Filtering the full position instead of the servo error would distort it by 5.5×10⁻⁸ to 1.7×10⁻⁷ m. The 1.6 kHz cut-off is above 5 x the 212 Hz absorber pole (rule of Janot et al. 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scripts/gantry/absorber-learning-diagnosis/DIAGNOSIS.md.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Figure: cumulative resolved difference weight over frequency; band shaded. 95 % is reached at 323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Calibri"/>
              </a:rPr>
              <a:t>Thesis data set, and why the absorber is not learned above its 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Model augmentation for a dual-gantry motion system  |  meeting 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Goal of this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Show the thesis data set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records, friction, measurement noise, excitation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017520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Discuss the main issue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the added states do not learn the absorber resonance; above the 212 Hz pole the augmented model is worse than it should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389120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Leave with decisions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on the questions of the last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Data sets: training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Training covers Y from -3.0×10⁻¹ to 3.0×10⁻¹ m; validation stays inside that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Every record: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same truth (FP baseline + payload absorber + tanh rail friction), controller K1 (designed at Y = 0), 12 s at 20 kHz, trained at 4 kHz, plus a noise-free twin.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Stroke: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X ±3.75×10⁻¹ m, Y ±4.0×10⁻¹ 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331720"/>
          <a:ext cx="11277292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273"/>
                <a:gridCol w="1815835"/>
                <a:gridCol w="2484827"/>
                <a:gridCol w="1815835"/>
                <a:gridCol w="3249390"/>
                <a:gridCol w="8601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Y covered [m]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X covered [m]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Motion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Multisine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5 standstill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-3.0×10⁻¹, -1.5×10⁻¹, 0, 1.5×10⁻¹, 3.0×10⁻¹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3 Y sweeps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-3.0×10⁻¹ to 3.0×10⁻¹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sine 0.2 / 0.5 / 0.75 Hz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 S-curve moves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-3.0×10⁻¹ to 3.0×10⁻¹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-2.8×10⁻¹ to 2.8×10⁻¹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point-to-point, 25 to 75 % of max acc.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 Lissajous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-3.0×10⁻¹ to 3.0×10⁻¹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-2.8×10⁻¹ to 2.8×10⁻¹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combined X and Y sines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4 ILC-shape routes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-3.0×10⁻¹ to 3.0×10⁻¹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-8.0×10⁻² to 8.0×10⁻²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measured ASMPT move shape, 45 and 75 % of max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 standstill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1.0×10⁻¹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sweep, S-curve, Lissajous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-2.5×10⁻¹ to 3.0×10⁻¹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-2.8×10⁻¹ to 2.8×10⁻¹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new centres and setpoints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 ILC-shape routes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-2.8×10⁻¹ to 2.8×10⁻¹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-8.0×10⁻² to 8.0×10⁻²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stops at Y no training route uses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Validation is only used to select the checkpoint.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Data sets: test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Each extrapolation record (E) differs from its interpolation partner (I) in exactly one quantity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7292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5279"/>
                <a:gridCol w="916853"/>
                <a:gridCol w="5501119"/>
                <a:gridCol w="2383818"/>
                <a:gridCol w="1100223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What is new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Y covered [m]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Multisine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S-curve moves as in training, new phases and setpoints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-3.0×10⁻¹ to 2.9×10⁻¹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standstill between two training points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-2.25×10⁻¹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I3, I4, I5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ASMPT routes: X and Y together, X-only / Y-only, S-curve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-1.7×10⁻¹ to 1.5×10⁻¹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long strokes at 1.5 m/s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-2.8×10⁻¹ to 2.8×10⁻¹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position beyond training (standstill)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-3.9×10⁻¹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position beyond training while moving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-3.3×10⁻¹ to 3.9×10⁻¹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acceleration 30 / 50 m/s² (training max 22.5 / 37.5)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as I5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velocity 1.95 m/s (training max 1.5)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as I6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controller gains +20 %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as I3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E6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I3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measured ILC move, X acceleration 1.31 × max (stress case)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as I3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TF-1 to TF-3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FRF check: standstill, 4 phase realisations each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1.5×10⁻¹, 2.25×10⁻¹, 3.5×10⁻¹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06440"/>
            <a:ext cx="1127729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56032" indent="-201168">
              <a:spcAft>
                <a:spcPts val="2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Truly unseen positions are only |Y| &gt; 3.0×10⁻¹ m (E1, E2): training moves pass through the Y of I2.</a:t>
            </a:r>
          </a:p>
          <a:p>
            <a:pPr algn="l" marL="256032" indent="-201168">
              <a:spcAft>
                <a:spcPts val="200"/>
              </a:spcAft>
              <a:buChar char="•"/>
            </a:pPr>
            <a:r>
              <a:rPr sz="1500" b="0" i="0">
                <a:solidFill>
                  <a:srgbClr val="595959"/>
                </a:solidFill>
                <a:latin typeface="Calibri"/>
              </a:rPr>
              <a:t>Test records are never used for any choice.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Friction in the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Rail friction is Coulomb, smoothed with tanh, and only in the truth (the baseline has none)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93776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Fᵢ = ccᵢ · tanh(g · vᵢ)  per rail X1, X2, Y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cc = 16.8 / 18.35 / 11.6 N (Garcia)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Why smooth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hard stick law made the simulation stick-slip at standstill; the machine does not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Why g = 1000 s/m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multisine moves the rails at 7×10⁻³ to 8×10⁻³ m/s rms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g = 100: still rising there, acts as a damper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g = 1000: flat (Coulomb) there, stage still settles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g = 3000: stage creeps at standstill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Limit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below 10⁻³ m/s it is a steep damper (≈ 1.7×10⁴ N s/m), not a stick</a:t>
            </a:r>
          </a:p>
        </p:txBody>
      </p:sp>
      <p:pic>
        <p:nvPicPr>
          <p:cNvPr id="5" name="Picture 4" descr="F3_friction_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335638"/>
            <a:ext cx="6217920" cy="33754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Measurement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Measured standstill noise is injected on the encoder, so the simulated servo error matches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7607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Where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controller sees y = q + v: it reacts to the noise and moves the stage, as on the machine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Source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standstill parts of 145 Telica logs, rms X1 9.8×10⁻⁹, X2 1.04×10⁻⁸, Y 6.3×10⁻⁹ m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Shape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the loop filters the noise (e = −S v), so inject Φₘₑₐₛ / |S|²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below 50 Hz: no correction, else the stage would follow a large slow encoder error</a:t>
            </a:r>
          </a:p>
          <a:p>
            <a:pPr algn="l" marL="512064" indent="-201168">
              <a:spcAft>
                <a:spcPts val="4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cost below 50 Hz: 0.7 to 0.9 of measured, &lt; 1 % of the variance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Check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above 50 Hz, simulated / measured = 0.97 to 1.03 per band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total rms within 1 % on all three axes</a:t>
            </a:r>
          </a:p>
        </p:txBody>
      </p:sp>
      <p:pic>
        <p:nvPicPr>
          <p:cNvPr id="5" name="Picture 4" descr="F1_noise_sh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55" y="1417320"/>
            <a:ext cx="497205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Choosing the multisine band from the FRF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The multisine (106 to 297 Hz) excites where truth and baseline differ, above the controller bandwidth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1. Measure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closed-loop FRF of the truth, K1, 5 training Y; subtract the baseline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2. Keep only real differences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larger than the measurement spread (2.45σ, 95 %)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3. Lower edge 106 Hz = controller crossover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below it the motion references already excite the differences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4. Upper edge 297 Hz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narrowest band holding 90 % of the remaining difference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Result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band holds the anti-resonance (150 Hz), the absorber pole (212 Hz) and the closed-loop peak (264 Hz)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largest difference: 230 to 297 Hz, above the pole</a:t>
            </a:r>
          </a:p>
        </p:txBody>
      </p:sp>
      <p:pic>
        <p:nvPicPr>
          <p:cNvPr id="5" name="Picture 4" descr="F2_frf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76" y="1417320"/>
            <a:ext cx="6158926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First results: runs 41 to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The augmentation lowers the validation error by 30 to 40 %, but the added states contribute little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749808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8980"/>
                <a:gridCol w="833120"/>
                <a:gridCol w="1353820"/>
                <a:gridCol w="728980"/>
                <a:gridCol w="1353820"/>
                <a:gridCol w="1353820"/>
                <a:gridCol w="11455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Added states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Start [m]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Best [m]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1.68×10⁻⁵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1.027×10⁻⁵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U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1.48×10⁻⁵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1.029×10⁻⁵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1.48×10⁻⁵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1.020×10⁻⁵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OBC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1.68×10⁻⁵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1.156×10⁻⁵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39 %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OBC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1.48×10⁻⁵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1.149×10⁻⁵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36 %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OBC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1.48×10⁻⁵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1.051×10⁻⁵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OBC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1.68×10⁻⁵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1.150×10⁻⁵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OBC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1.68×10⁻⁵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1.108×10⁻⁵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49 %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OBC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1.68×10⁻⁵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none yet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Calibri"/>
                        </a:rPr>
                        <a:t>3 %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554480"/>
            <a:ext cx="347472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Best validation free-run rms error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U = unconstrained, OBC = orthogonal projection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Run 47 has no added states, yet matches run 41 (2 states)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so the added states add almost nothing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Main issue: the absorber is not learned above its 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Below the 212 Hz pole the model removes about 90 % of the absorber error, above it only 22 %</a:t>
            </a:r>
          </a:p>
        </p:txBody>
      </p:sp>
      <p:pic>
        <p:nvPicPr>
          <p:cNvPr id="4" name="Picture 3" descr="F4_absorber_lear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55064"/>
            <a:ext cx="7680960" cy="40965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55448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Y error energy removed, run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05740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4E79"/>
                </a:solidFill>
                <a:latin typeface="Calibri"/>
              </a:rPr>
              <a:t>90 %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205740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106 to 140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0040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4E79"/>
                </a:solidFill>
                <a:latin typeface="Calibri"/>
              </a:rPr>
              <a:t>89 %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320040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140 to 230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34340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0392B"/>
                </a:solidFill>
                <a:latin typeface="Calibri"/>
              </a:rPr>
              <a:t>22 %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4343400"/>
            <a:ext cx="18288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230 to 297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Same shape in runs 42, 44, 48 (U and OBC, 2 and 4 states, two seeds): systematic.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What causes it (diagnosis, 30 September)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An optimisation problem: the model class and the objective both allow the resonance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4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3930"/>
                <a:gridCol w="834336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The added states realise no resonance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only fast real poles (|z| ≤ 0.6), no pair near 212 Hz, in any checkpoint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The model class can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an exact member with the 212 Hz pole has 7× lower training loss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The objective rewards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the truth scores 3.8× better on the windowed loss, even with its absorber state unknown at each window start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What blocks it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the learned static correction takes the absorber’s place first; a correct absorber on top gains 15 %, without the static part 94 %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Static path switched 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the added states learn the same static map, one sample delayed; the resonance is still uphill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57800"/>
            <a:ext cx="11277295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Whatever path learns first takes the memoryless part of the absorber; from there the resonance is uphill.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Ruled out: data, noise, friction, controller, weighting, epochs, capacity, seed, OBC, pipeline (backup).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Options (for discussion, nothing launched)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Four ways forward; the first alone is not enough according to the local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Two-phase training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static path off first; local test: not sufficient on its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34639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Hoekstra parameterisation (arXiv:2602.17297, Eq. 29)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ResNet form with a linear part, added states co-estimated in the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77639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Faster start-up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learning rate 10⁻⁵ now, against 10⁻³ in Hoekstra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731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1206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Accept and report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the augmentation fits the absorber below the pole; the added states stay static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Questions for the supervisors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Which option of the previous slide, or another idea from experience with added states?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Is a learned model without a resonance in its added states acceptable for the thesis, if the error is stated?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Noise: is the 50 Hz corner acceptable, and the 10 % tolerance? (Jasper)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Settling: show a fixed 2×10⁻¹ to 4×10⁻¹ s interval after each move, or leave it out?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Are the ASMPT routes I3 to I6 acceptable as ASMPT motion? (Jasper, Dragan)</a:t>
            </a:r>
          </a:p>
          <a:p>
            <a:pPr algn="l" marL="256032" indent="-201168">
              <a:spcAft>
                <a:spcPts val="1600"/>
              </a:spcAft>
              <a:buChar char="•"/>
            </a:pPr>
            <a:r>
              <a:rPr sz="2000" b="0" i="0">
                <a:solidFill>
                  <a:srgbClr val="1A1A1A"/>
                </a:solidFill>
                <a:latin typeface="Calibri"/>
              </a:rPr>
              <a:t>Is the Y-loop phase margin of 28.5° with K1 (25° with K2) acceptable?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Calibri"/>
              </a:rPr>
              <a:t>Backup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Backup: thesis results and the records they 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6853"/>
                <a:gridCol w="5867860"/>
                <a:gridCol w="4492581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does Y scheduling (LPV) beat a frozen LTI 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I2 with E1, I3 with E2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how many added states the absorber needs (0, 2, 8)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chosen on validation, reported on I1 to I6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does the trained model reproduce the plant FRF (BLA)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TF-1 to TF-3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does OBC keep the physical parameters interpretable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training (parameters), I1 to I6 (accuracy)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true parameter recovery with an orthogonal addition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needs a separate truth, not generated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generalisation against the black box and LTI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I / E pairs, cross-coupling on I4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controller transfer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E5 against I3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R8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training effort and robustness against the black box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Calibri"/>
                        </a:rPr>
                        <a:t>all runs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Backup: from 20 kHz data to 4 kHz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77295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4E79"/>
                </a:solidFill>
                <a:latin typeface="Calibri"/>
              </a:rPr>
              <a:t>Filter before downsampling, so the noise does not fold into the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Taking every 5th sample would fold the noise between 2 and 10 kHz into the band (+28 to 40 % rms)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So y is low-pass filtered first: 8th-order Butterworth at 1.6 kHz, forward and backward (no phase shift)</a:t>
            </a:r>
          </a:p>
          <a:p>
            <a:pPr algn="l" marL="512064" indent="-201168">
              <a:spcAft>
                <a:spcPts val="1000"/>
              </a:spcAft>
              <a:buChar char="–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applied to y − r (the servo error), then r is added back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Forces are averaged over each 4 kHz sample interval; 5×10⁻³ s is cut at both record ends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The same filtered positions feed everything: rollouts, normalisation, OBC basis velocities</a:t>
            </a:r>
          </a:p>
          <a:p>
            <a:pPr algn="l" marL="512064" indent="-201168">
              <a:spcAft>
                <a:spcPts val="1000"/>
              </a:spcAft>
              <a:buChar char="–"/>
            </a:pPr>
            <a:r>
              <a:rPr sz="1600" b="0" i="0">
                <a:solidFill>
                  <a:srgbClr val="1A1A1A"/>
                </a:solidFill>
                <a:latin typeface="Calibri"/>
              </a:rPr>
              <a:t>1.6 kHz &gt; 5 × the 212 Hz pole (Janot et al. 2019); basis angle to the noise-free basis: sin 1.9×10⁻³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Backup: causes ruled 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4" cy="5248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301"/>
                <a:gridCol w="1283594"/>
                <a:gridCol w="6876399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Candidate cause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Calibri"/>
                        </a:rPr>
                        <a:t>Deciding number</a:t>
                      </a:r>
                    </a:p>
                  </a:txBody>
                  <a:tcPr marL="54864" marR="54864" marT="27432" marB="27432" anchor="ctr">
                    <a:solidFill>
                      <a:srgbClr val="D9D9D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Too few epochs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curves flat in last quarter (run 42: 1.031×10⁻⁵ to 1.027×10⁻⁵ 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Nothing to learn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ceiling 1.42×10⁻⁵ m = 124 % of the no-added-state plateau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Band above the pole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supported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230 to 297 Hz: 2.52×10⁻⁵ to 2.23×10⁻⁵ m (22 %)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Friction masks absorber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friction / absorber signal 0.01 to 0.03 in 140 to 230 Hz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noise floor 5×10⁻⁸ to 1.2×10⁻⁷ m in band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Controller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absorber visibility 1.02×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Parameter substitution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tangent span 34 % (thesis) vs 65 % (old data)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OBC projection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OBC and U give the same response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Capacity (2 to 4 states)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|H| within 0.02 at 250 to 280 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run 44 within 0.02 of run 42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Closed-loop peak 264 Hz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|S_YY| smooth 1.28 to 1.56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Pipeline change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old checkpoint reproduced: 5.8588×10⁻⁶ m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Objective prefers damped shape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refuted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Calibri"/>
                        </a:rPr>
                        <a:t>training loss: truth 1.35×10⁻⁹ vs model 5.09×10⁻⁹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Backup: excitation adequacy and band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Multisine at least 67 dB above the noise-induced force in band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Motion references 36 to 51 dB below the crossover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800" b="0" i="0">
                <a:solidFill>
                  <a:srgbClr val="1A1A1A"/>
                </a:solidFill>
                <a:latin typeface="Calibri"/>
              </a:rPr>
              <a:t>All ten parameter combinations separable (Brun γ = 1.27)</a:t>
            </a:r>
          </a:p>
        </p:txBody>
      </p:sp>
      <p:pic>
        <p:nvPicPr>
          <p:cNvPr id="4" name="Picture 3" descr="fig12_band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7" y="292608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Backup: all FRF differences (3 × 3)</a:t>
            </a:r>
          </a:p>
        </p:txBody>
      </p:sp>
      <p:pic>
        <p:nvPicPr>
          <p:cNvPr id="3" name="Picture 2" descr="fig11_differences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393" y="1097280"/>
            <a:ext cx="5818909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