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Dirk, graduation project ASMPT, TU/e Control Systems • physics model + neural network = model augmentation • augmentation → accuracy (easy part) • interpretable → parameters keep their meaning (hard part) • route: why a model → machine + physics model → augmentation + results → interpretability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ASMPT: equipment that assembles and packages chips • [click] inside: motion systems, fast and precise • precision → you need to understand the dynamics → models • [click] my project: one such system, a dual gantry • (photo: point at the gantry)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would ASMPT want a model of the machine? Because with an accurate model, engineers can try changes without the real machine. A new controller is one example: test it on the model before it runs on the machine. [click] A second use is health monitoring. If the model's parameters are physical, masses, stiffnesses and dampings, then a change in those parameters over time says something about the machine, for example wear. Both need an accurate model, and the second one also needs parameters that mean what they say. That comes back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roughly three ways to get such a model. A white box model comes from physics: its parameters are masses, stiffnesses and dampings, but it misses whatever nobody put in it. [click] A black box model learns everything from data. It captures what the data show, but its parameters have no physical meaning, and it usually needs more data. [click] A grey box model keeps the physics model and adds a network for what the physics misses. That is what I do; adding a network to a physics model this way is called model augmentation.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goal has two parts. Accurate: the augmented model should capture the dynamics the physics model misses. [click] Interpretable: the physical parameters in the model should still mean mass, stiffness and damping, also when we train them together with the network. The first part is the method and results in the first half of the talk; the second part is the second half.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machine. Two parallel linear drives, X1 and X2, carry a cross-arm. Because the two drives can move slightly differently, the cross-arm can rotate a little: that is the yaw angle Theta, resisted by the flexible joints. A third drive moves the payload along the cross-arm, in Y. So the physics model has three coordinates: X, Theta and 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baseline physics model, from Garcia-Herreros and colleagues. The three coordinates X, Theta and Y from the previous slide are collected in q; with positions and velocities that gives six states. [click] M of Y is the inertia; it depends on where the payload is, because moving the payload moves mass along the cross-arm. C is the damping in the drives and the flexible joints. K is the stiffness, only in the joints, against yaw. u are the three motor forces. [click] The physical parameters are the masses, dampings and stiffnesses. From input and output data we cannot identify each of them separately, but we can identify ten combinations, for example only the sum of the two joint stiffnesses. These ten, theta, are the physical parameters I mean for the rest of the talk, and they are what should keep their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test the method where we know the truth, I use a simulated machine. [click] It has one thing the physics model does not have: half of the 10.1 kilogram payload hangs on a spring and damper, the grey part. [click] That gives a resonance at 212 hertz. [click] The physics model has six states, the simulated machine eight. So the augmentation has to find two missing states, from input and output data only. This is what we want the network to capture.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14 training records and 4 held-out records that are never used for training, each 12 seconds at 4 kilohertz. The excitation covers 140 to 230 hertz, so it covers the hidden resonance. The data are noiseless for now, and recorded with the controller in the loop, because the machine always runs under feedback: in X and Y there is no spring to the ground, so without a controller it would drift.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method. We work in discrete time. At sample k the physical state x tilde holds the three positions and three velocities. [click] The physics model, f base, takes that state and the motor forces u k, [click] and predicts the state one sample later. Repeating this step gives a simulation.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Augmentation adds a neural network, phi aug. [click] It sees the same state and the same input u k, and its output is added as a correction to the physics model's next state. At the start of training this correction is zero, so we start exactly at the physics model. [click] A correction of the physical state alone cannot represent dynamics that need extra states, like the hidden resonance. So the network also gets states of its own, x bar, the learned states, which it updates every step. That is how the model can grow from six to more states.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simulate, we need a starting state. [click] But only positions are measured: velocities are not, and the learned states are not measured at all, they have no physical meaning. [click] So an encoder, psi, estimates the start state, physical and learned, from a short window of recorded inputs and outputs before the start. The encoder is trained together with the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same pieces in one diagram. The physics model steps the state forward, the output map gives the positions, and the delay feeds the next state back as the current state. [click] The network adds its correction to the physical state update. [click] The learned states run in their own loop through the network. [click] And the encoder gives the initial state of both. Everything is trained end to end on simulated trajectories of the training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Does it work? We validate in closed loop, with the known controller, as the machine runs; the details are in the backup. The criterion: on the held-out records, the augmented model must have a lower error than the physics model, on every record. The figure shows one held-out record, the payload axis, where the resonance acts: physics model in orange, augmented model in blue, and a 40 millisecond zoom on the right. [click] Over all four held-out records and three positions, the error drops from 2.06 times ten to the minus five metres to 5.77 times ten to the minus six: 3.6 times lower. [click] And it is lower on every record, so the criterion is met. If we switch off the update of the learned states, the error goes back up to 1.17 times ten to the minus five, so a large part of the gain comes from the learned dynamics.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large must the learned block be? Eight learned states against two, which is exactly the number of states the physics model misses. Both start at the physics model and end close together: 5.95 against 5.77 times ten to the minus six metres. [click] The large block has 2.7 times the weights and is only 3 % better, so block size is not what limits the accuracy here. One training run each, so 3 % is within what another run could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model is accurate. But up to now the physical parameters were fixed at their true values, which in practice we do not know. [click] So what happens if we train the physical parameters together with the network? This is where interpretability comes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augmented update again, now with the physical parameters theta shown, and both trained on the same data. [click] A change of a parameter shifts the next state in a certain way. The network can produce exactly the same shift. From the data alone, the two cannot be told apart. [click] So the network can take over part of the job of the parameters, or cancel an error in them. The fit is still good, but the parameters no longer mean mass, stiffness and damping. We call this negation. For health monitoring that is exactly what we cannot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goal is to keep them separate: the network's direct correction should only do what no parameter change can do. [click] We do that with a projection between the network and the state update. The network gives its output F; the projection removes the part a parameter change could also produce; what is left, the correction Delta, is what goes into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a picture. The orange plane stands for everything a change of the physical parameters can do to the next state; in reality it has ten directions, one per parameter combination, and it is built on the training data. [click] The network output F is the blue arrow. [click] The part of F that lies in the plane, a parameter change could also have done: that part is removed. [click] What is kept, Delta, is at a right angle to the plane. So the network's direct correction to the physical states is kept out of the parameter directions on the training data. The directions are rebuilt every epoch, and the projection is fitted every update, so it is part of the model, not a weight to tune. If asked: this holds per time step; on a full simulated trajectory the effects of earlier steps and the learned states are not projected.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measure the overlap rho: the share of the correction that a parameter change could reproduce, zero meaning none. Without projection it is 0.87: most of what the network does, the parameters could have done. With projection, on the training records, it is 8.3 times ten to the minus eight, removed, as expected, because that is where the projection is built. On held-out records it drops from 0.87 to 0.33: the projection is built on the training data, so on new trajectories part of the overlap returns. If asked: the raw network output of the projected run still has an overlap of 0.92; it is the projection that removes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runs train the network and all ten parameters together, starting with every parameter 10 % off. Left, the fit: both end at the same error, 5.86 and 5.89 times ten to the minus six metres, so the projection costs no accuracy. Right, the parameter error: both improve from 9.5 %, but neither gets close to zero; with projection 7.7 %, without 7.2 %. [click] So keeping the network's direct correction out of the parameter directions is not enough to bring the parameters back. A likely reason, if asked: the projection works per time step on the physical states, while the parameters are judged on full simulated trajectories, where the learned states and earlier corrections still interact with them. That is the open problem for the rest of the thesis.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Augmenting the physics model with a network and learned states cuts the closed-loop error on held-out data 3.6 times, and a small block nearly suffices. [click] The projection keeps the network's direct correction out of the parameter directions on the training data, without losing accuracy. [click] But the physical parameters are not yet recovered, so interpretability is only partly solved. [click] Next are measurement noise and friction, and a comparison against a black box model on the same data. All results here are noiseless simulation without friction, one training run per setting, with an earlier version of the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I am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slides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closed loop? X and Y have no stiffness to the ground, so in an open-loop simulation any small force error integrates twice into a growing position error. The machine always runs under feedback, so we validate the same way: the model gets the recorded input plus the known controller's response to the difference between the recorded output and the model output. The model state is never reset to the data. The augmented model drifts in a long open-loop simulation, which is a real limitation for open-loop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directions are the derivative of the one-step update of the six physical states with respect to the ten parameter combinations, evaluated on the recorded training samples, 671 944 of them, with the learned states set to zero. The projection subtracts from the network's direct correction to the physical states its part in those directions. The coefficients are fitted every optimizer update, and the directions are rebuilt every epoch. On held-out data the training coefficients are reused, which is why the overlap there is 0.33 and not zero. Rho is the norm of the part in the parameter directions over the norm of the correction. The reference value rho star is 0.20.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ten parameter combinations. The total mass, yaw inertia and payload drive damping move towards the truth in both runs. The joint damping does not move at all. Without projection one drive damping drifts to 17 %; with projection the joint stiffness and the payload offset drift to about 15 %. So the projection redistributes the error over the parameters rather than removing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settings, if needed. The block-size comparison and the projection comparison are separate pairs of runs; within each pair only the listed settings differ.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the projection sits in the full model. It acts on the network's direct correction to the physical states, inside one state update. The update of the learned states is not projected, and neither are the effects that build up over a simulated trajectory. So the separation holds per time step on the training data, not for a whole trajectory. That is one likely reason the parameters are not recovered.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1.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slideLayout" Target="../slideLayouts/slideLayout1.xml"/><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e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EE8E8"/>
        </a:solidFill>
      </p:bgPr>
    </p:bg>
    <p:spTree>
      <p:nvGrpSpPr>
        <p:cNvPr id="1" name=""/>
        <p:cNvGrpSpPr/>
        <p:nvPr/>
      </p:nvGrpSpPr>
      <p:grpSpPr>
        <a:xfrm>
          <a:off x="0" y="0"/>
          <a:ext cx="0" cy="0"/>
          <a:chOff x="0" y="0"/>
          <a:chExt cx="0" cy="0"/>
        </a:xfrm>
      </p:grpSpPr>
      <p:pic>
        <p:nvPicPr>
          <p:cNvPr id="2" name="Image 0" descr="TU/e campus at dusk">    </p:cNvPr>
          <p:cNvPicPr>
            <a:picLocks noChangeAspect="1"/>
          </p:cNvPicPr>
          <p:nvPr/>
        </p:nvPicPr>
        <p:blipFill>
          <a:blip r:embed="rId1"/>
          <a:srcRect l="0" r="0" t="5615" b="5615"/>
          <a:stretch/>
        </p:blipFill>
        <p:spPr>
          <a:xfrm>
            <a:off x="0" y="0"/>
            <a:ext cx="12192000" cy="6089650"/>
          </a:xfrm>
          <a:prstGeom prst="rect">
            <a:avLst/>
          </a:prstGeom>
        </p:spPr>
      </p:pic>
      <p:sp>
        <p:nvSpPr>
          <p:cNvPr id="3" name="Shape 0"/>
          <p:cNvSpPr/>
          <p:nvPr/>
        </p:nvSpPr>
        <p:spPr>
          <a:xfrm>
            <a:off x="0" y="0"/>
            <a:ext cx="12192000" cy="6089650"/>
          </a:xfrm>
          <a:prstGeom prst="rect">
            <a:avLst/>
          </a:prstGeom>
          <a:solidFill>
            <a:srgbClr val="000000">
              <a:alpha val="18000"/>
            </a:srgbClr>
          </a:solidFill>
          <a:ln/>
        </p:spPr>
      </p:sp>
      <p:sp>
        <p:nvSpPr>
          <p:cNvPr id="4" name="Shape 1"/>
          <p:cNvSpPr/>
          <p:nvPr/>
        </p:nvSpPr>
        <p:spPr>
          <a:xfrm>
            <a:off x="0" y="1460500"/>
            <a:ext cx="12192000" cy="2571750"/>
          </a:xfrm>
          <a:prstGeom prst="rect">
            <a:avLst/>
          </a:prstGeom>
          <a:solidFill>
            <a:srgbClr val="C81919">
              <a:alpha val="92000"/>
            </a:srgbClr>
          </a:solidFill>
          <a:ln/>
        </p:spPr>
      </p:sp>
      <p:sp>
        <p:nvSpPr>
          <p:cNvPr id="5" name="Text 2"/>
          <p:cNvSpPr/>
          <p:nvPr/>
        </p:nvSpPr>
        <p:spPr>
          <a:xfrm>
            <a:off x="1009650" y="1841500"/>
            <a:ext cx="10477881" cy="1012825"/>
          </a:xfrm>
          <a:prstGeom prst="rect">
            <a:avLst/>
          </a:prstGeom>
          <a:noFill/>
          <a:ln/>
        </p:spPr>
        <p:txBody>
          <a:bodyPr wrap="square" lIns="0" tIns="0" rIns="0" bIns="0" rtlCol="0" anchor="t">
            <a:normAutofit/>
          </a:bodyPr>
          <a:lstStyle/>
          <a:p>
            <a:pPr algn="l" indent="0" marL="0">
              <a:lnSpc>
                <a:spcPts val="3888"/>
              </a:lnSpc>
              <a:buNone/>
            </a:pPr>
            <a:r>
              <a:rPr lang="en-US" sz="3600" b="1" dirty="0">
                <a:solidFill>
                  <a:srgbClr val="FFFFFF"/>
                </a:solidFill>
                <a:latin typeface="Carlito" pitchFamily="34" charset="0"/>
                <a:ea typeface="Carlito" pitchFamily="34" charset="-122"/>
                <a:cs typeface="Carlito" pitchFamily="34" charset="-120"/>
              </a:rPr>
              <a:t>Interpretable Model Augmentation for a</a:t>
            </a:r>
            <a:endParaRPr lang="en-US" sz="3600" dirty="0"/>
          </a:p>
          <a:p>
            <a:pPr algn="l" indent="0" marL="0">
              <a:lnSpc>
                <a:spcPts val="3888"/>
              </a:lnSpc>
              <a:buNone/>
            </a:pPr>
            <a:r>
              <a:rPr lang="en-US" sz="3600" b="1" dirty="0">
                <a:solidFill>
                  <a:srgbClr val="FFFFFF"/>
                </a:solidFill>
                <a:latin typeface="Carlito" pitchFamily="34" charset="0"/>
                <a:ea typeface="Carlito" pitchFamily="34" charset="-122"/>
                <a:cs typeface="Carlito" pitchFamily="34" charset="-120"/>
              </a:rPr>
              <a:t>High-Precision Dual-Gantry Motion System</a:t>
            </a:r>
            <a:endParaRPr lang="en-US" sz="3600" dirty="0"/>
          </a:p>
        </p:txBody>
      </p:sp>
      <p:sp>
        <p:nvSpPr>
          <p:cNvPr id="6" name="Text 3"/>
          <p:cNvSpPr/>
          <p:nvPr/>
        </p:nvSpPr>
        <p:spPr>
          <a:xfrm>
            <a:off x="1009650" y="2994025"/>
            <a:ext cx="10477881" cy="295275"/>
          </a:xfrm>
          <a:prstGeom prst="rect">
            <a:avLst/>
          </a:prstGeom>
          <a:noFill/>
          <a:ln/>
        </p:spPr>
        <p:txBody>
          <a:bodyPr wrap="square" lIns="0" tIns="0" rIns="0" bIns="0" rtlCol="0" anchor="t">
            <a:normAutofit/>
          </a:bodyPr>
          <a:lstStyle/>
          <a:p>
            <a:pPr algn="l" indent="0" marL="0">
              <a:lnSpc>
                <a:spcPts val="2125"/>
              </a:lnSpc>
              <a:buNone/>
            </a:pPr>
            <a:r>
              <a:rPr lang="en-US" sz="1700" dirty="0">
                <a:solidFill>
                  <a:srgbClr val="FFFFFF"/>
                </a:solidFill>
                <a:latin typeface="Carlito" pitchFamily="34" charset="0"/>
                <a:ea typeface="Carlito" pitchFamily="34" charset="-122"/>
                <a:cs typeface="Carlito" pitchFamily="34" charset="-120"/>
              </a:rPr>
              <a:t>Dirk van den Berg | MSc thesis, TU/e Control Systems, with ASMPT</a:t>
            </a:r>
            <a:endParaRPr lang="en-US" sz="1700" dirty="0"/>
          </a:p>
        </p:txBody>
      </p:sp>
      <p:sp>
        <p:nvSpPr>
          <p:cNvPr id="7" name="Text 4"/>
          <p:cNvSpPr/>
          <p:nvPr/>
        </p:nvSpPr>
        <p:spPr>
          <a:xfrm>
            <a:off x="1009650" y="3429000"/>
            <a:ext cx="10477881" cy="247650"/>
          </a:xfrm>
          <a:prstGeom prst="rect">
            <a:avLst/>
          </a:prstGeom>
          <a:noFill/>
          <a:ln/>
        </p:spPr>
        <p:txBody>
          <a:bodyPr wrap="square" lIns="0" tIns="0" rIns="0" bIns="0" rtlCol="0" anchor="t">
            <a:normAutofit/>
          </a:bodyPr>
          <a:lstStyle/>
          <a:p>
            <a:pPr algn="l" indent="0" marL="0">
              <a:lnSpc>
                <a:spcPts val="1750"/>
              </a:lnSpc>
              <a:buNone/>
            </a:pPr>
            <a:r>
              <a:rPr lang="en-US" sz="1400" dirty="0">
                <a:solidFill>
                  <a:srgbClr val="FFFFFF"/>
                </a:solidFill>
                <a:latin typeface="Carlito" pitchFamily="34" charset="0"/>
                <a:ea typeface="Carlito" pitchFamily="34" charset="-122"/>
                <a:cs typeface="Carlito" pitchFamily="34" charset="-120"/>
              </a:rPr>
              <a:t>Supervisors: M. Schoukens, R. Tóth, J. Hoekstra</a:t>
            </a:r>
            <a:endParaRPr lang="en-US" sz="1400" dirty="0"/>
          </a:p>
        </p:txBody>
      </p:sp>
      <p:sp>
        <p:nvSpPr>
          <p:cNvPr id="8" name="Shape 5"/>
          <p:cNvSpPr/>
          <p:nvPr/>
        </p:nvSpPr>
        <p:spPr>
          <a:xfrm>
            <a:off x="0" y="6089650"/>
            <a:ext cx="12192000" cy="768350"/>
          </a:xfrm>
          <a:prstGeom prst="rect">
            <a:avLst/>
          </a:prstGeom>
          <a:solidFill>
            <a:srgbClr val="FFFFFF"/>
          </a:solidFill>
          <a:ln/>
        </p:spPr>
      </p:sp>
      <p:pic>
        <p:nvPicPr>
          <p:cNvPr id="9" name="Image 1" descr="TU/e Eindhoven University of Technology logo">    </p:cNvPr>
          <p:cNvPicPr>
            <a:picLocks noChangeAspect="1"/>
          </p:cNvPicPr>
          <p:nvPr/>
        </p:nvPicPr>
        <p:blipFill>
          <a:blip r:embed="rId2"/>
          <a:srcRect l="0" r="0" t="-67" b="-67"/>
          <a:stretch/>
        </p:blipFill>
        <p:spPr>
          <a:xfrm>
            <a:off x="9791700" y="6089650"/>
            <a:ext cx="2400300" cy="7683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EE8E8"/>
        </a:solidFill>
      </p:bgPr>
    </p:bg>
    <p:spTree>
      <p:nvGrpSpPr>
        <p:cNvPr id="1" name=""/>
        <p:cNvGrpSpPr/>
        <p:nvPr/>
      </p:nvGrpSpPr>
      <p:grpSpPr>
        <a:xfrm>
          <a:off x="0" y="0"/>
          <a:ext cx="0" cy="0"/>
          <a:chOff x="0" y="0"/>
          <a:chExt cx="0" cy="0"/>
        </a:xfrm>
      </p:grpSpPr>
      <p:sp>
        <p:nvSpPr>
          <p:cNvPr id="2" name="Shape 0"/>
          <p:cNvSpPr/>
          <p:nvPr/>
        </p:nvSpPr>
        <p:spPr>
          <a:xfrm>
            <a:off x="0" y="6089650"/>
            <a:ext cx="12192000" cy="768350"/>
          </a:xfrm>
          <a:prstGeom prst="rect">
            <a:avLst/>
          </a:prstGeom>
          <a:solidFill>
            <a:srgbClr val="FFFFFF"/>
          </a:solidFill>
          <a:ln/>
        </p:spPr>
      </p:sp>
      <p:sp>
        <p:nvSpPr>
          <p:cNvPr id="3" name="Text 1"/>
          <p:cNvSpPr/>
          <p:nvPr/>
        </p:nvSpPr>
        <p:spPr>
          <a:xfrm>
            <a:off x="406400" y="6369050"/>
            <a:ext cx="812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Carlito" pitchFamily="34" charset="0"/>
                <a:ea typeface="Carlito" pitchFamily="34" charset="-122"/>
                <a:cs typeface="Carlito" pitchFamily="34" charset="-120"/>
              </a:rPr>
              <a:t>2</a:t>
            </a:r>
            <a:endParaRPr lang="en-US" sz="1200" dirty="0"/>
          </a:p>
        </p:txBody>
      </p:sp>
      <p:sp>
        <p:nvSpPr>
          <p:cNvPr id="4" name="Text 2"/>
          <p:cNvSpPr/>
          <p:nvPr/>
        </p:nvSpPr>
        <p:spPr>
          <a:xfrm>
            <a:off x="1485900" y="6369050"/>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Carlito" pitchFamily="34" charset="0"/>
                <a:ea typeface="Carlito" pitchFamily="34" charset="-122"/>
                <a:cs typeface="Carlito" pitchFamily="34" charset="-120"/>
              </a:rPr>
              <a:t>Interpretable model augmentation | Dirk van den Berg</a:t>
            </a:r>
            <a:endParaRPr lang="en-US" sz="1200" dirty="0"/>
          </a:p>
        </p:txBody>
      </p:sp>
      <p:pic>
        <p:nvPicPr>
          <p:cNvPr id="5" name="Image 0" descr="TU/e logo">    </p:cNvPr>
          <p:cNvPicPr>
            <a:picLocks noChangeAspect="1"/>
          </p:cNvPicPr>
          <p:nvPr/>
        </p:nvPicPr>
        <p:blipFill>
          <a:blip r:embed="rId1"/>
          <a:srcRect l="0" r="0" t="-37" b="-37"/>
          <a:stretch/>
        </p:blipFill>
        <p:spPr>
          <a:xfrm>
            <a:off x="10877550" y="6089650"/>
            <a:ext cx="1314450" cy="768350"/>
          </a:xfrm>
          <a:prstGeom prst="rect">
            <a:avLst/>
          </a:prstGeom>
        </p:spPr>
      </p:pic>
      <p:sp>
        <p:nvSpPr>
          <p:cNvPr id="6" name="Text 3"/>
          <p:cNvSpPr/>
          <p:nvPr/>
        </p:nvSpPr>
        <p:spPr>
          <a:xfrm>
            <a:off x="1009650" y="609600"/>
            <a:ext cx="10575989" cy="388620"/>
          </a:xfrm>
          <a:prstGeom prst="rect">
            <a:avLst/>
          </a:prstGeom>
          <a:noFill/>
          <a:ln/>
        </p:spPr>
        <p:txBody>
          <a:bodyPr wrap="square" lIns="0" tIns="0" rIns="0" bIns="0" rtlCol="0" anchor="t">
            <a:normAutofit/>
          </a:bodyPr>
          <a:lstStyle/>
          <a:p>
            <a:pPr algn="l" indent="0" marL="0">
              <a:lnSpc>
                <a:spcPts val="2860"/>
              </a:lnSpc>
              <a:buNone/>
            </a:pPr>
            <a:r>
              <a:rPr lang="en-US" sz="2600" b="1" dirty="0">
                <a:solidFill>
                  <a:srgbClr val="111111"/>
                </a:solidFill>
                <a:latin typeface="Carlito" pitchFamily="34" charset="0"/>
                <a:ea typeface="Carlito" pitchFamily="34" charset="-122"/>
                <a:cs typeface="Carlito" pitchFamily="34" charset="-120"/>
              </a:rPr>
              <a:t>ASMPT builds the machines that assemble chips</a:t>
            </a:r>
            <a:endParaRPr lang="en-US" sz="2600" dirty="0"/>
          </a:p>
        </p:txBody>
      </p:sp>
      <p:sp>
        <p:nvSpPr>
          <p:cNvPr id="7" name="Shape 4"/>
          <p:cNvSpPr/>
          <p:nvPr/>
        </p:nvSpPr>
        <p:spPr>
          <a:xfrm>
            <a:off x="1022350" y="1314450"/>
            <a:ext cx="5435600" cy="4038600"/>
          </a:xfrm>
          <a:prstGeom prst="roundRect">
            <a:avLst>
              <a:gd name="adj" fmla="val 1572"/>
            </a:avLst>
          </a:prstGeom>
          <a:solidFill>
            <a:srgbClr val="FFFFFF"/>
          </a:solidFill>
          <a:ln w="25400">
            <a:solidFill>
              <a:srgbClr val="9E9EB1"/>
            </a:solidFill>
            <a:prstDash val="dash"/>
          </a:ln>
        </p:spPr>
      </p:sp>
      <p:sp>
        <p:nvSpPr>
          <p:cNvPr id="8" name="Text 5"/>
          <p:cNvSpPr/>
          <p:nvPr/>
        </p:nvSpPr>
        <p:spPr>
          <a:xfrm>
            <a:off x="2892108" y="2894330"/>
            <a:ext cx="1696006" cy="327660"/>
          </a:xfrm>
          <a:prstGeom prst="rect">
            <a:avLst/>
          </a:prstGeom>
          <a:noFill/>
          <a:ln/>
        </p:spPr>
        <p:txBody>
          <a:bodyPr wrap="square" lIns="0" tIns="0" rIns="0" bIns="0" rtlCol="0" anchor="t">
            <a:normAutofit/>
          </a:bodyPr>
          <a:lstStyle/>
          <a:p>
            <a:pPr algn="ctr" indent="0" marL="0">
              <a:lnSpc>
                <a:spcPts val="2380"/>
              </a:lnSpc>
              <a:buNone/>
            </a:pPr>
            <a:r>
              <a:rPr lang="en-US" sz="1700" b="1" dirty="0">
                <a:solidFill>
                  <a:srgbClr val="9E9EB1"/>
                </a:solidFill>
                <a:latin typeface="Carlito" pitchFamily="34" charset="0"/>
                <a:ea typeface="Carlito" pitchFamily="34" charset="-122"/>
                <a:cs typeface="Carlito" pitchFamily="34" charset="-120"/>
              </a:rPr>
              <a:t>Photo placeholder</a:t>
            </a:r>
            <a:endParaRPr lang="en-US" sz="1700" dirty="0"/>
          </a:p>
        </p:txBody>
      </p:sp>
      <p:sp>
        <p:nvSpPr>
          <p:cNvPr id="9" name="Text 6"/>
          <p:cNvSpPr/>
          <p:nvPr/>
        </p:nvSpPr>
        <p:spPr>
          <a:xfrm>
            <a:off x="1267841" y="3310890"/>
            <a:ext cx="4944618" cy="487680"/>
          </a:xfrm>
          <a:prstGeom prst="rect">
            <a:avLst/>
          </a:prstGeom>
          <a:noFill/>
          <a:ln/>
        </p:spPr>
        <p:txBody>
          <a:bodyPr wrap="square" lIns="0" tIns="0" rIns="0" bIns="0" rtlCol="0" anchor="t">
            <a:normAutofit/>
          </a:bodyPr>
          <a:lstStyle/>
          <a:p>
            <a:pPr algn="ctr" indent="0" marL="0">
              <a:lnSpc>
                <a:spcPts val="1820"/>
              </a:lnSpc>
              <a:buNone/>
            </a:pPr>
            <a:r>
              <a:rPr lang="en-US" sz="1400" dirty="0">
                <a:solidFill>
                  <a:srgbClr val="6B6B6B"/>
                </a:solidFill>
                <a:latin typeface="Carlito" pitchFamily="34" charset="0"/>
                <a:ea typeface="Carlito" pitchFamily="34" charset="-122"/>
                <a:cs typeface="Carlito" pitchFamily="34" charset="-120"/>
              </a:rPr>
              <a:t>An ASMPT assembly machine, ideally with its gantry visible (for example an ASMPT press image)</a:t>
            </a:r>
            <a:endParaRPr lang="en-US" sz="1400" dirty="0"/>
          </a:p>
        </p:txBody>
      </p:sp>
      <p:sp>
        <p:nvSpPr>
          <p:cNvPr id="10" name="Text 7"/>
          <p:cNvSpPr/>
          <p:nvPr/>
        </p:nvSpPr>
        <p:spPr>
          <a:xfrm>
            <a:off x="6985000" y="1587500"/>
            <a:ext cx="4316730" cy="256540"/>
          </a:xfrm>
          <a:prstGeom prst="rect">
            <a:avLst/>
          </a:prstGeom>
          <a:noFill/>
          <a:ln/>
        </p:spPr>
        <p:txBody>
          <a:bodyPr wrap="square" lIns="0" tIns="0" rIns="0" bIns="0" rtlCol="0" anchor="t">
            <a:normAutofit/>
          </a:bodyPr>
          <a:lstStyle/>
          <a:p>
            <a:pPr algn="l" indent="0" marL="0">
              <a:lnSpc>
                <a:spcPts val="1820"/>
              </a:lnSpc>
              <a:buNone/>
            </a:pPr>
            <a:r>
              <a:rPr lang="en-US" sz="1300" b="1" spc="50" kern="0" dirty="0">
                <a:solidFill>
                  <a:srgbClr val="C81919"/>
                </a:solidFill>
                <a:latin typeface="Carlito" pitchFamily="34" charset="0"/>
                <a:ea typeface="Carlito" pitchFamily="34" charset="-122"/>
                <a:cs typeface="Carlito" pitchFamily="34" charset="-120"/>
              </a:rPr>
              <a:t>ASMPT</a:t>
            </a:r>
            <a:endParaRPr lang="en-US" sz="1300" dirty="0"/>
          </a:p>
        </p:txBody>
      </p:sp>
      <p:sp>
        <p:nvSpPr>
          <p:cNvPr id="11" name="Text 8"/>
          <p:cNvSpPr/>
          <p:nvPr/>
        </p:nvSpPr>
        <p:spPr>
          <a:xfrm>
            <a:off x="6985000" y="1869440"/>
            <a:ext cx="4316730" cy="604520"/>
          </a:xfrm>
          <a:prstGeom prst="rect">
            <a:avLst/>
          </a:prstGeom>
          <a:noFill/>
          <a:ln/>
        </p:spPr>
        <p:txBody>
          <a:bodyPr wrap="square" lIns="0" tIns="0" rIns="0" bIns="0" rtlCol="0" anchor="t">
            <a:normAutofit/>
          </a:bodyPr>
          <a:lstStyle/>
          <a:p>
            <a:pPr algn="l" indent="0" marL="0">
              <a:lnSpc>
                <a:spcPts val="2280"/>
              </a:lnSpc>
              <a:buNone/>
            </a:pPr>
            <a:r>
              <a:rPr lang="en-US" sz="1900" dirty="0">
                <a:solidFill>
                  <a:srgbClr val="111111"/>
                </a:solidFill>
                <a:latin typeface="Carlito" pitchFamily="34" charset="0"/>
                <a:ea typeface="Carlito" pitchFamily="34" charset="-122"/>
                <a:cs typeface="Carlito" pitchFamily="34" charset="-120"/>
              </a:rPr>
              <a:t>semiconductor assembly and packaging equipment</a:t>
            </a:r>
            <a:endParaRPr lang="en-US" sz="1900" dirty="0"/>
          </a:p>
        </p:txBody>
      </p:sp>
      <p:sp>
        <p:nvSpPr>
          <p:cNvPr id="12" name="Text 9"/>
          <p:cNvSpPr/>
          <p:nvPr/>
        </p:nvSpPr>
        <p:spPr>
          <a:xfrm>
            <a:off x="6985000" y="2857500"/>
            <a:ext cx="4316730" cy="256540"/>
          </a:xfrm>
          <a:prstGeom prst="rect">
            <a:avLst/>
          </a:prstGeom>
          <a:noFill/>
          <a:ln/>
        </p:spPr>
        <p:txBody>
          <a:bodyPr wrap="square" lIns="0" tIns="0" rIns="0" bIns="0" rtlCol="0" anchor="t">
            <a:normAutofit/>
          </a:bodyPr>
          <a:lstStyle/>
          <a:p>
            <a:pPr algn="l" indent="0" marL="0">
              <a:lnSpc>
                <a:spcPts val="1820"/>
              </a:lnSpc>
              <a:buNone/>
            </a:pPr>
            <a:r>
              <a:rPr lang="en-US" sz="1300" b="1" spc="50" kern="0" dirty="0">
                <a:solidFill>
                  <a:srgbClr val="C81919"/>
                </a:solidFill>
                <a:latin typeface="Carlito" pitchFamily="34" charset="0"/>
                <a:ea typeface="Carlito" pitchFamily="34" charset="-122"/>
                <a:cs typeface="Carlito" pitchFamily="34" charset="-120"/>
              </a:rPr>
              <a:t>INSIDE</a:t>
            </a:r>
            <a:endParaRPr lang="en-US" sz="1300" dirty="0"/>
          </a:p>
        </p:txBody>
      </p:sp>
      <p:sp>
        <p:nvSpPr>
          <p:cNvPr id="13" name="Text 10"/>
          <p:cNvSpPr/>
          <p:nvPr/>
        </p:nvSpPr>
        <p:spPr>
          <a:xfrm>
            <a:off x="6985000" y="3139440"/>
            <a:ext cx="4316730" cy="314960"/>
          </a:xfrm>
          <a:prstGeom prst="rect">
            <a:avLst/>
          </a:prstGeom>
          <a:noFill/>
          <a:ln/>
        </p:spPr>
        <p:txBody>
          <a:bodyPr wrap="square" lIns="0" tIns="0" rIns="0" bIns="0" rtlCol="0" anchor="t">
            <a:normAutofit/>
          </a:bodyPr>
          <a:lstStyle/>
          <a:p>
            <a:pPr algn="l" indent="0" marL="0">
              <a:lnSpc>
                <a:spcPts val="2280"/>
              </a:lnSpc>
              <a:buNone/>
            </a:pPr>
            <a:r>
              <a:rPr lang="en-US" sz="1900" dirty="0">
                <a:solidFill>
                  <a:srgbClr val="111111"/>
                </a:solidFill>
                <a:latin typeface="Carlito" pitchFamily="34" charset="0"/>
                <a:ea typeface="Carlito" pitchFamily="34" charset="-122"/>
                <a:cs typeface="Carlito" pitchFamily="34" charset="-120"/>
              </a:rPr>
              <a:t>fast, high-precision motion systems</a:t>
            </a:r>
            <a:endParaRPr lang="en-US" sz="1900" dirty="0"/>
          </a:p>
        </p:txBody>
      </p:sp>
      <p:sp>
        <p:nvSpPr>
          <p:cNvPr id="14" name="Text 11"/>
          <p:cNvSpPr/>
          <p:nvPr/>
        </p:nvSpPr>
        <p:spPr>
          <a:xfrm>
            <a:off x="6985000" y="4127500"/>
            <a:ext cx="4316730" cy="256540"/>
          </a:xfrm>
          <a:prstGeom prst="rect">
            <a:avLst/>
          </a:prstGeom>
          <a:noFill/>
          <a:ln/>
        </p:spPr>
        <p:txBody>
          <a:bodyPr wrap="square" lIns="0" tIns="0" rIns="0" bIns="0" rtlCol="0" anchor="t">
            <a:normAutofit/>
          </a:bodyPr>
          <a:lstStyle/>
          <a:p>
            <a:pPr algn="l" indent="0" marL="0">
              <a:lnSpc>
                <a:spcPts val="1820"/>
              </a:lnSpc>
              <a:buNone/>
            </a:pPr>
            <a:r>
              <a:rPr lang="en-US" sz="1300" b="1" spc="50" kern="0" dirty="0">
                <a:solidFill>
                  <a:srgbClr val="C81919"/>
                </a:solidFill>
                <a:latin typeface="Carlito" pitchFamily="34" charset="0"/>
                <a:ea typeface="Carlito" pitchFamily="34" charset="-122"/>
                <a:cs typeface="Carlito" pitchFamily="34" charset="-120"/>
              </a:rPr>
              <a:t>THIS PROJECT</a:t>
            </a:r>
            <a:endParaRPr lang="en-US" sz="1300" dirty="0"/>
          </a:p>
        </p:txBody>
      </p:sp>
      <p:sp>
        <p:nvSpPr>
          <p:cNvPr id="15" name="Text 12"/>
          <p:cNvSpPr/>
          <p:nvPr/>
        </p:nvSpPr>
        <p:spPr>
          <a:xfrm>
            <a:off x="6985000" y="4409440"/>
            <a:ext cx="4316730" cy="314960"/>
          </a:xfrm>
          <a:prstGeom prst="rect">
            <a:avLst/>
          </a:prstGeom>
          <a:noFill/>
          <a:ln/>
        </p:spPr>
        <p:txBody>
          <a:bodyPr wrap="square" lIns="0" tIns="0" rIns="0" bIns="0" rtlCol="0" anchor="t">
            <a:normAutofit/>
          </a:bodyPr>
          <a:lstStyle/>
          <a:p>
            <a:pPr algn="l" indent="0" marL="0">
              <a:lnSpc>
                <a:spcPts val="2280"/>
              </a:lnSpc>
              <a:buNone/>
            </a:pPr>
            <a:r>
              <a:rPr lang="en-US" sz="1900" dirty="0">
                <a:solidFill>
                  <a:srgbClr val="111111"/>
                </a:solidFill>
                <a:latin typeface="Carlito" pitchFamily="34" charset="0"/>
                <a:ea typeface="Carlito" pitchFamily="34" charset="-122"/>
                <a:cs typeface="Carlito" pitchFamily="34" charset="-120"/>
              </a:rPr>
              <a:t>a dual-gantry motion system</a:t>
            </a:r>
            <a:endParaRPr lang="en-US" sz="1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EE8E8"/>
        </a:solidFill>
      </p:bgPr>
    </p:bg>
    <p:spTree>
      <p:nvGrpSpPr>
        <p:cNvPr id="1" name=""/>
        <p:cNvGrpSpPr/>
        <p:nvPr/>
      </p:nvGrpSpPr>
      <p:grpSpPr>
        <a:xfrm>
          <a:off x="0" y="0"/>
          <a:ext cx="0" cy="0"/>
          <a:chOff x="0" y="0"/>
          <a:chExt cx="0" cy="0"/>
        </a:xfrm>
      </p:grpSpPr>
      <p:sp>
        <p:nvSpPr>
          <p:cNvPr id="2" name="Shape 0"/>
          <p:cNvSpPr/>
          <p:nvPr/>
        </p:nvSpPr>
        <p:spPr>
          <a:xfrm>
            <a:off x="0" y="6089650"/>
            <a:ext cx="12192000" cy="768350"/>
          </a:xfrm>
          <a:prstGeom prst="rect">
            <a:avLst/>
          </a:prstGeom>
          <a:solidFill>
            <a:srgbClr val="FFFFFF"/>
          </a:solidFill>
          <a:ln/>
        </p:spPr>
      </p:sp>
      <p:sp>
        <p:nvSpPr>
          <p:cNvPr id="3" name="Text 1"/>
          <p:cNvSpPr/>
          <p:nvPr/>
        </p:nvSpPr>
        <p:spPr>
          <a:xfrm>
            <a:off x="406400" y="6369050"/>
            <a:ext cx="812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Carlito" pitchFamily="34" charset="0"/>
                <a:ea typeface="Carlito" pitchFamily="34" charset="-122"/>
                <a:cs typeface="Carlito" pitchFamily="34" charset="-120"/>
              </a:rPr>
              <a:t>3</a:t>
            </a:r>
            <a:endParaRPr lang="en-US" sz="1200" dirty="0"/>
          </a:p>
        </p:txBody>
      </p:sp>
      <p:sp>
        <p:nvSpPr>
          <p:cNvPr id="4" name="Text 2"/>
          <p:cNvSpPr/>
          <p:nvPr/>
        </p:nvSpPr>
        <p:spPr>
          <a:xfrm>
            <a:off x="1485900" y="6369050"/>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Carlito" pitchFamily="34" charset="0"/>
                <a:ea typeface="Carlito" pitchFamily="34" charset="-122"/>
                <a:cs typeface="Carlito" pitchFamily="34" charset="-120"/>
              </a:rPr>
              <a:t>Interpretable model augmentation | Dirk van den Berg</a:t>
            </a:r>
            <a:endParaRPr lang="en-US" sz="1200" dirty="0"/>
          </a:p>
        </p:txBody>
      </p:sp>
      <p:pic>
        <p:nvPicPr>
          <p:cNvPr id="5" name="Image 0" descr="TU/e logo">    </p:cNvPr>
          <p:cNvPicPr>
            <a:picLocks noChangeAspect="1"/>
          </p:cNvPicPr>
          <p:nvPr/>
        </p:nvPicPr>
        <p:blipFill>
          <a:blip r:embed="rId1"/>
          <a:srcRect l="0" r="0" t="-37" b="-37"/>
          <a:stretch/>
        </p:blipFill>
        <p:spPr>
          <a:xfrm>
            <a:off x="10877550" y="6089650"/>
            <a:ext cx="1314450" cy="768350"/>
          </a:xfrm>
          <a:prstGeom prst="rect">
            <a:avLst/>
          </a:prstGeom>
        </p:spPr>
      </p:pic>
      <p:sp>
        <p:nvSpPr>
          <p:cNvPr id="6" name="Text 3"/>
          <p:cNvSpPr/>
          <p:nvPr/>
        </p:nvSpPr>
        <p:spPr>
          <a:xfrm>
            <a:off x="1009650" y="609600"/>
            <a:ext cx="10575989" cy="388620"/>
          </a:xfrm>
          <a:prstGeom prst="rect">
            <a:avLst/>
          </a:prstGeom>
          <a:noFill/>
          <a:ln/>
        </p:spPr>
        <p:txBody>
          <a:bodyPr wrap="square" lIns="0" tIns="0" rIns="0" bIns="0" rtlCol="0" anchor="t">
            <a:normAutofit/>
          </a:bodyPr>
          <a:lstStyle/>
          <a:p>
            <a:pPr algn="l" indent="0" marL="0">
              <a:lnSpc>
                <a:spcPts val="2860"/>
              </a:lnSpc>
              <a:buNone/>
            </a:pPr>
            <a:r>
              <a:rPr lang="en-US" sz="2600" b="1" dirty="0">
                <a:solidFill>
                  <a:srgbClr val="111111"/>
                </a:solidFill>
                <a:latin typeface="Carlito" pitchFamily="34" charset="0"/>
                <a:ea typeface="Carlito" pitchFamily="34" charset="-122"/>
                <a:cs typeface="Carlito" pitchFamily="34" charset="-120"/>
              </a:rPr>
              <a:t>Why a model of the machine is useful</a:t>
            </a:r>
            <a:endParaRPr lang="en-US" sz="2600" dirty="0"/>
          </a:p>
        </p:txBody>
      </p:sp>
      <p:sp>
        <p:nvSpPr>
          <p:cNvPr id="7" name="Shape 4"/>
          <p:cNvSpPr/>
          <p:nvPr/>
        </p:nvSpPr>
        <p:spPr>
          <a:xfrm>
            <a:off x="1009650" y="1301750"/>
            <a:ext cx="10172700" cy="4064000"/>
          </a:xfrm>
          <a:prstGeom prst="roundRect">
            <a:avLst>
              <a:gd name="adj" fmla="val 1875"/>
            </a:avLst>
          </a:prstGeom>
          <a:solidFill>
            <a:srgbClr val="FFFFFF"/>
          </a:solidFill>
          <a:ln/>
        </p:spPr>
      </p:sp>
      <p:pic>
        <p:nvPicPr>
          <p:cNvPr id="8" name="Image 1" descr="An accurate model lets engineers test changes without the machine, for example a new controller">    </p:cNvPr>
          <p:cNvPicPr>
            <a:picLocks noChangeAspect="1"/>
          </p:cNvPicPr>
          <p:nvPr/>
        </p:nvPicPr>
        <p:blipFill>
          <a:blip r:embed="rId2"/>
          <a:srcRect l="39" r="39" t="0" b="0"/>
          <a:stretch/>
        </p:blipFill>
        <p:spPr>
          <a:xfrm>
            <a:off x="1263650" y="1911350"/>
            <a:ext cx="9664700" cy="2844800"/>
          </a:xfrm>
          <a:prstGeom prst="rect">
            <a:avLst/>
          </a:prstGeom>
        </p:spPr>
      </p:pic>
      <p:pic>
        <p:nvPicPr>
          <p:cNvPr id="9" name="Image 2" descr="It also supports health monitoring, for example wear">    </p:cNvPr>
          <p:cNvPicPr>
            <a:picLocks noChangeAspect="1"/>
          </p:cNvPicPr>
          <p:nvPr/>
        </p:nvPicPr>
        <p:blipFill>
          <a:blip r:embed="rId3"/>
          <a:srcRect l="39" r="39" t="0" b="0"/>
          <a:stretch/>
        </p:blipFill>
        <p:spPr>
          <a:xfrm>
            <a:off x="1263650" y="1911350"/>
            <a:ext cx="9664700" cy="28448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EE8E8"/>
        </a:solidFill>
      </p:bgPr>
    </p:bg>
    <p:spTree>
      <p:nvGrpSpPr>
        <p:cNvPr id="1" name=""/>
        <p:cNvGrpSpPr/>
        <p:nvPr/>
      </p:nvGrpSpPr>
      <p:grpSpPr>
        <a:xfrm>
          <a:off x="0" y="0"/>
          <a:ext cx="0" cy="0"/>
          <a:chOff x="0" y="0"/>
          <a:chExt cx="0" cy="0"/>
        </a:xfrm>
      </p:grpSpPr>
      <p:sp>
        <p:nvSpPr>
          <p:cNvPr id="2" name="Shape 0"/>
          <p:cNvSpPr/>
          <p:nvPr/>
        </p:nvSpPr>
        <p:spPr>
          <a:xfrm>
            <a:off x="0" y="6089650"/>
            <a:ext cx="12192000" cy="768350"/>
          </a:xfrm>
          <a:prstGeom prst="rect">
            <a:avLst/>
          </a:prstGeom>
          <a:solidFill>
            <a:srgbClr val="FFFFFF"/>
          </a:solidFill>
          <a:ln/>
        </p:spPr>
      </p:sp>
      <p:sp>
        <p:nvSpPr>
          <p:cNvPr id="3" name="Text 1"/>
          <p:cNvSpPr/>
          <p:nvPr/>
        </p:nvSpPr>
        <p:spPr>
          <a:xfrm>
            <a:off x="406400" y="6369050"/>
            <a:ext cx="812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Carlito" pitchFamily="34" charset="0"/>
                <a:ea typeface="Carlito" pitchFamily="34" charset="-122"/>
                <a:cs typeface="Carlito" pitchFamily="34" charset="-120"/>
              </a:rPr>
              <a:t>4</a:t>
            </a:r>
            <a:endParaRPr lang="en-US" sz="1200" dirty="0"/>
          </a:p>
        </p:txBody>
      </p:sp>
      <p:sp>
        <p:nvSpPr>
          <p:cNvPr id="4" name="Text 2"/>
          <p:cNvSpPr/>
          <p:nvPr/>
        </p:nvSpPr>
        <p:spPr>
          <a:xfrm>
            <a:off x="1485900" y="6369050"/>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Carlito" pitchFamily="34" charset="0"/>
                <a:ea typeface="Carlito" pitchFamily="34" charset="-122"/>
                <a:cs typeface="Carlito" pitchFamily="34" charset="-120"/>
              </a:rPr>
              <a:t>Interpretable model augmentation | Dirk van den Berg</a:t>
            </a:r>
            <a:endParaRPr lang="en-US" sz="1200" dirty="0"/>
          </a:p>
        </p:txBody>
      </p:sp>
      <p:pic>
        <p:nvPicPr>
          <p:cNvPr id="5" name="Image 0" descr="TU/e logo">    </p:cNvPr>
          <p:cNvPicPr>
            <a:picLocks noChangeAspect="1"/>
          </p:cNvPicPr>
          <p:nvPr/>
        </p:nvPicPr>
        <p:blipFill>
          <a:blip r:embed="rId1"/>
          <a:srcRect l="0" r="0" t="-37" b="-37"/>
          <a:stretch/>
        </p:blipFill>
        <p:spPr>
          <a:xfrm>
            <a:off x="10877550" y="6089650"/>
            <a:ext cx="1314450" cy="768350"/>
          </a:xfrm>
          <a:prstGeom prst="rect">
            <a:avLst/>
          </a:prstGeom>
        </p:spPr>
      </p:pic>
      <p:sp>
        <p:nvSpPr>
          <p:cNvPr id="6" name="Text 3"/>
          <p:cNvSpPr/>
          <p:nvPr/>
        </p:nvSpPr>
        <p:spPr>
          <a:xfrm>
            <a:off x="1009650" y="609600"/>
            <a:ext cx="10575989" cy="388620"/>
          </a:xfrm>
          <a:prstGeom prst="rect">
            <a:avLst/>
          </a:prstGeom>
          <a:noFill/>
          <a:ln/>
        </p:spPr>
        <p:txBody>
          <a:bodyPr wrap="square" lIns="0" tIns="0" rIns="0" bIns="0" rtlCol="0" anchor="t">
            <a:normAutofit/>
          </a:bodyPr>
          <a:lstStyle/>
          <a:p>
            <a:pPr algn="l" indent="0" marL="0">
              <a:lnSpc>
                <a:spcPts val="2860"/>
              </a:lnSpc>
              <a:buNone/>
            </a:pPr>
            <a:r>
              <a:rPr lang="en-US" sz="2600" b="1" dirty="0">
                <a:solidFill>
                  <a:srgbClr val="111111"/>
                </a:solidFill>
                <a:latin typeface="Carlito" pitchFamily="34" charset="0"/>
                <a:ea typeface="Carlito" pitchFamily="34" charset="-122"/>
                <a:cs typeface="Carlito" pitchFamily="34" charset="-120"/>
              </a:rPr>
              <a:t>Three ways to model the machine</a:t>
            </a:r>
            <a:endParaRPr lang="en-US" sz="2600" dirty="0"/>
          </a:p>
        </p:txBody>
      </p:sp>
      <p:sp>
        <p:nvSpPr>
          <p:cNvPr id="7" name="Shape 4"/>
          <p:cNvSpPr/>
          <p:nvPr/>
        </p:nvSpPr>
        <p:spPr>
          <a:xfrm>
            <a:off x="1009650" y="1301750"/>
            <a:ext cx="10172700" cy="4064000"/>
          </a:xfrm>
          <a:prstGeom prst="roundRect">
            <a:avLst>
              <a:gd name="adj" fmla="val 1875"/>
            </a:avLst>
          </a:prstGeom>
          <a:solidFill>
            <a:srgbClr val="FFFFFF"/>
          </a:solidFill>
          <a:ln/>
        </p:spPr>
      </p:sp>
      <p:pic>
        <p:nvPicPr>
          <p:cNvPr id="8" name="Image 1" descr="White box: physics model from u to y, physical parameters but misses what was not modelled">    </p:cNvPr>
          <p:cNvPicPr>
            <a:picLocks noChangeAspect="1"/>
          </p:cNvPicPr>
          <p:nvPr/>
        </p:nvPicPr>
        <p:blipFill>
          <a:blip r:embed="rId2"/>
          <a:srcRect l="1" r="1" t="0" b="0"/>
          <a:stretch/>
        </p:blipFill>
        <p:spPr>
          <a:xfrm>
            <a:off x="1263650" y="1651000"/>
            <a:ext cx="9664700" cy="3359150"/>
          </a:xfrm>
          <a:prstGeom prst="rect">
            <a:avLst/>
          </a:prstGeom>
        </p:spPr>
      </p:pic>
      <p:pic>
        <p:nvPicPr>
          <p:cNvPr id="9" name="Image 2" descr="Black box: neural network from u to y, learns what the data show but no physical meaning">    </p:cNvPr>
          <p:cNvPicPr>
            <a:picLocks noChangeAspect="1"/>
          </p:cNvPicPr>
          <p:nvPr/>
        </p:nvPicPr>
        <p:blipFill>
          <a:blip r:embed="rId3"/>
          <a:srcRect l="1" r="1" t="0" b="0"/>
          <a:stretch/>
        </p:blipFill>
        <p:spPr>
          <a:xfrm>
            <a:off x="1263650" y="1651000"/>
            <a:ext cx="9664700" cy="3359150"/>
          </a:xfrm>
          <a:prstGeom prst="rect">
            <a:avLst/>
          </a:prstGeom>
        </p:spPr>
      </p:pic>
      <p:pic>
        <p:nvPicPr>
          <p:cNvPr id="10" name="Image 3" descr="Grey box: physics model plus a neural network whose output is added">    </p:cNvPr>
          <p:cNvPicPr>
            <a:picLocks noChangeAspect="1"/>
          </p:cNvPicPr>
          <p:nvPr/>
        </p:nvPicPr>
        <p:blipFill>
          <a:blip r:embed="rId4"/>
          <a:srcRect l="1" r="1" t="0" b="0"/>
          <a:stretch/>
        </p:blipFill>
        <p:spPr>
          <a:xfrm>
            <a:off x="1263650" y="1651000"/>
            <a:ext cx="9664700" cy="33591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EE8E8"/>
        </a:solidFill>
      </p:bgPr>
    </p:bg>
    <p:spTree>
      <p:nvGrpSpPr>
        <p:cNvPr id="1" name=""/>
        <p:cNvGrpSpPr/>
        <p:nvPr/>
      </p:nvGrpSpPr>
      <p:grpSpPr>
        <a:xfrm>
          <a:off x="0" y="0"/>
          <a:ext cx="0" cy="0"/>
          <a:chOff x="0" y="0"/>
          <a:chExt cx="0" cy="0"/>
        </a:xfrm>
      </p:grpSpPr>
      <p:sp>
        <p:nvSpPr>
          <p:cNvPr id="2" name="Shape 0"/>
          <p:cNvSpPr/>
          <p:nvPr/>
        </p:nvSpPr>
        <p:spPr>
          <a:xfrm>
            <a:off x="0" y="6089650"/>
            <a:ext cx="12192000" cy="768350"/>
          </a:xfrm>
          <a:prstGeom prst="rect">
            <a:avLst/>
          </a:prstGeom>
          <a:solidFill>
            <a:srgbClr val="FFFFFF"/>
          </a:solidFill>
          <a:ln/>
        </p:spPr>
      </p:sp>
      <p:sp>
        <p:nvSpPr>
          <p:cNvPr id="3" name="Text 1"/>
          <p:cNvSpPr/>
          <p:nvPr/>
        </p:nvSpPr>
        <p:spPr>
          <a:xfrm>
            <a:off x="406400" y="6369050"/>
            <a:ext cx="812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Carlito" pitchFamily="34" charset="0"/>
                <a:ea typeface="Carlito" pitchFamily="34" charset="-122"/>
                <a:cs typeface="Carlito" pitchFamily="34" charset="-120"/>
              </a:rPr>
              <a:t>5</a:t>
            </a:r>
            <a:endParaRPr lang="en-US" sz="1200" dirty="0"/>
          </a:p>
        </p:txBody>
      </p:sp>
      <p:sp>
        <p:nvSpPr>
          <p:cNvPr id="4" name="Text 2"/>
          <p:cNvSpPr/>
          <p:nvPr/>
        </p:nvSpPr>
        <p:spPr>
          <a:xfrm>
            <a:off x="1485900" y="6369050"/>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Carlito" pitchFamily="34" charset="0"/>
                <a:ea typeface="Carlito" pitchFamily="34" charset="-122"/>
                <a:cs typeface="Carlito" pitchFamily="34" charset="-120"/>
              </a:rPr>
              <a:t>Interpretable model augmentation | Dirk van den Berg</a:t>
            </a:r>
            <a:endParaRPr lang="en-US" sz="1200" dirty="0"/>
          </a:p>
        </p:txBody>
      </p:sp>
      <p:pic>
        <p:nvPicPr>
          <p:cNvPr id="5" name="Image 0" descr="TU/e logo">    </p:cNvPr>
          <p:cNvPicPr>
            <a:picLocks noChangeAspect="1"/>
          </p:cNvPicPr>
          <p:nvPr/>
        </p:nvPicPr>
        <p:blipFill>
          <a:blip r:embed="rId1"/>
          <a:srcRect l="0" r="0" t="-37" b="-37"/>
          <a:stretch/>
        </p:blipFill>
        <p:spPr>
          <a:xfrm>
            <a:off x="10877550" y="6089650"/>
            <a:ext cx="1314450" cy="768350"/>
          </a:xfrm>
          <a:prstGeom prst="rect">
            <a:avLst/>
          </a:prstGeom>
        </p:spPr>
      </p:pic>
      <p:sp>
        <p:nvSpPr>
          <p:cNvPr id="6" name="Text 3"/>
          <p:cNvSpPr/>
          <p:nvPr/>
        </p:nvSpPr>
        <p:spPr>
          <a:xfrm>
            <a:off x="1009650" y="609600"/>
            <a:ext cx="10575989" cy="388620"/>
          </a:xfrm>
          <a:prstGeom prst="rect">
            <a:avLst/>
          </a:prstGeom>
          <a:noFill/>
          <a:ln/>
        </p:spPr>
        <p:txBody>
          <a:bodyPr wrap="square" lIns="0" tIns="0" rIns="0" bIns="0" rtlCol="0" anchor="t">
            <a:normAutofit/>
          </a:bodyPr>
          <a:lstStyle/>
          <a:p>
            <a:pPr algn="l" indent="0" marL="0">
              <a:lnSpc>
                <a:spcPts val="2860"/>
              </a:lnSpc>
              <a:buNone/>
            </a:pPr>
            <a:r>
              <a:rPr lang="en-US" sz="2600" b="1" dirty="0">
                <a:solidFill>
                  <a:srgbClr val="111111"/>
                </a:solidFill>
                <a:latin typeface="Carlito" pitchFamily="34" charset="0"/>
                <a:ea typeface="Carlito" pitchFamily="34" charset="-122"/>
                <a:cs typeface="Carlito" pitchFamily="34" charset="-120"/>
              </a:rPr>
              <a:t>Goal of the project</a:t>
            </a:r>
            <a:endParaRPr lang="en-US" sz="2600" dirty="0"/>
          </a:p>
        </p:txBody>
      </p:sp>
      <p:sp>
        <p:nvSpPr>
          <p:cNvPr id="7" name="Text 4"/>
          <p:cNvSpPr/>
          <p:nvPr/>
        </p:nvSpPr>
        <p:spPr>
          <a:xfrm>
            <a:off x="1644650" y="2413000"/>
            <a:ext cx="2747010" cy="558800"/>
          </a:xfrm>
          <a:prstGeom prst="rect">
            <a:avLst/>
          </a:prstGeom>
          <a:noFill/>
          <a:ln/>
        </p:spPr>
        <p:txBody>
          <a:bodyPr wrap="square" lIns="0" tIns="0" rIns="0" bIns="0" rtlCol="0" anchor="t">
            <a:normAutofit/>
          </a:bodyPr>
          <a:lstStyle/>
          <a:p>
            <a:pPr algn="l" indent="0" marL="0">
              <a:lnSpc>
                <a:spcPts val="4200"/>
              </a:lnSpc>
              <a:buNone/>
            </a:pPr>
            <a:r>
              <a:rPr lang="en-US" sz="3000" b="1" dirty="0">
                <a:solidFill>
                  <a:srgbClr val="0072B2"/>
                </a:solidFill>
                <a:latin typeface="Carlito" pitchFamily="34" charset="0"/>
                <a:ea typeface="Carlito" pitchFamily="34" charset="-122"/>
                <a:cs typeface="Carlito" pitchFamily="34" charset="-120"/>
              </a:rPr>
              <a:t>Accurate</a:t>
            </a:r>
            <a:endParaRPr lang="en-US" sz="3000" dirty="0"/>
          </a:p>
        </p:txBody>
      </p:sp>
      <p:sp>
        <p:nvSpPr>
          <p:cNvPr id="8" name="Text 5"/>
          <p:cNvSpPr/>
          <p:nvPr/>
        </p:nvSpPr>
        <p:spPr>
          <a:xfrm>
            <a:off x="4616450" y="2550161"/>
            <a:ext cx="6108827" cy="360680"/>
          </a:xfrm>
          <a:prstGeom prst="rect">
            <a:avLst/>
          </a:prstGeom>
          <a:noFill/>
          <a:ln/>
        </p:spPr>
        <p:txBody>
          <a:bodyPr wrap="square" lIns="0" tIns="0" rIns="0" bIns="0" rtlCol="0" anchor="t">
            <a:normAutofit/>
          </a:bodyPr>
          <a:lstStyle/>
          <a:p>
            <a:pPr algn="l" indent="0" marL="0">
              <a:lnSpc>
                <a:spcPts val="2640"/>
              </a:lnSpc>
              <a:buNone/>
            </a:pPr>
            <a:r>
              <a:rPr lang="en-US" sz="2200" dirty="0">
                <a:solidFill>
                  <a:srgbClr val="111111"/>
                </a:solidFill>
                <a:latin typeface="Carlito" pitchFamily="34" charset="0"/>
                <a:ea typeface="Carlito" pitchFamily="34" charset="-122"/>
                <a:cs typeface="Carlito" pitchFamily="34" charset="-120"/>
              </a:rPr>
              <a:t>learn the dynamics the physics model misses</a:t>
            </a:r>
            <a:endParaRPr lang="en-US" sz="2200" dirty="0"/>
          </a:p>
        </p:txBody>
      </p:sp>
      <p:sp>
        <p:nvSpPr>
          <p:cNvPr id="9" name="Text 6"/>
          <p:cNvSpPr/>
          <p:nvPr/>
        </p:nvSpPr>
        <p:spPr>
          <a:xfrm>
            <a:off x="1644650" y="3873500"/>
            <a:ext cx="2747010" cy="558800"/>
          </a:xfrm>
          <a:prstGeom prst="rect">
            <a:avLst/>
          </a:prstGeom>
          <a:noFill/>
          <a:ln/>
        </p:spPr>
        <p:txBody>
          <a:bodyPr wrap="square" lIns="0" tIns="0" rIns="0" bIns="0" rtlCol="0" anchor="t">
            <a:normAutofit/>
          </a:bodyPr>
          <a:lstStyle/>
          <a:p>
            <a:pPr algn="l" indent="0" marL="0">
              <a:lnSpc>
                <a:spcPts val="4200"/>
              </a:lnSpc>
              <a:buNone/>
            </a:pPr>
            <a:r>
              <a:rPr lang="en-US" sz="3000" b="1" dirty="0">
                <a:solidFill>
                  <a:srgbClr val="009E73"/>
                </a:solidFill>
                <a:latin typeface="Carlito" pitchFamily="34" charset="0"/>
                <a:ea typeface="Carlito" pitchFamily="34" charset="-122"/>
                <a:cs typeface="Carlito" pitchFamily="34" charset="-120"/>
              </a:rPr>
              <a:t>Interpretable</a:t>
            </a:r>
            <a:endParaRPr lang="en-US" sz="3000" dirty="0"/>
          </a:p>
        </p:txBody>
      </p:sp>
      <p:sp>
        <p:nvSpPr>
          <p:cNvPr id="10" name="Text 7"/>
          <p:cNvSpPr/>
          <p:nvPr/>
        </p:nvSpPr>
        <p:spPr>
          <a:xfrm>
            <a:off x="4616450" y="4010661"/>
            <a:ext cx="6108827" cy="360680"/>
          </a:xfrm>
          <a:prstGeom prst="rect">
            <a:avLst/>
          </a:prstGeom>
          <a:noFill/>
          <a:ln/>
        </p:spPr>
        <p:txBody>
          <a:bodyPr wrap="square" lIns="0" tIns="0" rIns="0" bIns="0" rtlCol="0" anchor="t">
            <a:normAutofit/>
          </a:bodyPr>
          <a:lstStyle/>
          <a:p>
            <a:pPr algn="l" indent="0" marL="0">
              <a:lnSpc>
                <a:spcPts val="2640"/>
              </a:lnSpc>
              <a:buNone/>
            </a:pPr>
            <a:r>
              <a:rPr lang="en-US" sz="2200" dirty="0">
                <a:solidFill>
                  <a:srgbClr val="111111"/>
                </a:solidFill>
                <a:latin typeface="Carlito" pitchFamily="34" charset="0"/>
                <a:ea typeface="Carlito" pitchFamily="34" charset="-122"/>
                <a:cs typeface="Carlito" pitchFamily="34" charset="-120"/>
              </a:rPr>
              <a:t>the physical parameters keep their meaning</a:t>
            </a:r>
            <a:endParaRPr lang="en-US"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EE8E8"/>
        </a:solidFill>
      </p:bgPr>
    </p:bg>
    <p:spTree>
      <p:nvGrpSpPr>
        <p:cNvPr id="1" name=""/>
        <p:cNvGrpSpPr/>
        <p:nvPr/>
      </p:nvGrpSpPr>
      <p:grpSpPr>
        <a:xfrm>
          <a:off x="0" y="0"/>
          <a:ext cx="0" cy="0"/>
          <a:chOff x="0" y="0"/>
          <a:chExt cx="0" cy="0"/>
        </a:xfrm>
      </p:grpSpPr>
      <p:sp>
        <p:nvSpPr>
          <p:cNvPr id="2" name="Shape 0"/>
          <p:cNvSpPr/>
          <p:nvPr/>
        </p:nvSpPr>
        <p:spPr>
          <a:xfrm>
            <a:off x="0" y="6089650"/>
            <a:ext cx="12192000" cy="768350"/>
          </a:xfrm>
          <a:prstGeom prst="rect">
            <a:avLst/>
          </a:prstGeom>
          <a:solidFill>
            <a:srgbClr val="FFFFFF"/>
          </a:solidFill>
          <a:ln/>
        </p:spPr>
      </p:sp>
      <p:sp>
        <p:nvSpPr>
          <p:cNvPr id="3" name="Text 1"/>
          <p:cNvSpPr/>
          <p:nvPr/>
        </p:nvSpPr>
        <p:spPr>
          <a:xfrm>
            <a:off x="406400" y="6369050"/>
            <a:ext cx="812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Carlito" pitchFamily="34" charset="0"/>
                <a:ea typeface="Carlito" pitchFamily="34" charset="-122"/>
                <a:cs typeface="Carlito" pitchFamily="34" charset="-120"/>
              </a:rPr>
              <a:t>6</a:t>
            </a:r>
            <a:endParaRPr lang="en-US" sz="1200" dirty="0"/>
          </a:p>
        </p:txBody>
      </p:sp>
      <p:sp>
        <p:nvSpPr>
          <p:cNvPr id="4" name="Text 2"/>
          <p:cNvSpPr/>
          <p:nvPr/>
        </p:nvSpPr>
        <p:spPr>
          <a:xfrm>
            <a:off x="1485900" y="6369050"/>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Carlito" pitchFamily="34" charset="0"/>
                <a:ea typeface="Carlito" pitchFamily="34" charset="-122"/>
                <a:cs typeface="Carlito" pitchFamily="34" charset="-120"/>
              </a:rPr>
              <a:t>Interpretable model augmentation | Dirk van den Berg</a:t>
            </a:r>
            <a:endParaRPr lang="en-US" sz="1200" dirty="0"/>
          </a:p>
        </p:txBody>
      </p:sp>
      <p:pic>
        <p:nvPicPr>
          <p:cNvPr id="5" name="Image 0" descr="TU/e logo">    </p:cNvPr>
          <p:cNvPicPr>
            <a:picLocks noChangeAspect="1"/>
          </p:cNvPicPr>
          <p:nvPr/>
        </p:nvPicPr>
        <p:blipFill>
          <a:blip r:embed="rId1"/>
          <a:srcRect l="0" r="0" t="-37" b="-37"/>
          <a:stretch/>
        </p:blipFill>
        <p:spPr>
          <a:xfrm>
            <a:off x="10877550" y="6089650"/>
            <a:ext cx="1314450" cy="768350"/>
          </a:xfrm>
          <a:prstGeom prst="rect">
            <a:avLst/>
          </a:prstGeom>
        </p:spPr>
      </p:pic>
      <p:sp>
        <p:nvSpPr>
          <p:cNvPr id="6" name="Text 3"/>
          <p:cNvSpPr/>
          <p:nvPr/>
        </p:nvSpPr>
        <p:spPr>
          <a:xfrm>
            <a:off x="1009650" y="609600"/>
            <a:ext cx="10575989" cy="388620"/>
          </a:xfrm>
          <a:prstGeom prst="rect">
            <a:avLst/>
          </a:prstGeom>
          <a:noFill/>
          <a:ln/>
        </p:spPr>
        <p:txBody>
          <a:bodyPr wrap="square" lIns="0" tIns="0" rIns="0" bIns="0" rtlCol="0" anchor="t">
            <a:normAutofit/>
          </a:bodyPr>
          <a:lstStyle/>
          <a:p>
            <a:pPr algn="l" indent="0" marL="0">
              <a:lnSpc>
                <a:spcPts val="2860"/>
              </a:lnSpc>
              <a:buNone/>
            </a:pPr>
            <a:r>
              <a:rPr lang="en-US" sz="2600" b="1" dirty="0">
                <a:solidFill>
                  <a:srgbClr val="111111"/>
                </a:solidFill>
                <a:latin typeface="Carlito" pitchFamily="34" charset="0"/>
                <a:ea typeface="Carlito" pitchFamily="34" charset="-122"/>
                <a:cs typeface="Carlito" pitchFamily="34" charset="-120"/>
              </a:rPr>
              <a:t>The machine: a dual-gantry motion system</a:t>
            </a:r>
            <a:endParaRPr lang="en-US" sz="2600" dirty="0"/>
          </a:p>
        </p:txBody>
      </p:sp>
      <p:sp>
        <p:nvSpPr>
          <p:cNvPr id="7" name="Shape 4"/>
          <p:cNvSpPr/>
          <p:nvPr/>
        </p:nvSpPr>
        <p:spPr>
          <a:xfrm>
            <a:off x="1009650" y="1301750"/>
            <a:ext cx="10172700" cy="3810000"/>
          </a:xfrm>
          <a:prstGeom prst="roundRect">
            <a:avLst>
              <a:gd name="adj" fmla="val 2000"/>
            </a:avLst>
          </a:prstGeom>
          <a:solidFill>
            <a:srgbClr val="FFFFFF"/>
          </a:solidFill>
          <a:ln/>
        </p:spPr>
      </p:sp>
      <p:pic>
        <p:nvPicPr>
          <p:cNvPr id="8" name="Image 1" descr="Dual-gantry: two parallel drives X1 and X2 carry a cross-arm with yaw Theta, a third drive moves the payload along it in Y">    </p:cNvPr>
          <p:cNvPicPr>
            <a:picLocks noChangeAspect="1"/>
          </p:cNvPicPr>
          <p:nvPr/>
        </p:nvPicPr>
        <p:blipFill>
          <a:blip r:embed="rId2"/>
          <a:srcRect l="12" r="12" t="0" b="0"/>
          <a:stretch/>
        </p:blipFill>
        <p:spPr>
          <a:xfrm>
            <a:off x="2825750" y="1492250"/>
            <a:ext cx="6540500" cy="3429000"/>
          </a:xfrm>
          <a:prstGeom prst="rect">
            <a:avLst/>
          </a:prstGeom>
        </p:spPr>
      </p:pic>
      <p:sp>
        <p:nvSpPr>
          <p:cNvPr id="9" name="Text 5"/>
          <p:cNvSpPr/>
          <p:nvPr/>
        </p:nvSpPr>
        <p:spPr>
          <a:xfrm>
            <a:off x="857060" y="5334000"/>
            <a:ext cx="10477881" cy="279400"/>
          </a:xfrm>
          <a:prstGeom prst="rect">
            <a:avLst/>
          </a:prstGeom>
          <a:noFill/>
          <a:ln/>
        </p:spPr>
        <p:txBody>
          <a:bodyPr wrap="square" lIns="0" tIns="0" rIns="0" bIns="0" rtlCol="0" anchor="t">
            <a:normAutofit/>
          </a:bodyPr>
          <a:lstStyle/>
          <a:p>
            <a:pPr algn="ctr" indent="0" marL="0">
              <a:lnSpc>
                <a:spcPts val="2000"/>
              </a:lnSpc>
              <a:buNone/>
            </a:pPr>
            <a:r>
              <a:rPr lang="en-US" sz="1600" dirty="0">
                <a:solidFill>
                  <a:srgbClr val="111111"/>
                </a:solidFill>
                <a:latin typeface="Carlito" pitchFamily="34" charset="0"/>
                <a:ea typeface="Carlito" pitchFamily="34" charset="-122"/>
                <a:cs typeface="Carlito" pitchFamily="34" charset="-120"/>
              </a:rPr>
              <a:t>Two parallel drives carry a cross-arm, a third drive moves the payload along it</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EE8E8"/>
        </a:solidFill>
      </p:bgPr>
    </p:bg>
    <p:spTree>
      <p:nvGrpSpPr>
        <p:cNvPr id="1" name=""/>
        <p:cNvGrpSpPr/>
        <p:nvPr/>
      </p:nvGrpSpPr>
      <p:grpSpPr>
        <a:xfrm>
          <a:off x="0" y="0"/>
          <a:ext cx="0" cy="0"/>
          <a:chOff x="0" y="0"/>
          <a:chExt cx="0" cy="0"/>
        </a:xfrm>
      </p:grpSpPr>
      <p:sp>
        <p:nvSpPr>
          <p:cNvPr id="2" name="Shape 0"/>
          <p:cNvSpPr/>
          <p:nvPr/>
        </p:nvSpPr>
        <p:spPr>
          <a:xfrm>
            <a:off x="0" y="6089650"/>
            <a:ext cx="12192000" cy="768350"/>
          </a:xfrm>
          <a:prstGeom prst="rect">
            <a:avLst/>
          </a:prstGeom>
          <a:solidFill>
            <a:srgbClr val="FFFFFF"/>
          </a:solidFill>
          <a:ln/>
        </p:spPr>
      </p:sp>
      <p:sp>
        <p:nvSpPr>
          <p:cNvPr id="3" name="Text 1"/>
          <p:cNvSpPr/>
          <p:nvPr/>
        </p:nvSpPr>
        <p:spPr>
          <a:xfrm>
            <a:off x="406400" y="6369050"/>
            <a:ext cx="812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Carlito" pitchFamily="34" charset="0"/>
                <a:ea typeface="Carlito" pitchFamily="34" charset="-122"/>
                <a:cs typeface="Carlito" pitchFamily="34" charset="-120"/>
              </a:rPr>
              <a:t>7</a:t>
            </a:r>
            <a:endParaRPr lang="en-US" sz="1200" dirty="0"/>
          </a:p>
        </p:txBody>
      </p:sp>
      <p:sp>
        <p:nvSpPr>
          <p:cNvPr id="4" name="Text 2"/>
          <p:cNvSpPr/>
          <p:nvPr/>
        </p:nvSpPr>
        <p:spPr>
          <a:xfrm>
            <a:off x="1485900" y="6369050"/>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Carlito" pitchFamily="34" charset="0"/>
                <a:ea typeface="Carlito" pitchFamily="34" charset="-122"/>
                <a:cs typeface="Carlito" pitchFamily="34" charset="-120"/>
              </a:rPr>
              <a:t>Interpretable model augmentation | Dirk van den Berg</a:t>
            </a:r>
            <a:endParaRPr lang="en-US" sz="1200" dirty="0"/>
          </a:p>
        </p:txBody>
      </p:sp>
      <p:pic>
        <p:nvPicPr>
          <p:cNvPr id="5" name="Image 0" descr="TU/e logo">    </p:cNvPr>
          <p:cNvPicPr>
            <a:picLocks noChangeAspect="1"/>
          </p:cNvPicPr>
          <p:nvPr/>
        </p:nvPicPr>
        <p:blipFill>
          <a:blip r:embed="rId1"/>
          <a:srcRect l="0" r="0" t="-37" b="-37"/>
          <a:stretch/>
        </p:blipFill>
        <p:spPr>
          <a:xfrm>
            <a:off x="10877550" y="6089650"/>
            <a:ext cx="1314450" cy="768350"/>
          </a:xfrm>
          <a:prstGeom prst="rect">
            <a:avLst/>
          </a:prstGeom>
        </p:spPr>
      </p:pic>
      <p:sp>
        <p:nvSpPr>
          <p:cNvPr id="6" name="Text 3"/>
          <p:cNvSpPr/>
          <p:nvPr/>
        </p:nvSpPr>
        <p:spPr>
          <a:xfrm>
            <a:off x="1009650" y="609600"/>
            <a:ext cx="10575989" cy="388620"/>
          </a:xfrm>
          <a:prstGeom prst="rect">
            <a:avLst/>
          </a:prstGeom>
          <a:noFill/>
          <a:ln/>
        </p:spPr>
        <p:txBody>
          <a:bodyPr wrap="square" lIns="0" tIns="0" rIns="0" bIns="0" rtlCol="0" anchor="t">
            <a:normAutofit/>
          </a:bodyPr>
          <a:lstStyle/>
          <a:p>
            <a:pPr algn="l" indent="0" marL="0">
              <a:lnSpc>
                <a:spcPts val="2860"/>
              </a:lnSpc>
              <a:buNone/>
            </a:pPr>
            <a:r>
              <a:rPr lang="en-US" sz="2600" b="1" dirty="0">
                <a:solidFill>
                  <a:srgbClr val="111111"/>
                </a:solidFill>
                <a:latin typeface="Carlito" pitchFamily="34" charset="0"/>
                <a:ea typeface="Carlito" pitchFamily="34" charset="-122"/>
                <a:cs typeface="Carlito" pitchFamily="34" charset="-120"/>
              </a:rPr>
              <a:t>Our baseline: the physics model</a:t>
            </a:r>
            <a:endParaRPr lang="en-US" sz="2600" dirty="0"/>
          </a:p>
        </p:txBody>
      </p:sp>
      <p:sp>
        <p:nvSpPr>
          <p:cNvPr id="7" name="Shape 4"/>
          <p:cNvSpPr/>
          <p:nvPr/>
        </p:nvSpPr>
        <p:spPr>
          <a:xfrm>
            <a:off x="1009650" y="1301750"/>
            <a:ext cx="10172700" cy="4064000"/>
          </a:xfrm>
          <a:prstGeom prst="roundRect">
            <a:avLst>
              <a:gd name="adj" fmla="val 1875"/>
            </a:avLst>
          </a:prstGeom>
          <a:solidFill>
            <a:srgbClr val="FFFFFF"/>
          </a:solidFill>
          <a:ln/>
        </p:spPr>
      </p:sp>
      <p:pic>
        <p:nvPicPr>
          <p:cNvPr id="8" name="Image 1" descr="M(Y) q double dot plus C q dot plus K q equals u, with q = (X, Theta, Y)">    </p:cNvPr>
          <p:cNvPicPr>
            <a:picLocks noChangeAspect="1"/>
          </p:cNvPicPr>
          <p:nvPr/>
        </p:nvPicPr>
        <p:blipFill>
          <a:blip r:embed="rId2"/>
          <a:srcRect l="0" r="0" t="1" b="1"/>
          <a:stretch/>
        </p:blipFill>
        <p:spPr>
          <a:xfrm>
            <a:off x="2089150" y="1492250"/>
            <a:ext cx="8013700" cy="3683000"/>
          </a:xfrm>
          <a:prstGeom prst="rect">
            <a:avLst/>
          </a:prstGeom>
        </p:spPr>
      </p:pic>
      <p:pic>
        <p:nvPicPr>
          <p:cNvPr id="9" name="Image 2" descr="Inertia depends on Y; damping in drives and joints; stiffness only in the joints, against yaw; u the motor forces">    </p:cNvPr>
          <p:cNvPicPr>
            <a:picLocks noChangeAspect="1"/>
          </p:cNvPicPr>
          <p:nvPr/>
        </p:nvPicPr>
        <p:blipFill>
          <a:blip r:embed="rId3"/>
          <a:srcRect l="0" r="0" t="1" b="1"/>
          <a:stretch/>
        </p:blipFill>
        <p:spPr>
          <a:xfrm>
            <a:off x="2089150" y="1492250"/>
            <a:ext cx="8013700" cy="3683000"/>
          </a:xfrm>
          <a:prstGeom prst="rect">
            <a:avLst/>
          </a:prstGeom>
        </p:spPr>
      </p:pic>
      <p:pic>
        <p:nvPicPr>
          <p:cNvPr id="10" name="Image 3" descr="Masses, dampings and stiffnesses: from data, ten parameter combinations theta">    </p:cNvPr>
          <p:cNvPicPr>
            <a:picLocks noChangeAspect="1"/>
          </p:cNvPicPr>
          <p:nvPr/>
        </p:nvPicPr>
        <p:blipFill>
          <a:blip r:embed="rId4"/>
          <a:srcRect l="0" r="0" t="1" b="1"/>
          <a:stretch/>
        </p:blipFill>
        <p:spPr>
          <a:xfrm>
            <a:off x="2089150" y="1492250"/>
            <a:ext cx="8013700" cy="3683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EE8E8"/>
        </a:solidFill>
      </p:bgPr>
    </p:bg>
    <p:spTree>
      <p:nvGrpSpPr>
        <p:cNvPr id="1" name=""/>
        <p:cNvGrpSpPr/>
        <p:nvPr/>
      </p:nvGrpSpPr>
      <p:grpSpPr>
        <a:xfrm>
          <a:off x="0" y="0"/>
          <a:ext cx="0" cy="0"/>
          <a:chOff x="0" y="0"/>
          <a:chExt cx="0" cy="0"/>
        </a:xfrm>
      </p:grpSpPr>
      <p:sp>
        <p:nvSpPr>
          <p:cNvPr id="2" name="Shape 0"/>
          <p:cNvSpPr/>
          <p:nvPr/>
        </p:nvSpPr>
        <p:spPr>
          <a:xfrm>
            <a:off x="0" y="6089650"/>
            <a:ext cx="12192000" cy="768350"/>
          </a:xfrm>
          <a:prstGeom prst="rect">
            <a:avLst/>
          </a:prstGeom>
          <a:solidFill>
            <a:srgbClr val="FFFFFF"/>
          </a:solidFill>
          <a:ln/>
        </p:spPr>
      </p:sp>
      <p:sp>
        <p:nvSpPr>
          <p:cNvPr id="3" name="Text 1"/>
          <p:cNvSpPr/>
          <p:nvPr/>
        </p:nvSpPr>
        <p:spPr>
          <a:xfrm>
            <a:off x="406400" y="6369050"/>
            <a:ext cx="812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Carlito" pitchFamily="34" charset="0"/>
                <a:ea typeface="Carlito" pitchFamily="34" charset="-122"/>
                <a:cs typeface="Carlito" pitchFamily="34" charset="-120"/>
              </a:rPr>
              <a:t>8</a:t>
            </a:r>
            <a:endParaRPr lang="en-US" sz="1200" dirty="0"/>
          </a:p>
        </p:txBody>
      </p:sp>
      <p:sp>
        <p:nvSpPr>
          <p:cNvPr id="4" name="Text 2"/>
          <p:cNvSpPr/>
          <p:nvPr/>
        </p:nvSpPr>
        <p:spPr>
          <a:xfrm>
            <a:off x="1485900" y="6369050"/>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Carlito" pitchFamily="34" charset="0"/>
                <a:ea typeface="Carlito" pitchFamily="34" charset="-122"/>
                <a:cs typeface="Carlito" pitchFamily="34" charset="-120"/>
              </a:rPr>
              <a:t>Interpretable model augmentation | Dirk van den Berg</a:t>
            </a:r>
            <a:endParaRPr lang="en-US" sz="1200" dirty="0"/>
          </a:p>
        </p:txBody>
      </p:sp>
      <p:pic>
        <p:nvPicPr>
          <p:cNvPr id="5" name="Image 0" descr="TU/e logo">    </p:cNvPr>
          <p:cNvPicPr>
            <a:picLocks noChangeAspect="1"/>
          </p:cNvPicPr>
          <p:nvPr/>
        </p:nvPicPr>
        <p:blipFill>
          <a:blip r:embed="rId1"/>
          <a:srcRect l="0" r="0" t="-37" b="-37"/>
          <a:stretch/>
        </p:blipFill>
        <p:spPr>
          <a:xfrm>
            <a:off x="10877550" y="6089650"/>
            <a:ext cx="1314450" cy="768350"/>
          </a:xfrm>
          <a:prstGeom prst="rect">
            <a:avLst/>
          </a:prstGeom>
        </p:spPr>
      </p:pic>
      <p:sp>
        <p:nvSpPr>
          <p:cNvPr id="6" name="Text 3"/>
          <p:cNvSpPr/>
          <p:nvPr/>
        </p:nvSpPr>
        <p:spPr>
          <a:xfrm>
            <a:off x="1009650" y="609600"/>
            <a:ext cx="10575989" cy="388620"/>
          </a:xfrm>
          <a:prstGeom prst="rect">
            <a:avLst/>
          </a:prstGeom>
          <a:noFill/>
          <a:ln/>
        </p:spPr>
        <p:txBody>
          <a:bodyPr wrap="square" lIns="0" tIns="0" rIns="0" bIns="0" rtlCol="0" anchor="t">
            <a:normAutofit/>
          </a:bodyPr>
          <a:lstStyle/>
          <a:p>
            <a:pPr algn="l" indent="0" marL="0">
              <a:lnSpc>
                <a:spcPts val="2860"/>
              </a:lnSpc>
              <a:buNone/>
            </a:pPr>
            <a:r>
              <a:rPr lang="en-US" sz="2600" b="1" dirty="0">
                <a:solidFill>
                  <a:srgbClr val="111111"/>
                </a:solidFill>
                <a:latin typeface="Carlito" pitchFamily="34" charset="0"/>
                <a:ea typeface="Carlito" pitchFamily="34" charset="-122"/>
                <a:cs typeface="Carlito" pitchFamily="34" charset="-120"/>
              </a:rPr>
              <a:t>In simulation, the machine has something extra</a:t>
            </a:r>
            <a:endParaRPr lang="en-US" sz="2600" dirty="0"/>
          </a:p>
        </p:txBody>
      </p:sp>
      <p:sp>
        <p:nvSpPr>
          <p:cNvPr id="7" name="Shape 4"/>
          <p:cNvSpPr/>
          <p:nvPr/>
        </p:nvSpPr>
        <p:spPr>
          <a:xfrm>
            <a:off x="1009650" y="1301750"/>
            <a:ext cx="10172700" cy="3556000"/>
          </a:xfrm>
          <a:prstGeom prst="roundRect">
            <a:avLst>
              <a:gd name="adj" fmla="val 2143"/>
            </a:avLst>
          </a:prstGeom>
          <a:solidFill>
            <a:srgbClr val="FFFFFF"/>
          </a:solidFill>
          <a:ln/>
        </p:spPr>
      </p:sp>
      <p:pic>
        <p:nvPicPr>
          <p:cNvPr id="8" name="Image 1" descr="Dual-gantry as in the physics model">    </p:cNvPr>
          <p:cNvPicPr>
            <a:picLocks noChangeAspect="1"/>
          </p:cNvPicPr>
          <p:nvPr/>
        </p:nvPicPr>
        <p:blipFill>
          <a:blip r:embed="rId2"/>
          <a:srcRect l="0" r="0" t="3" b="3"/>
          <a:stretch/>
        </p:blipFill>
        <p:spPr>
          <a:xfrm>
            <a:off x="3067050" y="1492250"/>
            <a:ext cx="6057900" cy="3175000"/>
          </a:xfrm>
          <a:prstGeom prst="rect">
            <a:avLst/>
          </a:prstGeom>
        </p:spPr>
      </p:pic>
      <p:pic>
        <p:nvPicPr>
          <p:cNvPr id="9" name="Image 2" descr="Simulated machine: half of the payload sits on a spring and damper (grey)">    </p:cNvPr>
          <p:cNvPicPr>
            <a:picLocks noChangeAspect="1"/>
          </p:cNvPicPr>
          <p:nvPr/>
        </p:nvPicPr>
        <p:blipFill>
          <a:blip r:embed="rId3"/>
          <a:srcRect l="0" r="0" t="3" b="3"/>
          <a:stretch/>
        </p:blipFill>
        <p:spPr>
          <a:xfrm>
            <a:off x="3067050" y="1492250"/>
            <a:ext cx="6057900" cy="3175000"/>
          </a:xfrm>
          <a:prstGeom prst="rect">
            <a:avLst/>
          </a:prstGeom>
        </p:spPr>
      </p:pic>
      <p:sp>
        <p:nvSpPr>
          <p:cNvPr id="10" name="Text 5"/>
          <p:cNvSpPr/>
          <p:nvPr/>
        </p:nvSpPr>
        <p:spPr>
          <a:xfrm>
            <a:off x="857060" y="5080000"/>
            <a:ext cx="10477881" cy="279400"/>
          </a:xfrm>
          <a:prstGeom prst="rect">
            <a:avLst/>
          </a:prstGeom>
          <a:noFill/>
          <a:ln/>
        </p:spPr>
        <p:txBody>
          <a:bodyPr wrap="square" lIns="0" tIns="0" rIns="0" bIns="0" rtlCol="0" anchor="t">
            <a:normAutofit/>
          </a:bodyPr>
          <a:lstStyle/>
          <a:p>
            <a:pPr algn="ctr" indent="0" marL="0">
              <a:lnSpc>
                <a:spcPts val="2000"/>
              </a:lnSpc>
              <a:buNone/>
            </a:pPr>
            <a:r>
              <a:rPr lang="en-US" sz="1600" dirty="0">
                <a:solidFill>
                  <a:srgbClr val="111111"/>
                </a:solidFill>
                <a:latin typeface="Carlito" pitchFamily="34" charset="0"/>
                <a:ea typeface="Carlito" pitchFamily="34" charset="-122"/>
                <a:cs typeface="Carlito" pitchFamily="34" charset="-120"/>
              </a:rPr>
              <a:t>Half of the 10.1 kg payload on a spring and damper: a resonance at 212 Hz</a:t>
            </a:r>
            <a:endParaRPr lang="en-US" sz="1600" dirty="0"/>
          </a:p>
        </p:txBody>
      </p:sp>
      <p:sp>
        <p:nvSpPr>
          <p:cNvPr id="11" name="Text 6"/>
          <p:cNvSpPr/>
          <p:nvPr/>
        </p:nvSpPr>
        <p:spPr>
          <a:xfrm>
            <a:off x="857060" y="5461000"/>
            <a:ext cx="10477881" cy="279400"/>
          </a:xfrm>
          <a:prstGeom prst="rect">
            <a:avLst/>
          </a:prstGeom>
          <a:noFill/>
          <a:ln/>
        </p:spPr>
        <p:txBody>
          <a:bodyPr wrap="square" lIns="0" tIns="0" rIns="0" bIns="0" rtlCol="0" anchor="t">
            <a:normAutofit/>
          </a:bodyPr>
          <a:lstStyle/>
          <a:p>
            <a:pPr algn="ctr" indent="0" marL="0">
              <a:lnSpc>
                <a:spcPts val="2000"/>
              </a:lnSpc>
              <a:buNone/>
            </a:pPr>
            <a:r>
              <a:rPr lang="en-US" sz="1600" dirty="0">
                <a:solidFill>
                  <a:srgbClr val="6B6B6B"/>
                </a:solidFill>
                <a:latin typeface="Carlito" pitchFamily="34" charset="0"/>
                <a:ea typeface="Carlito" pitchFamily="34" charset="-122"/>
                <a:cs typeface="Carlito" pitchFamily="34" charset="-120"/>
              </a:rPr>
              <a:t>physics model: 6 states | simulated machine: 8 states</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EE8E8"/>
        </a:solidFill>
      </p:bgPr>
    </p:bg>
    <p:spTree>
      <p:nvGrpSpPr>
        <p:cNvPr id="1" name=""/>
        <p:cNvGrpSpPr/>
        <p:nvPr/>
      </p:nvGrpSpPr>
      <p:grpSpPr>
        <a:xfrm>
          <a:off x="0" y="0"/>
          <a:ext cx="0" cy="0"/>
          <a:chOff x="0" y="0"/>
          <a:chExt cx="0" cy="0"/>
        </a:xfrm>
      </p:grpSpPr>
      <p:sp>
        <p:nvSpPr>
          <p:cNvPr id="2" name="Shape 0"/>
          <p:cNvSpPr/>
          <p:nvPr/>
        </p:nvSpPr>
        <p:spPr>
          <a:xfrm>
            <a:off x="0" y="6089650"/>
            <a:ext cx="12192000" cy="768350"/>
          </a:xfrm>
          <a:prstGeom prst="rect">
            <a:avLst/>
          </a:prstGeom>
          <a:solidFill>
            <a:srgbClr val="FFFFFF"/>
          </a:solidFill>
          <a:ln/>
        </p:spPr>
      </p:sp>
      <p:sp>
        <p:nvSpPr>
          <p:cNvPr id="3" name="Text 1"/>
          <p:cNvSpPr/>
          <p:nvPr/>
        </p:nvSpPr>
        <p:spPr>
          <a:xfrm>
            <a:off x="406400" y="6369050"/>
            <a:ext cx="812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Carlito" pitchFamily="34" charset="0"/>
                <a:ea typeface="Carlito" pitchFamily="34" charset="-122"/>
                <a:cs typeface="Carlito" pitchFamily="34" charset="-120"/>
              </a:rPr>
              <a:t>9</a:t>
            </a:r>
            <a:endParaRPr lang="en-US" sz="1200" dirty="0"/>
          </a:p>
        </p:txBody>
      </p:sp>
      <p:sp>
        <p:nvSpPr>
          <p:cNvPr id="4" name="Text 2"/>
          <p:cNvSpPr/>
          <p:nvPr/>
        </p:nvSpPr>
        <p:spPr>
          <a:xfrm>
            <a:off x="1485900" y="6369050"/>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Carlito" pitchFamily="34" charset="0"/>
                <a:ea typeface="Carlito" pitchFamily="34" charset="-122"/>
                <a:cs typeface="Carlito" pitchFamily="34" charset="-120"/>
              </a:rPr>
              <a:t>Interpretable model augmentation | Dirk van den Berg</a:t>
            </a:r>
            <a:endParaRPr lang="en-US" sz="1200" dirty="0"/>
          </a:p>
        </p:txBody>
      </p:sp>
      <p:pic>
        <p:nvPicPr>
          <p:cNvPr id="5" name="Image 0" descr="TU/e logo">    </p:cNvPr>
          <p:cNvPicPr>
            <a:picLocks noChangeAspect="1"/>
          </p:cNvPicPr>
          <p:nvPr/>
        </p:nvPicPr>
        <p:blipFill>
          <a:blip r:embed="rId1"/>
          <a:srcRect l="0" r="0" t="-37" b="-37"/>
          <a:stretch/>
        </p:blipFill>
        <p:spPr>
          <a:xfrm>
            <a:off x="10877550" y="6089650"/>
            <a:ext cx="1314450" cy="768350"/>
          </a:xfrm>
          <a:prstGeom prst="rect">
            <a:avLst/>
          </a:prstGeom>
        </p:spPr>
      </p:pic>
      <p:sp>
        <p:nvSpPr>
          <p:cNvPr id="6" name="Text 3"/>
          <p:cNvSpPr/>
          <p:nvPr/>
        </p:nvSpPr>
        <p:spPr>
          <a:xfrm>
            <a:off x="1009650" y="609600"/>
            <a:ext cx="10575989" cy="388620"/>
          </a:xfrm>
          <a:prstGeom prst="rect">
            <a:avLst/>
          </a:prstGeom>
          <a:noFill/>
          <a:ln/>
        </p:spPr>
        <p:txBody>
          <a:bodyPr wrap="square" lIns="0" tIns="0" rIns="0" bIns="0" rtlCol="0" anchor="t">
            <a:normAutofit/>
          </a:bodyPr>
          <a:lstStyle/>
          <a:p>
            <a:pPr algn="l" indent="0" marL="0">
              <a:lnSpc>
                <a:spcPts val="2860"/>
              </a:lnSpc>
              <a:buNone/>
            </a:pPr>
            <a:r>
              <a:rPr lang="en-US" sz="2600" b="1" dirty="0">
                <a:solidFill>
                  <a:srgbClr val="111111"/>
                </a:solidFill>
                <a:latin typeface="Carlito" pitchFamily="34" charset="0"/>
                <a:ea typeface="Carlito" pitchFamily="34" charset="-122"/>
                <a:cs typeface="Carlito" pitchFamily="34" charset="-120"/>
              </a:rPr>
              <a:t>Data from the simulated machine</a:t>
            </a:r>
            <a:endParaRPr lang="en-US" sz="2600" dirty="0"/>
          </a:p>
        </p:txBody>
      </p:sp>
      <p:sp>
        <p:nvSpPr>
          <p:cNvPr id="7" name="Shape 4"/>
          <p:cNvSpPr/>
          <p:nvPr/>
        </p:nvSpPr>
        <p:spPr>
          <a:xfrm>
            <a:off x="1009650" y="1905000"/>
            <a:ext cx="2400300" cy="1905000"/>
          </a:xfrm>
          <a:prstGeom prst="roundRect">
            <a:avLst>
              <a:gd name="adj" fmla="val 4000"/>
            </a:avLst>
          </a:prstGeom>
          <a:solidFill>
            <a:srgbClr val="FFFFFF"/>
          </a:solidFill>
          <a:ln/>
        </p:spPr>
      </p:sp>
      <p:sp>
        <p:nvSpPr>
          <p:cNvPr id="8" name="Text 5"/>
          <p:cNvSpPr/>
          <p:nvPr/>
        </p:nvSpPr>
        <p:spPr>
          <a:xfrm>
            <a:off x="1952625" y="2378714"/>
            <a:ext cx="514271" cy="665480"/>
          </a:xfrm>
          <a:prstGeom prst="rect">
            <a:avLst/>
          </a:prstGeom>
          <a:noFill/>
          <a:ln/>
        </p:spPr>
        <p:txBody>
          <a:bodyPr wrap="square" lIns="0" tIns="0" rIns="0" bIns="0" rtlCol="0" anchor="t">
            <a:normAutofit/>
          </a:bodyPr>
          <a:lstStyle/>
          <a:p>
            <a:pPr algn="ctr" indent="0" marL="0">
              <a:lnSpc>
                <a:spcPts val="5040"/>
              </a:lnSpc>
              <a:buNone/>
            </a:pPr>
            <a:r>
              <a:rPr lang="en-US" sz="3600" b="1" dirty="0">
                <a:solidFill>
                  <a:srgbClr val="C81919"/>
                </a:solidFill>
                <a:latin typeface="Carlito" pitchFamily="34" charset="0"/>
                <a:ea typeface="Carlito" pitchFamily="34" charset="-122"/>
                <a:cs typeface="Carlito" pitchFamily="34" charset="-120"/>
              </a:rPr>
              <a:t>14</a:t>
            </a:r>
            <a:endParaRPr lang="en-US" sz="3600" dirty="0"/>
          </a:p>
        </p:txBody>
      </p:sp>
      <p:sp>
        <p:nvSpPr>
          <p:cNvPr id="9" name="Text 6"/>
          <p:cNvSpPr/>
          <p:nvPr/>
        </p:nvSpPr>
        <p:spPr>
          <a:xfrm>
            <a:off x="1577181" y="3107692"/>
            <a:ext cx="1265238" cy="254000"/>
          </a:xfrm>
          <a:prstGeom prst="rect">
            <a:avLst/>
          </a:prstGeom>
          <a:noFill/>
          <a:ln/>
        </p:spPr>
        <p:txBody>
          <a:bodyPr wrap="square" lIns="0" tIns="0" rIns="0" bIns="0" rtlCol="0" anchor="t">
            <a:normAutofit/>
          </a:bodyPr>
          <a:lstStyle/>
          <a:p>
            <a:pPr algn="ctr" indent="0" marL="0">
              <a:lnSpc>
                <a:spcPts val="1800"/>
              </a:lnSpc>
              <a:buNone/>
            </a:pPr>
            <a:r>
              <a:rPr lang="en-US" sz="1500" dirty="0">
                <a:solidFill>
                  <a:srgbClr val="111111"/>
                </a:solidFill>
                <a:latin typeface="Carlito" pitchFamily="34" charset="0"/>
                <a:ea typeface="Carlito" pitchFamily="34" charset="-122"/>
                <a:cs typeface="Carlito" pitchFamily="34" charset="-120"/>
              </a:rPr>
              <a:t>training records</a:t>
            </a:r>
            <a:endParaRPr lang="en-US" sz="1500" dirty="0"/>
          </a:p>
        </p:txBody>
      </p:sp>
      <p:sp>
        <p:nvSpPr>
          <p:cNvPr id="10" name="Shape 7"/>
          <p:cNvSpPr/>
          <p:nvPr/>
        </p:nvSpPr>
        <p:spPr>
          <a:xfrm>
            <a:off x="3600450" y="1905000"/>
            <a:ext cx="2400300" cy="1905000"/>
          </a:xfrm>
          <a:prstGeom prst="roundRect">
            <a:avLst>
              <a:gd name="adj" fmla="val 4000"/>
            </a:avLst>
          </a:prstGeom>
          <a:solidFill>
            <a:srgbClr val="FFFFFF"/>
          </a:solidFill>
          <a:ln/>
        </p:spPr>
      </p:sp>
      <p:sp>
        <p:nvSpPr>
          <p:cNvPr id="11" name="Text 8"/>
          <p:cNvSpPr/>
          <p:nvPr/>
        </p:nvSpPr>
        <p:spPr>
          <a:xfrm>
            <a:off x="4659313" y="2378714"/>
            <a:ext cx="282575" cy="665480"/>
          </a:xfrm>
          <a:prstGeom prst="rect">
            <a:avLst/>
          </a:prstGeom>
          <a:noFill/>
          <a:ln/>
        </p:spPr>
        <p:txBody>
          <a:bodyPr wrap="square" lIns="0" tIns="0" rIns="0" bIns="0" rtlCol="0" anchor="t">
            <a:normAutofit/>
          </a:bodyPr>
          <a:lstStyle/>
          <a:p>
            <a:pPr algn="ctr" indent="0" marL="0">
              <a:lnSpc>
                <a:spcPts val="5040"/>
              </a:lnSpc>
              <a:buNone/>
            </a:pPr>
            <a:r>
              <a:rPr lang="en-US" sz="3600" b="1" dirty="0">
                <a:solidFill>
                  <a:srgbClr val="C81919"/>
                </a:solidFill>
                <a:latin typeface="Carlito" pitchFamily="34" charset="0"/>
                <a:ea typeface="Carlito" pitchFamily="34" charset="-122"/>
                <a:cs typeface="Carlito" pitchFamily="34" charset="-120"/>
              </a:rPr>
              <a:t>4</a:t>
            </a:r>
            <a:endParaRPr lang="en-US" sz="3600" dirty="0"/>
          </a:p>
        </p:txBody>
      </p:sp>
      <p:sp>
        <p:nvSpPr>
          <p:cNvPr id="12" name="Text 9"/>
          <p:cNvSpPr/>
          <p:nvPr/>
        </p:nvSpPr>
        <p:spPr>
          <a:xfrm>
            <a:off x="4134723" y="3107692"/>
            <a:ext cx="1331754" cy="254000"/>
          </a:xfrm>
          <a:prstGeom prst="rect">
            <a:avLst/>
          </a:prstGeom>
          <a:noFill/>
          <a:ln/>
        </p:spPr>
        <p:txBody>
          <a:bodyPr wrap="square" lIns="0" tIns="0" rIns="0" bIns="0" rtlCol="0" anchor="t">
            <a:normAutofit/>
          </a:bodyPr>
          <a:lstStyle/>
          <a:p>
            <a:pPr algn="ctr" indent="0" marL="0">
              <a:lnSpc>
                <a:spcPts val="1800"/>
              </a:lnSpc>
              <a:buNone/>
            </a:pPr>
            <a:r>
              <a:rPr lang="en-US" sz="1500" dirty="0">
                <a:solidFill>
                  <a:srgbClr val="111111"/>
                </a:solidFill>
                <a:latin typeface="Carlito" pitchFamily="34" charset="0"/>
                <a:ea typeface="Carlito" pitchFamily="34" charset="-122"/>
                <a:cs typeface="Carlito" pitchFamily="34" charset="-120"/>
              </a:rPr>
              <a:t>held-out records</a:t>
            </a:r>
            <a:endParaRPr lang="en-US" sz="1500" dirty="0"/>
          </a:p>
        </p:txBody>
      </p:sp>
      <p:sp>
        <p:nvSpPr>
          <p:cNvPr id="13" name="Shape 10"/>
          <p:cNvSpPr/>
          <p:nvPr/>
        </p:nvSpPr>
        <p:spPr>
          <a:xfrm>
            <a:off x="6191250" y="1905000"/>
            <a:ext cx="2400300" cy="1905000"/>
          </a:xfrm>
          <a:prstGeom prst="roundRect">
            <a:avLst>
              <a:gd name="adj" fmla="val 4000"/>
            </a:avLst>
          </a:prstGeom>
          <a:solidFill>
            <a:srgbClr val="FFFFFF"/>
          </a:solidFill>
          <a:ln/>
        </p:spPr>
      </p:sp>
      <p:sp>
        <p:nvSpPr>
          <p:cNvPr id="14" name="Text 11"/>
          <p:cNvSpPr/>
          <p:nvPr/>
        </p:nvSpPr>
        <p:spPr>
          <a:xfrm>
            <a:off x="6991350" y="2378714"/>
            <a:ext cx="800021" cy="665480"/>
          </a:xfrm>
          <a:prstGeom prst="rect">
            <a:avLst/>
          </a:prstGeom>
          <a:noFill/>
          <a:ln/>
        </p:spPr>
        <p:txBody>
          <a:bodyPr wrap="square" lIns="0" tIns="0" rIns="0" bIns="0" rtlCol="0" anchor="t">
            <a:normAutofit/>
          </a:bodyPr>
          <a:lstStyle/>
          <a:p>
            <a:pPr algn="ctr" indent="0" marL="0">
              <a:lnSpc>
                <a:spcPts val="5040"/>
              </a:lnSpc>
              <a:buNone/>
            </a:pPr>
            <a:r>
              <a:rPr lang="en-US" sz="3600" b="1" dirty="0">
                <a:solidFill>
                  <a:srgbClr val="C81919"/>
                </a:solidFill>
                <a:latin typeface="Carlito" pitchFamily="34" charset="0"/>
                <a:ea typeface="Carlito" pitchFamily="34" charset="-122"/>
                <a:cs typeface="Carlito" pitchFamily="34" charset="-120"/>
              </a:rPr>
              <a:t>12 s</a:t>
            </a:r>
            <a:endParaRPr lang="en-US" sz="3600" dirty="0"/>
          </a:p>
        </p:txBody>
      </p:sp>
      <p:sp>
        <p:nvSpPr>
          <p:cNvPr id="15" name="Text 12"/>
          <p:cNvSpPr/>
          <p:nvPr/>
        </p:nvSpPr>
        <p:spPr>
          <a:xfrm>
            <a:off x="6609239" y="3107692"/>
            <a:ext cx="1564323" cy="254000"/>
          </a:xfrm>
          <a:prstGeom prst="rect">
            <a:avLst/>
          </a:prstGeom>
          <a:noFill/>
          <a:ln/>
        </p:spPr>
        <p:txBody>
          <a:bodyPr wrap="square" lIns="0" tIns="0" rIns="0" bIns="0" rtlCol="0" anchor="t">
            <a:normAutofit/>
          </a:bodyPr>
          <a:lstStyle/>
          <a:p>
            <a:pPr algn="ctr" indent="0" marL="0">
              <a:lnSpc>
                <a:spcPts val="1800"/>
              </a:lnSpc>
              <a:buNone/>
            </a:pPr>
            <a:r>
              <a:rPr lang="en-US" sz="1500" dirty="0">
                <a:solidFill>
                  <a:srgbClr val="111111"/>
                </a:solidFill>
                <a:latin typeface="Carlito" pitchFamily="34" charset="0"/>
                <a:ea typeface="Carlito" pitchFamily="34" charset="-122"/>
                <a:cs typeface="Carlito" pitchFamily="34" charset="-120"/>
              </a:rPr>
              <a:t>per record, at 4 kHz</a:t>
            </a:r>
            <a:endParaRPr lang="en-US" sz="1500" dirty="0"/>
          </a:p>
        </p:txBody>
      </p:sp>
      <p:sp>
        <p:nvSpPr>
          <p:cNvPr id="16" name="Shape 13"/>
          <p:cNvSpPr/>
          <p:nvPr/>
        </p:nvSpPr>
        <p:spPr>
          <a:xfrm>
            <a:off x="8782050" y="1905000"/>
            <a:ext cx="2400300" cy="1905000"/>
          </a:xfrm>
          <a:prstGeom prst="roundRect">
            <a:avLst>
              <a:gd name="adj" fmla="val 4000"/>
            </a:avLst>
          </a:prstGeom>
          <a:solidFill>
            <a:srgbClr val="FFFFFF"/>
          </a:solidFill>
          <a:ln/>
        </p:spPr>
      </p:sp>
      <p:sp>
        <p:nvSpPr>
          <p:cNvPr id="17" name="Text 14"/>
          <p:cNvSpPr/>
          <p:nvPr/>
        </p:nvSpPr>
        <p:spPr>
          <a:xfrm>
            <a:off x="9062852" y="2476500"/>
            <a:ext cx="1838616" cy="469900"/>
          </a:xfrm>
          <a:prstGeom prst="rect">
            <a:avLst/>
          </a:prstGeom>
          <a:noFill/>
          <a:ln/>
        </p:spPr>
        <p:txBody>
          <a:bodyPr wrap="square" lIns="0" tIns="0" rIns="0" bIns="0" rtlCol="0" anchor="t">
            <a:normAutofit/>
          </a:bodyPr>
          <a:lstStyle/>
          <a:p>
            <a:pPr algn="ctr" indent="0" marL="0">
              <a:lnSpc>
                <a:spcPts val="3500"/>
              </a:lnSpc>
              <a:buNone/>
            </a:pPr>
            <a:r>
              <a:rPr lang="en-US" sz="2500" b="1" dirty="0">
                <a:solidFill>
                  <a:srgbClr val="C81919"/>
                </a:solidFill>
                <a:latin typeface="Carlito" pitchFamily="34" charset="0"/>
                <a:ea typeface="Carlito" pitchFamily="34" charset="-122"/>
                <a:cs typeface="Carlito" pitchFamily="34" charset="-120"/>
              </a:rPr>
              <a:t>140 to 230 Hz</a:t>
            </a:r>
            <a:endParaRPr lang="en-US" sz="2500" dirty="0"/>
          </a:p>
        </p:txBody>
      </p:sp>
      <p:sp>
        <p:nvSpPr>
          <p:cNvPr id="18" name="Text 15"/>
          <p:cNvSpPr/>
          <p:nvPr/>
        </p:nvSpPr>
        <p:spPr>
          <a:xfrm>
            <a:off x="8999736" y="3009900"/>
            <a:ext cx="1964848" cy="254000"/>
          </a:xfrm>
          <a:prstGeom prst="rect">
            <a:avLst/>
          </a:prstGeom>
          <a:noFill/>
          <a:ln/>
        </p:spPr>
        <p:txBody>
          <a:bodyPr wrap="square" lIns="0" tIns="0" rIns="0" bIns="0" rtlCol="0" anchor="t">
            <a:normAutofit/>
          </a:bodyPr>
          <a:lstStyle/>
          <a:p>
            <a:pPr algn="ctr" indent="0" marL="0">
              <a:lnSpc>
                <a:spcPts val="1800"/>
              </a:lnSpc>
              <a:buNone/>
            </a:pPr>
            <a:r>
              <a:rPr lang="en-US" sz="1500" dirty="0">
                <a:solidFill>
                  <a:srgbClr val="111111"/>
                </a:solidFill>
                <a:latin typeface="Carlito" pitchFamily="34" charset="0"/>
                <a:ea typeface="Carlito" pitchFamily="34" charset="-122"/>
                <a:cs typeface="Carlito" pitchFamily="34" charset="-120"/>
              </a:rPr>
              <a:t>excitation, covers 212 Hz</a:t>
            </a:r>
            <a:endParaRPr lang="en-US" sz="1500" dirty="0"/>
          </a:p>
        </p:txBody>
      </p:sp>
      <p:sp>
        <p:nvSpPr>
          <p:cNvPr id="19" name="Text 16"/>
          <p:cNvSpPr/>
          <p:nvPr/>
        </p:nvSpPr>
        <p:spPr>
          <a:xfrm>
            <a:off x="857060" y="4318000"/>
            <a:ext cx="10477881" cy="279400"/>
          </a:xfrm>
          <a:prstGeom prst="rect">
            <a:avLst/>
          </a:prstGeom>
          <a:noFill/>
          <a:ln/>
        </p:spPr>
        <p:txBody>
          <a:bodyPr wrap="square" lIns="0" tIns="0" rIns="0" bIns="0" rtlCol="0" anchor="t">
            <a:normAutofit/>
          </a:bodyPr>
          <a:lstStyle/>
          <a:p>
            <a:pPr algn="ctr" indent="0" marL="0">
              <a:lnSpc>
                <a:spcPts val="2000"/>
              </a:lnSpc>
              <a:buNone/>
            </a:pPr>
            <a:r>
              <a:rPr lang="en-US" sz="1600" dirty="0">
                <a:solidFill>
                  <a:srgbClr val="111111"/>
                </a:solidFill>
                <a:latin typeface="Carlito" pitchFamily="34" charset="0"/>
                <a:ea typeface="Carlito" pitchFamily="34" charset="-122"/>
                <a:cs typeface="Carlito" pitchFamily="34" charset="-120"/>
              </a:rPr>
              <a:t>Noiseless, with the controller in the loop, as the machine always runs</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EE8E8"/>
        </a:solidFill>
      </p:bgPr>
    </p:bg>
    <p:spTree>
      <p:nvGrpSpPr>
        <p:cNvPr id="1" name=""/>
        <p:cNvGrpSpPr/>
        <p:nvPr/>
      </p:nvGrpSpPr>
      <p:grpSpPr>
        <a:xfrm>
          <a:off x="0" y="0"/>
          <a:ext cx="0" cy="0"/>
          <a:chOff x="0" y="0"/>
          <a:chExt cx="0" cy="0"/>
        </a:xfrm>
      </p:grpSpPr>
      <p:sp>
        <p:nvSpPr>
          <p:cNvPr id="2" name="Shape 0"/>
          <p:cNvSpPr/>
          <p:nvPr/>
        </p:nvSpPr>
        <p:spPr>
          <a:xfrm>
            <a:off x="0" y="6089650"/>
            <a:ext cx="12192000" cy="768350"/>
          </a:xfrm>
          <a:prstGeom prst="rect">
            <a:avLst/>
          </a:prstGeom>
          <a:solidFill>
            <a:srgbClr val="FFFFFF"/>
          </a:solidFill>
          <a:ln/>
        </p:spPr>
      </p:sp>
      <p:sp>
        <p:nvSpPr>
          <p:cNvPr id="3" name="Text 1"/>
          <p:cNvSpPr/>
          <p:nvPr/>
        </p:nvSpPr>
        <p:spPr>
          <a:xfrm>
            <a:off x="406400" y="6369050"/>
            <a:ext cx="812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Carlito" pitchFamily="34" charset="0"/>
                <a:ea typeface="Carlito" pitchFamily="34" charset="-122"/>
                <a:cs typeface="Carlito" pitchFamily="34" charset="-120"/>
              </a:rPr>
              <a:t>10</a:t>
            </a:r>
            <a:endParaRPr lang="en-US" sz="1200" dirty="0"/>
          </a:p>
        </p:txBody>
      </p:sp>
      <p:sp>
        <p:nvSpPr>
          <p:cNvPr id="4" name="Text 2"/>
          <p:cNvSpPr/>
          <p:nvPr/>
        </p:nvSpPr>
        <p:spPr>
          <a:xfrm>
            <a:off x="1485900" y="6369050"/>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Carlito" pitchFamily="34" charset="0"/>
                <a:ea typeface="Carlito" pitchFamily="34" charset="-122"/>
                <a:cs typeface="Carlito" pitchFamily="34" charset="-120"/>
              </a:rPr>
              <a:t>Interpretable model augmentation | Dirk van den Berg</a:t>
            </a:r>
            <a:endParaRPr lang="en-US" sz="1200" dirty="0"/>
          </a:p>
        </p:txBody>
      </p:sp>
      <p:pic>
        <p:nvPicPr>
          <p:cNvPr id="5" name="Image 0" descr="TU/e logo">    </p:cNvPr>
          <p:cNvPicPr>
            <a:picLocks noChangeAspect="1"/>
          </p:cNvPicPr>
          <p:nvPr/>
        </p:nvPicPr>
        <p:blipFill>
          <a:blip r:embed="rId1"/>
          <a:srcRect l="0" r="0" t="-37" b="-37"/>
          <a:stretch/>
        </p:blipFill>
        <p:spPr>
          <a:xfrm>
            <a:off x="10877550" y="6089650"/>
            <a:ext cx="1314450" cy="768350"/>
          </a:xfrm>
          <a:prstGeom prst="rect">
            <a:avLst/>
          </a:prstGeom>
        </p:spPr>
      </p:pic>
      <p:sp>
        <p:nvSpPr>
          <p:cNvPr id="6" name="Text 3"/>
          <p:cNvSpPr/>
          <p:nvPr/>
        </p:nvSpPr>
        <p:spPr>
          <a:xfrm>
            <a:off x="1009650" y="609600"/>
            <a:ext cx="10575989" cy="388620"/>
          </a:xfrm>
          <a:prstGeom prst="rect">
            <a:avLst/>
          </a:prstGeom>
          <a:noFill/>
          <a:ln/>
        </p:spPr>
        <p:txBody>
          <a:bodyPr wrap="square" lIns="0" tIns="0" rIns="0" bIns="0" rtlCol="0" anchor="t">
            <a:normAutofit/>
          </a:bodyPr>
          <a:lstStyle/>
          <a:p>
            <a:pPr algn="l" indent="0" marL="0">
              <a:lnSpc>
                <a:spcPts val="2860"/>
              </a:lnSpc>
              <a:buNone/>
            </a:pPr>
            <a:r>
              <a:rPr lang="en-US" sz="2600" b="1" dirty="0">
                <a:solidFill>
                  <a:srgbClr val="111111"/>
                </a:solidFill>
                <a:latin typeface="Carlito" pitchFamily="34" charset="0"/>
                <a:ea typeface="Carlito" pitchFamily="34" charset="-122"/>
                <a:cs typeface="Carlito" pitchFamily="34" charset="-120"/>
              </a:rPr>
              <a:t>The physics model predicts one sample ahead</a:t>
            </a:r>
            <a:endParaRPr lang="en-US" sz="2600" dirty="0"/>
          </a:p>
        </p:txBody>
      </p:sp>
      <p:sp>
        <p:nvSpPr>
          <p:cNvPr id="7" name="Shape 4"/>
          <p:cNvSpPr/>
          <p:nvPr/>
        </p:nvSpPr>
        <p:spPr>
          <a:xfrm>
            <a:off x="1009650" y="1301750"/>
            <a:ext cx="10172700" cy="4064000"/>
          </a:xfrm>
          <a:prstGeom prst="roundRect">
            <a:avLst>
              <a:gd name="adj" fmla="val 1875"/>
            </a:avLst>
          </a:prstGeom>
          <a:solidFill>
            <a:srgbClr val="FFFFFF"/>
          </a:solidFill>
          <a:ln/>
        </p:spPr>
      </p:sp>
      <p:pic>
        <p:nvPicPr>
          <p:cNvPr id="8" name="Image 1" descr="The physical state: positions and velocities at sample k">    </p:cNvPr>
          <p:cNvPicPr>
            <a:picLocks noChangeAspect="1"/>
          </p:cNvPicPr>
          <p:nvPr/>
        </p:nvPicPr>
        <p:blipFill>
          <a:blip r:embed="rId2"/>
          <a:srcRect l="7" r="7" t="0" b="0"/>
          <a:stretch/>
        </p:blipFill>
        <p:spPr>
          <a:xfrm>
            <a:off x="2673350" y="1492250"/>
            <a:ext cx="6838950" cy="3683000"/>
          </a:xfrm>
          <a:prstGeom prst="rect">
            <a:avLst/>
          </a:prstGeom>
        </p:spPr>
      </p:pic>
      <p:pic>
        <p:nvPicPr>
          <p:cNvPr id="9" name="Image 2" descr="The physics model f_base takes the state and the input u_k">    </p:cNvPr>
          <p:cNvPicPr>
            <a:picLocks noChangeAspect="1"/>
          </p:cNvPicPr>
          <p:nvPr/>
        </p:nvPicPr>
        <p:blipFill>
          <a:blip r:embed="rId3"/>
          <a:srcRect l="7" r="7" t="0" b="0"/>
          <a:stretch/>
        </p:blipFill>
        <p:spPr>
          <a:xfrm>
            <a:off x="2673350" y="1492250"/>
            <a:ext cx="6838950" cy="3683000"/>
          </a:xfrm>
          <a:prstGeom prst="rect">
            <a:avLst/>
          </a:prstGeom>
        </p:spPr>
      </p:pic>
      <p:pic>
        <p:nvPicPr>
          <p:cNvPr id="10" name="Image 3" descr="and gives the state at sample k+1">    </p:cNvPr>
          <p:cNvPicPr>
            <a:picLocks noChangeAspect="1"/>
          </p:cNvPicPr>
          <p:nvPr/>
        </p:nvPicPr>
        <p:blipFill>
          <a:blip r:embed="rId4"/>
          <a:srcRect l="7" r="7" t="0" b="0"/>
          <a:stretch/>
        </p:blipFill>
        <p:spPr>
          <a:xfrm>
            <a:off x="2673350" y="1492250"/>
            <a:ext cx="6838950" cy="3683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EE8E8"/>
        </a:solidFill>
      </p:bgPr>
    </p:bg>
    <p:spTree>
      <p:nvGrpSpPr>
        <p:cNvPr id="1" name=""/>
        <p:cNvGrpSpPr/>
        <p:nvPr/>
      </p:nvGrpSpPr>
      <p:grpSpPr>
        <a:xfrm>
          <a:off x="0" y="0"/>
          <a:ext cx="0" cy="0"/>
          <a:chOff x="0" y="0"/>
          <a:chExt cx="0" cy="0"/>
        </a:xfrm>
      </p:grpSpPr>
      <p:sp>
        <p:nvSpPr>
          <p:cNvPr id="2" name="Shape 0"/>
          <p:cNvSpPr/>
          <p:nvPr/>
        </p:nvSpPr>
        <p:spPr>
          <a:xfrm>
            <a:off x="0" y="6089650"/>
            <a:ext cx="12192000" cy="768350"/>
          </a:xfrm>
          <a:prstGeom prst="rect">
            <a:avLst/>
          </a:prstGeom>
          <a:solidFill>
            <a:srgbClr val="FFFFFF"/>
          </a:solidFill>
          <a:ln/>
        </p:spPr>
      </p:sp>
      <p:sp>
        <p:nvSpPr>
          <p:cNvPr id="3" name="Text 1"/>
          <p:cNvSpPr/>
          <p:nvPr/>
        </p:nvSpPr>
        <p:spPr>
          <a:xfrm>
            <a:off x="406400" y="6369050"/>
            <a:ext cx="812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Carlito" pitchFamily="34" charset="0"/>
                <a:ea typeface="Carlito" pitchFamily="34" charset="-122"/>
                <a:cs typeface="Carlito" pitchFamily="34" charset="-120"/>
              </a:rPr>
              <a:t>11</a:t>
            </a:r>
            <a:endParaRPr lang="en-US" sz="1200" dirty="0"/>
          </a:p>
        </p:txBody>
      </p:sp>
      <p:sp>
        <p:nvSpPr>
          <p:cNvPr id="4" name="Text 2"/>
          <p:cNvSpPr/>
          <p:nvPr/>
        </p:nvSpPr>
        <p:spPr>
          <a:xfrm>
            <a:off x="1485900" y="6369050"/>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Carlito" pitchFamily="34" charset="0"/>
                <a:ea typeface="Carlito" pitchFamily="34" charset="-122"/>
                <a:cs typeface="Carlito" pitchFamily="34" charset="-120"/>
              </a:rPr>
              <a:t>Interpretable model augmentation | Dirk van den Berg</a:t>
            </a:r>
            <a:endParaRPr lang="en-US" sz="1200" dirty="0"/>
          </a:p>
        </p:txBody>
      </p:sp>
      <p:pic>
        <p:nvPicPr>
          <p:cNvPr id="5" name="Image 0" descr="TU/e logo">    </p:cNvPr>
          <p:cNvPicPr>
            <a:picLocks noChangeAspect="1"/>
          </p:cNvPicPr>
          <p:nvPr/>
        </p:nvPicPr>
        <p:blipFill>
          <a:blip r:embed="rId1"/>
          <a:srcRect l="0" r="0" t="-37" b="-37"/>
          <a:stretch/>
        </p:blipFill>
        <p:spPr>
          <a:xfrm>
            <a:off x="10877550" y="6089650"/>
            <a:ext cx="1314450" cy="768350"/>
          </a:xfrm>
          <a:prstGeom prst="rect">
            <a:avLst/>
          </a:prstGeom>
        </p:spPr>
      </p:pic>
      <p:sp>
        <p:nvSpPr>
          <p:cNvPr id="6" name="Text 3"/>
          <p:cNvSpPr/>
          <p:nvPr/>
        </p:nvSpPr>
        <p:spPr>
          <a:xfrm>
            <a:off x="1009650" y="609600"/>
            <a:ext cx="10575989" cy="388620"/>
          </a:xfrm>
          <a:prstGeom prst="rect">
            <a:avLst/>
          </a:prstGeom>
          <a:noFill/>
          <a:ln/>
        </p:spPr>
        <p:txBody>
          <a:bodyPr wrap="square" lIns="0" tIns="0" rIns="0" bIns="0" rtlCol="0" anchor="t">
            <a:normAutofit/>
          </a:bodyPr>
          <a:lstStyle/>
          <a:p>
            <a:pPr algn="l" indent="0" marL="0">
              <a:lnSpc>
                <a:spcPts val="2860"/>
              </a:lnSpc>
              <a:buNone/>
            </a:pPr>
            <a:r>
              <a:rPr lang="en-US" sz="2600" b="1" dirty="0">
                <a:solidFill>
                  <a:srgbClr val="111111"/>
                </a:solidFill>
                <a:latin typeface="Carlito" pitchFamily="34" charset="0"/>
                <a:ea typeface="Carlito" pitchFamily="34" charset="-122"/>
                <a:cs typeface="Carlito" pitchFamily="34" charset="-120"/>
              </a:rPr>
              <a:t>Augmentation: a network corrects each step</a:t>
            </a:r>
            <a:endParaRPr lang="en-US" sz="2600" dirty="0"/>
          </a:p>
        </p:txBody>
      </p:sp>
      <p:sp>
        <p:nvSpPr>
          <p:cNvPr id="7" name="Shape 4"/>
          <p:cNvSpPr/>
          <p:nvPr/>
        </p:nvSpPr>
        <p:spPr>
          <a:xfrm>
            <a:off x="1009650" y="1301750"/>
            <a:ext cx="10172700" cy="4064000"/>
          </a:xfrm>
          <a:prstGeom prst="roundRect">
            <a:avLst>
              <a:gd name="adj" fmla="val 1875"/>
            </a:avLst>
          </a:prstGeom>
          <a:solidFill>
            <a:srgbClr val="FFFFFF"/>
          </a:solidFill>
          <a:ln/>
        </p:spPr>
      </p:sp>
      <p:pic>
        <p:nvPicPr>
          <p:cNvPr id="8" name="Image 1" descr="Physics model one-step update">    </p:cNvPr>
          <p:cNvPicPr>
            <a:picLocks noChangeAspect="1"/>
          </p:cNvPicPr>
          <p:nvPr/>
        </p:nvPicPr>
        <p:blipFill>
          <a:blip r:embed="rId2"/>
          <a:srcRect l="7" r="7" t="0" b="0"/>
          <a:stretch/>
        </p:blipFill>
        <p:spPr>
          <a:xfrm>
            <a:off x="2673350" y="1492250"/>
            <a:ext cx="6838950" cy="3683000"/>
          </a:xfrm>
          <a:prstGeom prst="rect">
            <a:avLst/>
          </a:prstGeom>
        </p:spPr>
      </p:pic>
      <p:pic>
        <p:nvPicPr>
          <p:cNvPr id="9" name="Image 2" descr="A neural network phi_aug, fed the same state and input, adds a correction to the next state">    </p:cNvPr>
          <p:cNvPicPr>
            <a:picLocks noChangeAspect="1"/>
          </p:cNvPicPr>
          <p:nvPr/>
        </p:nvPicPr>
        <p:blipFill>
          <a:blip r:embed="rId3"/>
          <a:srcRect l="7" r="7" t="0" b="0"/>
          <a:stretch/>
        </p:blipFill>
        <p:spPr>
          <a:xfrm>
            <a:off x="2673350" y="1492250"/>
            <a:ext cx="6838950" cy="3683000"/>
          </a:xfrm>
          <a:prstGeom prst="rect">
            <a:avLst/>
          </a:prstGeom>
        </p:spPr>
      </p:pic>
      <p:pic>
        <p:nvPicPr>
          <p:cNvPr id="10" name="Image 3" descr="The network also has learned states of its own, which it updates every step">    </p:cNvPr>
          <p:cNvPicPr>
            <a:picLocks noChangeAspect="1"/>
          </p:cNvPicPr>
          <p:nvPr/>
        </p:nvPicPr>
        <p:blipFill>
          <a:blip r:embed="rId4"/>
          <a:srcRect l="7" r="7" t="0" b="0"/>
          <a:stretch/>
        </p:blipFill>
        <p:spPr>
          <a:xfrm>
            <a:off x="2673350" y="1492250"/>
            <a:ext cx="6838950" cy="3683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EE8E8"/>
        </a:solidFill>
      </p:bgPr>
    </p:bg>
    <p:spTree>
      <p:nvGrpSpPr>
        <p:cNvPr id="1" name=""/>
        <p:cNvGrpSpPr/>
        <p:nvPr/>
      </p:nvGrpSpPr>
      <p:grpSpPr>
        <a:xfrm>
          <a:off x="0" y="0"/>
          <a:ext cx="0" cy="0"/>
          <a:chOff x="0" y="0"/>
          <a:chExt cx="0" cy="0"/>
        </a:xfrm>
      </p:grpSpPr>
      <p:sp>
        <p:nvSpPr>
          <p:cNvPr id="2" name="Shape 0"/>
          <p:cNvSpPr/>
          <p:nvPr/>
        </p:nvSpPr>
        <p:spPr>
          <a:xfrm>
            <a:off x="0" y="6089650"/>
            <a:ext cx="12192000" cy="768350"/>
          </a:xfrm>
          <a:prstGeom prst="rect">
            <a:avLst/>
          </a:prstGeom>
          <a:solidFill>
            <a:srgbClr val="FFFFFF"/>
          </a:solidFill>
          <a:ln/>
        </p:spPr>
      </p:sp>
      <p:sp>
        <p:nvSpPr>
          <p:cNvPr id="3" name="Text 1"/>
          <p:cNvSpPr/>
          <p:nvPr/>
        </p:nvSpPr>
        <p:spPr>
          <a:xfrm>
            <a:off x="406400" y="6369050"/>
            <a:ext cx="812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Carlito" pitchFamily="34" charset="0"/>
                <a:ea typeface="Carlito" pitchFamily="34" charset="-122"/>
                <a:cs typeface="Carlito" pitchFamily="34" charset="-120"/>
              </a:rPr>
              <a:t>12</a:t>
            </a:r>
            <a:endParaRPr lang="en-US" sz="1200" dirty="0"/>
          </a:p>
        </p:txBody>
      </p:sp>
      <p:sp>
        <p:nvSpPr>
          <p:cNvPr id="4" name="Text 2"/>
          <p:cNvSpPr/>
          <p:nvPr/>
        </p:nvSpPr>
        <p:spPr>
          <a:xfrm>
            <a:off x="1485900" y="6369050"/>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Carlito" pitchFamily="34" charset="0"/>
                <a:ea typeface="Carlito" pitchFamily="34" charset="-122"/>
                <a:cs typeface="Carlito" pitchFamily="34" charset="-120"/>
              </a:rPr>
              <a:t>Interpretable model augmentation | Dirk van den Berg</a:t>
            </a:r>
            <a:endParaRPr lang="en-US" sz="1200" dirty="0"/>
          </a:p>
        </p:txBody>
      </p:sp>
      <p:pic>
        <p:nvPicPr>
          <p:cNvPr id="5" name="Image 0" descr="TU/e logo">    </p:cNvPr>
          <p:cNvPicPr>
            <a:picLocks noChangeAspect="1"/>
          </p:cNvPicPr>
          <p:nvPr/>
        </p:nvPicPr>
        <p:blipFill>
          <a:blip r:embed="rId1"/>
          <a:srcRect l="0" r="0" t="-37" b="-37"/>
          <a:stretch/>
        </p:blipFill>
        <p:spPr>
          <a:xfrm>
            <a:off x="10877550" y="6089650"/>
            <a:ext cx="1314450" cy="768350"/>
          </a:xfrm>
          <a:prstGeom prst="rect">
            <a:avLst/>
          </a:prstGeom>
        </p:spPr>
      </p:pic>
      <p:sp>
        <p:nvSpPr>
          <p:cNvPr id="6" name="Text 3"/>
          <p:cNvSpPr/>
          <p:nvPr/>
        </p:nvSpPr>
        <p:spPr>
          <a:xfrm>
            <a:off x="1009650" y="609600"/>
            <a:ext cx="10575989" cy="388620"/>
          </a:xfrm>
          <a:prstGeom prst="rect">
            <a:avLst/>
          </a:prstGeom>
          <a:noFill/>
          <a:ln/>
        </p:spPr>
        <p:txBody>
          <a:bodyPr wrap="square" lIns="0" tIns="0" rIns="0" bIns="0" rtlCol="0" anchor="t">
            <a:normAutofit/>
          </a:bodyPr>
          <a:lstStyle/>
          <a:p>
            <a:pPr algn="l" indent="0" marL="0">
              <a:lnSpc>
                <a:spcPts val="2860"/>
              </a:lnSpc>
              <a:buNone/>
            </a:pPr>
            <a:r>
              <a:rPr lang="en-US" sz="2600" b="1" dirty="0">
                <a:solidFill>
                  <a:srgbClr val="111111"/>
                </a:solidFill>
                <a:latin typeface="Carlito" pitchFamily="34" charset="0"/>
                <a:ea typeface="Carlito" pitchFamily="34" charset="-122"/>
                <a:cs typeface="Carlito" pitchFamily="34" charset="-120"/>
              </a:rPr>
              <a:t>The encoder estimates where the simulation starts</a:t>
            </a:r>
            <a:endParaRPr lang="en-US" sz="2600" dirty="0"/>
          </a:p>
        </p:txBody>
      </p:sp>
      <p:sp>
        <p:nvSpPr>
          <p:cNvPr id="7" name="Shape 4"/>
          <p:cNvSpPr/>
          <p:nvPr/>
        </p:nvSpPr>
        <p:spPr>
          <a:xfrm>
            <a:off x="1009650" y="1301750"/>
            <a:ext cx="10172700" cy="4064000"/>
          </a:xfrm>
          <a:prstGeom prst="roundRect">
            <a:avLst>
              <a:gd name="adj" fmla="val 1875"/>
            </a:avLst>
          </a:prstGeom>
          <a:solidFill>
            <a:srgbClr val="FFFFFF"/>
          </a:solidFill>
          <a:ln/>
        </p:spPr>
      </p:sp>
      <p:pic>
        <p:nvPicPr>
          <p:cNvPr id="8" name="Image 1" descr="A simulation needs a starting time k0 in the recorded data">    </p:cNvPr>
          <p:cNvPicPr>
            <a:picLocks noChangeAspect="1"/>
          </p:cNvPicPr>
          <p:nvPr/>
        </p:nvPicPr>
        <p:blipFill>
          <a:blip r:embed="rId2"/>
          <a:srcRect l="17" r="17" t="0" b="0"/>
          <a:stretch/>
        </p:blipFill>
        <p:spPr>
          <a:xfrm>
            <a:off x="2127250" y="1492250"/>
            <a:ext cx="7937500" cy="3683000"/>
          </a:xfrm>
          <a:prstGeom prst="rect">
            <a:avLst/>
          </a:prstGeom>
        </p:spPr>
      </p:pic>
      <p:pic>
        <p:nvPicPr>
          <p:cNvPr id="9" name="Image 2" descr="The start state is unknown: only positions are measured, and the learned states are never measured">    </p:cNvPr>
          <p:cNvPicPr>
            <a:picLocks noChangeAspect="1"/>
          </p:cNvPicPr>
          <p:nvPr/>
        </p:nvPicPr>
        <p:blipFill>
          <a:blip r:embed="rId3"/>
          <a:srcRect l="17" r="17" t="0" b="0"/>
          <a:stretch/>
        </p:blipFill>
        <p:spPr>
          <a:xfrm>
            <a:off x="2127250" y="1492250"/>
            <a:ext cx="7937500" cy="3683000"/>
          </a:xfrm>
          <a:prstGeom prst="rect">
            <a:avLst/>
          </a:prstGeom>
        </p:spPr>
      </p:pic>
      <p:pic>
        <p:nvPicPr>
          <p:cNvPr id="10" name="Image 3" descr="The encoder psi estimates the physical and learned start state from recorded u and y">    </p:cNvPr>
          <p:cNvPicPr>
            <a:picLocks noChangeAspect="1"/>
          </p:cNvPicPr>
          <p:nvPr/>
        </p:nvPicPr>
        <p:blipFill>
          <a:blip r:embed="rId4"/>
          <a:srcRect l="17" r="17" t="0" b="0"/>
          <a:stretch/>
        </p:blipFill>
        <p:spPr>
          <a:xfrm>
            <a:off x="2127250" y="1492250"/>
            <a:ext cx="7937500" cy="3683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EE8E8"/>
        </a:solidFill>
      </p:bgPr>
    </p:bg>
    <p:spTree>
      <p:nvGrpSpPr>
        <p:cNvPr id="1" name=""/>
        <p:cNvGrpSpPr/>
        <p:nvPr/>
      </p:nvGrpSpPr>
      <p:grpSpPr>
        <a:xfrm>
          <a:off x="0" y="0"/>
          <a:ext cx="0" cy="0"/>
          <a:chOff x="0" y="0"/>
          <a:chExt cx="0" cy="0"/>
        </a:xfrm>
      </p:grpSpPr>
      <p:sp>
        <p:nvSpPr>
          <p:cNvPr id="2" name="Shape 0"/>
          <p:cNvSpPr/>
          <p:nvPr/>
        </p:nvSpPr>
        <p:spPr>
          <a:xfrm>
            <a:off x="0" y="6089650"/>
            <a:ext cx="12192000" cy="768350"/>
          </a:xfrm>
          <a:prstGeom prst="rect">
            <a:avLst/>
          </a:prstGeom>
          <a:solidFill>
            <a:srgbClr val="FFFFFF"/>
          </a:solidFill>
          <a:ln/>
        </p:spPr>
      </p:sp>
      <p:sp>
        <p:nvSpPr>
          <p:cNvPr id="3" name="Text 1"/>
          <p:cNvSpPr/>
          <p:nvPr/>
        </p:nvSpPr>
        <p:spPr>
          <a:xfrm>
            <a:off x="406400" y="6369050"/>
            <a:ext cx="812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Carlito" pitchFamily="34" charset="0"/>
                <a:ea typeface="Carlito" pitchFamily="34" charset="-122"/>
                <a:cs typeface="Carlito" pitchFamily="34" charset="-120"/>
              </a:rPr>
              <a:t>13</a:t>
            </a:r>
            <a:endParaRPr lang="en-US" sz="1200" dirty="0"/>
          </a:p>
        </p:txBody>
      </p:sp>
      <p:sp>
        <p:nvSpPr>
          <p:cNvPr id="4" name="Text 2"/>
          <p:cNvSpPr/>
          <p:nvPr/>
        </p:nvSpPr>
        <p:spPr>
          <a:xfrm>
            <a:off x="1485900" y="6369050"/>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Carlito" pitchFamily="34" charset="0"/>
                <a:ea typeface="Carlito" pitchFamily="34" charset="-122"/>
                <a:cs typeface="Carlito" pitchFamily="34" charset="-120"/>
              </a:rPr>
              <a:t>Interpretable model augmentation | Dirk van den Berg</a:t>
            </a:r>
            <a:endParaRPr lang="en-US" sz="1200" dirty="0"/>
          </a:p>
        </p:txBody>
      </p:sp>
      <p:pic>
        <p:nvPicPr>
          <p:cNvPr id="5" name="Image 0" descr="TU/e logo">    </p:cNvPr>
          <p:cNvPicPr>
            <a:picLocks noChangeAspect="1"/>
          </p:cNvPicPr>
          <p:nvPr/>
        </p:nvPicPr>
        <p:blipFill>
          <a:blip r:embed="rId1"/>
          <a:srcRect l="0" r="0" t="-37" b="-37"/>
          <a:stretch/>
        </p:blipFill>
        <p:spPr>
          <a:xfrm>
            <a:off x="10877550" y="6089650"/>
            <a:ext cx="1314450" cy="768350"/>
          </a:xfrm>
          <a:prstGeom prst="rect">
            <a:avLst/>
          </a:prstGeom>
        </p:spPr>
      </p:pic>
      <p:sp>
        <p:nvSpPr>
          <p:cNvPr id="6" name="Text 3"/>
          <p:cNvSpPr/>
          <p:nvPr/>
        </p:nvSpPr>
        <p:spPr>
          <a:xfrm>
            <a:off x="1009650" y="609600"/>
            <a:ext cx="10575989" cy="388620"/>
          </a:xfrm>
          <a:prstGeom prst="rect">
            <a:avLst/>
          </a:prstGeom>
          <a:noFill/>
          <a:ln/>
        </p:spPr>
        <p:txBody>
          <a:bodyPr wrap="square" lIns="0" tIns="0" rIns="0" bIns="0" rtlCol="0" anchor="t">
            <a:normAutofit/>
          </a:bodyPr>
          <a:lstStyle/>
          <a:p>
            <a:pPr algn="l" indent="0" marL="0">
              <a:lnSpc>
                <a:spcPts val="2860"/>
              </a:lnSpc>
              <a:buNone/>
            </a:pPr>
            <a:r>
              <a:rPr lang="en-US" sz="2600" b="1" dirty="0">
                <a:solidFill>
                  <a:srgbClr val="111111"/>
                </a:solidFill>
                <a:latin typeface="Carlito" pitchFamily="34" charset="0"/>
                <a:ea typeface="Carlito" pitchFamily="34" charset="-122"/>
                <a:cs typeface="Carlito" pitchFamily="34" charset="-120"/>
              </a:rPr>
              <a:t>Putting it together</a:t>
            </a:r>
            <a:endParaRPr lang="en-US" sz="2600" dirty="0"/>
          </a:p>
        </p:txBody>
      </p:sp>
      <p:sp>
        <p:nvSpPr>
          <p:cNvPr id="7" name="Shape 4"/>
          <p:cNvSpPr/>
          <p:nvPr/>
        </p:nvSpPr>
        <p:spPr>
          <a:xfrm>
            <a:off x="1009650" y="1301750"/>
            <a:ext cx="10172700" cy="4064000"/>
          </a:xfrm>
          <a:prstGeom prst="roundRect">
            <a:avLst>
              <a:gd name="adj" fmla="val 1875"/>
            </a:avLst>
          </a:prstGeom>
          <a:solidFill>
            <a:srgbClr val="FFFFFF"/>
          </a:solidFill>
          <a:ln/>
        </p:spPr>
      </p:sp>
      <p:pic>
        <p:nvPicPr>
          <p:cNvPr id="8" name="Image 1" descr="Physics loop: f_base, output map h_base, one-sample delay">    </p:cNvPr>
          <p:cNvPicPr>
            <a:picLocks noChangeAspect="1"/>
          </p:cNvPicPr>
          <p:nvPr/>
        </p:nvPicPr>
        <p:blipFill>
          <a:blip r:embed="rId2"/>
          <a:srcRect l="0" r="0" t="0" b="0"/>
          <a:stretch/>
        </p:blipFill>
        <p:spPr>
          <a:xfrm>
            <a:off x="2298700" y="1492250"/>
            <a:ext cx="7588250" cy="3683000"/>
          </a:xfrm>
          <a:prstGeom prst="rect">
            <a:avLst/>
          </a:prstGeom>
        </p:spPr>
      </p:pic>
      <p:pic>
        <p:nvPicPr>
          <p:cNvPr id="9" name="Image 2" descr="Network phi_aug adds a correction to the physical state update">    </p:cNvPr>
          <p:cNvPicPr>
            <a:picLocks noChangeAspect="1"/>
          </p:cNvPicPr>
          <p:nvPr/>
        </p:nvPicPr>
        <p:blipFill>
          <a:blip r:embed="rId3"/>
          <a:srcRect l="0" r="0" t="0" b="0"/>
          <a:stretch/>
        </p:blipFill>
        <p:spPr>
          <a:xfrm>
            <a:off x="2298700" y="1492250"/>
            <a:ext cx="7588250" cy="3683000"/>
          </a:xfrm>
          <a:prstGeom prst="rect">
            <a:avLst/>
          </a:prstGeom>
        </p:spPr>
      </p:pic>
      <p:pic>
        <p:nvPicPr>
          <p:cNvPr id="10" name="Image 3" descr="The learned states loop through the network">    </p:cNvPr>
          <p:cNvPicPr>
            <a:picLocks noChangeAspect="1"/>
          </p:cNvPicPr>
          <p:nvPr/>
        </p:nvPicPr>
        <p:blipFill>
          <a:blip r:embed="rId4"/>
          <a:srcRect l="0" r="0" t="0" b="0"/>
          <a:stretch/>
        </p:blipFill>
        <p:spPr>
          <a:xfrm>
            <a:off x="2298700" y="1492250"/>
            <a:ext cx="7588250" cy="3683000"/>
          </a:xfrm>
          <a:prstGeom prst="rect">
            <a:avLst/>
          </a:prstGeom>
        </p:spPr>
      </p:pic>
      <p:pic>
        <p:nvPicPr>
          <p:cNvPr id="11" name="Image 4" descr="The encoder psi gives the initial state">    </p:cNvPr>
          <p:cNvPicPr>
            <a:picLocks noChangeAspect="1"/>
          </p:cNvPicPr>
          <p:nvPr/>
        </p:nvPicPr>
        <p:blipFill>
          <a:blip r:embed="rId5"/>
          <a:srcRect l="0" r="0" t="0" b="0"/>
          <a:stretch/>
        </p:blipFill>
        <p:spPr>
          <a:xfrm>
            <a:off x="2298700" y="1492250"/>
            <a:ext cx="7588250" cy="3683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EE8E8"/>
        </a:solidFill>
      </p:bgPr>
    </p:bg>
    <p:spTree>
      <p:nvGrpSpPr>
        <p:cNvPr id="1" name=""/>
        <p:cNvGrpSpPr/>
        <p:nvPr/>
      </p:nvGrpSpPr>
      <p:grpSpPr>
        <a:xfrm>
          <a:off x="0" y="0"/>
          <a:ext cx="0" cy="0"/>
          <a:chOff x="0" y="0"/>
          <a:chExt cx="0" cy="0"/>
        </a:xfrm>
      </p:grpSpPr>
      <p:sp>
        <p:nvSpPr>
          <p:cNvPr id="2" name="Shape 0"/>
          <p:cNvSpPr/>
          <p:nvPr/>
        </p:nvSpPr>
        <p:spPr>
          <a:xfrm>
            <a:off x="0" y="6089650"/>
            <a:ext cx="12192000" cy="768350"/>
          </a:xfrm>
          <a:prstGeom prst="rect">
            <a:avLst/>
          </a:prstGeom>
          <a:solidFill>
            <a:srgbClr val="FFFFFF"/>
          </a:solidFill>
          <a:ln/>
        </p:spPr>
      </p:sp>
      <p:sp>
        <p:nvSpPr>
          <p:cNvPr id="3" name="Text 1"/>
          <p:cNvSpPr/>
          <p:nvPr/>
        </p:nvSpPr>
        <p:spPr>
          <a:xfrm>
            <a:off x="406400" y="6369050"/>
            <a:ext cx="812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Carlito" pitchFamily="34" charset="0"/>
                <a:ea typeface="Carlito" pitchFamily="34" charset="-122"/>
                <a:cs typeface="Carlito" pitchFamily="34" charset="-120"/>
              </a:rPr>
              <a:t>14</a:t>
            </a:r>
            <a:endParaRPr lang="en-US" sz="1200" dirty="0"/>
          </a:p>
        </p:txBody>
      </p:sp>
      <p:sp>
        <p:nvSpPr>
          <p:cNvPr id="4" name="Text 2"/>
          <p:cNvSpPr/>
          <p:nvPr/>
        </p:nvSpPr>
        <p:spPr>
          <a:xfrm>
            <a:off x="1485900" y="6369050"/>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Carlito" pitchFamily="34" charset="0"/>
                <a:ea typeface="Carlito" pitchFamily="34" charset="-122"/>
                <a:cs typeface="Carlito" pitchFamily="34" charset="-120"/>
              </a:rPr>
              <a:t>Noiseless simulation, no friction, one training run per setting, earlier pipeline version.</a:t>
            </a:r>
            <a:endParaRPr lang="en-US" sz="1200" dirty="0"/>
          </a:p>
        </p:txBody>
      </p:sp>
      <p:pic>
        <p:nvPicPr>
          <p:cNvPr id="5" name="Image 0" descr="TU/e logo">    </p:cNvPr>
          <p:cNvPicPr>
            <a:picLocks noChangeAspect="1"/>
          </p:cNvPicPr>
          <p:nvPr/>
        </p:nvPicPr>
        <p:blipFill>
          <a:blip r:embed="rId1"/>
          <a:srcRect l="0" r="0" t="-37" b="-37"/>
          <a:stretch/>
        </p:blipFill>
        <p:spPr>
          <a:xfrm>
            <a:off x="10877550" y="6089650"/>
            <a:ext cx="1314450" cy="768350"/>
          </a:xfrm>
          <a:prstGeom prst="rect">
            <a:avLst/>
          </a:prstGeom>
        </p:spPr>
      </p:pic>
      <p:sp>
        <p:nvSpPr>
          <p:cNvPr id="6" name="Text 3"/>
          <p:cNvSpPr/>
          <p:nvPr/>
        </p:nvSpPr>
        <p:spPr>
          <a:xfrm>
            <a:off x="1009650" y="609600"/>
            <a:ext cx="10575989" cy="388620"/>
          </a:xfrm>
          <a:prstGeom prst="rect">
            <a:avLst/>
          </a:prstGeom>
          <a:noFill/>
          <a:ln/>
        </p:spPr>
        <p:txBody>
          <a:bodyPr wrap="square" lIns="0" tIns="0" rIns="0" bIns="0" rtlCol="0" anchor="t">
            <a:normAutofit/>
          </a:bodyPr>
          <a:lstStyle/>
          <a:p>
            <a:pPr algn="l" indent="0" marL="0">
              <a:lnSpc>
                <a:spcPts val="2860"/>
              </a:lnSpc>
              <a:buNone/>
            </a:pPr>
            <a:r>
              <a:rPr lang="en-US" sz="2600" b="1" dirty="0">
                <a:solidFill>
                  <a:srgbClr val="111111"/>
                </a:solidFill>
                <a:latin typeface="Carlito" pitchFamily="34" charset="0"/>
                <a:ea typeface="Carlito" pitchFamily="34" charset="-122"/>
                <a:cs typeface="Carlito" pitchFamily="34" charset="-120"/>
              </a:rPr>
              <a:t>On held-out data the error drops 3.6 times</a:t>
            </a:r>
            <a:endParaRPr lang="en-US" sz="2600" dirty="0"/>
          </a:p>
        </p:txBody>
      </p:sp>
      <p:sp>
        <p:nvSpPr>
          <p:cNvPr id="7" name="Shape 4"/>
          <p:cNvSpPr/>
          <p:nvPr/>
        </p:nvSpPr>
        <p:spPr>
          <a:xfrm>
            <a:off x="1009650" y="1301750"/>
            <a:ext cx="10172700" cy="3556000"/>
          </a:xfrm>
          <a:prstGeom prst="roundRect">
            <a:avLst>
              <a:gd name="adj" fmla="val 2143"/>
            </a:avLst>
          </a:prstGeom>
          <a:solidFill>
            <a:srgbClr val="FFFFFF"/>
          </a:solidFill>
          <a:ln/>
        </p:spPr>
      </p:sp>
      <p:pic>
        <p:nvPicPr>
          <p:cNvPr id="8" name="Image 1" descr="Payload position error on one held-out record: physics model in orange, augmented model in blue, with a 40 ms zoom">    </p:cNvPr>
          <p:cNvPicPr>
            <a:picLocks noChangeAspect="1"/>
          </p:cNvPicPr>
          <p:nvPr/>
        </p:nvPicPr>
        <p:blipFill>
          <a:blip r:embed="rId2"/>
          <a:srcRect l="0" r="0" t="13" b="13"/>
          <a:stretch/>
        </p:blipFill>
        <p:spPr>
          <a:xfrm>
            <a:off x="1765300" y="1492250"/>
            <a:ext cx="8661400" cy="3175000"/>
          </a:xfrm>
          <a:prstGeom prst="rect">
            <a:avLst/>
          </a:prstGeom>
        </p:spPr>
      </p:pic>
      <p:sp>
        <p:nvSpPr>
          <p:cNvPr id="9" name="Text 5"/>
          <p:cNvSpPr/>
          <p:nvPr/>
        </p:nvSpPr>
        <p:spPr>
          <a:xfrm>
            <a:off x="857060" y="5080000"/>
            <a:ext cx="10477881" cy="279400"/>
          </a:xfrm>
          <a:prstGeom prst="rect">
            <a:avLst/>
          </a:prstGeom>
          <a:noFill/>
          <a:ln/>
        </p:spPr>
        <p:txBody>
          <a:bodyPr wrap="square" lIns="0" tIns="0" rIns="0" bIns="0" rtlCol="0" anchor="t">
            <a:normAutofit/>
          </a:bodyPr>
          <a:lstStyle/>
          <a:p>
            <a:pPr algn="ctr" indent="0" marL="0">
              <a:lnSpc>
                <a:spcPts val="2000"/>
              </a:lnSpc>
              <a:buNone/>
            </a:pPr>
            <a:r>
              <a:rPr lang="en-US" sz="1600" dirty="0">
                <a:solidFill>
                  <a:srgbClr val="111111"/>
                </a:solidFill>
                <a:latin typeface="Carlito" pitchFamily="34" charset="0"/>
                <a:ea typeface="Carlito" pitchFamily="34" charset="-122"/>
                <a:cs typeface="Carlito" pitchFamily="34" charset="-120"/>
              </a:rPr>
              <a:t>RMS over 4 held-out records and 3 positions: 2.06·10⁻⁵ m to 5.77·10⁻⁶ m</a:t>
            </a:r>
            <a:endParaRPr lang="en-US" sz="1600" dirty="0"/>
          </a:p>
        </p:txBody>
      </p:sp>
      <p:sp>
        <p:nvSpPr>
          <p:cNvPr id="10" name="Text 6"/>
          <p:cNvSpPr/>
          <p:nvPr/>
        </p:nvSpPr>
        <p:spPr>
          <a:xfrm>
            <a:off x="857060" y="5461000"/>
            <a:ext cx="10477881" cy="279400"/>
          </a:xfrm>
          <a:prstGeom prst="rect">
            <a:avLst/>
          </a:prstGeom>
          <a:noFill/>
          <a:ln/>
        </p:spPr>
        <p:txBody>
          <a:bodyPr wrap="square" lIns="0" tIns="0" rIns="0" bIns="0" rtlCol="0" anchor="t">
            <a:normAutofit/>
          </a:bodyPr>
          <a:lstStyle/>
          <a:p>
            <a:pPr algn="ctr" indent="0" marL="0">
              <a:lnSpc>
                <a:spcPts val="2000"/>
              </a:lnSpc>
              <a:buNone/>
            </a:pPr>
            <a:r>
              <a:rPr lang="en-US" sz="1600" dirty="0">
                <a:solidFill>
                  <a:srgbClr val="6B6B6B"/>
                </a:solidFill>
                <a:latin typeface="Carlito" pitchFamily="34" charset="0"/>
                <a:ea typeface="Carlito" pitchFamily="34" charset="-122"/>
                <a:cs typeface="Carlito" pitchFamily="34" charset="-120"/>
              </a:rPr>
              <a:t>lower than the physics model on every held-out record</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EE8E8"/>
        </a:solidFill>
      </p:bgPr>
    </p:bg>
    <p:spTree>
      <p:nvGrpSpPr>
        <p:cNvPr id="1" name=""/>
        <p:cNvGrpSpPr/>
        <p:nvPr/>
      </p:nvGrpSpPr>
      <p:grpSpPr>
        <a:xfrm>
          <a:off x="0" y="0"/>
          <a:ext cx="0" cy="0"/>
          <a:chOff x="0" y="0"/>
          <a:chExt cx="0" cy="0"/>
        </a:xfrm>
      </p:grpSpPr>
      <p:sp>
        <p:nvSpPr>
          <p:cNvPr id="2" name="Shape 0"/>
          <p:cNvSpPr/>
          <p:nvPr/>
        </p:nvSpPr>
        <p:spPr>
          <a:xfrm>
            <a:off x="0" y="6089650"/>
            <a:ext cx="12192000" cy="768350"/>
          </a:xfrm>
          <a:prstGeom prst="rect">
            <a:avLst/>
          </a:prstGeom>
          <a:solidFill>
            <a:srgbClr val="FFFFFF"/>
          </a:solidFill>
          <a:ln/>
        </p:spPr>
      </p:sp>
      <p:sp>
        <p:nvSpPr>
          <p:cNvPr id="3" name="Text 1"/>
          <p:cNvSpPr/>
          <p:nvPr/>
        </p:nvSpPr>
        <p:spPr>
          <a:xfrm>
            <a:off x="406400" y="6369050"/>
            <a:ext cx="812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Carlito" pitchFamily="34" charset="0"/>
                <a:ea typeface="Carlito" pitchFamily="34" charset="-122"/>
                <a:cs typeface="Carlito" pitchFamily="34" charset="-120"/>
              </a:rPr>
              <a:t>15</a:t>
            </a:r>
            <a:endParaRPr lang="en-US" sz="1200" dirty="0"/>
          </a:p>
        </p:txBody>
      </p:sp>
      <p:sp>
        <p:nvSpPr>
          <p:cNvPr id="4" name="Text 2"/>
          <p:cNvSpPr/>
          <p:nvPr/>
        </p:nvSpPr>
        <p:spPr>
          <a:xfrm>
            <a:off x="1485900" y="6369050"/>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Carlito" pitchFamily="34" charset="0"/>
                <a:ea typeface="Carlito" pitchFamily="34" charset="-122"/>
                <a:cs typeface="Carlito" pitchFamily="34" charset="-120"/>
              </a:rPr>
              <a:t>Noiseless simulation, no friction, one training run per setting, earlier pipeline version.</a:t>
            </a:r>
            <a:endParaRPr lang="en-US" sz="1200" dirty="0"/>
          </a:p>
        </p:txBody>
      </p:sp>
      <p:pic>
        <p:nvPicPr>
          <p:cNvPr id="5" name="Image 0" descr="TU/e logo">    </p:cNvPr>
          <p:cNvPicPr>
            <a:picLocks noChangeAspect="1"/>
          </p:cNvPicPr>
          <p:nvPr/>
        </p:nvPicPr>
        <p:blipFill>
          <a:blip r:embed="rId1"/>
          <a:srcRect l="0" r="0" t="-37" b="-37"/>
          <a:stretch/>
        </p:blipFill>
        <p:spPr>
          <a:xfrm>
            <a:off x="10877550" y="6089650"/>
            <a:ext cx="1314450" cy="768350"/>
          </a:xfrm>
          <a:prstGeom prst="rect">
            <a:avLst/>
          </a:prstGeom>
        </p:spPr>
      </p:pic>
      <p:sp>
        <p:nvSpPr>
          <p:cNvPr id="6" name="Text 3"/>
          <p:cNvSpPr/>
          <p:nvPr/>
        </p:nvSpPr>
        <p:spPr>
          <a:xfrm>
            <a:off x="1009650" y="609600"/>
            <a:ext cx="10575989" cy="388620"/>
          </a:xfrm>
          <a:prstGeom prst="rect">
            <a:avLst/>
          </a:prstGeom>
          <a:noFill/>
          <a:ln/>
        </p:spPr>
        <p:txBody>
          <a:bodyPr wrap="square" lIns="0" tIns="0" rIns="0" bIns="0" rtlCol="0" anchor="t">
            <a:normAutofit/>
          </a:bodyPr>
          <a:lstStyle/>
          <a:p>
            <a:pPr algn="l" indent="0" marL="0">
              <a:lnSpc>
                <a:spcPts val="2860"/>
              </a:lnSpc>
              <a:buNone/>
            </a:pPr>
            <a:r>
              <a:rPr lang="en-US" sz="2600" b="1" dirty="0">
                <a:solidFill>
                  <a:srgbClr val="111111"/>
                </a:solidFill>
                <a:latin typeface="Carlito" pitchFamily="34" charset="0"/>
                <a:ea typeface="Carlito" pitchFamily="34" charset="-122"/>
                <a:cs typeface="Carlito" pitchFamily="34" charset="-120"/>
              </a:rPr>
              <a:t>A small learned block nearly suffices</a:t>
            </a:r>
            <a:endParaRPr lang="en-US" sz="2600" dirty="0"/>
          </a:p>
        </p:txBody>
      </p:sp>
      <p:sp>
        <p:nvSpPr>
          <p:cNvPr id="7" name="Shape 4"/>
          <p:cNvSpPr/>
          <p:nvPr/>
        </p:nvSpPr>
        <p:spPr>
          <a:xfrm>
            <a:off x="1009650" y="1301750"/>
            <a:ext cx="10172700" cy="3810000"/>
          </a:xfrm>
          <a:prstGeom prst="roundRect">
            <a:avLst>
              <a:gd name="adj" fmla="val 2000"/>
            </a:avLst>
          </a:prstGeom>
          <a:solidFill>
            <a:srgbClr val="FFFFFF"/>
          </a:solidFill>
          <a:ln/>
        </p:spPr>
      </p:sp>
      <p:pic>
        <p:nvPicPr>
          <p:cNvPr id="8" name="Image 1" descr="Held-out closed-loop error over training: 8 learned states ends at 5.77e-6 m, 2 learned states at 5.95e-6 m">    </p:cNvPr>
          <p:cNvPicPr>
            <a:picLocks noChangeAspect="1"/>
          </p:cNvPicPr>
          <p:nvPr/>
        </p:nvPicPr>
        <p:blipFill>
          <a:blip r:embed="rId2"/>
          <a:srcRect l="0" r="0" t="0" b="0"/>
          <a:stretch/>
        </p:blipFill>
        <p:spPr>
          <a:xfrm>
            <a:off x="3378200" y="1492250"/>
            <a:ext cx="5429250" cy="3429000"/>
          </a:xfrm>
          <a:prstGeom prst="rect">
            <a:avLst/>
          </a:prstGeom>
        </p:spPr>
      </p:pic>
      <p:sp>
        <p:nvSpPr>
          <p:cNvPr id="9" name="Text 5"/>
          <p:cNvSpPr/>
          <p:nvPr/>
        </p:nvSpPr>
        <p:spPr>
          <a:xfrm>
            <a:off x="857060" y="5365750"/>
            <a:ext cx="10477881" cy="279400"/>
          </a:xfrm>
          <a:prstGeom prst="rect">
            <a:avLst/>
          </a:prstGeom>
          <a:noFill/>
          <a:ln/>
        </p:spPr>
        <p:txBody>
          <a:bodyPr wrap="square" lIns="0" tIns="0" rIns="0" bIns="0" rtlCol="0" anchor="t">
            <a:normAutofit/>
          </a:bodyPr>
          <a:lstStyle/>
          <a:p>
            <a:pPr algn="ctr" indent="0" marL="0">
              <a:lnSpc>
                <a:spcPts val="2000"/>
              </a:lnSpc>
              <a:buNone/>
            </a:pPr>
            <a:r>
              <a:rPr lang="en-US" sz="1600" dirty="0">
                <a:solidFill>
                  <a:srgbClr val="111111"/>
                </a:solidFill>
                <a:latin typeface="Carlito" pitchFamily="34" charset="0"/>
                <a:ea typeface="Carlito" pitchFamily="34" charset="-122"/>
                <a:cs typeface="Carlito" pitchFamily="34" charset="-120"/>
              </a:rPr>
              <a:t>2.7 times the weights buys 3 %</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EE8E8"/>
        </a:solidFill>
      </p:bgPr>
    </p:bg>
    <p:spTree>
      <p:nvGrpSpPr>
        <p:cNvPr id="1" name=""/>
        <p:cNvGrpSpPr/>
        <p:nvPr/>
      </p:nvGrpSpPr>
      <p:grpSpPr>
        <a:xfrm>
          <a:off x="0" y="0"/>
          <a:ext cx="0" cy="0"/>
          <a:chOff x="0" y="0"/>
          <a:chExt cx="0" cy="0"/>
        </a:xfrm>
      </p:grpSpPr>
      <p:sp>
        <p:nvSpPr>
          <p:cNvPr id="2" name="Shape 0"/>
          <p:cNvSpPr/>
          <p:nvPr/>
        </p:nvSpPr>
        <p:spPr>
          <a:xfrm>
            <a:off x="0" y="6089650"/>
            <a:ext cx="12192000" cy="768350"/>
          </a:xfrm>
          <a:prstGeom prst="rect">
            <a:avLst/>
          </a:prstGeom>
          <a:solidFill>
            <a:srgbClr val="FFFFFF"/>
          </a:solidFill>
          <a:ln/>
        </p:spPr>
      </p:sp>
      <p:sp>
        <p:nvSpPr>
          <p:cNvPr id="3" name="Text 1"/>
          <p:cNvSpPr/>
          <p:nvPr/>
        </p:nvSpPr>
        <p:spPr>
          <a:xfrm>
            <a:off x="406400" y="6369050"/>
            <a:ext cx="812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Carlito" pitchFamily="34" charset="0"/>
                <a:ea typeface="Carlito" pitchFamily="34" charset="-122"/>
                <a:cs typeface="Carlito" pitchFamily="34" charset="-120"/>
              </a:rPr>
              <a:t>16</a:t>
            </a:r>
            <a:endParaRPr lang="en-US" sz="1200" dirty="0"/>
          </a:p>
        </p:txBody>
      </p:sp>
      <p:sp>
        <p:nvSpPr>
          <p:cNvPr id="4" name="Text 2"/>
          <p:cNvSpPr/>
          <p:nvPr/>
        </p:nvSpPr>
        <p:spPr>
          <a:xfrm>
            <a:off x="1485900" y="6369050"/>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Carlito" pitchFamily="34" charset="0"/>
                <a:ea typeface="Carlito" pitchFamily="34" charset="-122"/>
                <a:cs typeface="Carlito" pitchFamily="34" charset="-120"/>
              </a:rPr>
              <a:t>Interpretable model augmentation | Dirk van den Berg</a:t>
            </a:r>
            <a:endParaRPr lang="en-US" sz="1200" dirty="0"/>
          </a:p>
        </p:txBody>
      </p:sp>
      <p:pic>
        <p:nvPicPr>
          <p:cNvPr id="5" name="Image 0" descr="TU/e logo">    </p:cNvPr>
          <p:cNvPicPr>
            <a:picLocks noChangeAspect="1"/>
          </p:cNvPicPr>
          <p:nvPr/>
        </p:nvPicPr>
        <p:blipFill>
          <a:blip r:embed="rId1"/>
          <a:srcRect l="0" r="0" t="-37" b="-37"/>
          <a:stretch/>
        </p:blipFill>
        <p:spPr>
          <a:xfrm>
            <a:off x="10877550" y="6089650"/>
            <a:ext cx="1314450" cy="768350"/>
          </a:xfrm>
          <a:prstGeom prst="rect">
            <a:avLst/>
          </a:prstGeom>
        </p:spPr>
      </p:pic>
      <p:sp>
        <p:nvSpPr>
          <p:cNvPr id="6" name="Text 3"/>
          <p:cNvSpPr/>
          <p:nvPr/>
        </p:nvSpPr>
        <p:spPr>
          <a:xfrm>
            <a:off x="1009650" y="609600"/>
            <a:ext cx="10575989" cy="388620"/>
          </a:xfrm>
          <a:prstGeom prst="rect">
            <a:avLst/>
          </a:prstGeom>
          <a:noFill/>
          <a:ln/>
        </p:spPr>
        <p:txBody>
          <a:bodyPr wrap="square" lIns="0" tIns="0" rIns="0" bIns="0" rtlCol="0" anchor="t">
            <a:normAutofit/>
          </a:bodyPr>
          <a:lstStyle/>
          <a:p>
            <a:pPr algn="l" indent="0" marL="0">
              <a:lnSpc>
                <a:spcPts val="2860"/>
              </a:lnSpc>
              <a:buNone/>
            </a:pPr>
            <a:r>
              <a:rPr lang="en-US" sz="2600" b="1" dirty="0">
                <a:solidFill>
                  <a:srgbClr val="111111"/>
                </a:solidFill>
                <a:latin typeface="Carlito" pitchFamily="34" charset="0"/>
                <a:ea typeface="Carlito" pitchFamily="34" charset="-122"/>
                <a:cs typeface="Carlito" pitchFamily="34" charset="-120"/>
              </a:rPr>
              <a:t>Now: the physical parameters</a:t>
            </a:r>
            <a:endParaRPr lang="en-US" sz="2600" dirty="0"/>
          </a:p>
        </p:txBody>
      </p:sp>
      <p:sp>
        <p:nvSpPr>
          <p:cNvPr id="7" name="Text 4"/>
          <p:cNvSpPr/>
          <p:nvPr/>
        </p:nvSpPr>
        <p:spPr>
          <a:xfrm>
            <a:off x="857060" y="2286000"/>
            <a:ext cx="10477881" cy="406400"/>
          </a:xfrm>
          <a:prstGeom prst="rect">
            <a:avLst/>
          </a:prstGeom>
          <a:noFill/>
          <a:ln/>
        </p:spPr>
        <p:txBody>
          <a:bodyPr wrap="square" lIns="0" tIns="0" rIns="0" bIns="0" rtlCol="0" anchor="t">
            <a:normAutofit/>
          </a:bodyPr>
          <a:lstStyle/>
          <a:p>
            <a:pPr algn="ctr" indent="0" marL="0">
              <a:lnSpc>
                <a:spcPts val="3000"/>
              </a:lnSpc>
              <a:buNone/>
            </a:pPr>
            <a:r>
              <a:rPr lang="en-US" sz="2400" dirty="0">
                <a:solidFill>
                  <a:srgbClr val="111111"/>
                </a:solidFill>
                <a:latin typeface="Carlito" pitchFamily="34" charset="0"/>
                <a:ea typeface="Carlito" pitchFamily="34" charset="-122"/>
                <a:cs typeface="Carlito" pitchFamily="34" charset="-120"/>
              </a:rPr>
              <a:t>So far the physical parameters were fixed.</a:t>
            </a:r>
            <a:endParaRPr lang="en-US" sz="2400" dirty="0"/>
          </a:p>
        </p:txBody>
      </p:sp>
      <p:sp>
        <p:nvSpPr>
          <p:cNvPr id="8" name="Text 5"/>
          <p:cNvSpPr/>
          <p:nvPr/>
        </p:nvSpPr>
        <p:spPr>
          <a:xfrm>
            <a:off x="857060" y="2921000"/>
            <a:ext cx="10477881" cy="406400"/>
          </a:xfrm>
          <a:prstGeom prst="rect">
            <a:avLst/>
          </a:prstGeom>
          <a:noFill/>
          <a:ln/>
        </p:spPr>
        <p:txBody>
          <a:bodyPr wrap="square" lIns="0" tIns="0" rIns="0" bIns="0" rtlCol="0" anchor="t">
            <a:normAutofit/>
          </a:bodyPr>
          <a:lstStyle/>
          <a:p>
            <a:pPr algn="ctr" indent="0" marL="0">
              <a:lnSpc>
                <a:spcPts val="3000"/>
              </a:lnSpc>
              <a:buNone/>
            </a:pPr>
            <a:r>
              <a:rPr lang="en-US" sz="2400" dirty="0">
                <a:solidFill>
                  <a:srgbClr val="C81919"/>
                </a:solidFill>
                <a:latin typeface="Carlito" pitchFamily="34" charset="0"/>
                <a:ea typeface="Carlito" pitchFamily="34" charset="-122"/>
                <a:cs typeface="Carlito" pitchFamily="34" charset="-120"/>
              </a:rPr>
              <a:t>What happens if we train them together with the network?</a:t>
            </a:r>
            <a:endParaRPr 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EE8E8"/>
        </a:solidFill>
      </p:bgPr>
    </p:bg>
    <p:spTree>
      <p:nvGrpSpPr>
        <p:cNvPr id="1" name=""/>
        <p:cNvGrpSpPr/>
        <p:nvPr/>
      </p:nvGrpSpPr>
      <p:grpSpPr>
        <a:xfrm>
          <a:off x="0" y="0"/>
          <a:ext cx="0" cy="0"/>
          <a:chOff x="0" y="0"/>
          <a:chExt cx="0" cy="0"/>
        </a:xfrm>
      </p:grpSpPr>
      <p:sp>
        <p:nvSpPr>
          <p:cNvPr id="2" name="Shape 0"/>
          <p:cNvSpPr/>
          <p:nvPr/>
        </p:nvSpPr>
        <p:spPr>
          <a:xfrm>
            <a:off x="0" y="6089650"/>
            <a:ext cx="12192000" cy="768350"/>
          </a:xfrm>
          <a:prstGeom prst="rect">
            <a:avLst/>
          </a:prstGeom>
          <a:solidFill>
            <a:srgbClr val="FFFFFF"/>
          </a:solidFill>
          <a:ln/>
        </p:spPr>
      </p:sp>
      <p:sp>
        <p:nvSpPr>
          <p:cNvPr id="3" name="Text 1"/>
          <p:cNvSpPr/>
          <p:nvPr/>
        </p:nvSpPr>
        <p:spPr>
          <a:xfrm>
            <a:off x="406400" y="6369050"/>
            <a:ext cx="812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Carlito" pitchFamily="34" charset="0"/>
                <a:ea typeface="Carlito" pitchFamily="34" charset="-122"/>
                <a:cs typeface="Carlito" pitchFamily="34" charset="-120"/>
              </a:rPr>
              <a:t>17</a:t>
            </a:r>
            <a:endParaRPr lang="en-US" sz="1200" dirty="0"/>
          </a:p>
        </p:txBody>
      </p:sp>
      <p:sp>
        <p:nvSpPr>
          <p:cNvPr id="4" name="Text 2"/>
          <p:cNvSpPr/>
          <p:nvPr/>
        </p:nvSpPr>
        <p:spPr>
          <a:xfrm>
            <a:off x="1485900" y="6369050"/>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Carlito" pitchFamily="34" charset="0"/>
                <a:ea typeface="Carlito" pitchFamily="34" charset="-122"/>
                <a:cs typeface="Carlito" pitchFamily="34" charset="-120"/>
              </a:rPr>
              <a:t>Interpretable model augmentation | Dirk van den Berg</a:t>
            </a:r>
            <a:endParaRPr lang="en-US" sz="1200" dirty="0"/>
          </a:p>
        </p:txBody>
      </p:sp>
      <p:pic>
        <p:nvPicPr>
          <p:cNvPr id="5" name="Image 0" descr="TU/e logo">    </p:cNvPr>
          <p:cNvPicPr>
            <a:picLocks noChangeAspect="1"/>
          </p:cNvPicPr>
          <p:nvPr/>
        </p:nvPicPr>
        <p:blipFill>
          <a:blip r:embed="rId1"/>
          <a:srcRect l="0" r="0" t="-37" b="-37"/>
          <a:stretch/>
        </p:blipFill>
        <p:spPr>
          <a:xfrm>
            <a:off x="10877550" y="6089650"/>
            <a:ext cx="1314450" cy="768350"/>
          </a:xfrm>
          <a:prstGeom prst="rect">
            <a:avLst/>
          </a:prstGeom>
        </p:spPr>
      </p:pic>
      <p:sp>
        <p:nvSpPr>
          <p:cNvPr id="6" name="Text 3"/>
          <p:cNvSpPr/>
          <p:nvPr/>
        </p:nvSpPr>
        <p:spPr>
          <a:xfrm>
            <a:off x="1009650" y="609600"/>
            <a:ext cx="10575989" cy="388620"/>
          </a:xfrm>
          <a:prstGeom prst="rect">
            <a:avLst/>
          </a:prstGeom>
          <a:noFill/>
          <a:ln/>
        </p:spPr>
        <p:txBody>
          <a:bodyPr wrap="square" lIns="0" tIns="0" rIns="0" bIns="0" rtlCol="0" anchor="t">
            <a:normAutofit/>
          </a:bodyPr>
          <a:lstStyle/>
          <a:p>
            <a:pPr algn="l" indent="0" marL="0">
              <a:lnSpc>
                <a:spcPts val="2860"/>
              </a:lnSpc>
              <a:buNone/>
            </a:pPr>
            <a:r>
              <a:rPr lang="en-US" sz="2600" b="1" dirty="0">
                <a:solidFill>
                  <a:srgbClr val="111111"/>
                </a:solidFill>
                <a:latin typeface="Carlito" pitchFamily="34" charset="0"/>
                <a:ea typeface="Carlito" pitchFamily="34" charset="-122"/>
                <a:cs typeface="Carlito" pitchFamily="34" charset="-120"/>
              </a:rPr>
              <a:t>Trained together, the network can take over</a:t>
            </a:r>
            <a:endParaRPr lang="en-US" sz="2600" dirty="0"/>
          </a:p>
        </p:txBody>
      </p:sp>
      <p:sp>
        <p:nvSpPr>
          <p:cNvPr id="7" name="Shape 4"/>
          <p:cNvSpPr/>
          <p:nvPr/>
        </p:nvSpPr>
        <p:spPr>
          <a:xfrm>
            <a:off x="1009650" y="1301750"/>
            <a:ext cx="10172700" cy="4064000"/>
          </a:xfrm>
          <a:prstGeom prst="roundRect">
            <a:avLst>
              <a:gd name="adj" fmla="val 1875"/>
            </a:avLst>
          </a:prstGeom>
          <a:solidFill>
            <a:srgbClr val="FFFFFF"/>
          </a:solidFill>
          <a:ln/>
        </p:spPr>
      </p:sp>
      <p:pic>
        <p:nvPicPr>
          <p:cNvPr id="8" name="Image 1" descr="Physics model with parameters theta and the network both feed the next state and are trained on the same data">    </p:cNvPr>
          <p:cNvPicPr>
            <a:picLocks noChangeAspect="1"/>
          </p:cNvPicPr>
          <p:nvPr/>
        </p:nvPicPr>
        <p:blipFill>
          <a:blip r:embed="rId2"/>
          <a:srcRect l="0" r="0" t="19" b="19"/>
          <a:stretch/>
        </p:blipFill>
        <p:spPr>
          <a:xfrm>
            <a:off x="1263650" y="1625600"/>
            <a:ext cx="9664700" cy="3409950"/>
          </a:xfrm>
          <a:prstGeom prst="rect">
            <a:avLst/>
          </a:prstGeom>
        </p:spPr>
      </p:pic>
      <p:pic>
        <p:nvPicPr>
          <p:cNvPr id="9" name="Image 2" descr="A parameter change and the network can give the same shift of the next state; the data cannot tell them apart">    </p:cNvPr>
          <p:cNvPicPr>
            <a:picLocks noChangeAspect="1"/>
          </p:cNvPicPr>
          <p:nvPr/>
        </p:nvPicPr>
        <p:blipFill>
          <a:blip r:embed="rId3"/>
          <a:srcRect l="0" r="0" t="19" b="19"/>
          <a:stretch/>
        </p:blipFill>
        <p:spPr>
          <a:xfrm>
            <a:off x="1263650" y="1625600"/>
            <a:ext cx="9664700" cy="3409950"/>
          </a:xfrm>
          <a:prstGeom prst="rect">
            <a:avLst/>
          </a:prstGeom>
        </p:spPr>
      </p:pic>
      <p:pic>
        <p:nvPicPr>
          <p:cNvPr id="10" name="Image 3" descr="Then the parameters lose their meaning">    </p:cNvPr>
          <p:cNvPicPr>
            <a:picLocks noChangeAspect="1"/>
          </p:cNvPicPr>
          <p:nvPr/>
        </p:nvPicPr>
        <p:blipFill>
          <a:blip r:embed="rId4"/>
          <a:srcRect l="0" r="0" t="19" b="19"/>
          <a:stretch/>
        </p:blipFill>
        <p:spPr>
          <a:xfrm>
            <a:off x="1263650" y="1625600"/>
            <a:ext cx="9664700" cy="340995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EE8E8"/>
        </a:solidFill>
      </p:bgPr>
    </p:bg>
    <p:spTree>
      <p:nvGrpSpPr>
        <p:cNvPr id="1" name=""/>
        <p:cNvGrpSpPr/>
        <p:nvPr/>
      </p:nvGrpSpPr>
      <p:grpSpPr>
        <a:xfrm>
          <a:off x="0" y="0"/>
          <a:ext cx="0" cy="0"/>
          <a:chOff x="0" y="0"/>
          <a:chExt cx="0" cy="0"/>
        </a:xfrm>
      </p:grpSpPr>
      <p:sp>
        <p:nvSpPr>
          <p:cNvPr id="2" name="Shape 0"/>
          <p:cNvSpPr/>
          <p:nvPr/>
        </p:nvSpPr>
        <p:spPr>
          <a:xfrm>
            <a:off x="0" y="6089650"/>
            <a:ext cx="12192000" cy="768350"/>
          </a:xfrm>
          <a:prstGeom prst="rect">
            <a:avLst/>
          </a:prstGeom>
          <a:solidFill>
            <a:srgbClr val="FFFFFF"/>
          </a:solidFill>
          <a:ln/>
        </p:spPr>
      </p:sp>
      <p:sp>
        <p:nvSpPr>
          <p:cNvPr id="3" name="Text 1"/>
          <p:cNvSpPr/>
          <p:nvPr/>
        </p:nvSpPr>
        <p:spPr>
          <a:xfrm>
            <a:off x="406400" y="6369050"/>
            <a:ext cx="812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Carlito" pitchFamily="34" charset="0"/>
                <a:ea typeface="Carlito" pitchFamily="34" charset="-122"/>
                <a:cs typeface="Carlito" pitchFamily="34" charset="-120"/>
              </a:rPr>
              <a:t>18</a:t>
            </a:r>
            <a:endParaRPr lang="en-US" sz="1200" dirty="0"/>
          </a:p>
        </p:txBody>
      </p:sp>
      <p:sp>
        <p:nvSpPr>
          <p:cNvPr id="4" name="Text 2"/>
          <p:cNvSpPr/>
          <p:nvPr/>
        </p:nvSpPr>
        <p:spPr>
          <a:xfrm>
            <a:off x="1485900" y="6369050"/>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Carlito" pitchFamily="34" charset="0"/>
                <a:ea typeface="Carlito" pitchFamily="34" charset="-122"/>
                <a:cs typeface="Carlito" pitchFamily="34" charset="-120"/>
              </a:rPr>
              <a:t>Interpretable model augmentation | Dirk van den Berg</a:t>
            </a:r>
            <a:endParaRPr lang="en-US" sz="1200" dirty="0"/>
          </a:p>
        </p:txBody>
      </p:sp>
      <p:pic>
        <p:nvPicPr>
          <p:cNvPr id="5" name="Image 0" descr="TU/e logo">    </p:cNvPr>
          <p:cNvPicPr>
            <a:picLocks noChangeAspect="1"/>
          </p:cNvPicPr>
          <p:nvPr/>
        </p:nvPicPr>
        <p:blipFill>
          <a:blip r:embed="rId1"/>
          <a:srcRect l="0" r="0" t="-37" b="-37"/>
          <a:stretch/>
        </p:blipFill>
        <p:spPr>
          <a:xfrm>
            <a:off x="10877550" y="6089650"/>
            <a:ext cx="1314450" cy="768350"/>
          </a:xfrm>
          <a:prstGeom prst="rect">
            <a:avLst/>
          </a:prstGeom>
        </p:spPr>
      </p:pic>
      <p:sp>
        <p:nvSpPr>
          <p:cNvPr id="6" name="Text 3"/>
          <p:cNvSpPr/>
          <p:nvPr/>
        </p:nvSpPr>
        <p:spPr>
          <a:xfrm>
            <a:off x="1009650" y="609600"/>
            <a:ext cx="10575989" cy="388620"/>
          </a:xfrm>
          <a:prstGeom prst="rect">
            <a:avLst/>
          </a:prstGeom>
          <a:noFill/>
          <a:ln/>
        </p:spPr>
        <p:txBody>
          <a:bodyPr wrap="square" lIns="0" tIns="0" rIns="0" bIns="0" rtlCol="0" anchor="t">
            <a:normAutofit/>
          </a:bodyPr>
          <a:lstStyle/>
          <a:p>
            <a:pPr algn="l" indent="0" marL="0">
              <a:lnSpc>
                <a:spcPts val="2860"/>
              </a:lnSpc>
              <a:buNone/>
            </a:pPr>
            <a:r>
              <a:rPr lang="en-US" sz="2600" b="1" dirty="0">
                <a:solidFill>
                  <a:srgbClr val="111111"/>
                </a:solidFill>
                <a:latin typeface="Carlito" pitchFamily="34" charset="0"/>
                <a:ea typeface="Carlito" pitchFamily="34" charset="-122"/>
                <a:cs typeface="Carlito" pitchFamily="34" charset="-120"/>
              </a:rPr>
              <a:t>Goal: keep the network out of the parameters' job</a:t>
            </a:r>
            <a:endParaRPr lang="en-US" sz="2600" dirty="0"/>
          </a:p>
        </p:txBody>
      </p:sp>
      <p:sp>
        <p:nvSpPr>
          <p:cNvPr id="7" name="Shape 4"/>
          <p:cNvSpPr/>
          <p:nvPr/>
        </p:nvSpPr>
        <p:spPr>
          <a:xfrm>
            <a:off x="1009650" y="1301750"/>
            <a:ext cx="10172700" cy="4064000"/>
          </a:xfrm>
          <a:prstGeom prst="roundRect">
            <a:avLst>
              <a:gd name="adj" fmla="val 1875"/>
            </a:avLst>
          </a:prstGeom>
          <a:solidFill>
            <a:srgbClr val="FFFFFF"/>
          </a:solidFill>
          <a:ln/>
        </p:spPr>
      </p:sp>
      <p:pic>
        <p:nvPicPr>
          <p:cNvPr id="8" name="Image 1" descr="Goal: the network's direct correction only does what no parameter change can do">    </p:cNvPr>
          <p:cNvPicPr>
            <a:picLocks noChangeAspect="1"/>
          </p:cNvPicPr>
          <p:nvPr/>
        </p:nvPicPr>
        <p:blipFill>
          <a:blip r:embed="rId2"/>
          <a:srcRect l="0" r="0" t="19" b="19"/>
          <a:stretch/>
        </p:blipFill>
        <p:spPr>
          <a:xfrm>
            <a:off x="1263650" y="1625600"/>
            <a:ext cx="9664700" cy="3409950"/>
          </a:xfrm>
          <a:prstGeom prst="rect">
            <a:avLst/>
          </a:prstGeom>
        </p:spPr>
      </p:pic>
      <p:pic>
        <p:nvPicPr>
          <p:cNvPr id="9" name="Image 2" descr="A projection between the network output F and the correction Delta removes what a parameter change can do">    </p:cNvPr>
          <p:cNvPicPr>
            <a:picLocks noChangeAspect="1"/>
          </p:cNvPicPr>
          <p:nvPr/>
        </p:nvPicPr>
        <p:blipFill>
          <a:blip r:embed="rId3"/>
          <a:srcRect l="0" r="0" t="19" b="19"/>
          <a:stretch/>
        </p:blipFill>
        <p:spPr>
          <a:xfrm>
            <a:off x="1263650" y="1625600"/>
            <a:ext cx="9664700" cy="340995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EEE8E8"/>
        </a:solidFill>
      </p:bgPr>
    </p:bg>
    <p:spTree>
      <p:nvGrpSpPr>
        <p:cNvPr id="1" name=""/>
        <p:cNvGrpSpPr/>
        <p:nvPr/>
      </p:nvGrpSpPr>
      <p:grpSpPr>
        <a:xfrm>
          <a:off x="0" y="0"/>
          <a:ext cx="0" cy="0"/>
          <a:chOff x="0" y="0"/>
          <a:chExt cx="0" cy="0"/>
        </a:xfrm>
      </p:grpSpPr>
      <p:sp>
        <p:nvSpPr>
          <p:cNvPr id="2" name="Shape 0"/>
          <p:cNvSpPr/>
          <p:nvPr/>
        </p:nvSpPr>
        <p:spPr>
          <a:xfrm>
            <a:off x="0" y="6089650"/>
            <a:ext cx="12192000" cy="768350"/>
          </a:xfrm>
          <a:prstGeom prst="rect">
            <a:avLst/>
          </a:prstGeom>
          <a:solidFill>
            <a:srgbClr val="FFFFFF"/>
          </a:solidFill>
          <a:ln/>
        </p:spPr>
      </p:sp>
      <p:sp>
        <p:nvSpPr>
          <p:cNvPr id="3" name="Text 1"/>
          <p:cNvSpPr/>
          <p:nvPr/>
        </p:nvSpPr>
        <p:spPr>
          <a:xfrm>
            <a:off x="406400" y="6369050"/>
            <a:ext cx="812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Carlito" pitchFamily="34" charset="0"/>
                <a:ea typeface="Carlito" pitchFamily="34" charset="-122"/>
                <a:cs typeface="Carlito" pitchFamily="34" charset="-120"/>
              </a:rPr>
              <a:t>19</a:t>
            </a:r>
            <a:endParaRPr lang="en-US" sz="1200" dirty="0"/>
          </a:p>
        </p:txBody>
      </p:sp>
      <p:sp>
        <p:nvSpPr>
          <p:cNvPr id="4" name="Text 2"/>
          <p:cNvSpPr/>
          <p:nvPr/>
        </p:nvSpPr>
        <p:spPr>
          <a:xfrm>
            <a:off x="1485900" y="6369050"/>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Carlito" pitchFamily="34" charset="0"/>
                <a:ea typeface="Carlito" pitchFamily="34" charset="-122"/>
                <a:cs typeface="Carlito" pitchFamily="34" charset="-120"/>
              </a:rPr>
              <a:t>Interpretable model augmentation | Dirk van den Berg</a:t>
            </a:r>
            <a:endParaRPr lang="en-US" sz="1200" dirty="0"/>
          </a:p>
        </p:txBody>
      </p:sp>
      <p:pic>
        <p:nvPicPr>
          <p:cNvPr id="5" name="Image 0" descr="TU/e logo">    </p:cNvPr>
          <p:cNvPicPr>
            <a:picLocks noChangeAspect="1"/>
          </p:cNvPicPr>
          <p:nvPr/>
        </p:nvPicPr>
        <p:blipFill>
          <a:blip r:embed="rId1"/>
          <a:srcRect l="0" r="0" t="-37" b="-37"/>
          <a:stretch/>
        </p:blipFill>
        <p:spPr>
          <a:xfrm>
            <a:off x="10877550" y="6089650"/>
            <a:ext cx="1314450" cy="768350"/>
          </a:xfrm>
          <a:prstGeom prst="rect">
            <a:avLst/>
          </a:prstGeom>
        </p:spPr>
      </p:pic>
      <p:sp>
        <p:nvSpPr>
          <p:cNvPr id="6" name="Text 3"/>
          <p:cNvSpPr/>
          <p:nvPr/>
        </p:nvSpPr>
        <p:spPr>
          <a:xfrm>
            <a:off x="1009650" y="609600"/>
            <a:ext cx="10575989" cy="388620"/>
          </a:xfrm>
          <a:prstGeom prst="rect">
            <a:avLst/>
          </a:prstGeom>
          <a:noFill/>
          <a:ln/>
        </p:spPr>
        <p:txBody>
          <a:bodyPr wrap="square" lIns="0" tIns="0" rIns="0" bIns="0" rtlCol="0" anchor="t">
            <a:normAutofit/>
          </a:bodyPr>
          <a:lstStyle/>
          <a:p>
            <a:pPr algn="l" indent="0" marL="0">
              <a:lnSpc>
                <a:spcPts val="2860"/>
              </a:lnSpc>
              <a:buNone/>
            </a:pPr>
            <a:r>
              <a:rPr lang="en-US" sz="2600" b="1" dirty="0">
                <a:solidFill>
                  <a:srgbClr val="111111"/>
                </a:solidFill>
                <a:latin typeface="Carlito" pitchFamily="34" charset="0"/>
                <a:ea typeface="Carlito" pitchFamily="34" charset="-122"/>
                <a:cs typeface="Carlito" pitchFamily="34" charset="-120"/>
              </a:rPr>
              <a:t>The projection, as a picture</a:t>
            </a:r>
            <a:endParaRPr lang="en-US" sz="2600" dirty="0"/>
          </a:p>
        </p:txBody>
      </p:sp>
      <p:sp>
        <p:nvSpPr>
          <p:cNvPr id="7" name="Shape 4"/>
          <p:cNvSpPr/>
          <p:nvPr/>
        </p:nvSpPr>
        <p:spPr>
          <a:xfrm>
            <a:off x="2279650" y="1301750"/>
            <a:ext cx="7632700" cy="4064000"/>
          </a:xfrm>
          <a:prstGeom prst="roundRect">
            <a:avLst>
              <a:gd name="adj" fmla="val 1875"/>
            </a:avLst>
          </a:prstGeom>
          <a:solidFill>
            <a:srgbClr val="FFFFFF"/>
          </a:solidFill>
          <a:ln/>
        </p:spPr>
      </p:sp>
      <p:pic>
        <p:nvPicPr>
          <p:cNvPr id="8" name="Image 1" descr="The plane: everything a parameter change can do, for one time step, physical states, training data">    </p:cNvPr>
          <p:cNvPicPr>
            <a:picLocks noChangeAspect="1"/>
          </p:cNvPicPr>
          <p:nvPr/>
        </p:nvPicPr>
        <p:blipFill>
          <a:blip r:embed="rId2"/>
          <a:srcRect l="22" r="22" t="0" b="0"/>
          <a:stretch/>
        </p:blipFill>
        <p:spPr>
          <a:xfrm>
            <a:off x="3321050" y="1492250"/>
            <a:ext cx="5543550" cy="3683000"/>
          </a:xfrm>
          <a:prstGeom prst="rect">
            <a:avLst/>
          </a:prstGeom>
        </p:spPr>
      </p:pic>
      <p:pic>
        <p:nvPicPr>
          <p:cNvPr id="9" name="Image 2" descr="The network output F">    </p:cNvPr>
          <p:cNvPicPr>
            <a:picLocks noChangeAspect="1"/>
          </p:cNvPicPr>
          <p:nvPr/>
        </p:nvPicPr>
        <p:blipFill>
          <a:blip r:embed="rId3"/>
          <a:srcRect l="22" r="22" t="0" b="0"/>
          <a:stretch/>
        </p:blipFill>
        <p:spPr>
          <a:xfrm>
            <a:off x="3321050" y="1492250"/>
            <a:ext cx="5543550" cy="3683000"/>
          </a:xfrm>
          <a:prstGeom prst="rect">
            <a:avLst/>
          </a:prstGeom>
        </p:spPr>
      </p:pic>
      <p:pic>
        <p:nvPicPr>
          <p:cNvPr id="10" name="Image 3" descr="Removed: its part in the plane">    </p:cNvPr>
          <p:cNvPicPr>
            <a:picLocks noChangeAspect="1"/>
          </p:cNvPicPr>
          <p:nvPr/>
        </p:nvPicPr>
        <p:blipFill>
          <a:blip r:embed="rId4"/>
          <a:srcRect l="22" r="22" t="0" b="0"/>
          <a:stretch/>
        </p:blipFill>
        <p:spPr>
          <a:xfrm>
            <a:off x="3321050" y="1492250"/>
            <a:ext cx="5543550" cy="3683000"/>
          </a:xfrm>
          <a:prstGeom prst="rect">
            <a:avLst/>
          </a:prstGeom>
        </p:spPr>
      </p:pic>
      <p:pic>
        <p:nvPicPr>
          <p:cNvPr id="11" name="Image 4" descr="Kept: Delta, at a right angle to the plane">    </p:cNvPr>
          <p:cNvPicPr>
            <a:picLocks noChangeAspect="1"/>
          </p:cNvPicPr>
          <p:nvPr/>
        </p:nvPicPr>
        <p:blipFill>
          <a:blip r:embed="rId5"/>
          <a:srcRect l="22" r="22" t="0" b="0"/>
          <a:stretch/>
        </p:blipFill>
        <p:spPr>
          <a:xfrm>
            <a:off x="3321050" y="1492250"/>
            <a:ext cx="5543550" cy="3683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EEE8E8"/>
        </a:solidFill>
      </p:bgPr>
    </p:bg>
    <p:spTree>
      <p:nvGrpSpPr>
        <p:cNvPr id="1" name=""/>
        <p:cNvGrpSpPr/>
        <p:nvPr/>
      </p:nvGrpSpPr>
      <p:grpSpPr>
        <a:xfrm>
          <a:off x="0" y="0"/>
          <a:ext cx="0" cy="0"/>
          <a:chOff x="0" y="0"/>
          <a:chExt cx="0" cy="0"/>
        </a:xfrm>
      </p:grpSpPr>
      <p:sp>
        <p:nvSpPr>
          <p:cNvPr id="2" name="Shape 0"/>
          <p:cNvSpPr/>
          <p:nvPr/>
        </p:nvSpPr>
        <p:spPr>
          <a:xfrm>
            <a:off x="0" y="6089650"/>
            <a:ext cx="12192000" cy="768350"/>
          </a:xfrm>
          <a:prstGeom prst="rect">
            <a:avLst/>
          </a:prstGeom>
          <a:solidFill>
            <a:srgbClr val="FFFFFF"/>
          </a:solidFill>
          <a:ln/>
        </p:spPr>
      </p:sp>
      <p:sp>
        <p:nvSpPr>
          <p:cNvPr id="3" name="Text 1"/>
          <p:cNvSpPr/>
          <p:nvPr/>
        </p:nvSpPr>
        <p:spPr>
          <a:xfrm>
            <a:off x="406400" y="6369050"/>
            <a:ext cx="812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Carlito" pitchFamily="34" charset="0"/>
                <a:ea typeface="Carlito" pitchFamily="34" charset="-122"/>
                <a:cs typeface="Carlito" pitchFamily="34" charset="-120"/>
              </a:rPr>
              <a:t>20</a:t>
            </a:r>
            <a:endParaRPr lang="en-US" sz="1200" dirty="0"/>
          </a:p>
        </p:txBody>
      </p:sp>
      <p:sp>
        <p:nvSpPr>
          <p:cNvPr id="4" name="Text 2"/>
          <p:cNvSpPr/>
          <p:nvPr/>
        </p:nvSpPr>
        <p:spPr>
          <a:xfrm>
            <a:off x="1485900" y="6369050"/>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Carlito" pitchFamily="34" charset="0"/>
                <a:ea typeface="Carlito" pitchFamily="34" charset="-122"/>
                <a:cs typeface="Carlito" pitchFamily="34" charset="-120"/>
              </a:rPr>
              <a:t>Noiseless simulation, no friction, one training run per setting, earlier pipeline version.</a:t>
            </a:r>
            <a:endParaRPr lang="en-US" sz="1200" dirty="0"/>
          </a:p>
        </p:txBody>
      </p:sp>
      <p:pic>
        <p:nvPicPr>
          <p:cNvPr id="5" name="Image 0" descr="TU/e logo">    </p:cNvPr>
          <p:cNvPicPr>
            <a:picLocks noChangeAspect="1"/>
          </p:cNvPicPr>
          <p:nvPr/>
        </p:nvPicPr>
        <p:blipFill>
          <a:blip r:embed="rId1"/>
          <a:srcRect l="0" r="0" t="-37" b="-37"/>
          <a:stretch/>
        </p:blipFill>
        <p:spPr>
          <a:xfrm>
            <a:off x="10877550" y="6089650"/>
            <a:ext cx="1314450" cy="768350"/>
          </a:xfrm>
          <a:prstGeom prst="rect">
            <a:avLst/>
          </a:prstGeom>
        </p:spPr>
      </p:pic>
      <p:sp>
        <p:nvSpPr>
          <p:cNvPr id="6" name="Text 3"/>
          <p:cNvSpPr/>
          <p:nvPr/>
        </p:nvSpPr>
        <p:spPr>
          <a:xfrm>
            <a:off x="1009650" y="609600"/>
            <a:ext cx="10575989" cy="388620"/>
          </a:xfrm>
          <a:prstGeom prst="rect">
            <a:avLst/>
          </a:prstGeom>
          <a:noFill/>
          <a:ln/>
        </p:spPr>
        <p:txBody>
          <a:bodyPr wrap="square" lIns="0" tIns="0" rIns="0" bIns="0" rtlCol="0" anchor="t">
            <a:normAutofit/>
          </a:bodyPr>
          <a:lstStyle/>
          <a:p>
            <a:pPr algn="l" indent="0" marL="0">
              <a:lnSpc>
                <a:spcPts val="2860"/>
              </a:lnSpc>
              <a:buNone/>
            </a:pPr>
            <a:r>
              <a:rPr lang="en-US" sz="2600" b="1" dirty="0">
                <a:solidFill>
                  <a:srgbClr val="111111"/>
                </a:solidFill>
                <a:latin typeface="Carlito" pitchFamily="34" charset="0"/>
                <a:ea typeface="Carlito" pitchFamily="34" charset="-122"/>
                <a:cs typeface="Carlito" pitchFamily="34" charset="-120"/>
              </a:rPr>
              <a:t>Overlap removed on training data, reduced on held-out data</a:t>
            </a:r>
            <a:endParaRPr lang="en-US" sz="2600" dirty="0"/>
          </a:p>
        </p:txBody>
      </p:sp>
      <p:sp>
        <p:nvSpPr>
          <p:cNvPr id="7" name="Shape 4"/>
          <p:cNvSpPr/>
          <p:nvPr/>
        </p:nvSpPr>
        <p:spPr>
          <a:xfrm>
            <a:off x="2914650" y="1301750"/>
            <a:ext cx="6362700" cy="3810000"/>
          </a:xfrm>
          <a:prstGeom prst="roundRect">
            <a:avLst>
              <a:gd name="adj" fmla="val 2000"/>
            </a:avLst>
          </a:prstGeom>
          <a:solidFill>
            <a:srgbClr val="FFFFFF"/>
          </a:solidFill>
          <a:ln/>
        </p:spPr>
      </p:sp>
      <p:pic>
        <p:nvPicPr>
          <p:cNvPr id="8" name="Image 1" descr="Overlap rho: 0.87 without projection on training and held-out records; with projection 8.3e-8 on training and 0.33 on held-out">    </p:cNvPr>
          <p:cNvPicPr>
            <a:picLocks noChangeAspect="1"/>
          </p:cNvPicPr>
          <p:nvPr/>
        </p:nvPicPr>
        <p:blipFill>
          <a:blip r:embed="rId2"/>
          <a:srcRect l="0" r="0" t="0" b="0"/>
          <a:stretch/>
        </p:blipFill>
        <p:spPr>
          <a:xfrm>
            <a:off x="3663950" y="1492250"/>
            <a:ext cx="4857750" cy="3429000"/>
          </a:xfrm>
          <a:prstGeom prst="rect">
            <a:avLst/>
          </a:prstGeom>
        </p:spPr>
      </p:pic>
      <p:sp>
        <p:nvSpPr>
          <p:cNvPr id="9" name="Text 5"/>
          <p:cNvSpPr/>
          <p:nvPr/>
        </p:nvSpPr>
        <p:spPr>
          <a:xfrm>
            <a:off x="857060" y="5365750"/>
            <a:ext cx="10477881" cy="279400"/>
          </a:xfrm>
          <a:prstGeom prst="rect">
            <a:avLst/>
          </a:prstGeom>
          <a:noFill/>
          <a:ln/>
        </p:spPr>
        <p:txBody>
          <a:bodyPr wrap="square" lIns="0" tIns="0" rIns="0" bIns="0" rtlCol="0" anchor="t">
            <a:normAutofit/>
          </a:bodyPr>
          <a:lstStyle/>
          <a:p>
            <a:pPr algn="ctr" indent="0" marL="0">
              <a:lnSpc>
                <a:spcPts val="2000"/>
              </a:lnSpc>
              <a:buNone/>
            </a:pPr>
            <a:r>
              <a:rPr lang="en-US" sz="1600" dirty="0">
                <a:solidFill>
                  <a:srgbClr val="6B6B6B"/>
                </a:solidFill>
                <a:latin typeface="Carlito" pitchFamily="34" charset="0"/>
                <a:ea typeface="Carlito" pitchFamily="34" charset="-122"/>
                <a:cs typeface="Carlito" pitchFamily="34" charset="-120"/>
              </a:rPr>
              <a:t>overlap ρ: share of the correction a parameter change could reproduce</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EEE8E8"/>
        </a:solidFill>
      </p:bgPr>
    </p:bg>
    <p:spTree>
      <p:nvGrpSpPr>
        <p:cNvPr id="1" name=""/>
        <p:cNvGrpSpPr/>
        <p:nvPr/>
      </p:nvGrpSpPr>
      <p:grpSpPr>
        <a:xfrm>
          <a:off x="0" y="0"/>
          <a:ext cx="0" cy="0"/>
          <a:chOff x="0" y="0"/>
          <a:chExt cx="0" cy="0"/>
        </a:xfrm>
      </p:grpSpPr>
      <p:sp>
        <p:nvSpPr>
          <p:cNvPr id="2" name="Shape 0"/>
          <p:cNvSpPr/>
          <p:nvPr/>
        </p:nvSpPr>
        <p:spPr>
          <a:xfrm>
            <a:off x="0" y="6089650"/>
            <a:ext cx="12192000" cy="768350"/>
          </a:xfrm>
          <a:prstGeom prst="rect">
            <a:avLst/>
          </a:prstGeom>
          <a:solidFill>
            <a:srgbClr val="FFFFFF"/>
          </a:solidFill>
          <a:ln/>
        </p:spPr>
      </p:sp>
      <p:sp>
        <p:nvSpPr>
          <p:cNvPr id="3" name="Text 1"/>
          <p:cNvSpPr/>
          <p:nvPr/>
        </p:nvSpPr>
        <p:spPr>
          <a:xfrm>
            <a:off x="406400" y="6369050"/>
            <a:ext cx="812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Carlito" pitchFamily="34" charset="0"/>
                <a:ea typeface="Carlito" pitchFamily="34" charset="-122"/>
                <a:cs typeface="Carlito" pitchFamily="34" charset="-120"/>
              </a:rPr>
              <a:t>21</a:t>
            </a:r>
            <a:endParaRPr lang="en-US" sz="1200" dirty="0"/>
          </a:p>
        </p:txBody>
      </p:sp>
      <p:sp>
        <p:nvSpPr>
          <p:cNvPr id="4" name="Text 2"/>
          <p:cNvSpPr/>
          <p:nvPr/>
        </p:nvSpPr>
        <p:spPr>
          <a:xfrm>
            <a:off x="1485900" y="6369050"/>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Carlito" pitchFamily="34" charset="0"/>
                <a:ea typeface="Carlito" pitchFamily="34" charset="-122"/>
                <a:cs typeface="Carlito" pitchFamily="34" charset="-120"/>
              </a:rPr>
              <a:t>Noiseless simulation, no friction, one training run per setting, earlier pipeline version.</a:t>
            </a:r>
            <a:endParaRPr lang="en-US" sz="1200" dirty="0"/>
          </a:p>
        </p:txBody>
      </p:sp>
      <p:pic>
        <p:nvPicPr>
          <p:cNvPr id="5" name="Image 0" descr="TU/e logo">    </p:cNvPr>
          <p:cNvPicPr>
            <a:picLocks noChangeAspect="1"/>
          </p:cNvPicPr>
          <p:nvPr/>
        </p:nvPicPr>
        <p:blipFill>
          <a:blip r:embed="rId1"/>
          <a:srcRect l="0" r="0" t="-37" b="-37"/>
          <a:stretch/>
        </p:blipFill>
        <p:spPr>
          <a:xfrm>
            <a:off x="10877550" y="6089650"/>
            <a:ext cx="1314450" cy="768350"/>
          </a:xfrm>
          <a:prstGeom prst="rect">
            <a:avLst/>
          </a:prstGeom>
        </p:spPr>
      </p:pic>
      <p:sp>
        <p:nvSpPr>
          <p:cNvPr id="6" name="Text 3"/>
          <p:cNvSpPr/>
          <p:nvPr/>
        </p:nvSpPr>
        <p:spPr>
          <a:xfrm>
            <a:off x="1009650" y="609600"/>
            <a:ext cx="10575989" cy="388620"/>
          </a:xfrm>
          <a:prstGeom prst="rect">
            <a:avLst/>
          </a:prstGeom>
          <a:noFill/>
          <a:ln/>
        </p:spPr>
        <p:txBody>
          <a:bodyPr wrap="square" lIns="0" tIns="0" rIns="0" bIns="0" rtlCol="0" anchor="t">
            <a:normAutofit/>
          </a:bodyPr>
          <a:lstStyle/>
          <a:p>
            <a:pPr algn="l" indent="0" marL="0">
              <a:lnSpc>
                <a:spcPts val="2860"/>
              </a:lnSpc>
              <a:buNone/>
            </a:pPr>
            <a:r>
              <a:rPr lang="en-US" sz="2600" b="1" dirty="0">
                <a:solidFill>
                  <a:srgbClr val="111111"/>
                </a:solidFill>
                <a:latin typeface="Carlito" pitchFamily="34" charset="0"/>
                <a:ea typeface="Carlito" pitchFamily="34" charset="-122"/>
                <a:cs typeface="Carlito" pitchFamily="34" charset="-120"/>
              </a:rPr>
              <a:t>Same fit, but the parameters are not yet recovered</a:t>
            </a:r>
            <a:endParaRPr lang="en-US" sz="2600" dirty="0"/>
          </a:p>
        </p:txBody>
      </p:sp>
      <p:sp>
        <p:nvSpPr>
          <p:cNvPr id="7" name="Shape 4"/>
          <p:cNvSpPr/>
          <p:nvPr/>
        </p:nvSpPr>
        <p:spPr>
          <a:xfrm>
            <a:off x="1009650" y="1301750"/>
            <a:ext cx="10172700" cy="3810000"/>
          </a:xfrm>
          <a:prstGeom prst="roundRect">
            <a:avLst>
              <a:gd name="adj" fmla="val 2000"/>
            </a:avLst>
          </a:prstGeom>
          <a:solidFill>
            <a:srgbClr val="FFFFFF"/>
          </a:solidFill>
          <a:ln/>
        </p:spPr>
      </p:sp>
      <p:pic>
        <p:nvPicPr>
          <p:cNvPr id="8" name="Image 1" descr="Left: closed-loop error, 5.86e-6 m without and 5.89e-6 m with projection. Right: parameter error from 9.5 % to 7.20 % without and 7.69 % with projection">    </p:cNvPr>
          <p:cNvPicPr>
            <a:picLocks noChangeAspect="1"/>
          </p:cNvPicPr>
          <p:nvPr/>
        </p:nvPicPr>
        <p:blipFill>
          <a:blip r:embed="rId2"/>
          <a:srcRect l="0" r="0" t="0" b="0"/>
          <a:stretch/>
        </p:blipFill>
        <p:spPr>
          <a:xfrm>
            <a:off x="1524000" y="1492250"/>
            <a:ext cx="9144000" cy="3429000"/>
          </a:xfrm>
          <a:prstGeom prst="rect">
            <a:avLst/>
          </a:prstGeom>
        </p:spPr>
      </p:pic>
      <p:sp>
        <p:nvSpPr>
          <p:cNvPr id="9" name="Text 5"/>
          <p:cNvSpPr/>
          <p:nvPr/>
        </p:nvSpPr>
        <p:spPr>
          <a:xfrm>
            <a:off x="857060" y="5365750"/>
            <a:ext cx="10477881" cy="263525"/>
          </a:xfrm>
          <a:prstGeom prst="rect">
            <a:avLst/>
          </a:prstGeom>
          <a:noFill/>
          <a:ln/>
        </p:spPr>
        <p:txBody>
          <a:bodyPr wrap="square" lIns="0" tIns="0" rIns="0" bIns="0" rtlCol="0" anchor="t">
            <a:normAutofit/>
          </a:bodyPr>
          <a:lstStyle/>
          <a:p>
            <a:pPr algn="ctr" indent="0" marL="0">
              <a:lnSpc>
                <a:spcPts val="1875"/>
              </a:lnSpc>
              <a:buNone/>
            </a:pPr>
            <a:r>
              <a:rPr lang="en-US" sz="1500" dirty="0">
                <a:solidFill>
                  <a:srgbClr val="111111"/>
                </a:solidFill>
                <a:latin typeface="Carlito" pitchFamily="34" charset="0"/>
                <a:ea typeface="Carlito" pitchFamily="34" charset="-122"/>
                <a:cs typeface="Carlito" pitchFamily="34" charset="-120"/>
              </a:rPr>
              <a:t>fit: 5.86·10⁻⁶ m without, 5.89·10⁻⁶ m with projection | parameter error: 7.2 % without, 7.7 % with</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EEE8E8"/>
        </a:solidFill>
      </p:bgPr>
    </p:bg>
    <p:spTree>
      <p:nvGrpSpPr>
        <p:cNvPr id="1" name=""/>
        <p:cNvGrpSpPr/>
        <p:nvPr/>
      </p:nvGrpSpPr>
      <p:grpSpPr>
        <a:xfrm>
          <a:off x="0" y="0"/>
          <a:ext cx="0" cy="0"/>
          <a:chOff x="0" y="0"/>
          <a:chExt cx="0" cy="0"/>
        </a:xfrm>
      </p:grpSpPr>
      <p:sp>
        <p:nvSpPr>
          <p:cNvPr id="2" name="Shape 0"/>
          <p:cNvSpPr/>
          <p:nvPr/>
        </p:nvSpPr>
        <p:spPr>
          <a:xfrm>
            <a:off x="0" y="6089650"/>
            <a:ext cx="12192000" cy="768350"/>
          </a:xfrm>
          <a:prstGeom prst="rect">
            <a:avLst/>
          </a:prstGeom>
          <a:solidFill>
            <a:srgbClr val="FFFFFF"/>
          </a:solidFill>
          <a:ln/>
        </p:spPr>
      </p:sp>
      <p:sp>
        <p:nvSpPr>
          <p:cNvPr id="3" name="Text 1"/>
          <p:cNvSpPr/>
          <p:nvPr/>
        </p:nvSpPr>
        <p:spPr>
          <a:xfrm>
            <a:off x="406400" y="6369050"/>
            <a:ext cx="812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Carlito" pitchFamily="34" charset="0"/>
                <a:ea typeface="Carlito" pitchFamily="34" charset="-122"/>
                <a:cs typeface="Carlito" pitchFamily="34" charset="-120"/>
              </a:rPr>
              <a:t>22</a:t>
            </a:r>
            <a:endParaRPr lang="en-US" sz="1200" dirty="0"/>
          </a:p>
        </p:txBody>
      </p:sp>
      <p:sp>
        <p:nvSpPr>
          <p:cNvPr id="4" name="Text 2"/>
          <p:cNvSpPr/>
          <p:nvPr/>
        </p:nvSpPr>
        <p:spPr>
          <a:xfrm>
            <a:off x="1485900" y="6369050"/>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Carlito" pitchFamily="34" charset="0"/>
                <a:ea typeface="Carlito" pitchFamily="34" charset="-122"/>
                <a:cs typeface="Carlito" pitchFamily="34" charset="-120"/>
              </a:rPr>
              <a:t>Interpretable model augmentation | Dirk van den Berg</a:t>
            </a:r>
            <a:endParaRPr lang="en-US" sz="1200" dirty="0"/>
          </a:p>
        </p:txBody>
      </p:sp>
      <p:pic>
        <p:nvPicPr>
          <p:cNvPr id="5" name="Image 0" descr="TU/e logo">    </p:cNvPr>
          <p:cNvPicPr>
            <a:picLocks noChangeAspect="1"/>
          </p:cNvPicPr>
          <p:nvPr/>
        </p:nvPicPr>
        <p:blipFill>
          <a:blip r:embed="rId1"/>
          <a:srcRect l="0" r="0" t="-37" b="-37"/>
          <a:stretch/>
        </p:blipFill>
        <p:spPr>
          <a:xfrm>
            <a:off x="10877550" y="6089650"/>
            <a:ext cx="1314450" cy="768350"/>
          </a:xfrm>
          <a:prstGeom prst="rect">
            <a:avLst/>
          </a:prstGeom>
        </p:spPr>
      </p:pic>
      <p:sp>
        <p:nvSpPr>
          <p:cNvPr id="6" name="Text 3"/>
          <p:cNvSpPr/>
          <p:nvPr/>
        </p:nvSpPr>
        <p:spPr>
          <a:xfrm>
            <a:off x="1009650" y="609600"/>
            <a:ext cx="10575989" cy="388620"/>
          </a:xfrm>
          <a:prstGeom prst="rect">
            <a:avLst/>
          </a:prstGeom>
          <a:noFill/>
          <a:ln/>
        </p:spPr>
        <p:txBody>
          <a:bodyPr wrap="square" lIns="0" tIns="0" rIns="0" bIns="0" rtlCol="0" anchor="t">
            <a:normAutofit/>
          </a:bodyPr>
          <a:lstStyle/>
          <a:p>
            <a:pPr algn="l" indent="0" marL="0">
              <a:lnSpc>
                <a:spcPts val="2860"/>
              </a:lnSpc>
              <a:buNone/>
            </a:pPr>
            <a:r>
              <a:rPr lang="en-US" sz="2600" b="1" dirty="0">
                <a:solidFill>
                  <a:srgbClr val="111111"/>
                </a:solidFill>
                <a:latin typeface="Carlito" pitchFamily="34" charset="0"/>
                <a:ea typeface="Carlito" pitchFamily="34" charset="-122"/>
                <a:cs typeface="Carlito" pitchFamily="34" charset="-120"/>
              </a:rPr>
              <a:t>Conclusion</a:t>
            </a:r>
            <a:endParaRPr lang="en-US" sz="2600" dirty="0"/>
          </a:p>
        </p:txBody>
      </p:sp>
      <p:sp>
        <p:nvSpPr>
          <p:cNvPr id="7" name="Text 4"/>
          <p:cNvSpPr/>
          <p:nvPr/>
        </p:nvSpPr>
        <p:spPr>
          <a:xfrm>
            <a:off x="1009650" y="1587500"/>
            <a:ext cx="222377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C81919"/>
                </a:solidFill>
                <a:latin typeface="Carlito" pitchFamily="34" charset="0"/>
                <a:ea typeface="Carlito" pitchFamily="34" charset="-122"/>
                <a:cs typeface="Carlito" pitchFamily="34" charset="-120"/>
              </a:rPr>
              <a:t>Augmentation</a:t>
            </a:r>
            <a:endParaRPr lang="en-US" sz="2000" dirty="0"/>
          </a:p>
        </p:txBody>
      </p:sp>
      <p:sp>
        <p:nvSpPr>
          <p:cNvPr id="8" name="Text 5"/>
          <p:cNvSpPr/>
          <p:nvPr/>
        </p:nvSpPr>
        <p:spPr>
          <a:xfrm>
            <a:off x="3422650" y="1638300"/>
            <a:ext cx="7992491" cy="299720"/>
          </a:xfrm>
          <a:prstGeom prst="rect">
            <a:avLst/>
          </a:prstGeom>
          <a:noFill/>
          <a:ln/>
        </p:spPr>
        <p:txBody>
          <a:bodyPr wrap="square" lIns="0" tIns="0" rIns="0" bIns="0" rtlCol="0" anchor="t">
            <a:normAutofit/>
          </a:bodyPr>
          <a:lstStyle/>
          <a:p>
            <a:pPr algn="l" indent="0" marL="0">
              <a:lnSpc>
                <a:spcPts val="2160"/>
              </a:lnSpc>
              <a:buNone/>
            </a:pPr>
            <a:r>
              <a:rPr lang="en-US" sz="1800" dirty="0">
                <a:solidFill>
                  <a:srgbClr val="111111"/>
                </a:solidFill>
                <a:latin typeface="Carlito" pitchFamily="34" charset="0"/>
                <a:ea typeface="Carlito" pitchFamily="34" charset="-122"/>
                <a:cs typeface="Carlito" pitchFamily="34" charset="-120"/>
              </a:rPr>
              <a:t>3.6 times lower closed-loop error on held-out data; a small block nearly suffices</a:t>
            </a:r>
            <a:endParaRPr lang="en-US" sz="1800" dirty="0"/>
          </a:p>
        </p:txBody>
      </p:sp>
      <p:sp>
        <p:nvSpPr>
          <p:cNvPr id="9" name="Text 6"/>
          <p:cNvSpPr/>
          <p:nvPr/>
        </p:nvSpPr>
        <p:spPr>
          <a:xfrm>
            <a:off x="1009650" y="2540000"/>
            <a:ext cx="222377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C81919"/>
                </a:solidFill>
                <a:latin typeface="Carlito" pitchFamily="34" charset="0"/>
                <a:ea typeface="Carlito" pitchFamily="34" charset="-122"/>
                <a:cs typeface="Carlito" pitchFamily="34" charset="-120"/>
              </a:rPr>
              <a:t>Projection</a:t>
            </a:r>
            <a:endParaRPr lang="en-US" sz="2000" dirty="0"/>
          </a:p>
        </p:txBody>
      </p:sp>
      <p:sp>
        <p:nvSpPr>
          <p:cNvPr id="10" name="Text 7"/>
          <p:cNvSpPr/>
          <p:nvPr/>
        </p:nvSpPr>
        <p:spPr>
          <a:xfrm>
            <a:off x="3422650" y="2590800"/>
            <a:ext cx="7992491" cy="574040"/>
          </a:xfrm>
          <a:prstGeom prst="rect">
            <a:avLst/>
          </a:prstGeom>
          <a:noFill/>
          <a:ln/>
        </p:spPr>
        <p:txBody>
          <a:bodyPr wrap="square" lIns="0" tIns="0" rIns="0" bIns="0" rtlCol="0" anchor="t">
            <a:normAutofit/>
          </a:bodyPr>
          <a:lstStyle/>
          <a:p>
            <a:pPr algn="l" indent="0" marL="0">
              <a:lnSpc>
                <a:spcPts val="2160"/>
              </a:lnSpc>
              <a:buNone/>
            </a:pPr>
            <a:r>
              <a:rPr lang="en-US" sz="1800" dirty="0">
                <a:solidFill>
                  <a:srgbClr val="111111"/>
                </a:solidFill>
                <a:latin typeface="Carlito" pitchFamily="34" charset="0"/>
                <a:ea typeface="Carlito" pitchFamily="34" charset="-122"/>
                <a:cs typeface="Carlito" pitchFamily="34" charset="-120"/>
              </a:rPr>
              <a:t>keeps the network's direct correction out of the parameter directions on training data, at no cost in fit</a:t>
            </a:r>
            <a:endParaRPr lang="en-US" sz="1800" dirty="0"/>
          </a:p>
        </p:txBody>
      </p:sp>
      <p:sp>
        <p:nvSpPr>
          <p:cNvPr id="11" name="Text 8"/>
          <p:cNvSpPr/>
          <p:nvPr/>
        </p:nvSpPr>
        <p:spPr>
          <a:xfrm>
            <a:off x="1009650" y="3492500"/>
            <a:ext cx="222377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C81919"/>
                </a:solidFill>
                <a:latin typeface="Carlito" pitchFamily="34" charset="0"/>
                <a:ea typeface="Carlito" pitchFamily="34" charset="-122"/>
                <a:cs typeface="Carlito" pitchFamily="34" charset="-120"/>
              </a:rPr>
              <a:t>Open</a:t>
            </a:r>
            <a:endParaRPr lang="en-US" sz="2000" dirty="0"/>
          </a:p>
        </p:txBody>
      </p:sp>
      <p:sp>
        <p:nvSpPr>
          <p:cNvPr id="12" name="Text 9"/>
          <p:cNvSpPr/>
          <p:nvPr/>
        </p:nvSpPr>
        <p:spPr>
          <a:xfrm>
            <a:off x="3422650" y="3543300"/>
            <a:ext cx="7992491" cy="299720"/>
          </a:xfrm>
          <a:prstGeom prst="rect">
            <a:avLst/>
          </a:prstGeom>
          <a:noFill/>
          <a:ln/>
        </p:spPr>
        <p:txBody>
          <a:bodyPr wrap="square" lIns="0" tIns="0" rIns="0" bIns="0" rtlCol="0" anchor="t">
            <a:normAutofit/>
          </a:bodyPr>
          <a:lstStyle/>
          <a:p>
            <a:pPr algn="l" indent="0" marL="0">
              <a:lnSpc>
                <a:spcPts val="2160"/>
              </a:lnSpc>
              <a:buNone/>
            </a:pPr>
            <a:r>
              <a:rPr lang="en-US" sz="1800" dirty="0">
                <a:solidFill>
                  <a:srgbClr val="111111"/>
                </a:solidFill>
                <a:latin typeface="Carlito" pitchFamily="34" charset="0"/>
                <a:ea typeface="Carlito" pitchFamily="34" charset="-122"/>
                <a:cs typeface="Carlito" pitchFamily="34" charset="-120"/>
              </a:rPr>
              <a:t>the physical parameters are not yet recovered</a:t>
            </a:r>
            <a:endParaRPr lang="en-US" sz="1800" dirty="0"/>
          </a:p>
        </p:txBody>
      </p:sp>
      <p:sp>
        <p:nvSpPr>
          <p:cNvPr id="13" name="Text 10"/>
          <p:cNvSpPr/>
          <p:nvPr/>
        </p:nvSpPr>
        <p:spPr>
          <a:xfrm>
            <a:off x="1009650" y="4445000"/>
            <a:ext cx="222377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C81919"/>
                </a:solidFill>
                <a:latin typeface="Carlito" pitchFamily="34" charset="0"/>
                <a:ea typeface="Carlito" pitchFamily="34" charset="-122"/>
                <a:cs typeface="Carlito" pitchFamily="34" charset="-120"/>
              </a:rPr>
              <a:t>Next</a:t>
            </a:r>
            <a:endParaRPr lang="en-US" sz="2000" dirty="0"/>
          </a:p>
        </p:txBody>
      </p:sp>
      <p:sp>
        <p:nvSpPr>
          <p:cNvPr id="14" name="Text 11"/>
          <p:cNvSpPr/>
          <p:nvPr/>
        </p:nvSpPr>
        <p:spPr>
          <a:xfrm>
            <a:off x="3422650" y="4495800"/>
            <a:ext cx="7992491" cy="299720"/>
          </a:xfrm>
          <a:prstGeom prst="rect">
            <a:avLst/>
          </a:prstGeom>
          <a:noFill/>
          <a:ln/>
        </p:spPr>
        <p:txBody>
          <a:bodyPr wrap="square" lIns="0" tIns="0" rIns="0" bIns="0" rtlCol="0" anchor="t">
            <a:normAutofit/>
          </a:bodyPr>
          <a:lstStyle/>
          <a:p>
            <a:pPr algn="l" indent="0" marL="0">
              <a:lnSpc>
                <a:spcPts val="2160"/>
              </a:lnSpc>
              <a:buNone/>
            </a:pPr>
            <a:r>
              <a:rPr lang="en-US" sz="1800" dirty="0">
                <a:solidFill>
                  <a:srgbClr val="111111"/>
                </a:solidFill>
                <a:latin typeface="Carlito" pitchFamily="34" charset="0"/>
                <a:ea typeface="Carlito" pitchFamily="34" charset="-122"/>
                <a:cs typeface="Carlito" pitchFamily="34" charset="-120"/>
              </a:rPr>
              <a:t>measurement noise, friction, and a black-box comparison</a:t>
            </a:r>
            <a:endParaRPr lang="en-US" sz="1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EEE8E8"/>
        </a:solidFill>
      </p:bgPr>
    </p:bg>
    <p:spTree>
      <p:nvGrpSpPr>
        <p:cNvPr id="1" name=""/>
        <p:cNvGrpSpPr/>
        <p:nvPr/>
      </p:nvGrpSpPr>
      <p:grpSpPr>
        <a:xfrm>
          <a:off x="0" y="0"/>
          <a:ext cx="0" cy="0"/>
          <a:chOff x="0" y="0"/>
          <a:chExt cx="0" cy="0"/>
        </a:xfrm>
      </p:grpSpPr>
      <p:pic>
        <p:nvPicPr>
          <p:cNvPr id="2" name="Image 0" descr="TU/e campus at dusk">    </p:cNvPr>
          <p:cNvPicPr>
            <a:picLocks noChangeAspect="1"/>
          </p:cNvPicPr>
          <p:nvPr/>
        </p:nvPicPr>
        <p:blipFill>
          <a:blip r:embed="rId1"/>
          <a:srcRect l="0" r="0" t="5615" b="5615"/>
          <a:stretch/>
        </p:blipFill>
        <p:spPr>
          <a:xfrm>
            <a:off x="0" y="0"/>
            <a:ext cx="12192000" cy="6089650"/>
          </a:xfrm>
          <a:prstGeom prst="rect">
            <a:avLst/>
          </a:prstGeom>
        </p:spPr>
      </p:pic>
      <p:sp>
        <p:nvSpPr>
          <p:cNvPr id="3" name="Shape 0"/>
          <p:cNvSpPr/>
          <p:nvPr/>
        </p:nvSpPr>
        <p:spPr>
          <a:xfrm>
            <a:off x="0" y="0"/>
            <a:ext cx="12192000" cy="6089650"/>
          </a:xfrm>
          <a:prstGeom prst="rect">
            <a:avLst/>
          </a:prstGeom>
          <a:solidFill>
            <a:srgbClr val="000000">
              <a:alpha val="18000"/>
            </a:srgbClr>
          </a:solidFill>
          <a:ln/>
        </p:spPr>
      </p:sp>
      <p:sp>
        <p:nvSpPr>
          <p:cNvPr id="4" name="Text 1"/>
          <p:cNvSpPr/>
          <p:nvPr/>
        </p:nvSpPr>
        <p:spPr>
          <a:xfrm>
            <a:off x="0" y="2286000"/>
            <a:ext cx="12192000" cy="1270000"/>
          </a:xfrm>
          <a:prstGeom prst="rect">
            <a:avLst/>
          </a:prstGeom>
          <a:solidFill>
            <a:srgbClr val="C81919">
              <a:alpha val="92000"/>
            </a:srgbClr>
          </a:solidFill>
          <a:ln/>
        </p:spPr>
        <p:txBody>
          <a:bodyPr wrap="square" lIns="1009650" tIns="355600" rIns="704469" bIns="330200" rtlCol="0" anchor="t">
            <a:normAutofit/>
          </a:bodyPr>
          <a:lstStyle/>
          <a:p>
            <a:pPr algn="l" indent="0" marL="0">
              <a:lnSpc>
                <a:spcPts val="4400"/>
              </a:lnSpc>
              <a:buNone/>
            </a:pPr>
            <a:r>
              <a:rPr lang="en-US" sz="4000" b="1" dirty="0">
                <a:solidFill>
                  <a:srgbClr val="FFFFFF"/>
                </a:solidFill>
                <a:latin typeface="Carlito" pitchFamily="34" charset="0"/>
                <a:ea typeface="Carlito" pitchFamily="34" charset="-122"/>
                <a:cs typeface="Carlito" pitchFamily="34" charset="-120"/>
              </a:rPr>
              <a:t>Thank you. Questions?</a:t>
            </a:r>
            <a:endParaRPr lang="en-US" sz="4000" dirty="0"/>
          </a:p>
        </p:txBody>
      </p:sp>
      <p:sp>
        <p:nvSpPr>
          <p:cNvPr id="5" name="Shape 2"/>
          <p:cNvSpPr/>
          <p:nvPr/>
        </p:nvSpPr>
        <p:spPr>
          <a:xfrm>
            <a:off x="0" y="6089650"/>
            <a:ext cx="12192000" cy="768350"/>
          </a:xfrm>
          <a:prstGeom prst="rect">
            <a:avLst/>
          </a:prstGeom>
          <a:solidFill>
            <a:srgbClr val="FFFFFF"/>
          </a:solidFill>
          <a:ln/>
        </p:spPr>
      </p:sp>
      <p:pic>
        <p:nvPicPr>
          <p:cNvPr id="6" name="Image 1" descr="TU/e Eindhoven University of Technology logo">    </p:cNvPr>
          <p:cNvPicPr>
            <a:picLocks noChangeAspect="1"/>
          </p:cNvPicPr>
          <p:nvPr/>
        </p:nvPicPr>
        <p:blipFill>
          <a:blip r:embed="rId2"/>
          <a:srcRect l="0" r="0" t="-67" b="-67"/>
          <a:stretch/>
        </p:blipFill>
        <p:spPr>
          <a:xfrm>
            <a:off x="9791700" y="6089650"/>
            <a:ext cx="2400300" cy="76835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EEE8E8"/>
        </a:solidFill>
      </p:bgPr>
    </p:bg>
    <p:spTree>
      <p:nvGrpSpPr>
        <p:cNvPr id="1" name=""/>
        <p:cNvGrpSpPr/>
        <p:nvPr/>
      </p:nvGrpSpPr>
      <p:grpSpPr>
        <a:xfrm>
          <a:off x="0" y="0"/>
          <a:ext cx="0" cy="0"/>
          <a:chOff x="0" y="0"/>
          <a:chExt cx="0" cy="0"/>
        </a:xfrm>
      </p:grpSpPr>
      <p:sp>
        <p:nvSpPr>
          <p:cNvPr id="2" name="Shape 0"/>
          <p:cNvSpPr/>
          <p:nvPr/>
        </p:nvSpPr>
        <p:spPr>
          <a:xfrm>
            <a:off x="0" y="6089650"/>
            <a:ext cx="12192000" cy="768350"/>
          </a:xfrm>
          <a:prstGeom prst="rect">
            <a:avLst/>
          </a:prstGeom>
          <a:solidFill>
            <a:srgbClr val="FFFFFF"/>
          </a:solidFill>
          <a:ln/>
        </p:spPr>
      </p:sp>
      <p:sp>
        <p:nvSpPr>
          <p:cNvPr id="3" name="Text 1"/>
          <p:cNvSpPr/>
          <p:nvPr/>
        </p:nvSpPr>
        <p:spPr>
          <a:xfrm>
            <a:off x="406400" y="6369050"/>
            <a:ext cx="812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Carlito" pitchFamily="34" charset="0"/>
                <a:ea typeface="Carlito" pitchFamily="34" charset="-122"/>
                <a:cs typeface="Carlito" pitchFamily="34" charset="-120"/>
              </a:rPr>
              <a:t>B</a:t>
            </a:r>
            <a:endParaRPr lang="en-US" sz="1200" dirty="0"/>
          </a:p>
        </p:txBody>
      </p:sp>
      <p:sp>
        <p:nvSpPr>
          <p:cNvPr id="4" name="Text 2"/>
          <p:cNvSpPr/>
          <p:nvPr/>
        </p:nvSpPr>
        <p:spPr>
          <a:xfrm>
            <a:off x="1485900" y="6369050"/>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Carlito" pitchFamily="34" charset="0"/>
                <a:ea typeface="Carlito" pitchFamily="34" charset="-122"/>
                <a:cs typeface="Carlito" pitchFamily="34" charset="-120"/>
              </a:rPr>
              <a:t>Interpretable model augmentation | Dirk van den Berg</a:t>
            </a:r>
            <a:endParaRPr lang="en-US" sz="1200" dirty="0"/>
          </a:p>
        </p:txBody>
      </p:sp>
      <p:pic>
        <p:nvPicPr>
          <p:cNvPr id="5" name="Image 0" descr="TU/e logo">    </p:cNvPr>
          <p:cNvPicPr>
            <a:picLocks noChangeAspect="1"/>
          </p:cNvPicPr>
          <p:nvPr/>
        </p:nvPicPr>
        <p:blipFill>
          <a:blip r:embed="rId1"/>
          <a:srcRect l="0" r="0" t="-37" b="-37"/>
          <a:stretch/>
        </p:blipFill>
        <p:spPr>
          <a:xfrm>
            <a:off x="10877550" y="6089650"/>
            <a:ext cx="1314450" cy="768350"/>
          </a:xfrm>
          <a:prstGeom prst="rect">
            <a:avLst/>
          </a:prstGeom>
        </p:spPr>
      </p:pic>
      <p:sp>
        <p:nvSpPr>
          <p:cNvPr id="6" name="Text 3"/>
          <p:cNvSpPr/>
          <p:nvPr/>
        </p:nvSpPr>
        <p:spPr>
          <a:xfrm>
            <a:off x="1009650" y="2667000"/>
            <a:ext cx="1892248" cy="695960"/>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C81919"/>
                </a:solidFill>
                <a:latin typeface="Carlito" pitchFamily="34" charset="0"/>
                <a:ea typeface="Carlito" pitchFamily="34" charset="-122"/>
                <a:cs typeface="Carlito" pitchFamily="34" charset="-120"/>
              </a:rPr>
              <a:t>Backup</a:t>
            </a:r>
            <a:endParaRPr lang="en-US" sz="4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EEE8E8"/>
        </a:solidFill>
      </p:bgPr>
    </p:bg>
    <p:spTree>
      <p:nvGrpSpPr>
        <p:cNvPr id="1" name=""/>
        <p:cNvGrpSpPr/>
        <p:nvPr/>
      </p:nvGrpSpPr>
      <p:grpSpPr>
        <a:xfrm>
          <a:off x="0" y="0"/>
          <a:ext cx="0" cy="0"/>
          <a:chOff x="0" y="0"/>
          <a:chExt cx="0" cy="0"/>
        </a:xfrm>
      </p:grpSpPr>
      <p:sp>
        <p:nvSpPr>
          <p:cNvPr id="2" name="Shape 0"/>
          <p:cNvSpPr/>
          <p:nvPr/>
        </p:nvSpPr>
        <p:spPr>
          <a:xfrm>
            <a:off x="0" y="6089650"/>
            <a:ext cx="12192000" cy="768350"/>
          </a:xfrm>
          <a:prstGeom prst="rect">
            <a:avLst/>
          </a:prstGeom>
          <a:solidFill>
            <a:srgbClr val="FFFFFF"/>
          </a:solidFill>
          <a:ln/>
        </p:spPr>
      </p:sp>
      <p:sp>
        <p:nvSpPr>
          <p:cNvPr id="3" name="Text 1"/>
          <p:cNvSpPr/>
          <p:nvPr/>
        </p:nvSpPr>
        <p:spPr>
          <a:xfrm>
            <a:off x="406400" y="6369050"/>
            <a:ext cx="812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Carlito" pitchFamily="34" charset="0"/>
                <a:ea typeface="Carlito" pitchFamily="34" charset="-122"/>
                <a:cs typeface="Carlito" pitchFamily="34" charset="-120"/>
              </a:rPr>
              <a:t>B1</a:t>
            </a:r>
            <a:endParaRPr lang="en-US" sz="1200" dirty="0"/>
          </a:p>
        </p:txBody>
      </p:sp>
      <p:sp>
        <p:nvSpPr>
          <p:cNvPr id="4" name="Text 2"/>
          <p:cNvSpPr/>
          <p:nvPr/>
        </p:nvSpPr>
        <p:spPr>
          <a:xfrm>
            <a:off x="1485900" y="6369050"/>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Carlito" pitchFamily="34" charset="0"/>
                <a:ea typeface="Carlito" pitchFamily="34" charset="-122"/>
                <a:cs typeface="Carlito" pitchFamily="34" charset="-120"/>
              </a:rPr>
              <a:t>Interpretable model augmentation | Dirk van den Berg</a:t>
            </a:r>
            <a:endParaRPr lang="en-US" sz="1200" dirty="0"/>
          </a:p>
        </p:txBody>
      </p:sp>
      <p:pic>
        <p:nvPicPr>
          <p:cNvPr id="5" name="Image 0" descr="TU/e logo">    </p:cNvPr>
          <p:cNvPicPr>
            <a:picLocks noChangeAspect="1"/>
          </p:cNvPicPr>
          <p:nvPr/>
        </p:nvPicPr>
        <p:blipFill>
          <a:blip r:embed="rId1"/>
          <a:srcRect l="0" r="0" t="-37" b="-37"/>
          <a:stretch/>
        </p:blipFill>
        <p:spPr>
          <a:xfrm>
            <a:off x="10877550" y="6089650"/>
            <a:ext cx="1314450" cy="768350"/>
          </a:xfrm>
          <a:prstGeom prst="rect">
            <a:avLst/>
          </a:prstGeom>
        </p:spPr>
      </p:pic>
      <p:sp>
        <p:nvSpPr>
          <p:cNvPr id="6" name="Text 3"/>
          <p:cNvSpPr/>
          <p:nvPr/>
        </p:nvSpPr>
        <p:spPr>
          <a:xfrm>
            <a:off x="1009650" y="609600"/>
            <a:ext cx="10575989" cy="388620"/>
          </a:xfrm>
          <a:prstGeom prst="rect">
            <a:avLst/>
          </a:prstGeom>
          <a:noFill/>
          <a:ln/>
        </p:spPr>
        <p:txBody>
          <a:bodyPr wrap="square" lIns="0" tIns="0" rIns="0" bIns="0" rtlCol="0" anchor="t">
            <a:normAutofit/>
          </a:bodyPr>
          <a:lstStyle/>
          <a:p>
            <a:pPr algn="l" indent="0" marL="0">
              <a:lnSpc>
                <a:spcPts val="2860"/>
              </a:lnSpc>
              <a:buNone/>
            </a:pPr>
            <a:r>
              <a:rPr lang="en-US" sz="2600" b="1" dirty="0">
                <a:solidFill>
                  <a:srgbClr val="111111"/>
                </a:solidFill>
                <a:latin typeface="Carlito" pitchFamily="34" charset="0"/>
                <a:ea typeface="Carlito" pitchFamily="34" charset="-122"/>
                <a:cs typeface="Carlito" pitchFamily="34" charset="-120"/>
              </a:rPr>
              <a:t>Validation in closed loop</a:t>
            </a:r>
            <a:endParaRPr lang="en-US" sz="2600" dirty="0"/>
          </a:p>
        </p:txBody>
      </p:sp>
      <p:sp>
        <p:nvSpPr>
          <p:cNvPr id="7" name="Shape 4"/>
          <p:cNvSpPr/>
          <p:nvPr/>
        </p:nvSpPr>
        <p:spPr>
          <a:xfrm>
            <a:off x="1009650" y="1301750"/>
            <a:ext cx="10172700" cy="3556000"/>
          </a:xfrm>
          <a:prstGeom prst="roundRect">
            <a:avLst>
              <a:gd name="adj" fmla="val 2143"/>
            </a:avLst>
          </a:prstGeom>
          <a:solidFill>
            <a:srgbClr val="FFFFFF"/>
          </a:solidFill>
          <a:ln/>
        </p:spPr>
      </p:sp>
      <p:pic>
        <p:nvPicPr>
          <p:cNvPr id="8" name="Image 1" descr="Closed-loop validation: the model gets the recorded input plus the known controller's response to the model's tracking error">    </p:cNvPr>
          <p:cNvPicPr>
            <a:picLocks noChangeAspect="1"/>
          </p:cNvPicPr>
          <p:nvPr/>
        </p:nvPicPr>
        <p:blipFill>
          <a:blip r:embed="rId2"/>
          <a:srcRect l="0" r="0" t="22" b="22"/>
          <a:stretch/>
        </p:blipFill>
        <p:spPr>
          <a:xfrm>
            <a:off x="1263650" y="2051050"/>
            <a:ext cx="9664700" cy="2057400"/>
          </a:xfrm>
          <a:prstGeom prst="rect">
            <a:avLst/>
          </a:prstGeom>
        </p:spPr>
      </p:pic>
      <p:sp>
        <p:nvSpPr>
          <p:cNvPr id="9" name="Text 5"/>
          <p:cNvSpPr/>
          <p:nvPr/>
        </p:nvSpPr>
        <p:spPr>
          <a:xfrm>
            <a:off x="857060" y="5080000"/>
            <a:ext cx="10477881" cy="279400"/>
          </a:xfrm>
          <a:prstGeom prst="rect">
            <a:avLst/>
          </a:prstGeom>
          <a:noFill/>
          <a:ln/>
        </p:spPr>
        <p:txBody>
          <a:bodyPr wrap="square" lIns="0" tIns="0" rIns="0" bIns="0" rtlCol="0" anchor="t">
            <a:normAutofit/>
          </a:bodyPr>
          <a:lstStyle/>
          <a:p>
            <a:pPr algn="ctr" indent="0" marL="0">
              <a:lnSpc>
                <a:spcPts val="2000"/>
              </a:lnSpc>
              <a:buNone/>
            </a:pPr>
            <a:r>
              <a:rPr lang="en-US" sz="1600" dirty="0">
                <a:solidFill>
                  <a:srgbClr val="111111"/>
                </a:solidFill>
                <a:latin typeface="Carlito" pitchFamily="34" charset="0"/>
                <a:ea typeface="Carlito" pitchFamily="34" charset="-122"/>
                <a:cs typeface="Carlito" pitchFamily="34" charset="-120"/>
              </a:rPr>
              <a:t>X and Y have no spring to the ground: open loop, a small force error integrates into drift</a:t>
            </a:r>
            <a:endParaRPr lang="en-US" sz="1600" dirty="0"/>
          </a:p>
        </p:txBody>
      </p:sp>
      <p:sp>
        <p:nvSpPr>
          <p:cNvPr id="10" name="Text 6"/>
          <p:cNvSpPr/>
          <p:nvPr/>
        </p:nvSpPr>
        <p:spPr>
          <a:xfrm>
            <a:off x="857060" y="5461000"/>
            <a:ext cx="10477881" cy="279400"/>
          </a:xfrm>
          <a:prstGeom prst="rect">
            <a:avLst/>
          </a:prstGeom>
          <a:noFill/>
          <a:ln/>
        </p:spPr>
        <p:txBody>
          <a:bodyPr wrap="square" lIns="0" tIns="0" rIns="0" bIns="0" rtlCol="0" anchor="t">
            <a:normAutofit/>
          </a:bodyPr>
          <a:lstStyle/>
          <a:p>
            <a:pPr algn="ctr" indent="0" marL="0">
              <a:lnSpc>
                <a:spcPts val="2000"/>
              </a:lnSpc>
              <a:buNone/>
            </a:pPr>
            <a:r>
              <a:rPr lang="en-US" sz="1600" dirty="0">
                <a:solidFill>
                  <a:srgbClr val="6B6B6B"/>
                </a:solidFill>
                <a:latin typeface="Carlito" pitchFamily="34" charset="0"/>
                <a:ea typeface="Carlito" pitchFamily="34" charset="-122"/>
                <a:cs typeface="Carlito" pitchFamily="34" charset="-120"/>
              </a:rPr>
              <a:t>model input: recorded input plus the controller's response to the model's error</a:t>
            </a:r>
            <a:endParaRPr lang="en-US" sz="1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EEE8E8"/>
        </a:solidFill>
      </p:bgPr>
    </p:bg>
    <p:spTree>
      <p:nvGrpSpPr>
        <p:cNvPr id="1" name=""/>
        <p:cNvGrpSpPr/>
        <p:nvPr/>
      </p:nvGrpSpPr>
      <p:grpSpPr>
        <a:xfrm>
          <a:off x="0" y="0"/>
          <a:ext cx="0" cy="0"/>
          <a:chOff x="0" y="0"/>
          <a:chExt cx="0" cy="0"/>
        </a:xfrm>
      </p:grpSpPr>
      <p:sp>
        <p:nvSpPr>
          <p:cNvPr id="2" name="Shape 0"/>
          <p:cNvSpPr/>
          <p:nvPr/>
        </p:nvSpPr>
        <p:spPr>
          <a:xfrm>
            <a:off x="0" y="6089650"/>
            <a:ext cx="12192000" cy="768350"/>
          </a:xfrm>
          <a:prstGeom prst="rect">
            <a:avLst/>
          </a:prstGeom>
          <a:solidFill>
            <a:srgbClr val="FFFFFF"/>
          </a:solidFill>
          <a:ln/>
        </p:spPr>
      </p:sp>
      <p:sp>
        <p:nvSpPr>
          <p:cNvPr id="3" name="Text 1"/>
          <p:cNvSpPr/>
          <p:nvPr/>
        </p:nvSpPr>
        <p:spPr>
          <a:xfrm>
            <a:off x="406400" y="6369050"/>
            <a:ext cx="812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Carlito" pitchFamily="34" charset="0"/>
                <a:ea typeface="Carlito" pitchFamily="34" charset="-122"/>
                <a:cs typeface="Carlito" pitchFamily="34" charset="-120"/>
              </a:rPr>
              <a:t>B2</a:t>
            </a:r>
            <a:endParaRPr lang="en-US" sz="1200" dirty="0"/>
          </a:p>
        </p:txBody>
      </p:sp>
      <p:sp>
        <p:nvSpPr>
          <p:cNvPr id="4" name="Text 2"/>
          <p:cNvSpPr/>
          <p:nvPr/>
        </p:nvSpPr>
        <p:spPr>
          <a:xfrm>
            <a:off x="1485900" y="6369050"/>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Carlito" pitchFamily="34" charset="0"/>
                <a:ea typeface="Carlito" pitchFamily="34" charset="-122"/>
                <a:cs typeface="Carlito" pitchFamily="34" charset="-120"/>
              </a:rPr>
              <a:t>Interpretable model augmentation | Dirk van den Berg</a:t>
            </a:r>
            <a:endParaRPr lang="en-US" sz="1200" dirty="0"/>
          </a:p>
        </p:txBody>
      </p:sp>
      <p:pic>
        <p:nvPicPr>
          <p:cNvPr id="5" name="Image 0" descr="TU/e logo">    </p:cNvPr>
          <p:cNvPicPr>
            <a:picLocks noChangeAspect="1"/>
          </p:cNvPicPr>
          <p:nvPr/>
        </p:nvPicPr>
        <p:blipFill>
          <a:blip r:embed="rId1"/>
          <a:srcRect l="0" r="0" t="-37" b="-37"/>
          <a:stretch/>
        </p:blipFill>
        <p:spPr>
          <a:xfrm>
            <a:off x="10877550" y="6089650"/>
            <a:ext cx="1314450" cy="768350"/>
          </a:xfrm>
          <a:prstGeom prst="rect">
            <a:avLst/>
          </a:prstGeom>
        </p:spPr>
      </p:pic>
      <p:sp>
        <p:nvSpPr>
          <p:cNvPr id="6" name="Text 3"/>
          <p:cNvSpPr/>
          <p:nvPr/>
        </p:nvSpPr>
        <p:spPr>
          <a:xfrm>
            <a:off x="1009650" y="609600"/>
            <a:ext cx="10575989" cy="388620"/>
          </a:xfrm>
          <a:prstGeom prst="rect">
            <a:avLst/>
          </a:prstGeom>
          <a:noFill/>
          <a:ln/>
        </p:spPr>
        <p:txBody>
          <a:bodyPr wrap="square" lIns="0" tIns="0" rIns="0" bIns="0" rtlCol="0" anchor="t">
            <a:normAutofit/>
          </a:bodyPr>
          <a:lstStyle/>
          <a:p>
            <a:pPr algn="l" indent="0" marL="0">
              <a:lnSpc>
                <a:spcPts val="2860"/>
              </a:lnSpc>
              <a:buNone/>
            </a:pPr>
            <a:r>
              <a:rPr lang="en-US" sz="2600" b="1" dirty="0">
                <a:solidFill>
                  <a:srgbClr val="111111"/>
                </a:solidFill>
                <a:latin typeface="Carlito" pitchFamily="34" charset="0"/>
                <a:ea typeface="Carlito" pitchFamily="34" charset="-122"/>
                <a:cs typeface="Carlito" pitchFamily="34" charset="-120"/>
              </a:rPr>
              <a:t>Orthogonality and the projection in formulas</a:t>
            </a:r>
            <a:endParaRPr lang="en-US" sz="2600" dirty="0"/>
          </a:p>
        </p:txBody>
      </p:sp>
      <p:sp>
        <p:nvSpPr>
          <p:cNvPr id="7" name="Shape 4"/>
          <p:cNvSpPr/>
          <p:nvPr/>
        </p:nvSpPr>
        <p:spPr>
          <a:xfrm>
            <a:off x="1009650" y="1301750"/>
            <a:ext cx="10172700" cy="4445000"/>
          </a:xfrm>
          <a:prstGeom prst="roundRect">
            <a:avLst>
              <a:gd name="adj" fmla="val 1714"/>
            </a:avLst>
          </a:prstGeom>
          <a:solidFill>
            <a:srgbClr val="FFFFFF"/>
          </a:solidFill>
          <a:ln/>
        </p:spPr>
      </p:sp>
      <p:pic>
        <p:nvPicPr>
          <p:cNvPr id="8" name="Image 1" descr="Formulas for the parameter directions, orthogonality, the projection and the overlap rho">    </p:cNvPr>
          <p:cNvPicPr>
            <a:picLocks noChangeAspect="1"/>
          </p:cNvPicPr>
          <p:nvPr/>
        </p:nvPicPr>
        <p:blipFill>
          <a:blip r:embed="rId2"/>
          <a:srcRect l="0" r="0" t="0" b="0"/>
          <a:stretch/>
        </p:blipFill>
        <p:spPr>
          <a:xfrm>
            <a:off x="2876550" y="1492250"/>
            <a:ext cx="6438900" cy="40640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EEE8E8"/>
        </a:solidFill>
      </p:bgPr>
    </p:bg>
    <p:spTree>
      <p:nvGrpSpPr>
        <p:cNvPr id="1" name=""/>
        <p:cNvGrpSpPr/>
        <p:nvPr/>
      </p:nvGrpSpPr>
      <p:grpSpPr>
        <a:xfrm>
          <a:off x="0" y="0"/>
          <a:ext cx="0" cy="0"/>
          <a:chOff x="0" y="0"/>
          <a:chExt cx="0" cy="0"/>
        </a:xfrm>
      </p:grpSpPr>
      <p:sp>
        <p:nvSpPr>
          <p:cNvPr id="2" name="Shape 0"/>
          <p:cNvSpPr/>
          <p:nvPr/>
        </p:nvSpPr>
        <p:spPr>
          <a:xfrm>
            <a:off x="0" y="6089650"/>
            <a:ext cx="12192000" cy="768350"/>
          </a:xfrm>
          <a:prstGeom prst="rect">
            <a:avLst/>
          </a:prstGeom>
          <a:solidFill>
            <a:srgbClr val="FFFFFF"/>
          </a:solidFill>
          <a:ln/>
        </p:spPr>
      </p:sp>
      <p:sp>
        <p:nvSpPr>
          <p:cNvPr id="3" name="Text 1"/>
          <p:cNvSpPr/>
          <p:nvPr/>
        </p:nvSpPr>
        <p:spPr>
          <a:xfrm>
            <a:off x="406400" y="6369050"/>
            <a:ext cx="812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Carlito" pitchFamily="34" charset="0"/>
                <a:ea typeface="Carlito" pitchFamily="34" charset="-122"/>
                <a:cs typeface="Carlito" pitchFamily="34" charset="-120"/>
              </a:rPr>
              <a:t>B3</a:t>
            </a:r>
            <a:endParaRPr lang="en-US" sz="1200" dirty="0"/>
          </a:p>
        </p:txBody>
      </p:sp>
      <p:sp>
        <p:nvSpPr>
          <p:cNvPr id="4" name="Text 2"/>
          <p:cNvSpPr/>
          <p:nvPr/>
        </p:nvSpPr>
        <p:spPr>
          <a:xfrm>
            <a:off x="1485900" y="6369050"/>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Carlito" pitchFamily="34" charset="0"/>
                <a:ea typeface="Carlito" pitchFamily="34" charset="-122"/>
                <a:cs typeface="Carlito" pitchFamily="34" charset="-120"/>
              </a:rPr>
              <a:t>Noiseless simulation, no friction, one training run per setting, earlier pipeline version.</a:t>
            </a:r>
            <a:endParaRPr lang="en-US" sz="1200" dirty="0"/>
          </a:p>
        </p:txBody>
      </p:sp>
      <p:pic>
        <p:nvPicPr>
          <p:cNvPr id="5" name="Image 0" descr="TU/e logo">    </p:cNvPr>
          <p:cNvPicPr>
            <a:picLocks noChangeAspect="1"/>
          </p:cNvPicPr>
          <p:nvPr/>
        </p:nvPicPr>
        <p:blipFill>
          <a:blip r:embed="rId1"/>
          <a:srcRect l="0" r="0" t="-37" b="-37"/>
          <a:stretch/>
        </p:blipFill>
        <p:spPr>
          <a:xfrm>
            <a:off x="10877550" y="6089650"/>
            <a:ext cx="1314450" cy="768350"/>
          </a:xfrm>
          <a:prstGeom prst="rect">
            <a:avLst/>
          </a:prstGeom>
        </p:spPr>
      </p:pic>
      <p:sp>
        <p:nvSpPr>
          <p:cNvPr id="6" name="Text 3"/>
          <p:cNvSpPr/>
          <p:nvPr/>
        </p:nvSpPr>
        <p:spPr>
          <a:xfrm>
            <a:off x="1009650" y="609600"/>
            <a:ext cx="10575989" cy="388620"/>
          </a:xfrm>
          <a:prstGeom prst="rect">
            <a:avLst/>
          </a:prstGeom>
          <a:noFill/>
          <a:ln/>
        </p:spPr>
        <p:txBody>
          <a:bodyPr wrap="square" lIns="0" tIns="0" rIns="0" bIns="0" rtlCol="0" anchor="t">
            <a:normAutofit/>
          </a:bodyPr>
          <a:lstStyle/>
          <a:p>
            <a:pPr algn="l" indent="0" marL="0">
              <a:lnSpc>
                <a:spcPts val="2860"/>
              </a:lnSpc>
              <a:buNone/>
            </a:pPr>
            <a:r>
              <a:rPr lang="en-US" sz="2600" b="1" dirty="0">
                <a:solidFill>
                  <a:srgbClr val="111111"/>
                </a:solidFill>
                <a:latin typeface="Carlito" pitchFamily="34" charset="0"/>
                <a:ea typeface="Carlito" pitchFamily="34" charset="-122"/>
                <a:cs typeface="Carlito" pitchFamily="34" charset="-120"/>
              </a:rPr>
              <a:t>All ten parameters, with and without projection</a:t>
            </a:r>
            <a:endParaRPr lang="en-US" sz="2600" dirty="0"/>
          </a:p>
        </p:txBody>
      </p:sp>
      <p:sp>
        <p:nvSpPr>
          <p:cNvPr id="7" name="Shape 4"/>
          <p:cNvSpPr/>
          <p:nvPr/>
        </p:nvSpPr>
        <p:spPr>
          <a:xfrm>
            <a:off x="1009650" y="1301750"/>
            <a:ext cx="10172700" cy="4064000"/>
          </a:xfrm>
          <a:prstGeom prst="roundRect">
            <a:avLst>
              <a:gd name="adj" fmla="val 1875"/>
            </a:avLst>
          </a:prstGeom>
          <a:solidFill>
            <a:srgbClr val="FFFFFF"/>
          </a:solidFill>
          <a:ln/>
        </p:spPr>
      </p:sp>
      <p:pic>
        <p:nvPicPr>
          <p:cNvPr id="8" name="Image 1" descr="Error of each of the ten parameter combinations against its true value, both runs start 10 % off">    </p:cNvPr>
          <p:cNvPicPr>
            <a:picLocks noChangeAspect="1"/>
          </p:cNvPicPr>
          <p:nvPr/>
        </p:nvPicPr>
        <p:blipFill>
          <a:blip r:embed="rId2"/>
          <a:srcRect l="11" r="11" t="0" b="0"/>
          <a:stretch/>
        </p:blipFill>
        <p:spPr>
          <a:xfrm>
            <a:off x="2019300" y="1492250"/>
            <a:ext cx="8153400" cy="36830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EEE8E8"/>
        </a:solidFill>
      </p:bgPr>
    </p:bg>
    <p:spTree>
      <p:nvGrpSpPr>
        <p:cNvPr id="1" name=""/>
        <p:cNvGrpSpPr/>
        <p:nvPr/>
      </p:nvGrpSpPr>
      <p:grpSpPr>
        <a:xfrm>
          <a:off x="0" y="0"/>
          <a:ext cx="0" cy="0"/>
          <a:chOff x="0" y="0"/>
          <a:chExt cx="0" cy="0"/>
        </a:xfrm>
      </p:grpSpPr>
      <p:sp>
        <p:nvSpPr>
          <p:cNvPr id="2" name="Shape 0"/>
          <p:cNvSpPr/>
          <p:nvPr/>
        </p:nvSpPr>
        <p:spPr>
          <a:xfrm>
            <a:off x="0" y="6089650"/>
            <a:ext cx="12192000" cy="768350"/>
          </a:xfrm>
          <a:prstGeom prst="rect">
            <a:avLst/>
          </a:prstGeom>
          <a:solidFill>
            <a:srgbClr val="FFFFFF"/>
          </a:solidFill>
          <a:ln/>
        </p:spPr>
      </p:sp>
      <p:sp>
        <p:nvSpPr>
          <p:cNvPr id="3" name="Text 1"/>
          <p:cNvSpPr/>
          <p:nvPr/>
        </p:nvSpPr>
        <p:spPr>
          <a:xfrm>
            <a:off x="406400" y="6369050"/>
            <a:ext cx="812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Carlito" pitchFamily="34" charset="0"/>
                <a:ea typeface="Carlito" pitchFamily="34" charset="-122"/>
                <a:cs typeface="Carlito" pitchFamily="34" charset="-120"/>
              </a:rPr>
              <a:t>B4</a:t>
            </a:r>
            <a:endParaRPr lang="en-US" sz="1200" dirty="0"/>
          </a:p>
        </p:txBody>
      </p:sp>
      <p:sp>
        <p:nvSpPr>
          <p:cNvPr id="4" name="Text 2"/>
          <p:cNvSpPr/>
          <p:nvPr/>
        </p:nvSpPr>
        <p:spPr>
          <a:xfrm>
            <a:off x="1485900" y="6369050"/>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Carlito" pitchFamily="34" charset="0"/>
                <a:ea typeface="Carlito" pitchFamily="34" charset="-122"/>
                <a:cs typeface="Carlito" pitchFamily="34" charset="-120"/>
              </a:rPr>
              <a:t>Interpretable model augmentation | Dirk van den Berg</a:t>
            </a:r>
            <a:endParaRPr lang="en-US" sz="1200" dirty="0"/>
          </a:p>
        </p:txBody>
      </p:sp>
      <p:pic>
        <p:nvPicPr>
          <p:cNvPr id="5" name="Image 0" descr="TU/e logo">    </p:cNvPr>
          <p:cNvPicPr>
            <a:picLocks noChangeAspect="1"/>
          </p:cNvPicPr>
          <p:nvPr/>
        </p:nvPicPr>
        <p:blipFill>
          <a:blip r:embed="rId1"/>
          <a:srcRect l="0" r="0" t="-37" b="-37"/>
          <a:stretch/>
        </p:blipFill>
        <p:spPr>
          <a:xfrm>
            <a:off x="10877550" y="6089650"/>
            <a:ext cx="1314450" cy="768350"/>
          </a:xfrm>
          <a:prstGeom prst="rect">
            <a:avLst/>
          </a:prstGeom>
        </p:spPr>
      </p:pic>
      <p:sp>
        <p:nvSpPr>
          <p:cNvPr id="6" name="Text 3"/>
          <p:cNvSpPr/>
          <p:nvPr/>
        </p:nvSpPr>
        <p:spPr>
          <a:xfrm>
            <a:off x="1009650" y="609600"/>
            <a:ext cx="10575989" cy="388620"/>
          </a:xfrm>
          <a:prstGeom prst="rect">
            <a:avLst/>
          </a:prstGeom>
          <a:noFill/>
          <a:ln/>
        </p:spPr>
        <p:txBody>
          <a:bodyPr wrap="square" lIns="0" tIns="0" rIns="0" bIns="0" rtlCol="0" anchor="t">
            <a:normAutofit/>
          </a:bodyPr>
          <a:lstStyle/>
          <a:p>
            <a:pPr algn="l" indent="0" marL="0">
              <a:lnSpc>
                <a:spcPts val="2860"/>
              </a:lnSpc>
              <a:buNone/>
            </a:pPr>
            <a:r>
              <a:rPr lang="en-US" sz="2600" b="1" dirty="0">
                <a:solidFill>
                  <a:srgbClr val="111111"/>
                </a:solidFill>
                <a:latin typeface="Carlito" pitchFamily="34" charset="0"/>
                <a:ea typeface="Carlito" pitchFamily="34" charset="-122"/>
                <a:cs typeface="Carlito" pitchFamily="34" charset="-120"/>
              </a:rPr>
              <a:t>Settings of the four training runs</a:t>
            </a:r>
            <a:endParaRPr lang="en-US" sz="2600" dirty="0"/>
          </a:p>
        </p:txBody>
      </p:sp>
      <p:sp>
        <p:nvSpPr>
          <p:cNvPr id="7" name="Shape 4"/>
          <p:cNvSpPr/>
          <p:nvPr/>
        </p:nvSpPr>
        <p:spPr>
          <a:xfrm>
            <a:off x="1009650" y="1150627"/>
            <a:ext cx="10267950" cy="3078480"/>
          </a:xfrm>
          <a:prstGeom prst="rect">
            <a:avLst/>
          </a:prstGeom>
          <a:solidFill>
            <a:srgbClr val="FFFFFF"/>
          </a:solidFill>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1019810" y="1160787"/>
          <a:ext cx="10257790" cy="3068320"/>
        </p:xfrm>
        <a:graphic>
          <a:graphicData uri="http://schemas.openxmlformats.org/drawingml/2006/table">
            <a:tbl>
              <a:tblPr/>
              <a:tblGrid>
                <a:gridCol w="2872181"/>
                <a:gridCol w="1846402"/>
                <a:gridCol w="1846402"/>
                <a:gridCol w="1846402"/>
                <a:gridCol w="1846402"/>
              </a:tblGrid>
              <a:tr h="383540">
                <a:tc>
                  <a:txBody>
                    <a:bodyPr/>
                    <a:lstStyle/>
                    <a:p>
                      <a:pPr indent="0" marL="0">
                        <a:lnSpc>
                          <a:spcPts val="1960"/>
                        </a:lnSpc>
                        <a:buNone/>
                      </a:pPr>
                      <a:endParaRPr lang="en-US" sz="1400" dirty="0">
                        <a:latin typeface="Carlito" charset="0"/>
                        <a:ea typeface="Carlito" charset="0"/>
                        <a:cs typeface="Carlit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A0181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A01818"/>
                      </a:solidFill>
                      <a:prstDash val="solid"/>
                      <a:round/>
                      <a:headEnd type="none" w="med" len="med"/>
                      <a:tailEnd type="none" w="med" len="med"/>
                    </a:lnB>
                    <a:solidFill>
                      <a:srgbClr val="C81919"/>
                    </a:solidFill>
                  </a:tcPr>
                </a:tc>
                <a:tc>
                  <a:txBody>
                    <a:bodyPr/>
                    <a:lstStyle/>
                    <a:p>
                      <a:pPr indent="0" marL="0">
                        <a:lnSpc>
                          <a:spcPts val="1960"/>
                        </a:lnSpc>
                        <a:buNone/>
                      </a:pPr>
                      <a:r>
                        <a:rPr lang="en-US" sz="1400" b="1" dirty="0">
                          <a:solidFill>
                            <a:srgbClr val="FFFFFF"/>
                          </a:solidFill>
                          <a:latin typeface="Carlito" pitchFamily="34" charset="0"/>
                          <a:ea typeface="Carlito" pitchFamily="34" charset="-122"/>
                          <a:cs typeface="Carlito" pitchFamily="34" charset="-120"/>
                        </a:rPr>
                        <a:t>8-state block</a:t>
                      </a:r>
                      <a:endParaRPr lang="en-US" sz="1400" dirty="0">
                        <a:latin typeface="Carlito" charset="0"/>
                        <a:ea typeface="Carlito" charset="0"/>
                        <a:cs typeface="Carlito" charset="0"/>
                      </a:endParaRPr>
                    </a:p>
                  </a:txBody>
                  <a:tcPr marL="62230" marR="62230" marT="62230" marB="62230" anchor="t">
                    <a:lnL w="12700" cap="flat" cmpd="sng" algn="ctr">
                      <a:solidFill>
                        <a:srgbClr val="A01818"/>
                      </a:solidFill>
                      <a:prstDash val="solid"/>
                      <a:round/>
                      <a:headEnd type="none" w="med" len="med"/>
                      <a:tailEnd type="none" w="med" len="med"/>
                    </a:lnL>
                    <a:lnR w="12700" cap="flat" cmpd="sng" algn="ctr">
                      <a:solidFill>
                        <a:srgbClr val="A0181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A01818"/>
                      </a:solidFill>
                      <a:prstDash val="solid"/>
                      <a:round/>
                      <a:headEnd type="none" w="med" len="med"/>
                      <a:tailEnd type="none" w="med" len="med"/>
                    </a:lnB>
                    <a:solidFill>
                      <a:srgbClr val="C81919"/>
                    </a:solidFill>
                  </a:tcPr>
                </a:tc>
                <a:tc>
                  <a:txBody>
                    <a:bodyPr/>
                    <a:lstStyle/>
                    <a:p>
                      <a:pPr indent="0" marL="0">
                        <a:lnSpc>
                          <a:spcPts val="1960"/>
                        </a:lnSpc>
                        <a:buNone/>
                      </a:pPr>
                      <a:r>
                        <a:rPr lang="en-US" sz="1400" b="1" dirty="0">
                          <a:solidFill>
                            <a:srgbClr val="FFFFFF"/>
                          </a:solidFill>
                          <a:latin typeface="Carlito" pitchFamily="34" charset="0"/>
                          <a:ea typeface="Carlito" pitchFamily="34" charset="-122"/>
                          <a:cs typeface="Carlito" pitchFamily="34" charset="-120"/>
                        </a:rPr>
                        <a:t>2-state block</a:t>
                      </a:r>
                      <a:endParaRPr lang="en-US" sz="1400" dirty="0">
                        <a:latin typeface="Carlito" charset="0"/>
                        <a:ea typeface="Carlito" charset="0"/>
                        <a:cs typeface="Carlito" charset="0"/>
                      </a:endParaRPr>
                    </a:p>
                  </a:txBody>
                  <a:tcPr marL="62230" marR="62230" marT="62230" marB="62230" anchor="t">
                    <a:lnL w="12700" cap="flat" cmpd="sng" algn="ctr">
                      <a:solidFill>
                        <a:srgbClr val="A01818"/>
                      </a:solidFill>
                      <a:prstDash val="solid"/>
                      <a:round/>
                      <a:headEnd type="none" w="med" len="med"/>
                      <a:tailEnd type="none" w="med" len="med"/>
                    </a:lnL>
                    <a:lnR w="12700" cap="flat" cmpd="sng" algn="ctr">
                      <a:solidFill>
                        <a:srgbClr val="A0181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A01818"/>
                      </a:solidFill>
                      <a:prstDash val="solid"/>
                      <a:round/>
                      <a:headEnd type="none" w="med" len="med"/>
                      <a:tailEnd type="none" w="med" len="med"/>
                    </a:lnB>
                    <a:solidFill>
                      <a:srgbClr val="C81919"/>
                    </a:solidFill>
                  </a:tcPr>
                </a:tc>
                <a:tc>
                  <a:txBody>
                    <a:bodyPr/>
                    <a:lstStyle/>
                    <a:p>
                      <a:pPr indent="0" marL="0">
                        <a:lnSpc>
                          <a:spcPts val="1960"/>
                        </a:lnSpc>
                        <a:buNone/>
                      </a:pPr>
                      <a:r>
                        <a:rPr lang="en-US" sz="1400" b="1" dirty="0">
                          <a:solidFill>
                            <a:srgbClr val="FFFFFF"/>
                          </a:solidFill>
                          <a:latin typeface="Carlito" pitchFamily="34" charset="0"/>
                          <a:ea typeface="Carlito" pitchFamily="34" charset="-122"/>
                          <a:cs typeface="Carlito" pitchFamily="34" charset="-120"/>
                        </a:rPr>
                        <a:t>no projection</a:t>
                      </a:r>
                      <a:endParaRPr lang="en-US" sz="1400" dirty="0">
                        <a:latin typeface="Carlito" charset="0"/>
                        <a:ea typeface="Carlito" charset="0"/>
                        <a:cs typeface="Carlito" charset="0"/>
                      </a:endParaRPr>
                    </a:p>
                  </a:txBody>
                  <a:tcPr marL="62230" marR="62230" marT="62230" marB="62230" anchor="t">
                    <a:lnL w="12700" cap="flat" cmpd="sng" algn="ctr">
                      <a:solidFill>
                        <a:srgbClr val="A01818"/>
                      </a:solidFill>
                      <a:prstDash val="solid"/>
                      <a:round/>
                      <a:headEnd type="none" w="med" len="med"/>
                      <a:tailEnd type="none" w="med" len="med"/>
                    </a:lnL>
                    <a:lnR w="12700" cap="flat" cmpd="sng" algn="ctr">
                      <a:solidFill>
                        <a:srgbClr val="A0181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A01818"/>
                      </a:solidFill>
                      <a:prstDash val="solid"/>
                      <a:round/>
                      <a:headEnd type="none" w="med" len="med"/>
                      <a:tailEnd type="none" w="med" len="med"/>
                    </a:lnB>
                    <a:solidFill>
                      <a:srgbClr val="C81919"/>
                    </a:solidFill>
                  </a:tcPr>
                </a:tc>
                <a:tc>
                  <a:txBody>
                    <a:bodyPr/>
                    <a:lstStyle/>
                    <a:p>
                      <a:pPr indent="0" marL="0">
                        <a:lnSpc>
                          <a:spcPts val="1960"/>
                        </a:lnSpc>
                        <a:buNone/>
                      </a:pPr>
                      <a:r>
                        <a:rPr lang="en-US" sz="1400" b="1" dirty="0">
                          <a:solidFill>
                            <a:srgbClr val="FFFFFF"/>
                          </a:solidFill>
                          <a:latin typeface="Carlito" pitchFamily="34" charset="0"/>
                          <a:ea typeface="Carlito" pitchFamily="34" charset="-122"/>
                          <a:cs typeface="Carlito" pitchFamily="34" charset="-120"/>
                        </a:rPr>
                        <a:t>with projection</a:t>
                      </a:r>
                      <a:endParaRPr lang="en-US" sz="1400" dirty="0">
                        <a:latin typeface="Carlito" charset="0"/>
                        <a:ea typeface="Carlito" charset="0"/>
                        <a:cs typeface="Carlito" charset="0"/>
                      </a:endParaRPr>
                    </a:p>
                  </a:txBody>
                  <a:tcPr marL="62230" marR="62230" marT="62230" marB="62230" anchor="t">
                    <a:lnL w="12700" cap="flat" cmpd="sng" algn="ctr">
                      <a:solidFill>
                        <a:srgbClr val="A01818"/>
                      </a:solidFill>
                      <a:prstDash val="solid"/>
                      <a:round/>
                      <a:headEnd type="none" w="med" len="med"/>
                      <a:tailEnd type="none" w="med" len="med"/>
                    </a:lnL>
                    <a:lnR w="12700" cap="flat" cmpd="sng" algn="ctr">
                      <a:solidFill>
                        <a:srgbClr val="A0181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A01818"/>
                      </a:solidFill>
                      <a:prstDash val="solid"/>
                      <a:round/>
                      <a:headEnd type="none" w="med" len="med"/>
                      <a:tailEnd type="none" w="med" len="med"/>
                    </a:lnB>
                    <a:solidFill>
                      <a:srgbClr val="C81919"/>
                    </a:solidFill>
                  </a:tcPr>
                </a:tc>
              </a:tr>
              <a:tr h="383540">
                <a:tc>
                  <a:txBody>
                    <a:bodyPr/>
                    <a:lstStyle/>
                    <a:p>
                      <a:pPr indent="0" marL="0">
                        <a:lnSpc>
                          <a:spcPts val="1960"/>
                        </a:lnSpc>
                        <a:buNone/>
                      </a:pPr>
                      <a:r>
                        <a:rPr lang="en-US" sz="1400" dirty="0">
                          <a:solidFill>
                            <a:srgbClr val="111111"/>
                          </a:solidFill>
                          <a:latin typeface="Carlito" pitchFamily="34" charset="0"/>
                          <a:ea typeface="Carlito" pitchFamily="34" charset="-122"/>
                          <a:cs typeface="Carlito" pitchFamily="34" charset="-120"/>
                        </a:rPr>
                        <a:t>Learned states</a:t>
                      </a:r>
                      <a:endParaRPr lang="en-US" sz="1400" dirty="0">
                        <a:latin typeface="Carlito" charset="0"/>
                        <a:ea typeface="Carlito" charset="0"/>
                        <a:cs typeface="Carlit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A01818"/>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11111"/>
                          </a:solidFill>
                          <a:latin typeface="Carlito" pitchFamily="34" charset="0"/>
                          <a:ea typeface="Carlito" pitchFamily="34" charset="-122"/>
                          <a:cs typeface="Carlito" pitchFamily="34" charset="-120"/>
                        </a:rPr>
                        <a:t>8</a:t>
                      </a:r>
                      <a:endParaRPr lang="en-US" sz="1400" dirty="0">
                        <a:latin typeface="Carlito" charset="0"/>
                        <a:ea typeface="Carlito" charset="0"/>
                        <a:cs typeface="Carlit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A01818"/>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11111"/>
                          </a:solidFill>
                          <a:latin typeface="Carlito" pitchFamily="34" charset="0"/>
                          <a:ea typeface="Carlito" pitchFamily="34" charset="-122"/>
                          <a:cs typeface="Carlito" pitchFamily="34" charset="-120"/>
                        </a:rPr>
                        <a:t>2</a:t>
                      </a:r>
                      <a:endParaRPr lang="en-US" sz="1400" dirty="0">
                        <a:latin typeface="Carlito" charset="0"/>
                        <a:ea typeface="Carlito" charset="0"/>
                        <a:cs typeface="Carlit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A01818"/>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11111"/>
                          </a:solidFill>
                          <a:latin typeface="Carlito" pitchFamily="34" charset="0"/>
                          <a:ea typeface="Carlito" pitchFamily="34" charset="-122"/>
                          <a:cs typeface="Carlito" pitchFamily="34" charset="-120"/>
                        </a:rPr>
                        <a:t>8</a:t>
                      </a:r>
                      <a:endParaRPr lang="en-US" sz="1400" dirty="0">
                        <a:latin typeface="Carlito" charset="0"/>
                        <a:ea typeface="Carlito" charset="0"/>
                        <a:cs typeface="Carlit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A01818"/>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11111"/>
                          </a:solidFill>
                          <a:latin typeface="Carlito" pitchFamily="34" charset="0"/>
                          <a:ea typeface="Carlito" pitchFamily="34" charset="-122"/>
                          <a:cs typeface="Carlito" pitchFamily="34" charset="-120"/>
                        </a:rPr>
                        <a:t>8</a:t>
                      </a:r>
                      <a:endParaRPr lang="en-US" sz="1400" dirty="0">
                        <a:latin typeface="Carlito" charset="0"/>
                        <a:ea typeface="Carlito" charset="0"/>
                        <a:cs typeface="Carlit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A01818"/>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3540">
                <a:tc>
                  <a:txBody>
                    <a:bodyPr/>
                    <a:lstStyle/>
                    <a:p>
                      <a:pPr indent="0" marL="0">
                        <a:lnSpc>
                          <a:spcPts val="1960"/>
                        </a:lnSpc>
                        <a:buNone/>
                      </a:pPr>
                      <a:r>
                        <a:rPr lang="en-US" sz="1400" dirty="0">
                          <a:solidFill>
                            <a:srgbClr val="111111"/>
                          </a:solidFill>
                          <a:latin typeface="Carlito" pitchFamily="34" charset="0"/>
                          <a:ea typeface="Carlito" pitchFamily="34" charset="-122"/>
                          <a:cs typeface="Carlito" pitchFamily="34" charset="-120"/>
                        </a:rPr>
                        <a:t>Network</a:t>
                      </a:r>
                      <a:endParaRPr lang="en-US" sz="1400" dirty="0">
                        <a:latin typeface="Carlito" charset="0"/>
                        <a:ea typeface="Carlito" charset="0"/>
                        <a:cs typeface="Carlit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5C2C2"/>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2C2"/>
                      </a:solidFill>
                      <a:prstDash val="solid"/>
                      <a:round/>
                      <a:headEnd type="none" w="med" len="med"/>
                      <a:tailEnd type="none" w="med" len="med"/>
                    </a:lnB>
                    <a:solidFill>
                      <a:srgbClr val="F7F3F3"/>
                    </a:solidFill>
                  </a:tcPr>
                </a:tc>
                <a:tc>
                  <a:txBody>
                    <a:bodyPr/>
                    <a:lstStyle/>
                    <a:p>
                      <a:pPr indent="0" marL="0">
                        <a:lnSpc>
                          <a:spcPts val="1960"/>
                        </a:lnSpc>
                        <a:buNone/>
                      </a:pPr>
                      <a:r>
                        <a:rPr lang="en-US" sz="1400" dirty="0">
                          <a:solidFill>
                            <a:srgbClr val="111111"/>
                          </a:solidFill>
                          <a:latin typeface="Carlito" pitchFamily="34" charset="0"/>
                          <a:ea typeface="Carlito" pitchFamily="34" charset="-122"/>
                          <a:cs typeface="Carlito" pitchFamily="34" charset="-120"/>
                        </a:rPr>
                        <a:t>3 layers × 24</a:t>
                      </a:r>
                      <a:endParaRPr lang="en-US" sz="1400" dirty="0">
                        <a:latin typeface="Carlito" charset="0"/>
                        <a:ea typeface="Carlito" charset="0"/>
                        <a:cs typeface="Carlito" charset="0"/>
                      </a:endParaRPr>
                    </a:p>
                  </a:txBody>
                  <a:tcPr marL="62230" marR="62230" marT="62230" marB="62230" anchor="t">
                    <a:lnL w="12700" cap="flat" cmpd="sng" algn="ctr">
                      <a:solidFill>
                        <a:srgbClr val="C5C2C2"/>
                      </a:solidFill>
                      <a:prstDash val="solid"/>
                      <a:round/>
                      <a:headEnd type="none" w="med" len="med"/>
                      <a:tailEnd type="none" w="med" len="med"/>
                    </a:lnL>
                    <a:lnR w="12700" cap="flat" cmpd="sng" algn="ctr">
                      <a:solidFill>
                        <a:srgbClr val="C5C2C2"/>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2C2"/>
                      </a:solidFill>
                      <a:prstDash val="solid"/>
                      <a:round/>
                      <a:headEnd type="none" w="med" len="med"/>
                      <a:tailEnd type="none" w="med" len="med"/>
                    </a:lnB>
                    <a:solidFill>
                      <a:srgbClr val="F7F3F3"/>
                    </a:solidFill>
                  </a:tcPr>
                </a:tc>
                <a:tc>
                  <a:txBody>
                    <a:bodyPr/>
                    <a:lstStyle/>
                    <a:p>
                      <a:pPr indent="0" marL="0">
                        <a:lnSpc>
                          <a:spcPts val="1960"/>
                        </a:lnSpc>
                        <a:buNone/>
                      </a:pPr>
                      <a:r>
                        <a:rPr lang="en-US" sz="1400" dirty="0">
                          <a:solidFill>
                            <a:srgbClr val="111111"/>
                          </a:solidFill>
                          <a:latin typeface="Carlito" pitchFamily="34" charset="0"/>
                          <a:ea typeface="Carlito" pitchFamily="34" charset="-122"/>
                          <a:cs typeface="Carlito" pitchFamily="34" charset="-120"/>
                        </a:rPr>
                        <a:t>2 layers × 16</a:t>
                      </a:r>
                      <a:endParaRPr lang="en-US" sz="1400" dirty="0">
                        <a:latin typeface="Carlito" charset="0"/>
                        <a:ea typeface="Carlito" charset="0"/>
                        <a:cs typeface="Carlito" charset="0"/>
                      </a:endParaRPr>
                    </a:p>
                  </a:txBody>
                  <a:tcPr marL="62230" marR="62230" marT="62230" marB="62230" anchor="t">
                    <a:lnL w="12700" cap="flat" cmpd="sng" algn="ctr">
                      <a:solidFill>
                        <a:srgbClr val="C5C2C2"/>
                      </a:solidFill>
                      <a:prstDash val="solid"/>
                      <a:round/>
                      <a:headEnd type="none" w="med" len="med"/>
                      <a:tailEnd type="none" w="med" len="med"/>
                    </a:lnL>
                    <a:lnR w="12700" cap="flat" cmpd="sng" algn="ctr">
                      <a:solidFill>
                        <a:srgbClr val="C5C2C2"/>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2C2"/>
                      </a:solidFill>
                      <a:prstDash val="solid"/>
                      <a:round/>
                      <a:headEnd type="none" w="med" len="med"/>
                      <a:tailEnd type="none" w="med" len="med"/>
                    </a:lnB>
                    <a:solidFill>
                      <a:srgbClr val="F7F3F3"/>
                    </a:solidFill>
                  </a:tcPr>
                </a:tc>
                <a:tc>
                  <a:txBody>
                    <a:bodyPr/>
                    <a:lstStyle/>
                    <a:p>
                      <a:pPr indent="0" marL="0">
                        <a:lnSpc>
                          <a:spcPts val="1960"/>
                        </a:lnSpc>
                        <a:buNone/>
                      </a:pPr>
                      <a:r>
                        <a:rPr lang="en-US" sz="1400" dirty="0">
                          <a:solidFill>
                            <a:srgbClr val="111111"/>
                          </a:solidFill>
                          <a:latin typeface="Carlito" pitchFamily="34" charset="0"/>
                          <a:ea typeface="Carlito" pitchFamily="34" charset="-122"/>
                          <a:cs typeface="Carlito" pitchFamily="34" charset="-120"/>
                        </a:rPr>
                        <a:t>3 layers × 24</a:t>
                      </a:r>
                      <a:endParaRPr lang="en-US" sz="1400" dirty="0">
                        <a:latin typeface="Carlito" charset="0"/>
                        <a:ea typeface="Carlito" charset="0"/>
                        <a:cs typeface="Carlito" charset="0"/>
                      </a:endParaRPr>
                    </a:p>
                  </a:txBody>
                  <a:tcPr marL="62230" marR="62230" marT="62230" marB="62230" anchor="t">
                    <a:lnL w="12700" cap="flat" cmpd="sng" algn="ctr">
                      <a:solidFill>
                        <a:srgbClr val="C5C2C2"/>
                      </a:solidFill>
                      <a:prstDash val="solid"/>
                      <a:round/>
                      <a:headEnd type="none" w="med" len="med"/>
                      <a:tailEnd type="none" w="med" len="med"/>
                    </a:lnL>
                    <a:lnR w="12700" cap="flat" cmpd="sng" algn="ctr">
                      <a:solidFill>
                        <a:srgbClr val="C5C2C2"/>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2C2"/>
                      </a:solidFill>
                      <a:prstDash val="solid"/>
                      <a:round/>
                      <a:headEnd type="none" w="med" len="med"/>
                      <a:tailEnd type="none" w="med" len="med"/>
                    </a:lnB>
                    <a:solidFill>
                      <a:srgbClr val="F7F3F3"/>
                    </a:solidFill>
                  </a:tcPr>
                </a:tc>
                <a:tc>
                  <a:txBody>
                    <a:bodyPr/>
                    <a:lstStyle/>
                    <a:p>
                      <a:pPr indent="0" marL="0">
                        <a:lnSpc>
                          <a:spcPts val="1960"/>
                        </a:lnSpc>
                        <a:buNone/>
                      </a:pPr>
                      <a:r>
                        <a:rPr lang="en-US" sz="1400" dirty="0">
                          <a:solidFill>
                            <a:srgbClr val="111111"/>
                          </a:solidFill>
                          <a:latin typeface="Carlito" pitchFamily="34" charset="0"/>
                          <a:ea typeface="Carlito" pitchFamily="34" charset="-122"/>
                          <a:cs typeface="Carlito" pitchFamily="34" charset="-120"/>
                        </a:rPr>
                        <a:t>3 layers × 24</a:t>
                      </a:r>
                      <a:endParaRPr lang="en-US" sz="1400" dirty="0">
                        <a:latin typeface="Carlito" charset="0"/>
                        <a:ea typeface="Carlito" charset="0"/>
                        <a:cs typeface="Carlito" charset="0"/>
                      </a:endParaRPr>
                    </a:p>
                  </a:txBody>
                  <a:tcPr marL="62230" marR="62230" marT="62230" marB="62230" anchor="t">
                    <a:lnL w="12700" cap="flat" cmpd="sng" algn="ctr">
                      <a:solidFill>
                        <a:srgbClr val="C5C2C2"/>
                      </a:solidFill>
                      <a:prstDash val="solid"/>
                      <a:round/>
                      <a:headEnd type="none" w="med" len="med"/>
                      <a:tailEnd type="none" w="med" len="med"/>
                    </a:lnL>
                    <a:lnR w="12700" cap="flat" cmpd="sng" algn="ctr">
                      <a:solidFill>
                        <a:srgbClr val="C5C2C2"/>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2C2"/>
                      </a:solidFill>
                      <a:prstDash val="solid"/>
                      <a:round/>
                      <a:headEnd type="none" w="med" len="med"/>
                      <a:tailEnd type="none" w="med" len="med"/>
                    </a:lnB>
                    <a:solidFill>
                      <a:srgbClr val="F7F3F3"/>
                    </a:solidFill>
                  </a:tcPr>
                </a:tc>
              </a:tr>
              <a:tr h="383540">
                <a:tc>
                  <a:txBody>
                    <a:bodyPr/>
                    <a:lstStyle/>
                    <a:p>
                      <a:pPr indent="0" marL="0">
                        <a:lnSpc>
                          <a:spcPts val="1960"/>
                        </a:lnSpc>
                        <a:buNone/>
                      </a:pPr>
                      <a:r>
                        <a:rPr lang="en-US" sz="1400" dirty="0">
                          <a:solidFill>
                            <a:srgbClr val="111111"/>
                          </a:solidFill>
                          <a:latin typeface="Carlito" pitchFamily="34" charset="0"/>
                          <a:ea typeface="Carlito" pitchFamily="34" charset="-122"/>
                          <a:cs typeface="Carlito" pitchFamily="34" charset="-120"/>
                        </a:rPr>
                        <a:t>Learned weights</a:t>
                      </a:r>
                      <a:endParaRPr lang="en-US" sz="1400" dirty="0">
                        <a:latin typeface="Carlito" charset="0"/>
                        <a:ea typeface="Carlito" charset="0"/>
                        <a:cs typeface="Carlit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2C2"/>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11111"/>
                          </a:solidFill>
                          <a:latin typeface="Carlito" pitchFamily="34" charset="0"/>
                          <a:ea typeface="Carlito" pitchFamily="34" charset="-122"/>
                          <a:cs typeface="Carlito" pitchFamily="34" charset="-120"/>
                        </a:rPr>
                        <a:t>10 871</a:t>
                      </a:r>
                      <a:endParaRPr lang="en-US" sz="1400" dirty="0">
                        <a:latin typeface="Carlito" charset="0"/>
                        <a:ea typeface="Carlito" charset="0"/>
                        <a:cs typeface="Carlit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2C2"/>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11111"/>
                          </a:solidFill>
                          <a:latin typeface="Carlito" pitchFamily="34" charset="0"/>
                          <a:ea typeface="Carlito" pitchFamily="34" charset="-122"/>
                          <a:cs typeface="Carlito" pitchFamily="34" charset="-120"/>
                        </a:rPr>
                        <a:t>4 019</a:t>
                      </a:r>
                      <a:endParaRPr lang="en-US" sz="1400" dirty="0">
                        <a:latin typeface="Carlito" charset="0"/>
                        <a:ea typeface="Carlito" charset="0"/>
                        <a:cs typeface="Carlit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2C2"/>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11111"/>
                          </a:solidFill>
                          <a:latin typeface="Carlito" pitchFamily="34" charset="0"/>
                          <a:ea typeface="Carlito" pitchFamily="34" charset="-122"/>
                          <a:cs typeface="Carlito" pitchFamily="34" charset="-120"/>
                        </a:rPr>
                        <a:t>10 871</a:t>
                      </a:r>
                      <a:endParaRPr lang="en-US" sz="1400" dirty="0">
                        <a:latin typeface="Carlito" charset="0"/>
                        <a:ea typeface="Carlito" charset="0"/>
                        <a:cs typeface="Carlit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2C2"/>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11111"/>
                          </a:solidFill>
                          <a:latin typeface="Carlito" pitchFamily="34" charset="0"/>
                          <a:ea typeface="Carlito" pitchFamily="34" charset="-122"/>
                          <a:cs typeface="Carlito" pitchFamily="34" charset="-120"/>
                        </a:rPr>
                        <a:t>10 871</a:t>
                      </a:r>
                      <a:endParaRPr lang="en-US" sz="1400" dirty="0">
                        <a:latin typeface="Carlito" charset="0"/>
                        <a:ea typeface="Carlito" charset="0"/>
                        <a:cs typeface="Carlit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2C2"/>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3540">
                <a:tc>
                  <a:txBody>
                    <a:bodyPr/>
                    <a:lstStyle/>
                    <a:p>
                      <a:pPr indent="0" marL="0">
                        <a:lnSpc>
                          <a:spcPts val="1960"/>
                        </a:lnSpc>
                        <a:buNone/>
                      </a:pPr>
                      <a:r>
                        <a:rPr lang="en-US" sz="1400" dirty="0">
                          <a:solidFill>
                            <a:srgbClr val="111111"/>
                          </a:solidFill>
                          <a:latin typeface="Carlito" pitchFamily="34" charset="0"/>
                          <a:ea typeface="Carlito" pitchFamily="34" charset="-122"/>
                          <a:cs typeface="Carlito" pitchFamily="34" charset="-120"/>
                        </a:rPr>
                        <a:t>Encoder window</a:t>
                      </a:r>
                      <a:endParaRPr lang="en-US" sz="1400" dirty="0">
                        <a:latin typeface="Carlito" charset="0"/>
                        <a:ea typeface="Carlito" charset="0"/>
                        <a:cs typeface="Carlit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5C2C2"/>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2C2"/>
                      </a:solidFill>
                      <a:prstDash val="solid"/>
                      <a:round/>
                      <a:headEnd type="none" w="med" len="med"/>
                      <a:tailEnd type="none" w="med" len="med"/>
                    </a:lnB>
                    <a:solidFill>
                      <a:srgbClr val="F7F3F3"/>
                    </a:solidFill>
                  </a:tcPr>
                </a:tc>
                <a:tc>
                  <a:txBody>
                    <a:bodyPr/>
                    <a:lstStyle/>
                    <a:p>
                      <a:pPr indent="0" marL="0">
                        <a:lnSpc>
                          <a:spcPts val="1960"/>
                        </a:lnSpc>
                        <a:buNone/>
                      </a:pPr>
                      <a:r>
                        <a:rPr lang="en-US" sz="1400" dirty="0">
                          <a:solidFill>
                            <a:srgbClr val="111111"/>
                          </a:solidFill>
                          <a:latin typeface="Carlito" pitchFamily="34" charset="0"/>
                          <a:ea typeface="Carlito" pitchFamily="34" charset="-122"/>
                          <a:cs typeface="Carlito" pitchFamily="34" charset="-120"/>
                        </a:rPr>
                        <a:t>29 samples</a:t>
                      </a:r>
                      <a:endParaRPr lang="en-US" sz="1400" dirty="0">
                        <a:latin typeface="Carlito" charset="0"/>
                        <a:ea typeface="Carlito" charset="0"/>
                        <a:cs typeface="Carlito" charset="0"/>
                      </a:endParaRPr>
                    </a:p>
                  </a:txBody>
                  <a:tcPr marL="62230" marR="62230" marT="62230" marB="62230" anchor="t">
                    <a:lnL w="12700" cap="flat" cmpd="sng" algn="ctr">
                      <a:solidFill>
                        <a:srgbClr val="C5C2C2"/>
                      </a:solidFill>
                      <a:prstDash val="solid"/>
                      <a:round/>
                      <a:headEnd type="none" w="med" len="med"/>
                      <a:tailEnd type="none" w="med" len="med"/>
                    </a:lnL>
                    <a:lnR w="12700" cap="flat" cmpd="sng" algn="ctr">
                      <a:solidFill>
                        <a:srgbClr val="C5C2C2"/>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2C2"/>
                      </a:solidFill>
                      <a:prstDash val="solid"/>
                      <a:round/>
                      <a:headEnd type="none" w="med" len="med"/>
                      <a:tailEnd type="none" w="med" len="med"/>
                    </a:lnB>
                    <a:solidFill>
                      <a:srgbClr val="F7F3F3"/>
                    </a:solidFill>
                  </a:tcPr>
                </a:tc>
                <a:tc>
                  <a:txBody>
                    <a:bodyPr/>
                    <a:lstStyle/>
                    <a:p>
                      <a:pPr indent="0" marL="0">
                        <a:lnSpc>
                          <a:spcPts val="1960"/>
                        </a:lnSpc>
                        <a:buNone/>
                      </a:pPr>
                      <a:r>
                        <a:rPr lang="en-US" sz="1400" dirty="0">
                          <a:solidFill>
                            <a:srgbClr val="111111"/>
                          </a:solidFill>
                          <a:latin typeface="Carlito" pitchFamily="34" charset="0"/>
                          <a:ea typeface="Carlito" pitchFamily="34" charset="-122"/>
                          <a:cs typeface="Carlito" pitchFamily="34" charset="-120"/>
                        </a:rPr>
                        <a:t>17 samples</a:t>
                      </a:r>
                      <a:endParaRPr lang="en-US" sz="1400" dirty="0">
                        <a:latin typeface="Carlito" charset="0"/>
                        <a:ea typeface="Carlito" charset="0"/>
                        <a:cs typeface="Carlito" charset="0"/>
                      </a:endParaRPr>
                    </a:p>
                  </a:txBody>
                  <a:tcPr marL="62230" marR="62230" marT="62230" marB="62230" anchor="t">
                    <a:lnL w="12700" cap="flat" cmpd="sng" algn="ctr">
                      <a:solidFill>
                        <a:srgbClr val="C5C2C2"/>
                      </a:solidFill>
                      <a:prstDash val="solid"/>
                      <a:round/>
                      <a:headEnd type="none" w="med" len="med"/>
                      <a:tailEnd type="none" w="med" len="med"/>
                    </a:lnL>
                    <a:lnR w="12700" cap="flat" cmpd="sng" algn="ctr">
                      <a:solidFill>
                        <a:srgbClr val="C5C2C2"/>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2C2"/>
                      </a:solidFill>
                      <a:prstDash val="solid"/>
                      <a:round/>
                      <a:headEnd type="none" w="med" len="med"/>
                      <a:tailEnd type="none" w="med" len="med"/>
                    </a:lnB>
                    <a:solidFill>
                      <a:srgbClr val="F7F3F3"/>
                    </a:solidFill>
                  </a:tcPr>
                </a:tc>
                <a:tc>
                  <a:txBody>
                    <a:bodyPr/>
                    <a:lstStyle/>
                    <a:p>
                      <a:pPr indent="0" marL="0">
                        <a:lnSpc>
                          <a:spcPts val="1960"/>
                        </a:lnSpc>
                        <a:buNone/>
                      </a:pPr>
                      <a:r>
                        <a:rPr lang="en-US" sz="1400" dirty="0">
                          <a:solidFill>
                            <a:srgbClr val="111111"/>
                          </a:solidFill>
                          <a:latin typeface="Carlito" pitchFamily="34" charset="0"/>
                          <a:ea typeface="Carlito" pitchFamily="34" charset="-122"/>
                          <a:cs typeface="Carlito" pitchFamily="34" charset="-120"/>
                        </a:rPr>
                        <a:t>29 samples</a:t>
                      </a:r>
                      <a:endParaRPr lang="en-US" sz="1400" dirty="0">
                        <a:latin typeface="Carlito" charset="0"/>
                        <a:ea typeface="Carlito" charset="0"/>
                        <a:cs typeface="Carlito" charset="0"/>
                      </a:endParaRPr>
                    </a:p>
                  </a:txBody>
                  <a:tcPr marL="62230" marR="62230" marT="62230" marB="62230" anchor="t">
                    <a:lnL w="12700" cap="flat" cmpd="sng" algn="ctr">
                      <a:solidFill>
                        <a:srgbClr val="C5C2C2"/>
                      </a:solidFill>
                      <a:prstDash val="solid"/>
                      <a:round/>
                      <a:headEnd type="none" w="med" len="med"/>
                      <a:tailEnd type="none" w="med" len="med"/>
                    </a:lnL>
                    <a:lnR w="12700" cap="flat" cmpd="sng" algn="ctr">
                      <a:solidFill>
                        <a:srgbClr val="C5C2C2"/>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2C2"/>
                      </a:solidFill>
                      <a:prstDash val="solid"/>
                      <a:round/>
                      <a:headEnd type="none" w="med" len="med"/>
                      <a:tailEnd type="none" w="med" len="med"/>
                    </a:lnB>
                    <a:solidFill>
                      <a:srgbClr val="F7F3F3"/>
                    </a:solidFill>
                  </a:tcPr>
                </a:tc>
                <a:tc>
                  <a:txBody>
                    <a:bodyPr/>
                    <a:lstStyle/>
                    <a:p>
                      <a:pPr indent="0" marL="0">
                        <a:lnSpc>
                          <a:spcPts val="1960"/>
                        </a:lnSpc>
                        <a:buNone/>
                      </a:pPr>
                      <a:r>
                        <a:rPr lang="en-US" sz="1400" dirty="0">
                          <a:solidFill>
                            <a:srgbClr val="111111"/>
                          </a:solidFill>
                          <a:latin typeface="Carlito" pitchFamily="34" charset="0"/>
                          <a:ea typeface="Carlito" pitchFamily="34" charset="-122"/>
                          <a:cs typeface="Carlito" pitchFamily="34" charset="-120"/>
                        </a:rPr>
                        <a:t>29 samples</a:t>
                      </a:r>
                      <a:endParaRPr lang="en-US" sz="1400" dirty="0">
                        <a:latin typeface="Carlito" charset="0"/>
                        <a:ea typeface="Carlito" charset="0"/>
                        <a:cs typeface="Carlito" charset="0"/>
                      </a:endParaRPr>
                    </a:p>
                  </a:txBody>
                  <a:tcPr marL="62230" marR="62230" marT="62230" marB="62230" anchor="t">
                    <a:lnL w="12700" cap="flat" cmpd="sng" algn="ctr">
                      <a:solidFill>
                        <a:srgbClr val="C5C2C2"/>
                      </a:solidFill>
                      <a:prstDash val="solid"/>
                      <a:round/>
                      <a:headEnd type="none" w="med" len="med"/>
                      <a:tailEnd type="none" w="med" len="med"/>
                    </a:lnL>
                    <a:lnR w="12700" cap="flat" cmpd="sng" algn="ctr">
                      <a:solidFill>
                        <a:srgbClr val="C5C2C2"/>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2C2"/>
                      </a:solidFill>
                      <a:prstDash val="solid"/>
                      <a:round/>
                      <a:headEnd type="none" w="med" len="med"/>
                      <a:tailEnd type="none" w="med" len="med"/>
                    </a:lnB>
                    <a:solidFill>
                      <a:srgbClr val="F7F3F3"/>
                    </a:solidFill>
                  </a:tcPr>
                </a:tc>
              </a:tr>
              <a:tr h="383540">
                <a:tc>
                  <a:txBody>
                    <a:bodyPr/>
                    <a:lstStyle/>
                    <a:p>
                      <a:pPr indent="0" marL="0">
                        <a:lnSpc>
                          <a:spcPts val="1960"/>
                        </a:lnSpc>
                        <a:buNone/>
                      </a:pPr>
                      <a:r>
                        <a:rPr lang="en-US" sz="1400" dirty="0">
                          <a:solidFill>
                            <a:srgbClr val="111111"/>
                          </a:solidFill>
                          <a:latin typeface="Carlito" pitchFamily="34" charset="0"/>
                          <a:ea typeface="Carlito" pitchFamily="34" charset="-122"/>
                          <a:cs typeface="Carlito" pitchFamily="34" charset="-120"/>
                        </a:rPr>
                        <a:t>Training epochs</a:t>
                      </a:r>
                      <a:endParaRPr lang="en-US" sz="1400" dirty="0">
                        <a:latin typeface="Carlito" charset="0"/>
                        <a:ea typeface="Carlito" charset="0"/>
                        <a:cs typeface="Carlit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2C2"/>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11111"/>
                          </a:solidFill>
                          <a:latin typeface="Carlito" pitchFamily="34" charset="0"/>
                          <a:ea typeface="Carlito" pitchFamily="34" charset="-122"/>
                          <a:cs typeface="Carlito" pitchFamily="34" charset="-120"/>
                        </a:rPr>
                        <a:t>350</a:t>
                      </a:r>
                      <a:endParaRPr lang="en-US" sz="1400" dirty="0">
                        <a:latin typeface="Carlito" charset="0"/>
                        <a:ea typeface="Carlito" charset="0"/>
                        <a:cs typeface="Carlit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2C2"/>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11111"/>
                          </a:solidFill>
                          <a:latin typeface="Carlito" pitchFamily="34" charset="0"/>
                          <a:ea typeface="Carlito" pitchFamily="34" charset="-122"/>
                          <a:cs typeface="Carlito" pitchFamily="34" charset="-120"/>
                        </a:rPr>
                        <a:t>350</a:t>
                      </a:r>
                      <a:endParaRPr lang="en-US" sz="1400" dirty="0">
                        <a:latin typeface="Carlito" charset="0"/>
                        <a:ea typeface="Carlito" charset="0"/>
                        <a:cs typeface="Carlit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2C2"/>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11111"/>
                          </a:solidFill>
                          <a:latin typeface="Carlito" pitchFamily="34" charset="0"/>
                          <a:ea typeface="Carlito" pitchFamily="34" charset="-122"/>
                          <a:cs typeface="Carlito" pitchFamily="34" charset="-120"/>
                        </a:rPr>
                        <a:t>150</a:t>
                      </a:r>
                      <a:endParaRPr lang="en-US" sz="1400" dirty="0">
                        <a:latin typeface="Carlito" charset="0"/>
                        <a:ea typeface="Carlito" charset="0"/>
                        <a:cs typeface="Carlit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2C2"/>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11111"/>
                          </a:solidFill>
                          <a:latin typeface="Carlito" pitchFamily="34" charset="0"/>
                          <a:ea typeface="Carlito" pitchFamily="34" charset="-122"/>
                          <a:cs typeface="Carlito" pitchFamily="34" charset="-120"/>
                        </a:rPr>
                        <a:t>150</a:t>
                      </a:r>
                      <a:endParaRPr lang="en-US" sz="1400" dirty="0">
                        <a:latin typeface="Carlito" charset="0"/>
                        <a:ea typeface="Carlito" charset="0"/>
                        <a:cs typeface="Carlit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2C2"/>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3540">
                <a:tc>
                  <a:txBody>
                    <a:bodyPr/>
                    <a:lstStyle/>
                    <a:p>
                      <a:pPr indent="0" marL="0">
                        <a:lnSpc>
                          <a:spcPts val="1960"/>
                        </a:lnSpc>
                        <a:buNone/>
                      </a:pPr>
                      <a:r>
                        <a:rPr lang="en-US" sz="1400" dirty="0">
                          <a:solidFill>
                            <a:srgbClr val="111111"/>
                          </a:solidFill>
                          <a:latin typeface="Carlito" pitchFamily="34" charset="0"/>
                          <a:ea typeface="Carlito" pitchFamily="34" charset="-122"/>
                          <a:cs typeface="Carlito" pitchFamily="34" charset="-120"/>
                        </a:rPr>
                        <a:t>Physical parameters trained</a:t>
                      </a:r>
                      <a:endParaRPr lang="en-US" sz="1400" dirty="0">
                        <a:latin typeface="Carlito" charset="0"/>
                        <a:ea typeface="Carlito" charset="0"/>
                        <a:cs typeface="Carlit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5C2C2"/>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2C2"/>
                      </a:solidFill>
                      <a:prstDash val="solid"/>
                      <a:round/>
                      <a:headEnd type="none" w="med" len="med"/>
                      <a:tailEnd type="none" w="med" len="med"/>
                    </a:lnB>
                    <a:solidFill>
                      <a:srgbClr val="F7F3F3"/>
                    </a:solidFill>
                  </a:tcPr>
                </a:tc>
                <a:tc>
                  <a:txBody>
                    <a:bodyPr/>
                    <a:lstStyle/>
                    <a:p>
                      <a:pPr indent="0" marL="0">
                        <a:lnSpc>
                          <a:spcPts val="1960"/>
                        </a:lnSpc>
                        <a:buNone/>
                      </a:pPr>
                      <a:r>
                        <a:rPr lang="en-US" sz="1400" dirty="0">
                          <a:solidFill>
                            <a:srgbClr val="111111"/>
                          </a:solidFill>
                          <a:latin typeface="Carlito" pitchFamily="34" charset="0"/>
                          <a:ea typeface="Carlito" pitchFamily="34" charset="-122"/>
                          <a:cs typeface="Carlito" pitchFamily="34" charset="-120"/>
                        </a:rPr>
                        <a:t>no</a:t>
                      </a:r>
                      <a:endParaRPr lang="en-US" sz="1400" dirty="0">
                        <a:latin typeface="Carlito" charset="0"/>
                        <a:ea typeface="Carlito" charset="0"/>
                        <a:cs typeface="Carlito" charset="0"/>
                      </a:endParaRPr>
                    </a:p>
                  </a:txBody>
                  <a:tcPr marL="62230" marR="62230" marT="62230" marB="62230" anchor="t">
                    <a:lnL w="12700" cap="flat" cmpd="sng" algn="ctr">
                      <a:solidFill>
                        <a:srgbClr val="C5C2C2"/>
                      </a:solidFill>
                      <a:prstDash val="solid"/>
                      <a:round/>
                      <a:headEnd type="none" w="med" len="med"/>
                      <a:tailEnd type="none" w="med" len="med"/>
                    </a:lnL>
                    <a:lnR w="12700" cap="flat" cmpd="sng" algn="ctr">
                      <a:solidFill>
                        <a:srgbClr val="C5C2C2"/>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2C2"/>
                      </a:solidFill>
                      <a:prstDash val="solid"/>
                      <a:round/>
                      <a:headEnd type="none" w="med" len="med"/>
                      <a:tailEnd type="none" w="med" len="med"/>
                    </a:lnB>
                    <a:solidFill>
                      <a:srgbClr val="F7F3F3"/>
                    </a:solidFill>
                  </a:tcPr>
                </a:tc>
                <a:tc>
                  <a:txBody>
                    <a:bodyPr/>
                    <a:lstStyle/>
                    <a:p>
                      <a:pPr indent="0" marL="0">
                        <a:lnSpc>
                          <a:spcPts val="1960"/>
                        </a:lnSpc>
                        <a:buNone/>
                      </a:pPr>
                      <a:r>
                        <a:rPr lang="en-US" sz="1400" dirty="0">
                          <a:solidFill>
                            <a:srgbClr val="111111"/>
                          </a:solidFill>
                          <a:latin typeface="Carlito" pitchFamily="34" charset="0"/>
                          <a:ea typeface="Carlito" pitchFamily="34" charset="-122"/>
                          <a:cs typeface="Carlito" pitchFamily="34" charset="-120"/>
                        </a:rPr>
                        <a:t>no</a:t>
                      </a:r>
                      <a:endParaRPr lang="en-US" sz="1400" dirty="0">
                        <a:latin typeface="Carlito" charset="0"/>
                        <a:ea typeface="Carlito" charset="0"/>
                        <a:cs typeface="Carlito" charset="0"/>
                      </a:endParaRPr>
                    </a:p>
                  </a:txBody>
                  <a:tcPr marL="62230" marR="62230" marT="62230" marB="62230" anchor="t">
                    <a:lnL w="12700" cap="flat" cmpd="sng" algn="ctr">
                      <a:solidFill>
                        <a:srgbClr val="C5C2C2"/>
                      </a:solidFill>
                      <a:prstDash val="solid"/>
                      <a:round/>
                      <a:headEnd type="none" w="med" len="med"/>
                      <a:tailEnd type="none" w="med" len="med"/>
                    </a:lnL>
                    <a:lnR w="12700" cap="flat" cmpd="sng" algn="ctr">
                      <a:solidFill>
                        <a:srgbClr val="C5C2C2"/>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2C2"/>
                      </a:solidFill>
                      <a:prstDash val="solid"/>
                      <a:round/>
                      <a:headEnd type="none" w="med" len="med"/>
                      <a:tailEnd type="none" w="med" len="med"/>
                    </a:lnB>
                    <a:solidFill>
                      <a:srgbClr val="F7F3F3"/>
                    </a:solidFill>
                  </a:tcPr>
                </a:tc>
                <a:tc>
                  <a:txBody>
                    <a:bodyPr/>
                    <a:lstStyle/>
                    <a:p>
                      <a:pPr indent="0" marL="0">
                        <a:lnSpc>
                          <a:spcPts val="1960"/>
                        </a:lnSpc>
                        <a:buNone/>
                      </a:pPr>
                      <a:r>
                        <a:rPr lang="en-US" sz="1400" dirty="0">
                          <a:solidFill>
                            <a:srgbClr val="111111"/>
                          </a:solidFill>
                          <a:latin typeface="Carlito" pitchFamily="34" charset="0"/>
                          <a:ea typeface="Carlito" pitchFamily="34" charset="-122"/>
                          <a:cs typeface="Carlito" pitchFamily="34" charset="-120"/>
                        </a:rPr>
                        <a:t>yes, from 10 % off</a:t>
                      </a:r>
                      <a:endParaRPr lang="en-US" sz="1400" dirty="0">
                        <a:latin typeface="Carlito" charset="0"/>
                        <a:ea typeface="Carlito" charset="0"/>
                        <a:cs typeface="Carlito" charset="0"/>
                      </a:endParaRPr>
                    </a:p>
                  </a:txBody>
                  <a:tcPr marL="62230" marR="62230" marT="62230" marB="62230" anchor="t">
                    <a:lnL w="12700" cap="flat" cmpd="sng" algn="ctr">
                      <a:solidFill>
                        <a:srgbClr val="C5C2C2"/>
                      </a:solidFill>
                      <a:prstDash val="solid"/>
                      <a:round/>
                      <a:headEnd type="none" w="med" len="med"/>
                      <a:tailEnd type="none" w="med" len="med"/>
                    </a:lnL>
                    <a:lnR w="12700" cap="flat" cmpd="sng" algn="ctr">
                      <a:solidFill>
                        <a:srgbClr val="C5C2C2"/>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2C2"/>
                      </a:solidFill>
                      <a:prstDash val="solid"/>
                      <a:round/>
                      <a:headEnd type="none" w="med" len="med"/>
                      <a:tailEnd type="none" w="med" len="med"/>
                    </a:lnB>
                    <a:solidFill>
                      <a:srgbClr val="F7F3F3"/>
                    </a:solidFill>
                  </a:tcPr>
                </a:tc>
                <a:tc>
                  <a:txBody>
                    <a:bodyPr/>
                    <a:lstStyle/>
                    <a:p>
                      <a:pPr indent="0" marL="0">
                        <a:lnSpc>
                          <a:spcPts val="1960"/>
                        </a:lnSpc>
                        <a:buNone/>
                      </a:pPr>
                      <a:r>
                        <a:rPr lang="en-US" sz="1400" dirty="0">
                          <a:solidFill>
                            <a:srgbClr val="111111"/>
                          </a:solidFill>
                          <a:latin typeface="Carlito" pitchFamily="34" charset="0"/>
                          <a:ea typeface="Carlito" pitchFamily="34" charset="-122"/>
                          <a:cs typeface="Carlito" pitchFamily="34" charset="-120"/>
                        </a:rPr>
                        <a:t>yes, from 10 % off</a:t>
                      </a:r>
                      <a:endParaRPr lang="en-US" sz="1400" dirty="0">
                        <a:latin typeface="Carlito" charset="0"/>
                        <a:ea typeface="Carlito" charset="0"/>
                        <a:cs typeface="Carlito" charset="0"/>
                      </a:endParaRPr>
                    </a:p>
                  </a:txBody>
                  <a:tcPr marL="62230" marR="62230" marT="62230" marB="62230" anchor="t">
                    <a:lnL w="12700" cap="flat" cmpd="sng" algn="ctr">
                      <a:solidFill>
                        <a:srgbClr val="C5C2C2"/>
                      </a:solidFill>
                      <a:prstDash val="solid"/>
                      <a:round/>
                      <a:headEnd type="none" w="med" len="med"/>
                      <a:tailEnd type="none" w="med" len="med"/>
                    </a:lnL>
                    <a:lnR w="12700" cap="flat" cmpd="sng" algn="ctr">
                      <a:solidFill>
                        <a:srgbClr val="C5C2C2"/>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2C2"/>
                      </a:solidFill>
                      <a:prstDash val="solid"/>
                      <a:round/>
                      <a:headEnd type="none" w="med" len="med"/>
                      <a:tailEnd type="none" w="med" len="med"/>
                    </a:lnB>
                    <a:solidFill>
                      <a:srgbClr val="F7F3F3"/>
                    </a:solidFill>
                  </a:tcPr>
                </a:tc>
              </a:tr>
              <a:tr h="383540">
                <a:tc>
                  <a:txBody>
                    <a:bodyPr/>
                    <a:lstStyle/>
                    <a:p>
                      <a:pPr indent="0" marL="0">
                        <a:lnSpc>
                          <a:spcPts val="1960"/>
                        </a:lnSpc>
                        <a:buNone/>
                      </a:pPr>
                      <a:r>
                        <a:rPr lang="en-US" sz="1400" dirty="0">
                          <a:solidFill>
                            <a:srgbClr val="111111"/>
                          </a:solidFill>
                          <a:latin typeface="Carlito" pitchFamily="34" charset="0"/>
                          <a:ea typeface="Carlito" pitchFamily="34" charset="-122"/>
                          <a:cs typeface="Carlito" pitchFamily="34" charset="-120"/>
                        </a:rPr>
                        <a:t>Projection</a:t>
                      </a:r>
                      <a:endParaRPr lang="en-US" sz="1400" dirty="0">
                        <a:latin typeface="Carlito" charset="0"/>
                        <a:ea typeface="Carlito" charset="0"/>
                        <a:cs typeface="Carlit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2C2"/>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11111"/>
                          </a:solidFill>
                          <a:latin typeface="Carlito" pitchFamily="34" charset="0"/>
                          <a:ea typeface="Carlito" pitchFamily="34" charset="-122"/>
                          <a:cs typeface="Carlito" pitchFamily="34" charset="-120"/>
                        </a:rPr>
                        <a:t>no</a:t>
                      </a:r>
                      <a:endParaRPr lang="en-US" sz="1400" dirty="0">
                        <a:latin typeface="Carlito" charset="0"/>
                        <a:ea typeface="Carlito" charset="0"/>
                        <a:cs typeface="Carlit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2C2"/>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11111"/>
                          </a:solidFill>
                          <a:latin typeface="Carlito" pitchFamily="34" charset="0"/>
                          <a:ea typeface="Carlito" pitchFamily="34" charset="-122"/>
                          <a:cs typeface="Carlito" pitchFamily="34" charset="-120"/>
                        </a:rPr>
                        <a:t>no</a:t>
                      </a:r>
                      <a:endParaRPr lang="en-US" sz="1400" dirty="0">
                        <a:latin typeface="Carlito" charset="0"/>
                        <a:ea typeface="Carlito" charset="0"/>
                        <a:cs typeface="Carlit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2C2"/>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11111"/>
                          </a:solidFill>
                          <a:latin typeface="Carlito" pitchFamily="34" charset="0"/>
                          <a:ea typeface="Carlito" pitchFamily="34" charset="-122"/>
                          <a:cs typeface="Carlito" pitchFamily="34" charset="-120"/>
                        </a:rPr>
                        <a:t>no</a:t>
                      </a:r>
                      <a:endParaRPr lang="en-US" sz="1400" dirty="0">
                        <a:latin typeface="Carlito" charset="0"/>
                        <a:ea typeface="Carlito" charset="0"/>
                        <a:cs typeface="Carlit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2C2"/>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11111"/>
                          </a:solidFill>
                          <a:latin typeface="Carlito" pitchFamily="34" charset="0"/>
                          <a:ea typeface="Carlito" pitchFamily="34" charset="-122"/>
                          <a:cs typeface="Carlito" pitchFamily="34" charset="-120"/>
                        </a:rPr>
                        <a:t>yes</a:t>
                      </a:r>
                      <a:endParaRPr lang="en-US" sz="1400" dirty="0">
                        <a:latin typeface="Carlito" charset="0"/>
                        <a:ea typeface="Carlito" charset="0"/>
                        <a:cs typeface="Carlit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2C2"/>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9" name="Text 5"/>
          <p:cNvSpPr/>
          <p:nvPr/>
        </p:nvSpPr>
        <p:spPr>
          <a:xfrm>
            <a:off x="1009650" y="4406900"/>
            <a:ext cx="10575989" cy="25654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444444"/>
                </a:solidFill>
                <a:latin typeface="Carlito" pitchFamily="34" charset="0"/>
                <a:ea typeface="Carlito" pitchFamily="34" charset="-122"/>
                <a:cs typeface="Carlito" pitchFamily="34" charset="-120"/>
              </a:rPr>
              <a:t>All runs: noiseless simulated data, controller in the loop, 4 kHz, 14 training and 4 held-out records, one training run each.</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EEE8E8"/>
        </a:solidFill>
      </p:bgPr>
    </p:bg>
    <p:spTree>
      <p:nvGrpSpPr>
        <p:cNvPr id="1" name=""/>
        <p:cNvGrpSpPr/>
        <p:nvPr/>
      </p:nvGrpSpPr>
      <p:grpSpPr>
        <a:xfrm>
          <a:off x="0" y="0"/>
          <a:ext cx="0" cy="0"/>
          <a:chOff x="0" y="0"/>
          <a:chExt cx="0" cy="0"/>
        </a:xfrm>
      </p:grpSpPr>
      <p:sp>
        <p:nvSpPr>
          <p:cNvPr id="2" name="Shape 0"/>
          <p:cNvSpPr/>
          <p:nvPr/>
        </p:nvSpPr>
        <p:spPr>
          <a:xfrm>
            <a:off x="0" y="6089650"/>
            <a:ext cx="12192000" cy="768350"/>
          </a:xfrm>
          <a:prstGeom prst="rect">
            <a:avLst/>
          </a:prstGeom>
          <a:solidFill>
            <a:srgbClr val="FFFFFF"/>
          </a:solidFill>
          <a:ln/>
        </p:spPr>
      </p:sp>
      <p:sp>
        <p:nvSpPr>
          <p:cNvPr id="3" name="Text 1"/>
          <p:cNvSpPr/>
          <p:nvPr/>
        </p:nvSpPr>
        <p:spPr>
          <a:xfrm>
            <a:off x="406400" y="6369050"/>
            <a:ext cx="812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Carlito" pitchFamily="34" charset="0"/>
                <a:ea typeface="Carlito" pitchFamily="34" charset="-122"/>
                <a:cs typeface="Carlito" pitchFamily="34" charset="-120"/>
              </a:rPr>
              <a:t>B5</a:t>
            </a:r>
            <a:endParaRPr lang="en-US" sz="1200" dirty="0"/>
          </a:p>
        </p:txBody>
      </p:sp>
      <p:sp>
        <p:nvSpPr>
          <p:cNvPr id="4" name="Text 2"/>
          <p:cNvSpPr/>
          <p:nvPr/>
        </p:nvSpPr>
        <p:spPr>
          <a:xfrm>
            <a:off x="1485900" y="6369050"/>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Carlito" pitchFamily="34" charset="0"/>
                <a:ea typeface="Carlito" pitchFamily="34" charset="-122"/>
                <a:cs typeface="Carlito" pitchFamily="34" charset="-120"/>
              </a:rPr>
              <a:t>Interpretable model augmentation | Dirk van den Berg</a:t>
            </a:r>
            <a:endParaRPr lang="en-US" sz="1200" dirty="0"/>
          </a:p>
        </p:txBody>
      </p:sp>
      <p:pic>
        <p:nvPicPr>
          <p:cNvPr id="5" name="Image 0" descr="TU/e logo">    </p:cNvPr>
          <p:cNvPicPr>
            <a:picLocks noChangeAspect="1"/>
          </p:cNvPicPr>
          <p:nvPr/>
        </p:nvPicPr>
        <p:blipFill>
          <a:blip r:embed="rId1"/>
          <a:srcRect l="0" r="0" t="-37" b="-37"/>
          <a:stretch/>
        </p:blipFill>
        <p:spPr>
          <a:xfrm>
            <a:off x="10877550" y="6089650"/>
            <a:ext cx="1314450" cy="768350"/>
          </a:xfrm>
          <a:prstGeom prst="rect">
            <a:avLst/>
          </a:prstGeom>
        </p:spPr>
      </p:pic>
      <p:sp>
        <p:nvSpPr>
          <p:cNvPr id="6" name="Text 3"/>
          <p:cNvSpPr/>
          <p:nvPr/>
        </p:nvSpPr>
        <p:spPr>
          <a:xfrm>
            <a:off x="1009650" y="609600"/>
            <a:ext cx="10575989" cy="388620"/>
          </a:xfrm>
          <a:prstGeom prst="rect">
            <a:avLst/>
          </a:prstGeom>
          <a:noFill/>
          <a:ln/>
        </p:spPr>
        <p:txBody>
          <a:bodyPr wrap="square" lIns="0" tIns="0" rIns="0" bIns="0" rtlCol="0" anchor="t">
            <a:normAutofit/>
          </a:bodyPr>
          <a:lstStyle/>
          <a:p>
            <a:pPr algn="l" indent="0" marL="0">
              <a:lnSpc>
                <a:spcPts val="2860"/>
              </a:lnSpc>
              <a:buNone/>
            </a:pPr>
            <a:r>
              <a:rPr lang="en-US" sz="2600" b="1" dirty="0">
                <a:solidFill>
                  <a:srgbClr val="111111"/>
                </a:solidFill>
                <a:latin typeface="Carlito" pitchFamily="34" charset="0"/>
                <a:ea typeface="Carlito" pitchFamily="34" charset="-122"/>
                <a:cs typeface="Carlito" pitchFamily="34" charset="-120"/>
              </a:rPr>
              <a:t>What the projection covers, and what it does not</a:t>
            </a:r>
            <a:endParaRPr lang="en-US" sz="2600" dirty="0"/>
          </a:p>
        </p:txBody>
      </p:sp>
      <p:sp>
        <p:nvSpPr>
          <p:cNvPr id="7" name="Shape 4"/>
          <p:cNvSpPr/>
          <p:nvPr/>
        </p:nvSpPr>
        <p:spPr>
          <a:xfrm>
            <a:off x="1009650" y="1301750"/>
            <a:ext cx="10172700" cy="4064000"/>
          </a:xfrm>
          <a:prstGeom prst="roundRect">
            <a:avLst>
              <a:gd name="adj" fmla="val 1875"/>
            </a:avLst>
          </a:prstGeom>
          <a:solidFill>
            <a:srgbClr val="FFFFFF"/>
          </a:solidFill>
          <a:ln/>
        </p:spPr>
      </p:sp>
      <p:pic>
        <p:nvPicPr>
          <p:cNvPr id="8" name="Image 1" descr="Full scheme with the projection on the network's direct correction to the physical states; the learned-state route is not projected">    </p:cNvPr>
          <p:cNvPicPr>
            <a:picLocks noChangeAspect="1"/>
          </p:cNvPicPr>
          <p:nvPr/>
        </p:nvPicPr>
        <p:blipFill>
          <a:blip r:embed="rId2"/>
          <a:srcRect l="0" r="0" t="0" b="0"/>
          <a:stretch/>
        </p:blipFill>
        <p:spPr>
          <a:xfrm>
            <a:off x="2298700" y="1492250"/>
            <a:ext cx="7588250" cy="3683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Interpretable Model Augmentation for a High-Precision Dual-Gantry Motion System</dc:title>
  <dc:subject>PptxGenJS Presentation</dc:subject>
  <dc:creator>PptxGenJS</dc:creator>
  <cp:lastModifiedBy>PptxGenJS</cp:lastModifiedBy>
  <cp:revision>1</cp:revision>
  <dcterms:created xsi:type="dcterms:W3CDTF">2026-09-30T11:22:49Z</dcterms:created>
  <dcterms:modified xsi:type="dcterms:W3CDTF">2026-09-30T11:22:49Z</dcterms:modified>
</cp:coreProperties>
</file>