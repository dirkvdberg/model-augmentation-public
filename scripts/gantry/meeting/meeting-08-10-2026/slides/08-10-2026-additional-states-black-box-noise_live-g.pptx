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08" r:id="rId52"/>
    <p:sldId id="309" r:id="rId53"/>
    <p:sldId id="332" r:id="rId54"/>
    <p:sldId id="333" r:id="rId55"/>
    <p:sldId id="334" r:id="rId56"/>
    <p:sldId id="335" r:id="rId57"/>
    <p:sldId id="336" r:id="rId58"/>
    <p:sldId id="337" r:id="rId59"/>
    <p:sldId id="338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Relationship Id="rId87" Type="http://schemas.microsoft.com/office/2016/11/relationships/changesInfo" Target="changesInfos/changesInfo1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custSel modSld">
      <pc:chgData name="Berg, Dirk van den" userId="035ecb32-01d9-4b47-a105-eacf059a4647" providerId="ADAL" clId="{F7FF961E-CF96-44AC-93C2-93612F62D46D}" dt="2026-10-07T17:02:05.181" v="8" actId="729"/>
      <pc:docMkLst>
        <pc:docMk/>
      </pc:docMkLst>
      <pc:sldChg chg="delSp mod">
        <pc:chgData name="Berg, Dirk van den" userId="035ecb32-01d9-4b47-a105-eacf059a4647" providerId="ADAL" clId="{F7FF961E-CF96-44AC-93C2-93612F62D46D}" dt="2026-10-07T16:58:47.970" v="0" actId="478"/>
        <pc:sldMkLst>
          <pc:docMk/>
          <pc:sldMk cId="0" sldId="263"/>
        </pc:sldMkLst>
        <pc:spChg chg="del">
          <ac:chgData name="Berg, Dirk van den" userId="035ecb32-01d9-4b47-a105-eacf059a4647" providerId="ADAL" clId="{F7FF961E-CF96-44AC-93C2-93612F62D46D}" dt="2026-10-07T16:58:47.970" v="0" actId="478"/>
          <ac:spMkLst>
            <pc:docMk/>
            <pc:sldMk cId="0" sldId="263"/>
            <ac:spMk id="9" creationId="{00000000-0000-0000-0000-000000000000}"/>
          </ac:spMkLst>
        </pc:spChg>
      </pc:sldChg>
      <pc:sldChg chg="delSp modSp mod">
        <pc:chgData name="Berg, Dirk van den" userId="035ecb32-01d9-4b47-a105-eacf059a4647" providerId="ADAL" clId="{F7FF961E-CF96-44AC-93C2-93612F62D46D}" dt="2026-10-07T16:58:59.983" v="7" actId="20577"/>
        <pc:sldMkLst>
          <pc:docMk/>
          <pc:sldMk cId="0" sldId="265"/>
        </pc:sldMkLst>
        <pc:spChg chg="del">
          <ac:chgData name="Berg, Dirk van den" userId="035ecb32-01d9-4b47-a105-eacf059a4647" providerId="ADAL" clId="{F7FF961E-CF96-44AC-93C2-93612F62D46D}" dt="2026-10-07T16:58:50.714" v="1" actId="478"/>
          <ac:spMkLst>
            <pc:docMk/>
            <pc:sldMk cId="0" sldId="265"/>
            <ac:spMk id="9" creationId="{00000000-0000-0000-0000-000000000000}"/>
          </ac:spMkLst>
        </pc:spChg>
        <pc:spChg chg="mod">
          <ac:chgData name="Berg, Dirk van den" userId="035ecb32-01d9-4b47-a105-eacf059a4647" providerId="ADAL" clId="{F7FF961E-CF96-44AC-93C2-93612F62D46D}" dt="2026-10-07T16:58:59.983" v="7" actId="20577"/>
          <ac:spMkLst>
            <pc:docMk/>
            <pc:sldMk cId="0" sldId="265"/>
            <ac:spMk id="11" creationId="{00000000-0000-0000-0000-000000000000}"/>
          </ac:spMkLst>
        </pc:spChg>
      </pc:sldChg>
      <pc:sldChg chg="mod modShow">
        <pc:chgData name="Berg, Dirk van den" userId="035ecb32-01d9-4b47-a105-eacf059a4647" providerId="ADAL" clId="{F7FF961E-CF96-44AC-93C2-93612F62D46D}" dt="2026-10-07T17:02:05.181" v="8" actId="729"/>
        <pc:sldMkLst>
          <pc:docMk/>
          <pc:sldMk cId="0" sldId="280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508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new: a data-driven start for the added states x_a • question to Jan: a proper extension of the framework, or a workaround? • Jan asked for the motivation beyond RMS • route: what goes wrong → why → what a fix must do → the method → evidence → results → question</a:t>
            </a:r>
          </a:p>
          <a:p>
            <a:r>
              <a:t>• part 1: the zero start and its results; part 2: Jan's question, a live start of g_aug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recap of the model (dynamic parallel, Jan's paper) • x_b: X, Θ, Y and their rates, x_a: two added states for what the physics misses • one network φ_aug: physical rows f_aug, added-state rows g_aug • output only from x_b: x_a can only reach the output through f_aug • encoder ψ on 30 past samples gives x̂(k) = [x_b, x_a] at the start of every training window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shown last week: black baseline error, orange after training, Y axis • below 230 Hz: 90 % removed • 230 to 297 Hz (the absorber resonance region): only 22 % • same with another seed, with OBC and with 4 added states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clamp test on run 42: the added-state rows set to zero, the model changes by only 17 % • so the trained model hardly relies on x_a • across runs 42, 44, 48: 0 of 672 checked encoder states show an oscillating pair between 95 and 380 Hz • these are the symptoms beyond RMS: wrong band, unused states, no oscillation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 K1: the true absorber written by hand into the same network • training loss 7.0e-10, against 5.1e-9 for the trained model • so capacity is not the limit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 G1: the true system evaluated with the same loss: 1.35e-9 • trained model 5.1e-9, so the loss prefers the absorber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 L1: scan of the added pole's frequency and damping, loss at each point • the loss falls steadily toward the true pole, a well about ±40 Hz wide around 212 Hz • so from nearby, gradient descent would find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answer exists, the loss prefers it, and from nearby it is easy to reach • training never gets near it • picture: the valley exists and is the deepest point, but we start on a flat plateau far away • next: why training never gets near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by design: the model starts equal to the baseline (paper Sec. 5.4, Jan's code does the same) • so f_aug = 0 and g_aug = 0 at the start • x_a stays 0 after the first step, only the encoder's start value x_a(0) is nonzero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output depends on x_a only through f_aug, which is zero → ∂y/∂x_a = 0 • the loss gives the encoder's x_a rows exactly zero gradient at the start • the g_aug output rows also get zero gradient at the exact zero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exact at the zero start: f_aug's output rows get a gradient, the x_a path does not • f_aug only sees x_b and u: a correction without memory of its own, it cannot hold an oscillation that is not already in x_b • x_a can open up later, once the readout weights move, not a proof it never learns • measured (slide 3): plain training ends with one real eigenvalue in x_a (|z| = 0.67, a fast lag of about 0.6 ms), no resonance • not capacity: the model can hold the resonance (7× lower loss), the loss prefers it (truth 3.8× better), higher learning rates and early LM do not create the pole • my interpretation: the early correction fills part of the gap, so little pull is left toward forming the resonance • → the gap: x_b gets a start from the baseline, x_a only a random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output layer is zero for all rows, the difference is in everything around it • x_b: the baseline gives the dynamics, the encoder map (reconstructability, W^b) and a direct path to the output • x_a: no dynamics, a random encoder map (W^a), no path while f_aug = 0 • gradients: RMS over 4 batches of 64 windows of 400 samples, at initialisation • physical parameters 7.1e-9 • so at the start only the physical side learns, in the same network at the same learning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follows from the gradients on the previous slide: only f_aug and the physical side move at first • f_aug sees x_b and u at the same sample, no memory of its 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 M1c: the true absorber grafted into the added states • trained model: loss to 0.85× • model without the learned correction: loss to 0.06× • the learned static correction already covers part of the error, so the resonance adds little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tests N1, O1: static path switched off • x_a then learns a delayed static map first (negative real eigenvalue) • so it is not only two paths competing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longer training does not help, a random start carries no information about the missing dynamics • without system knowledge, a start with memory can only come from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from the previous slides: the memory part never gets its own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 poles, frequencies or absorber information • otherwise it would be a gantry workaround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g_aug only gets a weak, indirect gradient through the 400-step rollout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so it stays Jan's framework: same model, same objective, no extra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for x_b the encoder already has a good start: built from the baseline model (observability, Jan's encoder paper) • for x_a there is nothing like that: random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method gives x_a an equivalent start, but from data • phase 1: make the encoder's x_a carry information that predicts the current model's error • phase 2: make the network propagate those x_a from one step to the next • "initialisation" in a broad sense: not before training, but during the first updates • only data: the residual and a one-step regression, no truth, no poles, no frequencies 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key argument for R1: predicting the future error from the past is only possible with dynamics that have memory • the temporary network sees only x_a: a bottleneck of 2 numbers, so x_a must summarise that memory • R3: once x_a(k) and x_a(k+1) exist as data, fitting g_aug needs no rollout and no pole search • R4: after phase 2 the run is the ordinary S-DP 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Bauer, Order estimation for subspace methods, Automatica 2001, Sec. 2: all subspace algorithms follow these steps • Hefny, Downey, Gordon, NeurIPS 2015: the first-stage regression may be nonlinear • Downey et al., PSRNN, NeurIPS 2017: two-stage regression as initialisation, then backpropagation, random initialisation followed by backpropagation failed in their experiments • differences: the subspace consistency results do not transfer (nonlinear, Adam-trained) • closed loop: subspace methods are known to be biased there (standard knowledge, not checked in a source)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start exactly as without the method • network random, last layer zero → model = baseline • normal training runs from update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phase 1 runs next to normal training • each normal update is followed by one extra update with its own optimiser • ends at a plateau or at 350 updates (the cap ended it in every run so far)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phase 2 runs once, right after phase 1 • a few thousand regression steps on a fixed set of state pairs (3100 to 3300 in the server runs) • normal training waits during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after phase 2: back to the ordinary run (Adam, L-BFGS polish, free-run checkpoint selection, all unchanged) • the temporary network is thrown away • the deployed model has the same structure as plain S-DP • next: phase 1 in three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sample a window start k in the training records (batch of 64 windows) • encoder on the past 30 samples of u and y (up to and including k) gives the full start state • encoder = linear map + NN correction, linear part for x_b from the baseline, for x_a random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closed-loop prediction path as validation: recorded u, plus the controller's response to the model's own error • the current model: baseline + whatever normal training has learned so far • 30 samples ahead = the same length as the encoder window (7.5 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residual = measured minus simulated, 30 samples × 3 outputs • recomputed every update with the latest weights and encoder states • treated as a fixed target in the extra update (no gradient through it) • scaled per batch to a common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encoder has two parts: rows that give x_b (from the baseline) and rows that give x_a • we only use x_a here: the question is whether x_a can carry what the model misses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temporary network h_φ: input x_a (2 numbers), output 30 samples × X1, X2, Y • one tanh layer of width 16, output layer starts at zero (predicts "no error") • loss: squared difference with the residual from step 1 • to predict the coming error, x_a must hold information about the dynamics the model misses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updated in this extra step: • the temporary network • the rows of the encoder's linear map that give x_a • the rows of the encoder NN's last layer that give x_a • not touched by this step: x_b rows, encoder hidden layers, the augmentation network (normal training can still update them) • own Adam, learning rate 1e-3, batch 64, gradients kept separate from the normal update • checked in a test: protected weights stay bit-identical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U: prediction error relative to predicting zero residual • held-out records: TR-S5, TR-Y3, TR-P4, TR-T4, not used to fit phase 1 or 2, but still in normal training • one per record type, because what predicts the error in one type need not transfer to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0.90 = at least 10 % of the squared error explained, compared with predicting zero • also checked at update 150 • fail → temporary network deleted, no phase 2, training continues as normal • note: the encoder changes from phase 1 stay in that case (not a full reset) • thresholds and caps are hand-set, not from literature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 logged server runs: U between 0.58 and 0.68 • the cap of 350 ended phase 1 every time, it was still improving about 1 % per 25 updates • so a better stopping rule is still open • the fall-back never triggered in the gantry runs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after phase 1 the encoder gives a useful x_a at any sample k • but in a simulation the encoder is only used once, at the start of the window • after that the model must move x_a forward itself, step by step: that is g_aug, still zero • input for that step: the encoder's state at k and the input u(k)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move the window one sample: the encoder now gives x_a(k+1) • both windows 30 samples: the current sample plus 29 past (lag 29), only the end moves • the target is only a label, the encoder is not trained here • that is what g_aug should produce from the state at k • 8192 such pairs from the fitting records, 2048 from the held-out records • the pairs are made once and stay fixed: the encoder does not change in phase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plain supervised regression, no long rollout needed • the existing augmentation network, not a new one • own Adam (1e-3), batches of 512 pairs • loss normalised by the variance of the targets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f_aug output weights get zero gradient → unchanged • but the hidden layers are shared, so the physical correction can still change a bit • encoder frozen: the targets stay fixed, so encoder and transition cannot shrink together • normal training paused during this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network the model uses in simulation, the temporary network is already deleted, no weights copied • hidden layers are shared, so f_aug's output can shift a little, normal training afterwards corrects that • checked every 100 steps on 2048 held-out pairs • stop after at least 500 steps when the last 5 checks improve less than 1 %, at most 8000 steps, best weights kept • server runs: normalised error from 1.00 (g_aug = 0, predicts nothing) to 0.004 to 0.011, in 3100 to 3300 steps • if asked: square root gives 6 to 10 %, the predicted x_a(k+1) is off by that fraction of its typical spread (rms) • caveat: at 4 kHz x_a changes little per sample, so "x_a stays the same" would already score well, that reference is not computed yet • one-step fit, not a guarantee that x_a stays consistent over many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before: x_a switched off, no gradient path • after: x_a carries information about the model's error, and the network can step it forward • the closed-loop simulation loss then decides what x_a finally does • Adam, L-BFGS polish and free-run checkpoint selection unchanged • the deployed model is plain S-DP: same structure, same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unexplained fraction 0.58 to 0.68 on the four held-out training records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normalised by the variance of the targets, 3100 to 3300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clamp test as on slide 3: added-state rows set to 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Y error in 230 to 297 Hz, this method divided by plain S-DP: 0.08 to 0.11 • X below 106 Hz: ratio 0.94 to 1.04, so the friction correction is not traded 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quiet records: no multisine • diagnosis only: the added-state pair sits at 213 Hz, damping 0.045 (U) and 0.034 (OBC), truth 211.9 Hz, 0.043 • describes this realisation, not a coordinate-invariant pole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validation free run over the full records, closed loop • without OBC: 1.027e-5 → 1.597e-6 m (ratio 0.16) • with OBC: 1.153e-5 → 1.992e-6 m (ratio 0.17), OBC seeds 2 and 3 similar (0.14, 0.17) • interim: runs still in progress, two references are copies from before their best checkpoint, so the ratio may be a bit too favourable • references are the older thesis runs with the same settings, not re-runs with the same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230 to 297 Hz, mean over the four multisine validation records • Y: about 10 times lower, plain training removes 9 to 20 % of that band, this method about 90 % • X1, X2 in that band: 8.54e-7 / 7.43e-7 → 2.40e-7 / 2.72e-7 (without OBC), 1.06e-6 / 8.79e-7 → 2.86e-7 / 3.12e-7 (with OBC) • diagnosis only, never used for selection: added-state pair at 213 Hz, damping 0.045, true absorber 211.9 Hz, 0.043, plain run: real eigenvalue only • side test, local: cubic absorber spring, 600 updates, 3 seeds: 45 to 50 % lower validation error than plain S-DP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validation records are also used for checkpoint selection, on both sides • the 350 cap ended phase 1 in every run • open-loop hidden-Duffing mass-spring: plain S-DP already learns the hidden mass, this method gives no gain • so it targets the case where plain training does not form the state, it is not a general improvement • if phase 1 fails, phase 2 is skipped but the phase 1 encoder changes stay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question as in my mail, now with the reasoning behind it • for: the counterpart of the baseline-based encoder start for x_b, but from data • for: no truth, poles or frequencies used to decide anything • against: thresholds and caps are hand-set, the 350 cap decided phase 1 every time • against: simulation only so far • open question: which initialisation produced the S-DP results in Jan's paper? Not visible in the public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purpose: a reference without any physics, for the thesis comparison • same model class and training routine as in Jan's work, only the signals and settings chosen by 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721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random initialisation, as in Jan's code • no controller anywhere in the model or the rollout • no BLA, subspace or other linear start, and no truth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982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why the closed loop and not the plant: a random black-box plant simulated inside the controller blows up from the first steps (the controller's normalised gain is about 3.7·10³ × a random model's step gain), five designs failed this way • r and f do not depend on y, so this is a proper input-output map • why e and not y: normalised by the move range (0.05 to 0.15 m), the 10⁻⁵ m loop behaviour is invisible to the loss, on raw y the model was 30 to 100× worse than ŷ = r • ŷ − y = ê − e, so the score is the same as predicting y directly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494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network sizes from Jan's code: state and output nets 2 × 8, encoder 2 × 16 (tanh, with a linear part) • 16 states is a free choice, not the true order: enough memory for stage, absorber and controller • encoder window 30 samples (lag 29 plus the current one), the same as the grey box • window 400 steps, same as the grey box, no teacher forcing, encoder trained jointly • Adam: learning rate 1e-2 for the proof runs (1596 updates), 3e-3 for the longest run (9576 updates) • both the noisy and the noise-free version of the data, 3 seeds each • best validated model kept, test records never loaded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0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free run over the full 12 s, per axis, mean over the 6 validation records • noisy and noise-free versions agree within a few percent (noise 10⁻⁸ m, 1000× below these errors) • noise floor: 7.6e-9 / 8.2e-9 / 4.6e-9 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2037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Y: the untrained grey box has no absorber and no friction, so its Y error is large • X: on the move records the grey box's physics predicts the tracking error by construction, the black box must learn it from 18 records • compared against the untrained grey box: no trained grey box on these full records yet • open: 3 seeds at the longest budget, compare with the trained grey box once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2578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runs U1, E1, E2, E3, E4, E5, E9 • remove one ingredient at a time • the target alone or the map fit alone gives no proper oscillation • not shown as separate methods, only as an ablation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295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before: measured standstill servo error copied per frequency, divided by what the loop lets through (|S|²) • Jasper: the measured error was shaped by the real loop, so it holds real resonances and disturbances that the simulated system does not have • "nu neem ik dynamica van het echte systeem op"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Jasper's advice: very low order (2 or 3), a slope at low frequency plus the constant floor, or fully white • match the shape, not the exact frequency content • keep the low-frequency weighting so the 10 to 100 Hz slope is captured, leave out the region around 1 kHz on Y • what stays the same: noise on the encoder, one independent generator per axis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Jasper's advice: very low order (2 or 3), a slope at low frequency plus the constant floor, or fully white • match the shape, not the exact frequency content • keep the low-frequency weighting so the 10 to 100 Hz slope is captured, leave out the region around 1 kHz on Y • what stays the same: noise on the encoder, one independent generator per axis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noise v itself, for X1 with the fitted values • the shape the measured noise has, without the real machine's peaks • low frequencies: the encoder noise is strongest there • g is the height of this flat part, in m/√Hz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cutoff frequency: where the flat part ends • X1, X2 about 1 kHz, Y about 2.6 kHz • 40 dB per decade: 10 times higher frequency gives 100 times lower amplitude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floor: what is left at high frequency, flat up to 10 kHz (half the 20 kHz sample rate) • so three numbers per axis describe the whole noise: level g, cutoff, floor • next: how this shape is made, then how the three numbers are fitted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w1 and w2: two independent white noise signals, one new random value per sample • white = flat spectrum, every frequency equally strong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low-pass: 2nd-order Butterworth, in code butter(2, cutoff/(f_s/2), 'low'), f_s = 20 kHz • passes everything below the cutoff, then 40 dB per decade down • order 2, as Jasper suggested (2 or 3), Butterworth has no peak at the cutoff, so it adds no resonance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 filter: stays flat up to 10 kHz • only visible where the filtered part has died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 = g · LP(w1) + floor · w2 • g and floor are spectrum heights in m/√Hz • rms check: about 10⁻⁸ m on X, 5·10⁻⁹ m on Y • the 10 to 100 Hz slope in the servo error is not in the noise: the loop shapes it (error = S × noise)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injection point unchanged from before: the encoder • q: true position of the simulated system, y: what the encoder reports • the controller acts on y, so it also pushes the noise into the motion, as on the machine • separate encoders per axis, so independent noise, own seed per axis • same structure on X1, X2 and Y, only the three numbers differ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above 5 kHz the loop does nothing (|S| ≈ 1), so the measured servo error there is the noise floor itself • median of the measured spectrum above 5 kHz, copied as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simulate: this noise through the closed loop at standstill (simulated system at rest, Y = 0, K1) • analyse the simulated servo error with the same spectrum estimator as the measurement • fit cutoff and g so the log spectra match, from 10 Hz, equal weight per decade (else 1 to 10 kHz dominates, the bins are linear) • compared as servo error against servo error, so the loop's own shaping is included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last step: g set so the simulated rms equals the measured rms over the fitted range • Y: 0.7 to 2 kHz left out of the fit and the rms: the 1.3 kHz resonance of the real machine, which we do not want to copy (Jasper's point) • an analytic version (|S|² times the noise spectrum) gave the same cutoffs (980, 967, 2606 Hz)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order as the spectrum slides: level g, cutoff, floor • exact fitted values: X1 g 2.54e-10, floor 4.83e-11, X2 g 2.73e-10, floor 4.91e-11, Y g 5.64e-11, floor 4.57e-11 • on Y g and floor are close, so the flat part there is about 7·10⁻¹¹ m/√Hz (g and floor together) • rms of the simulated standstill servo error: X1 9.85·10⁻⁹, X2 1.04·10⁻⁸, Y 4.81·10⁻⁹ m (next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axes, top to bottom: X1, X2, Y • both analysed with the same spectrum estimator • grey band on Y: 0.7 to 2 kHz, left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cutoffs: X1 988 Hz, X2 973 Hz, Y 2596 Hz • Y rms without 0.7 to 2 kHz: 4.81e-9 measured, 4.82e-9 simulated • Y over the full band: 5.48e-9 simulated vs 6.34e-9 measured, the difference is the 1.3 kHz peak, left out on purpose • checked through the full 3 × 3 loop: same rms as the per-axis fit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exactly what Jasper asked: shape yes, the real machine's dynamics no • the order-2 low-pass cannot make peaks • one feature remains on Y around 130 to 190 Hz: next slide explains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injected noise cannot make a bump or dip between 100 and 200 Hz: its low-pass cutoff on Y is 2596 Hz • so whatever we see there must come from the loop the noise goes 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servo error at standstill = S × noise, per frequency • |S33| from K1 and the simulated system: 1.05 at 130 Hz, 0.78 at 180 to 190 Hz • that is exactly the bump and the dip in the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absorber resonance √(ka/ma)/2π = 150 Hz, in the middle of the bump and dip • around its resonance the absorber changes the effective mass on Y, and with it the loop response • so the feature is the simulated system's own dynamics, not the noise and not copied from the machine • for Jasper: "The bump and dip on Y at 130 to 190 Hz are not in the noise (flat there) but in the simulated loop: the hidden absorber at 150 Hz changes |S33| there (1.05 to 0.78). That is the dynamics the augmentation has to learn." • strongest proof, still to make: |S33| with and without the absorber, if the bump and dip disappear, no doubt 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Jan: g_aug should not start at zero. He did not prescribe a scale or an architecture</a:t>
            </a:r>
          </a:p>
          <a:p>
            <a:r>
              <a:t>• his 2026 paper: NN(z) + W_a z, zero initial NN output, W_a entries U(-1, 1); its parallel simulation examples used feedforward networks; the public parallel examples I inspected zero the augmentation</a:t>
            </a:r>
          </a:p>
          <a:p>
            <a:r>
              <a:t>• the MLP keeps the previous architecture; the ResNet adds a direct path that can represent linear dynamics</a:t>
            </a:r>
          </a:p>
          <a:p>
            <a:r>
              <a:t>• exactly at the start the live g still gets no output-loss gradient (f_aug is zero); it becomes trainable once the coupling learns, checked in the local preflight (nonzero gradients after the first update)</a:t>
            </a:r>
          </a:p>
          <a:p>
            <a:r>
              <a:t>• z = [x_b, x_a, u] has 11 entries: 6 physical states, 2 added states, 3 inputs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Jan: g_aug should not start at zero. He did not prescribe a scale or an architecture</a:t>
            </a:r>
          </a:p>
          <a:p>
            <a:r>
              <a:t>• his 2026 paper: NN(z) + W_a z, zero initial NN output, W_a entries U(-1, 1); its parallel simulation examples used feedforward networks; the public parallel examples I inspected zero the augmentation</a:t>
            </a:r>
          </a:p>
          <a:p>
            <a:r>
              <a:t>• the MLP keeps the previous architecture; the ResNet adds a direct path that can represent linear dynamics</a:t>
            </a:r>
          </a:p>
          <a:p>
            <a:r>
              <a:t>• exactly at the start the live g still gets no output-loss gradient (f_aug is zero); it becomes trainable once the coupling learns, checked in the local preflight (nonzero gradients after the first update)</a:t>
            </a:r>
          </a:p>
          <a:p>
            <a:r>
              <a:t>• z = [x_b, x_a, u] has 11 entries: 6 physical states, 2 added states, 3 inputs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Jan: g_aug should not start at zero. He did not prescribe a scale or an architecture</a:t>
            </a:r>
          </a:p>
          <a:p>
            <a:r>
              <a:t>• his 2026 paper: NN(z) + W_a z, zero initial NN output, W_a entries U(-1, 1); its parallel simulation examples used feedforward networks; the public parallel examples I inspected zero the augmentation</a:t>
            </a:r>
          </a:p>
          <a:p>
            <a:r>
              <a:t>• the MLP keeps the previous architecture; the ResNet adds a direct path that can represent linear dynamics</a:t>
            </a:r>
          </a:p>
          <a:p>
            <a:r>
              <a:t>• exactly at the start the live g still gets no output-loss gradient (f_aug is zero); it becomes trainable once the coupling learns, checked in the local preflight (nonzero gradients after the first update)</a:t>
            </a:r>
          </a:p>
          <a:p>
            <a:r>
              <a:t>• z = [x_b, x_a, u] has 11 entries: 6 physical states, 2 added states, 3 inputs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Jan: g_aug should not start at zero. He did not prescribe a scale or an architecture</a:t>
            </a:r>
          </a:p>
          <a:p>
            <a:r>
              <a:t>• his 2026 paper: NN(z) + W_a z, zero initial NN output, W_a entries U(-1, 1); its parallel simulation examples used feedforward networks; the public parallel examples I inspected zero the augmentation</a:t>
            </a:r>
          </a:p>
          <a:p>
            <a:r>
              <a:t>• the MLP keeps the previous architecture; the ResNet adds a direct path that can represent linear dynamics</a:t>
            </a:r>
          </a:p>
          <a:p>
            <a:r>
              <a:t>• exactly at the start the live g still gets no output-loss gradient (f_aug is zero); it becomes trainable once the coupling learns, checked in the local preflight (nonzero gradients after the first update)</a:t>
            </a:r>
          </a:p>
          <a:p>
            <a:r>
              <a:t>• z = [x_b, x_a, u] has 11 entries: 6 physical states, 2 added states, 3 inputs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one rule (nn.Linear default, kaiming_uniform_ with a = sqrt(5)) at different fan-in, not two tuned bounds</a:t>
            </a:r>
          </a:p>
          <a:p>
            <a:r>
              <a:t>• it replaces the paper's U(-1, 1) after an overflow (next slide); conditioning only, no stability guarantee</a:t>
            </a:r>
          </a:p>
          <a:p>
            <a:r>
              <a:t>• within each architecture plain and PS2 get identical initial parameters for the same seed</a:t>
            </a:r>
          </a:p>
          <a:p>
            <a:r>
              <a:t>• the architecture comparison also includes the different live paths, it does not isolate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overflow: 400-sample local trial, after one optimizer update</a:t>
            </a:r>
          </a:p>
          <a:p>
            <a:r>
              <a:t>• the later NaN is not shown to have the same cause; not traced</a:t>
            </a:r>
          </a:p>
          <a:p>
            <a:r>
              <a:t>• the final L-BFGS polish of the PS2 run ran out of GPU memory (16,384 windows in one chunk, 11 GB card): weights unchanged</a:t>
            </a:r>
          </a:p>
          <a:p>
            <a:r>
              <a:t>• 'Training done | 200 ep' in the log is the configured budget; the run stopped at about 17 epochs</a:t>
            </a:r>
          </a:p>
          <a:p>
            <a:r>
              <a:t>• MLP: launch/cancellation issues, one cancelled during data loading without a Python traceback; cause not established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overflow: 400-sample local trial, after one optimizer update</a:t>
            </a:r>
          </a:p>
          <a:p>
            <a:r>
              <a:t>• the later NaN is not shown to have the same cause; not traced</a:t>
            </a:r>
          </a:p>
          <a:p>
            <a:r>
              <a:t>• the final L-BFGS polish of the PS2 run ran out of GPU memory (16,384 windows in one chunk, 11 GB card): weights unchanged</a:t>
            </a:r>
          </a:p>
          <a:p>
            <a:r>
              <a:t>• 'Training done | 200 ep' in the log is the configured budget; the run stopped at about 17 epochs</a:t>
            </a:r>
          </a:p>
          <a:p>
            <a:r>
              <a:t>• MLP: launch/cancellation issues, one cancelled during data loading without a Python traceback; cause not established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overflow: 400-sample local trial, after one optimizer update</a:t>
            </a:r>
          </a:p>
          <a:p>
            <a:r>
              <a:t>• the later NaN is not shown to have the same cause; not traced</a:t>
            </a:r>
          </a:p>
          <a:p>
            <a:r>
              <a:t>• the final L-BFGS polish of the PS2 run ran out of GPU memory (16,384 windows in one chunk, 11 GB card): weights unchanged</a:t>
            </a:r>
          </a:p>
          <a:p>
            <a:r>
              <a:t>• 'Training done | 200 ep' in the log is the configured budget; the run stopped at about 17 epochs</a:t>
            </a:r>
          </a:p>
          <a:p>
            <a:r>
              <a:t>• MLP: launch/cancellation issues, one cancelled during data loading without a Python traceback; cause not established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overflow: 400-sample local trial, after one optimizer update</a:t>
            </a:r>
          </a:p>
          <a:p>
            <a:r>
              <a:t>• the later NaN is not shown to have the same cause; not traced</a:t>
            </a:r>
          </a:p>
          <a:p>
            <a:r>
              <a:t>• the final L-BFGS polish of the PS2 run ran out of GPU memory (16,384 windows in one chunk, 11 GB card): weights unchanged</a:t>
            </a:r>
          </a:p>
          <a:p>
            <a:r>
              <a:t>• 'Training done | 200 ep' in the log is the configured budget; the run stopped at about 17 epochs</a:t>
            </a:r>
          </a:p>
          <a:p>
            <a:r>
              <a:t>• MLP: launch/cancellation issues, one cancelled during data loading without a Python traceback; cause not established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validation = closed-loop free run over the six full validation records, mean of per-record RMS (the checkpoint-selection metric), every 1,300 updates</a:t>
            </a:r>
          </a:p>
          <a:p>
            <a:r>
              <a:t>• plain: run 161, job 88532, 1.00·10⁻⁵ m at 15,600 updates, still running when copied, no NaN in the copied log</a:t>
            </a:r>
          </a:p>
          <a:p>
            <a:r>
              <a:t>• PS2: run 162, job 88531; phase 1 ended at the 350 cap, unexplained 0.51; phase 2 0.79 to 0.012 in 2,200 steps</a:t>
            </a:r>
          </a:p>
          <a:p>
            <a:r>
              <a:t>• PS2 best checkpoint on test: 2.38·10⁻⁶ m (record E5, 1.2x controller gain, skipped)</a:t>
            </a:r>
          </a:p>
          <a:p>
            <a:r>
              <a:t>• one seed, PS2 stopped by the NaN: preliminary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validation = closed-loop free run over the six full validation records, mean of per-record RMS (the checkpoint-selection metric), every 1,300 updates</a:t>
            </a:r>
          </a:p>
          <a:p>
            <a:r>
              <a:t>• plain: run 161, job 88532, 1.00·10⁻⁵ m at 15,600 updates, still running when copied, no NaN in the copied log</a:t>
            </a:r>
          </a:p>
          <a:p>
            <a:r>
              <a:t>• PS2: run 162, job 88531; phase 1 ended at the 350 cap, unexplained 0.51; phase 2 0.79 to 0.012 in 2,200 steps</a:t>
            </a:r>
          </a:p>
          <a:p>
            <a:r>
              <a:t>• PS2 best checkpoint on test: 2.38·10⁻⁶ m (record E5, 1.2x controller gain, skipped)</a:t>
            </a:r>
          </a:p>
          <a:p>
            <a:r>
              <a:t>• one seed, PS2 stopped by the NaN: preliminary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e = y - y_hat, closed-loop free run over the full validation records, Y axis</a:t>
            </a:r>
          </a:p>
          <a:p>
            <a:r>
              <a:t>• Welch ASD: Hann window, 4096 samples (about 1 Hz), 50 % overlap, fs 4 kHz; PSD averaged over the four multisine records VA-S1, Y1, P1, L1; records never joined</a:t>
            </a:r>
          </a:p>
          <a:p>
            <a:r>
              <a:t>• band RMS: rfft Parseval per record, mean over the same four records; RMS, not power</a:t>
            </a:r>
          </a:p>
          <a:p>
            <a:r>
              <a:t>• baseline = the model at the start, before training (detuned physical parameters); on slide 3 the black line was the baseline at true parameters, other run and data set, so do not compare the two figures line by line</a:t>
            </a:r>
          </a:p>
          <a:p>
            <a:r>
              <a:t>• % removed = 1 - band RMS / baseline band RMS (RMS, not power)</a:t>
            </a:r>
          </a:p>
          <a:p>
            <a:r>
              <a:t>• blue band 106 to 230 Hz, red band 230 to 297 Hz (the earlier absorber-region band)</a:t>
            </a:r>
          </a:p>
          <a:p>
            <a:r>
              <a:t>• side numbers: Y, mean over the four multisine records; 106-230 Hz: baseline 3.17·10⁻⁵, plain 9.25·10⁻⁶, PS2 5.53·10⁻⁶ m</a:t>
            </a:r>
          </a:p>
          <a:p>
            <a:r>
              <a:t>• full-record validation (all 6 records, all axes, mean per-record RMS): baseline 1.68·10⁻⁵, plain 1.00·10⁻⁵, PS2 4.00·10⁻⁶ m; the PS2 value reproduces the logged 3.998e-06</a:t>
            </a:r>
          </a:p>
          <a:p>
            <a:r>
              <a:t>• quiet records VA-T1, T2, Y whole RMS: baseline 3.34·10⁻⁶, plain 3.63·10⁻⁶, PS2 1.27·10⁻⁶ m</a:t>
            </a:r>
          </a:p>
          <a:p>
            <a:r>
              <a:t>• ratios PS2 / plain on Y: whole 0.38, 106-230 Hz 0.60, 230-297 Hz 0.31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e = y - y_hat, closed-loop free run over the full validation records, Y axis</a:t>
            </a:r>
          </a:p>
          <a:p>
            <a:r>
              <a:t>• Welch ASD: Hann window, 4096 samples (about 1 Hz), 50 % overlap, fs 4 kHz; PSD averaged over the four multisine records VA-S1, Y1, P1, L1; records never joined</a:t>
            </a:r>
          </a:p>
          <a:p>
            <a:r>
              <a:t>• band RMS: rfft Parseval per record, mean over the same four records; RMS, not power</a:t>
            </a:r>
          </a:p>
          <a:p>
            <a:r>
              <a:t>• baseline = the model at the start, before training (detuned physical parameters); on slide 3 the black line was the baseline at true parameters, other run and data set, so do not compare the two figures line by line</a:t>
            </a:r>
          </a:p>
          <a:p>
            <a:r>
              <a:t>• % removed = 1 - band RMS / baseline band RMS (RMS, not power)</a:t>
            </a:r>
          </a:p>
          <a:p>
            <a:r>
              <a:t>• blue band 106 to 230 Hz, red band 230 to 297 Hz (the earlier absorber-region band)</a:t>
            </a:r>
          </a:p>
          <a:p>
            <a:r>
              <a:t>• side numbers: Y, mean over the four multisine records; 106-230 Hz: baseline 3.17·10⁻⁵, plain 9.25·10⁻⁶, PS2 5.53·10⁻⁶ m</a:t>
            </a:r>
          </a:p>
          <a:p>
            <a:r>
              <a:t>• full-record validation (all 6 records, all axes, mean per-record RMS): baseline 1.68·10⁻⁵, plain 1.00·10⁻⁵, PS2 4.00·10⁻⁶ m; the PS2 value reproduces the logged 3.998e-06</a:t>
            </a:r>
          </a:p>
          <a:p>
            <a:r>
              <a:t>• quiet records VA-T1, T2, Y whole RMS: baseline 3.34·10⁻⁶, plain 3.63·10⁻⁶, PS2 1.27·10⁻⁶ m</a:t>
            </a:r>
          </a:p>
          <a:p>
            <a:r>
              <a:t>• ratios PS2 / plain on Y: whole 0.38, 106-230 Hz 0.60, 230-297 Hz 0.31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26795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009650" y="1277541"/>
            <a:ext cx="10369550" cy="476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26795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009650" y="1277541"/>
            <a:ext cx="10369550" cy="476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0.xml"/><Relationship Id="rId5" Type="http://schemas.openxmlformats.org/officeDocument/2006/relationships/image" Target="../media/image3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1.xml"/><Relationship Id="rId5" Type="http://schemas.openxmlformats.org/officeDocument/2006/relationships/image" Target="../media/image3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2.xml"/><Relationship Id="rId5" Type="http://schemas.openxmlformats.org/officeDocument/2006/relationships/image" Target="../media/image3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3.xml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U/e campus at dusk"/>
          <p:cNvPicPr>
            <a:picLocks noChangeAspect="1"/>
          </p:cNvPicPr>
          <p:nvPr/>
        </p:nvPicPr>
        <p:blipFill>
          <a:blip r:embed="rId3"/>
          <a:srcRect t="5615" b="5615"/>
          <a:stretch/>
        </p:blipFill>
        <p:spPr>
          <a:xfrm>
            <a:off x="0" y="0"/>
            <a:ext cx="12192000" cy="6089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08965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Shape 1"/>
          <p:cNvSpPr/>
          <p:nvPr/>
        </p:nvSpPr>
        <p:spPr>
          <a:xfrm>
            <a:off x="0" y="1587500"/>
            <a:ext cx="12192000" cy="2184400"/>
          </a:xfrm>
          <a:prstGeom prst="rect">
            <a:avLst/>
          </a:prstGeom>
          <a:solidFill>
            <a:srgbClr val="C81919">
              <a:alpha val="92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1009650" y="1968500"/>
            <a:ext cx="10477881" cy="101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i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</a:t>
            </a:r>
            <a:endParaRPr lang="en-US" sz="3600" dirty="0"/>
          </a:p>
          <a:p>
            <a:pPr marL="0" indent="0" algn="l">
              <a:lnSpc>
                <a:spcPts val="3888"/>
              </a:lnSpc>
              <a:buNone/>
            </a:pPr>
            <a:r>
              <a:rPr lang="en-US" sz="3600" b="1" i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the added states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9650" y="3121025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sz="2000">
                <a:solidFill>
                  <a:srgbClr val="FFFFFF"/>
                </a:solidFill>
                <a:latin typeface="Carlito"/>
              </a:rPr>
              <a:t>with a zero and with a live start of g_aug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U/e Eindhoven University of Technology logo"/>
          <p:cNvPicPr>
            <a:picLocks noChangeAspect="1"/>
          </p:cNvPicPr>
          <p:nvPr/>
        </p:nvPicPr>
        <p:blipFill>
          <a:blip r:embed="rId4"/>
          <a:srcRect t="-67" b="-67"/>
          <a:stretch/>
        </p:blipFill>
        <p:spPr>
          <a:xfrm>
            <a:off x="9791700" y="6089650"/>
            <a:ext cx="2400300" cy="768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augmented model, one step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One step of the augmented model: encoder gives x_b and x_a; f_base updates x_b; one network phi_aug adds f_aug to x_b and gives g_aug as the next x_a; h_base gives the output from x_b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x_b: physical states (6)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1806575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x_a: added states (2)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1844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network gives both f_aug (to x_b) and g_aug (to x_a)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382000" y="28003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encoder ψ gives the start state from past u and 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problem: the absorber band is not learned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Y error spectrum, baseline in black and after training in orange: 90 % removed below 230 Hz, 22 % removed between 230 and 297 Hz"/>
          <p:cNvPicPr>
            <a:picLocks noChangeAspect="1"/>
          </p:cNvPicPr>
          <p:nvPr/>
        </p:nvPicPr>
        <p:blipFill>
          <a:blip r:embed="rId4"/>
          <a:srcRect t="-23" b="-23"/>
          <a:stretch/>
        </p:blipFill>
        <p:spPr>
          <a:xfrm>
            <a:off x="2292350" y="1428750"/>
            <a:ext cx="45466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 training: 90 % of the error removed below 230 Hz, only 22 % above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problem: the absorber band is not learned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Y error spectrum, baseline in black and after training in orange: 90 % removed below 230 Hz, 22 % removed between 230 and 297 Hz"/>
          <p:cNvPicPr>
            <a:picLocks noChangeAspect="1"/>
          </p:cNvPicPr>
          <p:nvPr/>
        </p:nvPicPr>
        <p:blipFill>
          <a:blip r:embed="rId4"/>
          <a:srcRect t="-23" b="-23"/>
          <a:stretch/>
        </p:blipFill>
        <p:spPr>
          <a:xfrm>
            <a:off x="2292350" y="1428750"/>
            <a:ext cx="45466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 training: 90 % of the error removed below 230 Hz, only 22 % above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28282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Setting x_a to zero changes the trained model by only 17 %: the added states are barely used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can learn the absorber, training never starts near it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Network too small? No: the true absorber fits in it, with 7× lower loss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can learn the absorber, training never starts near it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Network too small? No: the true absorber fits in it, with 7× lower loss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Loss does not reward it? No: the true system scores 3.8× better than the trained model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can learn the absorber, training never starts near it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Network too small? No: the true absorber fits in it, with 7× lower loss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Loss does not reward it? No: the true system scores 3.8× better than the trained model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can learn the absorber, training never starts near it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Network too small? No: the true absorber fits in it, with 7× lower loss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Loss does not reward it? No: the true system scores 3.8× better than the trained model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9649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en-US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</a:t>
            </a: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 problem is the starting point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Why: the added states start switched off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ame model with the network's last layer at zero: f_aug and g_aug are zero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layer of the network starts at zero: f_aug = 0 and g_aug = 0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Why: the added states start switched off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x_a has no path to the output, so the encoder's x_a rows get no gradient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layer of the network starts at zero: f_aug = 0 and g_aug = 0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 at initialization x_a does not reach the output: no gradient for the encoder's x_a rows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Why: the added states start switched off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x_a has no path to the output, so the encoder's x_a rows get no gradient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layer of the network starts at zero: f_aug = 0 and g_aug = 0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 at initialization x_a does not reach the output: no gradient for the encoder's x_a rows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8956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the start only f_aug gets a gradient: it learns first, from x_b and u only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382000" y="37528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x_a can only switch on later, indirectly, and in practice never forms the resonance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cause: x_b starts with a model, a meaning and a gradient, x_a with none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513681"/>
            <a:ext cx="10267950" cy="2489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526381"/>
          <a:ext cx="10255251" cy="2476500"/>
        </p:xfrm>
        <a:graphic>
          <a:graphicData uri="http://schemas.openxmlformats.org/drawingml/2006/table">
            <a:tbl>
              <a:tblPr/>
              <a:tblGrid>
                <a:gridCol w="307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9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physical states x_b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added states x_a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Dynamics at the start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baseline model f_base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none, g_aug = 0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Encoder map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from the baseline model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Path to the output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direct, through h_base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only through f_aug, which is 0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Gradient at the start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yes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exactly 0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Learning rate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same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418068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at the start: f_aug rows 1.9·10⁻⁵, encoder x_b rows 1.4·10⁻⁷, x_a rows and g_aug exactly 0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static part learns first, and then blocks the resonance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f_aug learns first: it takes the part of the error that needs no memory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static part learns first, and then blocks the resonance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f_aug learns first: it takes the part of the error that needs no memory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Exact absorber added afterwards: loss 94 % lower on the baseline, only 15 % on the trained model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static part learns first, and then blocks the resonance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f_aug learns first: it takes the part of the error that needs no memory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Exact absorber added afterwards: loss 94 % lower on the baseline, only 15 % on the trained model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The trained f_aug already imitates part of the absorber, so the real absorber barely pays off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static part learns first, and then blocks the resonance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f_aug learns first: it takes the part of the error that needs no memory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Exact absorber added afterwards: loss 94 % lower on the baseline, only 15 % on the trained model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The trained f_aug already imitates part of the absorber, so the real absorber barely pays off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Whatever learns first from zero takes the part without memory, so the start must already carry memory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 fix must do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 training signal for x_a that rewards memory, before the normal loss shapes it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 fix must do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 training signal for x_a that rewards memory, before the normal loss shapes 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R2: only data, no knowledge of the absorber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 fix must do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 training signal for x_a that rewards memory, before the normal loss shapes 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R2: only data, no knowledge of the absorber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a direct training signal for the transition g_aug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 fix must do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 training signal for x_a that rewards memory, before the normal loss shapes 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R2: only data, no knowledge of the absorber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a direct training signal for the transition g_aug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R4: the final model and its loss unchanged, standard S-DP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idea: give the added states a data-driven start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2095500"/>
            <a:ext cx="28778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D55E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states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743450" y="2203450"/>
            <a:ext cx="59780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encoder starts from the baseline model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idea: give the added states a data-driven start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2095500"/>
            <a:ext cx="28778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D55E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states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743450" y="2203450"/>
            <a:ext cx="59780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encoder starts from the baseline model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4650" y="3175000"/>
            <a:ext cx="28778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72B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Added states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743450" y="3282950"/>
            <a:ext cx="597801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start → now: learned from the model's own residual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4650" y="4445000"/>
            <a:ext cx="91697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phases in the first part of training, then normal training continues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meets a requirement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343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16066"/>
              </p:ext>
            </p:extLst>
          </p:nvPr>
        </p:nvGraphicFramePr>
        <p:xfrm>
          <a:off x="1022350" y="1163241"/>
          <a:ext cx="10255250" cy="2330450"/>
        </p:xfrm>
        <a:graphic>
          <a:graphicData uri="http://schemas.openxmlformats.org/drawingml/2006/table">
            <a:tbl>
              <a:tblPr/>
              <a:tblGrid>
                <a:gridCol w="328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3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Requirement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How the method meets it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R1: signal that rewards memory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Phase 1: predict the future residual from the past window, only through </a:t>
                      </a:r>
                      <a:r>
                        <a:rPr lang="en-US" sz="1500" dirty="0" err="1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x_a</a:t>
                      </a: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</a:t>
                      </a:r>
                    </a:p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(I used 2 states here)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R2: only data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target is the model's own residual on measured data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R3: direct signal for g_aug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Phase 2: with x_a as data, the transition becomes regression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R4: model unchanged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temporary network is deleted, normal training continues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367149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static correction acts on the current sample only: it cannot make the past predict the future error. Only memory can.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this method: the steps of subspace identification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076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163241"/>
          <a:ext cx="10255251" cy="2063750"/>
        </p:xfrm>
        <a:graphic>
          <a:graphicData uri="http://schemas.openxmlformats.org/drawingml/2006/table">
            <a:tbl>
              <a:tblPr/>
              <a:tblGrid>
                <a:gridCol w="461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Subspace identification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This method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 Regress the future outputs on the past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Phase 1: predict the future residual from the past window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 Keep a low-rank part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x_a has only 2 dimensions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 State = map of the past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x_a = the encoder applied to the past window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 Least squares of x(k+1) on x(k) and u(k)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Phase 2: one-step regression of g_aug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340479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baseline gives the state map for x_b, the data now give it for x_a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382071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Differences: residual instead of output, nonlinear, no future inputs, closed-loop data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it happens: during the first updates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line of optimiser updates: normal training runs throughout"/>
          <p:cNvPicPr>
            <a:picLocks noChangeAspect="1"/>
          </p:cNvPicPr>
          <p:nvPr/>
        </p:nvPicPr>
        <p:blipFill>
          <a:blip r:embed="rId4"/>
          <a:srcRect t="-79184" b="-79184"/>
          <a:stretch/>
        </p:blipFill>
        <p:spPr>
          <a:xfrm>
            <a:off x="1263650" y="1511300"/>
            <a:ext cx="9664700" cy="211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064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training starts as usual: closed-loop simulation loss, model equal to the baseline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it happens: during the first updates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line: phase 1 runs during the first 350 updates, one extra update each step"/>
          <p:cNvPicPr>
            <a:picLocks noChangeAspect="1"/>
          </p:cNvPicPr>
          <p:nvPr/>
        </p:nvPicPr>
        <p:blipFill>
          <a:blip r:embed="rId4"/>
          <a:srcRect t="-29853" b="-29853"/>
          <a:stretch/>
        </p:blipFill>
        <p:spPr>
          <a:xfrm>
            <a:off x="1263650" y="1511300"/>
            <a:ext cx="9664700" cy="211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064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training starts as usual: closed-loop simulation loss, model equal to the baseline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391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first 350 updates: one extra update after each normal one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it happens: during the first updates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line: phase 2 runs once after phase 1, while normal training is paused"/>
          <p:cNvPicPr>
            <a:picLocks noChangeAspect="1"/>
          </p:cNvPicPr>
          <p:nvPr/>
        </p:nvPicPr>
        <p:blipFill>
          <a:blip r:embed="rId4"/>
          <a:srcRect t="-7786" b="-7786"/>
          <a:stretch/>
        </p:blipFill>
        <p:spPr>
          <a:xfrm>
            <a:off x="1263650" y="1511300"/>
            <a:ext cx="9664700" cy="211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064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training starts as usual: closed-loop simulation loss, model equal to the baseline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391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first 350 updates: one extra update after each normal one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7180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2, once: a one-step regression, normal training paused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it happens: during the first updates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5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line: afterwards the temporary network is deleted and the model is the same as without the method"/>
          <p:cNvPicPr>
            <a:picLocks noChangeAspect="1"/>
          </p:cNvPicPr>
          <p:nvPr/>
        </p:nvPicPr>
        <p:blipFill>
          <a:blip r:embed="rId4"/>
          <a:srcRect t="-7786" b="-7786"/>
          <a:stretch/>
        </p:blipFill>
        <p:spPr>
          <a:xfrm>
            <a:off x="1263650" y="1511300"/>
            <a:ext cx="9664700" cy="2114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064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training starts as usual: closed-loop simulation loss, model equal to the baseline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391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first 350 updates: one extra update after each normal one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7180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2, once: a one-step regression, normal training paused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9650" y="50450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Then normal training continues, the final model has no extra parameters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1: what is the current model's error?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ime axis with the past 30 samples of u and y going into the encoder, which gives the state at k"/>
          <p:cNvPicPr>
            <a:picLocks noChangeAspect="1"/>
          </p:cNvPicPr>
          <p:nvPr/>
        </p:nvPicPr>
        <p:blipFill>
          <a:blip r:embed="rId4"/>
          <a:srcRect t="-179" b="-179"/>
          <a:stretch/>
        </p:blipFill>
        <p:spPr>
          <a:xfrm>
            <a:off x="1136650" y="1841500"/>
            <a:ext cx="6858000" cy="3308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a window in the training data, the encoder gives x̂(k) = [x_b, x_a]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1: what is the current model's error?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From k the current model is simulated for the next 30 samples in closed loop and compared with the measured output"/>
          <p:cNvPicPr>
            <a:picLocks noChangeAspect="1"/>
          </p:cNvPicPr>
          <p:nvPr/>
        </p:nvPicPr>
        <p:blipFill>
          <a:blip r:embed="rId4"/>
          <a:srcRect t="-179" b="-179"/>
          <a:stretch/>
        </p:blipFill>
        <p:spPr>
          <a:xfrm>
            <a:off x="1136650" y="1841500"/>
            <a:ext cx="6858000" cy="3308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a window in the training data, the encoder gives x̂(k) = [x_b, x_a]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Simulate the current model 30 samples ahead, in closed loop with the known controller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1: what is the current model's error?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residual e is the difference between measured y and simulated y-hat over the next 30 samples"/>
          <p:cNvPicPr>
            <a:picLocks noChangeAspect="1"/>
          </p:cNvPicPr>
          <p:nvPr/>
        </p:nvPicPr>
        <p:blipFill>
          <a:blip r:embed="rId4"/>
          <a:srcRect t="-179" b="-179"/>
          <a:stretch/>
        </p:blipFill>
        <p:spPr>
          <a:xfrm>
            <a:off x="1136650" y="1841500"/>
            <a:ext cx="6858000" cy="3308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Pick a window in the training data, the encoder gives x̂(k) = [x_b, x_a]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Simulate the current model 30 samples ahead, in closed loop with the known controller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898775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Residual e = y − ŷ for X1, X2 and Y: what the model still misses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2: predict that error from x_a alone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encoder has x_b rows from the baseline and x_a rows; only x_a(k) is taken out"/>
          <p:cNvPicPr>
            <a:picLocks noChangeAspect="1"/>
          </p:cNvPicPr>
          <p:nvPr/>
        </p:nvPicPr>
        <p:blipFill>
          <a:blip r:embed="rId4"/>
          <a:srcRect l="-6271" r="-6271"/>
          <a:stretch/>
        </p:blipFill>
        <p:spPr>
          <a:xfrm>
            <a:off x="1136650" y="2184400"/>
            <a:ext cx="6858000" cy="2609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 only x_a from the encoder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2: predict that error from x_a alone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A temporary network h_phi maps x_a to a predicted residual e-hat, compared with the residual e of the current model"/>
          <p:cNvPicPr>
            <a:picLocks noChangeAspect="1"/>
          </p:cNvPicPr>
          <p:nvPr/>
        </p:nvPicPr>
        <p:blipFill>
          <a:blip r:embed="rId4"/>
          <a:srcRect t="-21594" b="-21594"/>
          <a:stretch/>
        </p:blipFill>
        <p:spPr>
          <a:xfrm>
            <a:off x="1136650" y="2184400"/>
            <a:ext cx="6858000" cy="2609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 only x_a from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180657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temporary network predicts the 30-sample residual from x_a: 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loss ‖ê − e‖²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2: predict that error from x_a alone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Updated: the encoder's x_a rows and the temporary network; not touched: x_b rows, encoder hidden layers and the augmentation network"/>
          <p:cNvPicPr>
            <a:picLocks noChangeAspect="1"/>
          </p:cNvPicPr>
          <p:nvPr/>
        </p:nvPicPr>
        <p:blipFill>
          <a:blip r:embed="rId4"/>
          <a:srcRect t="-5271" b="-5271"/>
          <a:stretch/>
        </p:blipFill>
        <p:spPr>
          <a:xfrm>
            <a:off x="1136650" y="2184400"/>
            <a:ext cx="6858000" cy="2609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 only x_a from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180657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temporary network predicts the 30-sample residual from x_a: </a:t>
            </a:r>
            <a:endParaRPr lang="en-US" sz="15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loss ‖ê − e‖²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the encoder's x_a rows and the temporary network are updated, with their own Adam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3: is x_a good enough to continue?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cale of the unexplained fraction U from 0 (residual fully predicted) to 1 (no better than predicting zero)"/>
          <p:cNvPicPr>
            <a:picLocks noChangeAspect="1"/>
          </p:cNvPicPr>
          <p:nvPr/>
        </p:nvPicPr>
        <p:blipFill>
          <a:blip r:embed="rId4"/>
          <a:srcRect t="-45893" b="-45893"/>
          <a:stretch/>
        </p:blipFill>
        <p:spPr>
          <a:xfrm>
            <a:off x="2032000" y="1428750"/>
            <a:ext cx="8134350" cy="2540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18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Checked every 25 updates on 4 training records held out from this fit (one per record type)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3: is x_a good enough to continue?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reshold at 0.90: below it, go to phase 2"/>
          <p:cNvPicPr>
            <a:picLocks noChangeAspect="1"/>
          </p:cNvPicPr>
          <p:nvPr/>
        </p:nvPicPr>
        <p:blipFill>
          <a:blip r:embed="rId4"/>
          <a:srcRect l="-6673" r="-6673"/>
          <a:stretch/>
        </p:blipFill>
        <p:spPr>
          <a:xfrm>
            <a:off x="2032000" y="1428750"/>
            <a:ext cx="8134350" cy="2540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18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Checked every 25 updates on 4 training records held out from this fit (one per record type)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45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 at a plateau or at 350 updates, U must be below 0.90, else skip phase 2 and train as normal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1, step 3: is x_a good enough to continue?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Reached in the server runs: 0.58 to 0.68 at 350 updates"/>
          <p:cNvPicPr>
            <a:picLocks noChangeAspect="1"/>
          </p:cNvPicPr>
          <p:nvPr/>
        </p:nvPicPr>
        <p:blipFill>
          <a:blip r:embed="rId4"/>
          <a:srcRect l="-6673" r="-6673"/>
          <a:stretch/>
        </p:blipFill>
        <p:spPr>
          <a:xfrm>
            <a:off x="2032000" y="1428750"/>
            <a:ext cx="8134350" cy="2540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18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Checked every 25 updates on 4 training records held out from this fit (one per record type)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450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 at a plateau or at 350 updates, U must be below 0.90, else skip phase 2 and train as normal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720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 runs: 0.58 to 0.68 at 350 updates, so all went on to phase 2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ample axis with the window of the last 30 samples up to k; the encoder gives the state at k, used with the input u at k"/>
          <p:cNvPicPr>
            <a:picLocks noChangeAspect="1"/>
          </p:cNvPicPr>
          <p:nvPr/>
        </p:nvPicPr>
        <p:blipFill>
          <a:blip r:embed="rId4"/>
          <a:srcRect t="-83062" b="-83062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same window moved one sample later; the encoder gives x_a at k+1, the target"/>
          <p:cNvPicPr>
            <a:picLocks noChangeAspect="1"/>
          </p:cNvPicPr>
          <p:nvPr/>
        </p:nvPicPr>
        <p:blipFill>
          <a:blip r:embed="rId4"/>
          <a:srcRect t="-40436" b="-40436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005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x_a(k+1): the encoder on the 30 samples up to k+1, instead of up to k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network's g_aug rows predict x_a at k+1 from the state and input at k; the loss is the squared difference with the encoder's x_a at k+1"/>
          <p:cNvPicPr>
            <a:picLocks noChangeAspect="1"/>
          </p:cNvPicPr>
          <p:nvPr/>
        </p:nvPicPr>
        <p:blipFill>
          <a:blip r:embed="rId4"/>
          <a:srcRect t="-3808" b="-3808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005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x_a(k+1): the encoder on the 30 samples up to k+1, instead of up to 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149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 the model's own network: its next-x_a output should match the target x_a(k+1)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network's g_aug rows predict x_a at k+1 from the state and input at k; the loss is the squared difference with the encoder's x_a at k+1"/>
          <p:cNvPicPr>
            <a:picLocks noChangeAspect="1"/>
          </p:cNvPicPr>
          <p:nvPr/>
        </p:nvPicPr>
        <p:blipFill>
          <a:blip r:embed="rId4"/>
          <a:srcRect t="-3808" b="-3808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005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x_a(k+1): the encoder on the 30 samples up to k+1, instead of up to 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149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 the model's own network: its next-x_a output should match the target x_a(k+1)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9650" y="52292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Updated: the x_a outputs and the hidden layers, which f_aug shares. Frozen: the f_aug outputs and the encoder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 2: make the model step x_a forward itself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10172700" cy="2794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network's g_aug rows predict x_a at k+1 from the state and input at k; the loss is the squared difference with the encoder's x_a at k+1"/>
          <p:cNvPicPr>
            <a:picLocks noChangeAspect="1"/>
          </p:cNvPicPr>
          <p:nvPr/>
        </p:nvPicPr>
        <p:blipFill>
          <a:blip r:embed="rId4"/>
          <a:srcRect t="-3808" b="-3808"/>
          <a:stretch/>
        </p:blipFill>
        <p:spPr>
          <a:xfrm>
            <a:off x="1263650" y="1447800"/>
            <a:ext cx="9664700" cy="25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2862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simulation the model must compute the next x_a itself, without the encoder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005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x_a(k+1): the encoder on the 30 samples up to k+1, instead of up to 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149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 the model's own network: its next-x_a output should match the target x_a(k+1)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9650" y="52292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Updated: the x_a outputs and the hidden layers, which f_aug shares. Frozen: the f_aug outputs and the encoder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09650" y="55435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 when the error on held-out pairs no longer improves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the two phases: the same model, a live start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augmented model, unchanged in structure, now with active f_aug and g_aug"/>
          <p:cNvPicPr>
            <a:picLocks noChangeAspect="1"/>
          </p:cNvPicPr>
          <p:nvPr/>
        </p:nvPicPr>
        <p:blipFill>
          <a:blip r:embed="rId4"/>
          <a:srcRect t="-571" b="-571"/>
          <a:stretch/>
        </p:blipFill>
        <p:spPr>
          <a:xfrm>
            <a:off x="1136650" y="1860550"/>
            <a:ext cx="6858000" cy="3257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Encoder gives a useful x_a, g_aug moves it forward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closed-loop training continues, unchanged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Temporary network deleted: no extra parameters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start of g_aug (MLP). 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start of g_aug (MLP). 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0"/>
              </a:lnSpc>
            </a:pPr>
            <a:r>
              <a:rPr lang="en-US" b="1" dirty="0"/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one-step error of g_aug from 1.00 to 0.011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start of g_aug (MLP). 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0"/>
              </a:lnSpc>
            </a:pPr>
            <a:r>
              <a:rPr lang="en-US" b="1" dirty="0"/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one-step error of g_aug from 1.00 to 0.011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x_a is used: setting it to zero makes the model 8 to 9× worse (plain S-DP: 17 %)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start of g_aug (MLP). 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0"/>
              </a:lnSpc>
            </a:pPr>
            <a:r>
              <a:rPr lang="en-US" b="1" dirty="0"/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one-step error of g_aug from 1.00 to 0.011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x_a is used: setting it to zero makes the model 8 to 9× worse (plain S-DP: 17 %)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Absorber band: about 90 % of the error removed (plain S-DP: 9 to 20 %), X below 106 Hz unchanged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start of g_aug (MLP). Interim: production server runs, best checkpoints so far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0"/>
              </a:lnSpc>
            </a:pPr>
            <a:r>
              <a:rPr lang="en-US" b="1" dirty="0"/>
              <a:t>Evidence besides RMS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R1: after phase 1, x_a predicts 32 to 42 % of the residual on held-out records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R3: one-step error of g_aug from 1.00 to 0.011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x_a is used: setting it to zero makes the model 8 to 9× worse (plain S-DP: 17 %)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Absorber band: about 90 % of the error removed (plain S-DP: 9 to 20 %), X below 106 Hz unchanged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9650" y="33274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start of g_aug (MLP). Interim: best checkpoints of runs in progress, measurement noise and Coulomb friction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Results so far: about six times lower error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15054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validation free-run error [m], seed 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9650" y="1566466"/>
            <a:ext cx="10267950" cy="1250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579166"/>
          <a:ext cx="10255251" cy="1238250"/>
        </p:xfrm>
        <a:graphic>
          <a:graphicData uri="http://schemas.openxmlformats.org/drawingml/2006/table">
            <a:tbl>
              <a:tblPr/>
              <a:tblGrid>
                <a:gridCol w="348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plain S-DP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this method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without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1.03·10⁻⁵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1.60·10⁻⁶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1.15·10⁻⁵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1.99·10⁻⁶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start of g_aug (MLP). Interim: best checkpoints of runs in progress, measurement noise and Coulomb friction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Results so far: about six times lower error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15054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validation free-run error [m], seed 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9650" y="1566466"/>
            <a:ext cx="10267950" cy="1250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579166"/>
          <a:ext cx="10255251" cy="1238250"/>
        </p:xfrm>
        <a:graphic>
          <a:graphicData uri="http://schemas.openxmlformats.org/drawingml/2006/table">
            <a:tbl>
              <a:tblPr/>
              <a:tblGrid>
                <a:gridCol w="348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plain S-DP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this method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without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1.03·10⁻⁵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1.60·10⁻⁶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1.15·10⁻⁵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1.99·10⁻⁶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009650" y="299521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Absorber band, 230 to 297 Hz, RMS on Y [m]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09650" y="3411141"/>
            <a:ext cx="10267950" cy="1250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3423841"/>
          <a:ext cx="10255251" cy="1238250"/>
        </p:xfrm>
        <a:graphic>
          <a:graphicData uri="http://schemas.openxmlformats.org/drawingml/2006/table">
            <a:tbl>
              <a:tblPr/>
              <a:tblGrid>
                <a:gridCol w="348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plain S-DP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this method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without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2.23·10⁻⁵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1.70·10⁻⁶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with OBC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2.12·10⁻⁵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2.37·10⁻⁶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Limits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Interim: best checkpoints of runs still in progress, no test-set result yet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Settings are heuristics: 350-update cap, 10 % threshold, phase 2 stop rule, no sensitivity study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One plant and one controller, plus a small cubic-spring test (45 to 50 % lower validation error)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No gain where plain S-DP already learns the hidden state (open-loop mass-spring test)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33274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Live start: one seed, ResNet only, the PS2 run ended in a NaN; live MLP pending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initialisation of the added states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2095500"/>
            <a:ext cx="1047788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proper extension of the framework, or a workaround?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09650" y="3175000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For: no system knowledge, model and loss unchanged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9650" y="3559175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For: fills a gap, x_b has a start from the baseline, x_a had none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9650" y="3943350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For: the same steps as subspace identification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9650" y="4327525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Against: heuristic settings, one plant and one controller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09650" y="4711700"/>
            <a:ext cx="104778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5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Against: no gain where plain S-DP already works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SUBNET, trained on the closed loop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</a:t>
            </a:r>
            <a:r>
              <a:rPr lang="en-US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lain SUBNET in deepSI: encoder, state network and output network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199229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SUBNET, trained on the closed loop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SUBNET in </a:t>
            </a:r>
            <a:r>
              <a:rPr lang="en-US" sz="1800" dirty="0" err="1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deepSI</a:t>
            </a: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encoder, state network and output network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Random start: no physics, no controller in the model, no linear (BLA) start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379991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SUBNET, trained on the closed loop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50"/>
              </a:lnSpc>
            </a:pPr>
            <a:r>
              <a:rPr lang="en-US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SUBNET in </a:t>
            </a:r>
            <a:r>
              <a:rPr lang="en-US" dirty="0" err="1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deepSI</a:t>
            </a:r>
            <a:r>
              <a:rPr lang="en-US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encoder, state network and output network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Random start: no physics, no controller in the model, no linear (BLA) start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It learns the whole closed loop: from the reference r and the multisine force f to the servo error e = y − 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Predicted positions: ŷ = r + ê, scored the same way as the grey box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18848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setup and training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6481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22350" y="1163241"/>
          <a:ext cx="10255250" cy="2635446"/>
        </p:xfrm>
        <a:graphic>
          <a:graphicData uri="http://schemas.openxmlformats.org/drawingml/2006/table">
            <a:tbl>
              <a:tblPr/>
              <a:tblGrid>
                <a:gridCol w="307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Item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Setting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Model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16 states, Jan's network sizes, 12 838 weights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Encoder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start state from 30 samples (29 past plus the current one)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Training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simulation error over windows of 400 steps (0.1 s), Adam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same 18 training records and 4 kHz samples as the grey box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Selection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free run over the full 12 s of the 6 validation records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1971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comparison. The grey box here is the untrained start (epoch 0)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in the same range as the grey box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076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22350" y="1163241"/>
          <a:ext cx="10255250" cy="2063750"/>
        </p:xfrm>
        <a:graphic>
          <a:graphicData uri="http://schemas.openxmlformats.org/drawingml/2006/table">
            <a:tbl>
              <a:tblPr/>
              <a:tblGrid>
                <a:gridCol w="471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Mean over 6 validation records [m]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X1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X2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Black box, longest run (1 seed)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7.9·10⁻⁶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8.1·10⁻⁶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1.4·10⁻⁵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Black box, 3 seeds × 2 versions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1.0·10⁻⁵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1.6·10⁻⁵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Grey box at epoch 0 (untrained)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3.6·10⁻⁶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2.8·10⁻⁵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model, ŷ = r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91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Black-box comparison. The grey box here is the untrained start (epoch 0)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 box: in the same range as the grey box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076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22350" y="1163241"/>
          <a:ext cx="10255250" cy="2063750"/>
        </p:xfrm>
        <a:graphic>
          <a:graphicData uri="http://schemas.openxmlformats.org/drawingml/2006/table">
            <a:tbl>
              <a:tblPr/>
              <a:tblGrid>
                <a:gridCol w="471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Mean over 6 validation records [m]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X1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X2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Black box, longest run (1 seed)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7.9·10⁻⁶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8.1·10⁻⁶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1.4·10⁻⁵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Black box, 3 seeds × 2 versions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1.0·10⁻⁵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1.6·10⁻⁵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Grey box at epoch 0 (untrained)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4.0·10⁻⁶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3.6·10⁻⁶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2.8·10⁻⁵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model, ŷ = r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1.9·10⁻⁵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3.1·10⁻⁵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3404791"/>
            <a:ext cx="105759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Better on Y, about 2× worse on X, the X gap sits in the records with large moves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09650" y="3836591"/>
            <a:ext cx="105759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Limit: it models the loop, not the plant, so it cannot be used with another controller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909441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Backup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Backup: each ingredient is needed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23284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22350" y="1163241"/>
          <a:ext cx="10255250" cy="2315766"/>
        </p:xfrm>
        <a:graphic>
          <a:graphicData uri="http://schemas.openxmlformats.org/drawingml/2006/table">
            <a:tbl>
              <a:tblPr/>
              <a:tblGrid>
                <a:gridCol w="307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1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Variant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is missing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Oscillating pair near the absorber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Free-run error [m]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plain S-DP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everything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0 % of points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1.15·10⁻⁵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map fit on random x_a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phase 1 target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real lags only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target, too little map fit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enough phase 2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46 %, damping 0.99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map fit before the target formed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order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46 %, damping 0.72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both, in order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nothing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96 to 100 %, 208 to 209 Hz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3.8·10⁻⁶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365680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 runs, 900 updates, mostly one seed, an earlier implementation of the same two steps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122197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noise: why the method changed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2354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235450" y="1987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spectrum copied bin by bin, corrected per frequency for the loop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4650" y="3048000"/>
            <a:ext cx="2354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235450" y="3130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that also copies the real machine's resonances and disturbances into the simulation</a:t>
            </a:r>
            <a:endParaRPr 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noise: 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2354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235450" y="1987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Low-order noise model that only matches the shape of the measured noise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noise: 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2354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235450" y="1987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Low-order noise model that only matches the shape of the measured noise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235450" y="1987550"/>
            <a:ext cx="6501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235450" y="2800251"/>
            <a:ext cx="650135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dont capture actual dynamcis of the system in the noise, only the general noise shape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noise model: the shape we want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spectrum for X1 with the level g highlighted: flat at low frequencies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 frequencies: flat, the height is the level g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noise model: the shape we want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spectrum for X1 with the cutoff highlighted: above it the spectrum falls at 40 dB per decade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 frequencies: flat, the height is the level 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Above the cutoff frequency: falls off, 40 dB per decade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noise model: the shape we want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spectrum for X1 with the floor level highlighted: flat again at high frequencies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 frequencies: flat, the height is the level 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Above the cutoff frequency: falls off, 40 dB per decade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frequencies: flat again, the height is the floor level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noise is made: two white noise sources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model: white noise w1 through a second-order Butterworth low-pass, scaled by level g, plus white noise w2 scaled by the floor level, gives the noise v"/>
          <p:cNvPicPr>
            <a:picLocks noChangeAspect="1"/>
          </p:cNvPicPr>
          <p:nvPr/>
        </p:nvPicPr>
        <p:blipFill>
          <a:blip r:embed="rId4"/>
          <a:srcRect t="-27053" b="-27053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noise: random numbers, equally strong at every frequency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noise is made: two white noise sources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model: white noise w1 through a second-order Butterworth low-pass, scaled by level g, plus white noise w2 scaled by the floor level, gives the noise v"/>
          <p:cNvPicPr>
            <a:picLocks noChangeAspect="1"/>
          </p:cNvPicPr>
          <p:nvPr/>
        </p:nvPicPr>
        <p:blipFill>
          <a:blip r:embed="rId4"/>
          <a:srcRect t="-27053" b="-27053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noise: random numbers, equally strong at every frequency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513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1 goes through a low-pass filter and is scaled by g: the flat part and the fall-off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noise is made: two white noise sources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model: white noise w1 through a second-order Butterworth low-pass, scaled by level g, plus white noise w2 scaled by the floor level, gives the noise v"/>
          <p:cNvPicPr>
            <a:picLocks noChangeAspect="1"/>
          </p:cNvPicPr>
          <p:nvPr/>
        </p:nvPicPr>
        <p:blipFill>
          <a:blip r:embed="rId4"/>
          <a:srcRect t="-27053" b="-27053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noise: random numbers, equally strong at every frequency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513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1 goes through a low-pass filter and is scaled by g: the flat part and the fall-off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53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2 is only scaled by the floor level: the flat part at high frequencies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noise is made: two white noise sources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Noise model: white noise w1 through a second-order Butterworth low-pass, scaled by level g, plus white noise w2 scaled by the floor level, gives the noise v"/>
          <p:cNvPicPr>
            <a:picLocks noChangeAspect="1"/>
          </p:cNvPicPr>
          <p:nvPr/>
        </p:nvPicPr>
        <p:blipFill>
          <a:blip r:embed="rId4"/>
          <a:srcRect t="-27053" b="-27053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noise: random numbers, equally strong at every frequency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513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1 goes through a low-pass filter and is scaled by g: the flat part and the fall-off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53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2 is only scaled by the floor level: the flat part at high frequencies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9650" y="525462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Both added together give the noise v, with the shape of the previous slide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the noise enters: at the encoder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206500"/>
            <a:ext cx="10172700" cy="29845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noise v is added at the encoder in the closed loop: the controller sees y = q + v"/>
          <p:cNvPicPr>
            <a:picLocks noChangeAspect="1"/>
          </p:cNvPicPr>
          <p:nvPr/>
        </p:nvPicPr>
        <p:blipFill>
          <a:blip r:embed="rId4"/>
          <a:srcRect l="-6847" r="-6847"/>
          <a:stretch/>
        </p:blipFill>
        <p:spPr>
          <a:xfrm>
            <a:off x="2470150" y="1333500"/>
            <a:ext cx="7251700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9650" y="434975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noise is added to the measured position: y = q + v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4651375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controller reacts to it, as on the real machine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9650" y="4953000"/>
            <a:ext cx="1047788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generator per axis, X1, X2 and Y not correlated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three numbers are found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The floor level highlighted in the noise spectrum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Floor level: read directly from the measured spectrum above 5 kHz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three numbers are found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Cutoff and level g highlighted in the noise spectrum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Floor level: read directly from the measured spectrum above 5 kHz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Cutoff and level g: chosen so the simulated servo error at standstill matches the measured one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three numbers are found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Cutoff and level g highlighted in the noise spectrum"/>
          <p:cNvPicPr>
            <a:picLocks noChangeAspect="1"/>
          </p:cNvPicPr>
          <p:nvPr/>
        </p:nvPicPr>
        <p:blipFill>
          <a:blip r:embed="rId4"/>
          <a:srcRect l="-3623" r="-3623"/>
          <a:stretch/>
        </p:blipFill>
        <p:spPr>
          <a:xfrm>
            <a:off x="1136650" y="1574800"/>
            <a:ext cx="6858000" cy="382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Floor level: read directly from the measured spectrum above 5 kHz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Cutoff and level g: chosen so the simulated servo error at standstill matches the measured one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89877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Level g fine-tuned so the rms matches, on Y the 0.7 to 2 kHz peak is left out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fitted numbers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150541"/>
            <a:ext cx="10267950" cy="1663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163241"/>
          <a:ext cx="10255250" cy="1651000"/>
        </p:xfrm>
        <a:graphic>
          <a:graphicData uri="http://schemas.openxmlformats.org/drawingml/2006/table">
            <a:tbl>
              <a:tblPr/>
              <a:tblGrid>
                <a:gridCol w="2256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1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Number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it sets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X1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X2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level g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height at low frequencies [m/√Hz]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2.5·10⁻¹⁰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2.7·10⁻¹⁰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5.6·10⁻¹¹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cutoff frequency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where it starts to fall off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988 Hz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973 Hz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2596 Hz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floor level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height at high frequencies [m/√Hz]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4.8·10⁻¹¹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4.9·10⁻¹¹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4.6·10⁻¹¹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9650" y="299204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X1 and X2 almost the same, Y lower at low frequencies and with a higher cutoff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9650" y="340796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noise: about 10⁻⁸ m rms on X and 5·10⁻⁹ m on Y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Standstill at Y = 0, tested, not yet in the data generator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the shape matches, the machine's peaks do not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ervo error spectra at standstill for X1, X2 and Y: measured on the machine in black, simulated with the noise model in blue"/>
          <p:cNvPicPr>
            <a:picLocks noChangeAspect="1"/>
          </p:cNvPicPr>
          <p:nvPr/>
        </p:nvPicPr>
        <p:blipFill>
          <a:blip r:embed="rId4"/>
          <a:srcRect l="-31" r="-31"/>
          <a:stretch/>
        </p:blipFill>
        <p:spPr>
          <a:xfrm>
            <a:off x="2844800" y="1428750"/>
            <a:ext cx="34417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Black: machine, blue: simulation, servo error at standstill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Standstill at Y = 0, tested, not yet in the data generator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the shape matches, the machine's peaks do not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ervo error spectra at standstill for X1, X2 and Y: measured on the machine in black, simulated with the noise model in blue"/>
          <p:cNvPicPr>
            <a:picLocks noChangeAspect="1"/>
          </p:cNvPicPr>
          <p:nvPr/>
        </p:nvPicPr>
        <p:blipFill>
          <a:blip r:embed="rId4"/>
          <a:srcRect l="-31" r="-31"/>
          <a:stretch/>
        </p:blipFill>
        <p:spPr>
          <a:xfrm>
            <a:off x="2844800" y="1428750"/>
            <a:ext cx="34417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Black: machine, blue: simulation, servo error at standstill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Matches the 10 to 100 Hz slope, the roll-off near 1 kHz and the floor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 equal: X1 9.85·10⁻⁹, X2 1.04·10⁻⁸, Y 4.81·10⁻⁹ m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Standstill at Y = 0, tested, not yet in the data generator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the shape matches, the machine's peaks do not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1" descr="Servo error spectra at standstill for X1, X2 and Y: measured on the machine in black, simulated with the noise model in blue"/>
          <p:cNvPicPr>
            <a:picLocks noChangeAspect="1"/>
          </p:cNvPicPr>
          <p:nvPr/>
        </p:nvPicPr>
        <p:blipFill>
          <a:blip r:embed="rId4"/>
          <a:srcRect l="-31" r="-31"/>
          <a:stretch/>
        </p:blipFill>
        <p:spPr>
          <a:xfrm>
            <a:off x="2844800" y="1428750"/>
            <a:ext cx="3441700" cy="412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82000" y="14287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Black: machine, blue: simulation, servo error at standstill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382000" y="204470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Matches the 10 to 100 Hz slope, the roll-off near 1 kHz and the floor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660650"/>
            <a:ext cx="288436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rms equal: X1 9.85·10⁻⁹, X2 1.04·10⁻⁸, Y 4.81·10⁻⁹ 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382000" y="32766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machine's peaks (100 Hz, 2.5 and 4 kHz on X, 1.3 kHz on Y) are not copied, as intended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3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bump and dip on Y at 130 to 190 Hz come from the absorber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854450" y="19875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flat there: on Y a low-pass at 2.6 kHz, so constant from 100 to 200 Hz</a:t>
            </a:r>
            <a:endParaRPr lang="en-US" sz="2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4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bump and dip on Y at 130 to 190 Hz come from the absorber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854450" y="19875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flat there: on Y a low-pass at 2.6 kHz, so constant from 100 to 200 Hz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4650" y="29845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Loop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854450" y="30670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error is S × noise, |S33| is 1.05 at 130 Hz and 0.78 at 180 to 190 Hz</a:t>
            </a:r>
            <a:endParaRPr lang="en-US" sz="2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5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noise in the simulated data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3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bump and dip on Y at 130 to 190 Hz come from the absorber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4650" y="19050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854450" y="19875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flat there: on Y a low-pass at 2.6 kHz, so constant from 100 to 200 Hz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4650" y="29845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Loop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854450" y="30670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error is S × noise, |S33| is 1.05 at 130 Hz and 0.78 at 180 to 190 Hz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4650" y="40640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819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Cause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854450" y="4146550"/>
            <a:ext cx="68936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hidden absorber resonates at 150 Hz, right between them: the dynamics to be learned</a:t>
            </a:r>
            <a:endParaRPr lang="en-US" sz="2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Jan's question: does PS2 still help when g_aug starts live?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Until now: the whole last layer started at zero, so g_aug = 0 and x_a started switched off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Jan's question: does PS2 still help when g_aug starts live?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Until now: the whole last layer started at zero, so g_aug = 0 and x_a started switched off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Now g_aug starts nonzero; f_aug still starts at zero, so the start is still the baseline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Jan's question: does PS2 still help when g_aug starts live?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Until now: the whole last layer started at zero, so g_aug = 0 and x_a started switched off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Now g_aug starts nonzero; f_aug still starts at zero, so the start is still the baseline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Live MLP: the same tanh network as before, only its x_a output weights random</a:t>
            </a:r>
            <a:endParaRPr 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Jan's question: does PS2 still help when g_aug starts live?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Until now: the whole last layer started at zero, so g_aug = 0 and x_a started switched off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Now g_aug starts nonzero; f_aug still starts at zero, so the start is still the baseline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Live MLP: the same tanh network as before, only its x_a output weights random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Live ResNet: network output zero, plus a linear path W z with random x_a rows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two live starts, next to the original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150541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Initial values of the learning function, all output biases zero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9650" y="1566466"/>
            <a:ext cx="10267950" cy="2501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2350" y="1579166"/>
          <a:ext cx="10255251" cy="2476500"/>
        </p:xfrm>
        <a:graphic>
          <a:graphicData uri="http://schemas.openxmlformats.org/drawingml/2006/table">
            <a:tbl>
              <a:tblPr/>
              <a:tblGrid>
                <a:gridCol w="3486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6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6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original MLP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live MLP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live ResNet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19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hidden layers (2 × 16, tanh)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output to x_b (f_aug)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zero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zero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zero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output to x_a (g_aug)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zero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random, ±0.25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zero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linear path W z to x_a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random, ±0.30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linear path W z to x_b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none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zero</a:t>
                      </a:r>
                      <a:endParaRPr lang="en-US" sz="15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8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09650" y="429696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weights: PyTorch default, uniform ±1/√(number of inputs): 16 → 0.25, 11 → 0.30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9650" y="4697016"/>
            <a:ext cx="10575989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Encoder, x_a part: Xavier uniform, ±√(6 / (inputs + outputs)); x_b part: the analytical map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Numerical problems so far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Paper scale U(−1, 1) for W: overflow after one update (local test, ResNet, seed 1)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Numerical problems so far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Paper scale U(−1, 1) for W: overflow after one update (local test, ResNet, seed 1)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With the PyTorch scale ±0.30: no immediate overflow, but no stability guarantee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Numerical problems so far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Paper scale U(−1, 1) for W: overflow after one update (local test, ResNet, seed 1)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With the PyTorch scale ±0.30: no immediate overflow, but no stability guarantee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ResNet with PS2: NaN at update 2,889, best weights kept; cause not traced yet</a:t>
            </a:r>
            <a:endParaRPr lang="en-US" sz="1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Numerical problems so far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9650" y="15240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Paper scale U(−1, 1) for W: overflow after one update (local test, ResNet, seed 1)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9650" y="19748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With the PyTorch scale ±0.30: no immediate overflow, but no stability guarantee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9650" y="242570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ResNet with PS2: NaN at update 2,889, best weights kept; cause not traced yet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9650" y="2876550"/>
            <a:ext cx="1047788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 Live MLP: cluster jobs cancelled at launch, no results yet</a:t>
            </a:r>
            <a:endParaRPr lang="en-US" sz="1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ResNet: PS2 still lowers the error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/>
          <p:nvPr/>
        </p:nvSpPr>
        <p:spPr>
          <a:xfrm>
            <a:off x="8382000" y="14287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data, seed and initial values; only PS2 differs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28282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 2,600: plain 1.02·10⁻⁵ m, PS2 4.00·10⁻⁶ m</a:t>
            </a:r>
            <a:endParaRPr lang="en-US" sz="1500" dirty="0"/>
          </a:p>
        </p:txBody>
      </p:sp>
      <p:pic>
        <p:nvPicPr>
          <p:cNvPr id="12" name="Picture 11" descr="live_resnet_val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350" y="1428750"/>
            <a:ext cx="4546600" cy="4127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ResNet: PS2 still lowers the error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/>
          <p:nvPr/>
        </p:nvSpPr>
        <p:spPr>
          <a:xfrm>
            <a:off x="8382000" y="14287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data, seed and initial values; only PS2 differs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28282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Update 2,600: plain 1.02·10⁻⁵ m, PS2 4.00·10⁻⁶ m</a:t>
            </a:r>
            <a:endParaRPr lang="en-US" sz="1500" dirty="0"/>
          </a:p>
        </p:txBody>
      </p:sp>
      <p:pic>
        <p:nvPicPr>
          <p:cNvPr id="12" name="Picture 11" descr="live_resnet_val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350" y="1428750"/>
            <a:ext cx="4546600" cy="4127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82000" y="31369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 at 15,600: still 1.00·10⁻⁵ m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Prediction error vs frequency, live ResNet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/>
          <p:nvPr/>
        </p:nvSpPr>
        <p:spPr>
          <a:xfrm>
            <a:off x="8382000" y="14287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Baseline: Y RMS 4.08·10⁻⁵ m overall, 2.54·10⁻⁵ m in 230–297 Hz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28282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Plain: Y RMS 2.40·10⁻⁵ m overall, 2.20·10⁻⁵ m in 230–297 Hz</a:t>
            </a:r>
            <a:endParaRPr lang="en-US" sz="1500" dirty="0"/>
          </a:p>
        </p:txBody>
      </p:sp>
      <p:pic>
        <p:nvPicPr>
          <p:cNvPr id="12" name="Picture 11" descr="live_resnet_Y_error_asd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350" y="1428750"/>
            <a:ext cx="4546600" cy="4127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089650"/>
            <a:ext cx="12192000" cy="768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406400" y="636905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85900" y="636905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start of g_aug: seed 1, low-pass noise data set, best checkpoints</a:t>
            </a:r>
            <a:endParaRPr lang="en-US" sz="1200" dirty="0"/>
          </a:p>
        </p:txBody>
      </p:sp>
      <p:pic>
        <p:nvPicPr>
          <p:cNvPr id="5" name="Image 0" descr="TU/e logo"/>
          <p:cNvPicPr>
            <a:picLocks noChangeAspect="1"/>
          </p:cNvPicPr>
          <p:nvPr/>
        </p:nvPicPr>
        <p:blipFill>
          <a:blip r:embed="rId2"/>
          <a:srcRect t="-37" b="-37"/>
          <a:stretch/>
        </p:blipFill>
        <p:spPr>
          <a:xfrm>
            <a:off x="10877550" y="6089650"/>
            <a:ext cx="1314450" cy="76835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1009650" y="609600"/>
            <a:ext cx="1057598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Prediction error vs frequency, live ResNet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09650" y="1301750"/>
            <a:ext cx="7112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5"/>
          <p:cNvSpPr/>
          <p:nvPr/>
        </p:nvSpPr>
        <p:spPr>
          <a:xfrm>
            <a:off x="8382000" y="142875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Baseline: Y RMS 4.08·10⁻⁵ m overall, 2.54·10⁻⁵ m in 230–297 Hz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82000" y="2282825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Plain: Y RMS 2.40·10⁻⁵ m overall, 2.20·10⁻⁵ m in 230–297 Hz</a:t>
            </a:r>
            <a:endParaRPr lang="en-US" sz="1500" dirty="0"/>
          </a:p>
        </p:txBody>
      </p:sp>
      <p:pic>
        <p:nvPicPr>
          <p:cNvPr id="12" name="Picture 11" descr="live_resnet_Y_error_asd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350" y="1428750"/>
            <a:ext cx="4546600" cy="4127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82000" y="3136900"/>
            <a:ext cx="2884361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PS2: Y RMS 9.11·10⁻⁶ m overall, 6.77·10⁻⁶ m in 230–297 Hz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-driven initialisation of the added states">
  <a:themeElements>
    <a:clrScheme name="Data-driven initialisation of the added states">
      <a:dk1>
        <a:srgbClr val="111111"/>
      </a:dk1>
      <a:lt1>
        <a:srgbClr val="EEE8E8"/>
      </a:lt1>
      <a:dk2>
        <a:srgbClr val="484747"/>
      </a:dk2>
      <a:lt2>
        <a:srgbClr val="D8D3D3"/>
      </a:lt2>
      <a:accent1>
        <a:srgbClr val="C81919"/>
      </a:accent1>
      <a:accent2>
        <a:srgbClr val="D55E00"/>
      </a:accent2>
      <a:accent3>
        <a:srgbClr val="0072B2"/>
      </a:accent3>
      <a:accent4>
        <a:srgbClr val="009E73"/>
      </a:accent4>
      <a:accent5>
        <a:srgbClr val="6B6B6B"/>
      </a:accent5>
      <a:accent6>
        <a:srgbClr val="9AA0A6"/>
      </a:accent6>
      <a:hlink>
        <a:srgbClr val="0563C1"/>
      </a:hlink>
      <a:folHlink>
        <a:srgbClr val="954F72"/>
      </a:folHlink>
    </a:clrScheme>
    <a:fontScheme name="Data-driven initialisation of the added states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9969</Words>
  <Application>Microsoft Office PowerPoint</Application>
  <PresentationFormat>Widescreen</PresentationFormat>
  <Paragraphs>748</Paragraphs>
  <Slides>80</Slides>
  <Notes>80</Notes>
  <HiddenSlides>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Carlito</vt:lpstr>
      <vt:lpstr>Data-driven initialisation of the added states</vt:lpstr>
      <vt:lpstr>Data-driven initialisation of the added states</vt:lpstr>
      <vt:lpstr>The augmented model, one step</vt:lpstr>
      <vt:lpstr>The problem: the absorber band is not learned</vt:lpstr>
      <vt:lpstr>The problem: the absorber band is not learned</vt:lpstr>
      <vt:lpstr>The model can learn the absorber, training never starts near it</vt:lpstr>
      <vt:lpstr>The model can learn the absorber, training never starts near it</vt:lpstr>
      <vt:lpstr>The model can learn the absorber, training never starts near it</vt:lpstr>
      <vt:lpstr>The model can learn the absorber, training never starts near it</vt:lpstr>
      <vt:lpstr>Why: the added states start switched off</vt:lpstr>
      <vt:lpstr>Why: the added states start switched off</vt:lpstr>
      <vt:lpstr>Why: the added states start switched off</vt:lpstr>
      <vt:lpstr>The cause: x_b starts with a model, a meaning and a gradient, x_a with none</vt:lpstr>
      <vt:lpstr>The static part learns first, and then blocks the resonance</vt:lpstr>
      <vt:lpstr>The static part learns first, and then blocks the resonance</vt:lpstr>
      <vt:lpstr>The static part learns first, and then blocks the resonance</vt:lpstr>
      <vt:lpstr>The static part learns first, and then blocks the resonance</vt:lpstr>
      <vt:lpstr>What a fix must do</vt:lpstr>
      <vt:lpstr>What a fix must do</vt:lpstr>
      <vt:lpstr>What a fix must do</vt:lpstr>
      <vt:lpstr>What a fix must do</vt:lpstr>
      <vt:lpstr>The idea: give the added states a data-driven start</vt:lpstr>
      <vt:lpstr>The idea: give the added states a data-driven start</vt:lpstr>
      <vt:lpstr>Each phase meets a requirement</vt:lpstr>
      <vt:lpstr>Why this method: the steps of subspace identification</vt:lpstr>
      <vt:lpstr>When it happens: during the first updates</vt:lpstr>
      <vt:lpstr>When it happens: during the first updates</vt:lpstr>
      <vt:lpstr>When it happens: during the first updates</vt:lpstr>
      <vt:lpstr>When it happens: during the first updates</vt:lpstr>
      <vt:lpstr>Phase 1, step 1: what is the current model's error?</vt:lpstr>
      <vt:lpstr>Phase 1, step 1: what is the current model's error?</vt:lpstr>
      <vt:lpstr>Phase 1, step 1: what is the current model's error?</vt:lpstr>
      <vt:lpstr>Phase 1, step 2: predict that error from x_a alone</vt:lpstr>
      <vt:lpstr>Phase 1, step 2: predict that error from x_a alone</vt:lpstr>
      <vt:lpstr>Phase 1, step 2: predict that error from x_a alone</vt:lpstr>
      <vt:lpstr>Phase 1, step 3: is x_a good enough to continue?</vt:lpstr>
      <vt:lpstr>Phase 1, step 3: is x_a good enough to continue?</vt:lpstr>
      <vt:lpstr>Phase 1, step 3: is x_a good enough to continue?</vt:lpstr>
      <vt:lpstr>Phase 2: make the model step x_a forward itself</vt:lpstr>
      <vt:lpstr>Phase 2: make the model step x_a forward itself</vt:lpstr>
      <vt:lpstr>Phase 2: make the model step x_a forward itself</vt:lpstr>
      <vt:lpstr>Phase 2: make the model step x_a forward itself</vt:lpstr>
      <vt:lpstr>Phase 2: make the model step x_a forward itself</vt:lpstr>
      <vt:lpstr>After the two phases: the same model, a live start</vt:lpstr>
      <vt:lpstr>Evidence besides RMS</vt:lpstr>
      <vt:lpstr>Evidence besides RMS</vt:lpstr>
      <vt:lpstr>Evidence besides RMS</vt:lpstr>
      <vt:lpstr>Evidence besides RMS</vt:lpstr>
      <vt:lpstr>Evidence besides RMS</vt:lpstr>
      <vt:lpstr>Results so far: about six times lower error</vt:lpstr>
      <vt:lpstr>Results so far: about six times lower error</vt:lpstr>
      <vt:lpstr>Limits</vt:lpstr>
      <vt:lpstr>Question</vt:lpstr>
      <vt:lpstr>Black box: SUBNET, trained on the closed loop</vt:lpstr>
      <vt:lpstr>Black box: SUBNET, trained on the closed loop</vt:lpstr>
      <vt:lpstr>Black box: SUBNET, trained on the closed loop</vt:lpstr>
      <vt:lpstr>Black box: setup and training</vt:lpstr>
      <vt:lpstr>Black box: in the same range as the grey box</vt:lpstr>
      <vt:lpstr>Black box: in the same range as the grey box</vt:lpstr>
      <vt:lpstr>Backup: each ingredient is needed</vt:lpstr>
      <vt:lpstr>Measurement noise: why the method changed</vt:lpstr>
      <vt:lpstr>Measurement noise: </vt:lpstr>
      <vt:lpstr>Measurement noise: </vt:lpstr>
      <vt:lpstr>The noise model: the shape we want</vt:lpstr>
      <vt:lpstr>The noise model: the shape we want</vt:lpstr>
      <vt:lpstr>The noise model: the shape we want</vt:lpstr>
      <vt:lpstr>How the noise is made: two white noise sources</vt:lpstr>
      <vt:lpstr>How the noise is made: two white noise sources</vt:lpstr>
      <vt:lpstr>How the noise is made: two white noise sources</vt:lpstr>
      <vt:lpstr>How the noise is made: two white noise sources</vt:lpstr>
      <vt:lpstr>Where the noise enters: at the encoder</vt:lpstr>
      <vt:lpstr>How the three numbers are found</vt:lpstr>
      <vt:lpstr>How the three numbers are found</vt:lpstr>
      <vt:lpstr>How the three numbers are found</vt:lpstr>
      <vt:lpstr>The fitted numbers</vt:lpstr>
      <vt:lpstr>Result: the shape matches, the machine's peaks do not</vt:lpstr>
      <vt:lpstr>Result: the shape matches, the machine's peaks do not</vt:lpstr>
      <vt:lpstr>Result: the shape matches, the machine's peaks do not</vt:lpstr>
      <vt:lpstr>The bump and dip on Y at 130 to 190 Hz come from the absorber</vt:lpstr>
      <vt:lpstr>The bump and dip on Y at 130 to 190 Hz come from the absorber</vt:lpstr>
      <vt:lpstr>The bump and dip on Y at 130 to 190 Hz come from the absorber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initialisation of the added states</dc:title>
  <dc:subject/>
  <dc:creator>Berg, Dirk van den</dc:creator>
  <cp:lastModifiedBy>Berg, Dirk van den</cp:lastModifiedBy>
  <cp:revision>6</cp:revision>
  <dcterms:created xsi:type="dcterms:W3CDTF">2026-10-07T09:36:43Z</dcterms:created>
  <dcterms:modified xsi:type="dcterms:W3CDTF">2026-10-07T17:02:14Z</dcterms:modified>
</cp:coreProperties>
</file>