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860" r:id="rId2"/>
    <p:sldId id="257" r:id="rId3"/>
    <p:sldId id="842" r:id="rId4"/>
    <p:sldId id="843" r:id="rId5"/>
    <p:sldId id="857" r:id="rId6"/>
    <p:sldId id="844" r:id="rId7"/>
    <p:sldId id="845" r:id="rId8"/>
    <p:sldId id="858" r:id="rId9"/>
    <p:sldId id="859" r:id="rId10"/>
    <p:sldId id="854" r:id="rId11"/>
    <p:sldId id="856" r:id="rId12"/>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57E0F1-8DB4-45FE-A40F-FDAD7FA34862}" v="19" dt="2026-09-21T19:06:20.0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6405" autoAdjust="0"/>
  </p:normalViewPr>
  <p:slideViewPr>
    <p:cSldViewPr snapToGrid="0">
      <p:cViewPr>
        <p:scale>
          <a:sx n="75" d="100"/>
          <a:sy n="75" d="100"/>
        </p:scale>
        <p:origin x="931"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rg, Dirk van den" userId="035ecb32-01d9-4b47-a105-eacf059a4647" providerId="ADAL" clId="{F7FF961E-CF96-44AC-93C2-93612F62D46D}"/>
    <pc:docChg chg="custSel modSld sldOrd">
      <pc:chgData name="Berg, Dirk van den" userId="035ecb32-01d9-4b47-a105-eacf059a4647" providerId="ADAL" clId="{F7FF961E-CF96-44AC-93C2-93612F62D46D}" dt="2026-09-22T10:29:33.083" v="59" actId="20577"/>
      <pc:docMkLst>
        <pc:docMk/>
      </pc:docMkLst>
      <pc:sldChg chg="mod modShow">
        <pc:chgData name="Berg, Dirk van den" userId="035ecb32-01d9-4b47-a105-eacf059a4647" providerId="ADAL" clId="{F7FF961E-CF96-44AC-93C2-93612F62D46D}" dt="2026-09-22T09:28:09.830" v="58" actId="729"/>
        <pc:sldMkLst>
          <pc:docMk/>
          <pc:sldMk cId="885823538" sldId="257"/>
        </pc:sldMkLst>
      </pc:sldChg>
      <pc:sldChg chg="mod modShow">
        <pc:chgData name="Berg, Dirk van den" userId="035ecb32-01d9-4b47-a105-eacf059a4647" providerId="ADAL" clId="{F7FF961E-CF96-44AC-93C2-93612F62D46D}" dt="2026-09-22T09:28:01.715" v="57" actId="729"/>
        <pc:sldMkLst>
          <pc:docMk/>
          <pc:sldMk cId="1992650106" sldId="856"/>
        </pc:sldMkLst>
      </pc:sldChg>
      <pc:sldChg chg="modNotesTx">
        <pc:chgData name="Berg, Dirk van den" userId="035ecb32-01d9-4b47-a105-eacf059a4647" providerId="ADAL" clId="{F7FF961E-CF96-44AC-93C2-93612F62D46D}" dt="2026-09-22T10:29:33.083" v="59" actId="20577"/>
        <pc:sldMkLst>
          <pc:docMk/>
          <pc:sldMk cId="918382873" sldId="857"/>
        </pc:sldMkLst>
      </pc:sldChg>
      <pc:sldChg chg="modSp mod ord modShow">
        <pc:chgData name="Berg, Dirk van den" userId="035ecb32-01d9-4b47-a105-eacf059a4647" providerId="ADAL" clId="{F7FF961E-CF96-44AC-93C2-93612F62D46D}" dt="2026-09-22T09:28:09.830" v="58" actId="729"/>
        <pc:sldMkLst>
          <pc:docMk/>
          <pc:sldMk cId="900005214" sldId="860"/>
        </pc:sldMkLst>
        <pc:spChg chg="mod">
          <ac:chgData name="Berg, Dirk van den" userId="035ecb32-01d9-4b47-a105-eacf059a4647" providerId="ADAL" clId="{F7FF961E-CF96-44AC-93C2-93612F62D46D}" dt="2026-09-21T19:06:20.045" v="56"/>
          <ac:spMkLst>
            <pc:docMk/>
            <pc:sldMk cId="900005214" sldId="860"/>
            <ac:spMk id="3" creationId="{FCA3AF71-CC2D-5590-B184-22CDF0A70EE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DD6443-F064-4971-A4B2-6977A57E0F18}" type="datetimeFigureOut">
              <a:rPr lang="en-NL" smtClean="0"/>
              <a:t>22/09/2026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5B3CD5-E3C3-4688-B07C-4DE9E594D017}" type="slidenum">
              <a:rPr lang="en-NL" smtClean="0"/>
              <a:t>‹#›</a:t>
            </a:fld>
            <a:endParaRPr lang="en-NL"/>
          </a:p>
        </p:txBody>
      </p:sp>
    </p:spTree>
    <p:extLst>
      <p:ext uri="{BB962C8B-B14F-4D97-AF65-F5344CB8AC3E}">
        <p14:creationId xmlns:p14="http://schemas.microsoft.com/office/powerpoint/2010/main" val="2114952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F_Xs = (F1+F2) − [cc1 sign(Ẋ1) + cc2 sign(Ẋ2)]</a:t>
            </a:r>
          </a:p>
          <a:p>
            <a:r>
              <a:rPr lang="en-US" dirty="0"/>
              <a:t>F_</a:t>
            </a:r>
            <a:r>
              <a:rPr lang="el-GR" dirty="0"/>
              <a:t>Θ</a:t>
            </a:r>
            <a:r>
              <a:rPr lang="en-US" dirty="0"/>
              <a:t>s = {(F1−F2) − [cc1 sign(Ẋ1) − cc2 sign(Ẋ2)]}·</a:t>
            </a:r>
            <a:r>
              <a:rPr lang="en-US" dirty="0" err="1"/>
              <a:t>Lb</a:t>
            </a:r>
            <a:r>
              <a:rPr lang="en-US" dirty="0"/>
              <a:t>/2</a:t>
            </a:r>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3</a:t>
            </a:fld>
            <a:endParaRPr lang="en-NL"/>
          </a:p>
        </p:txBody>
      </p:sp>
    </p:spTree>
    <p:extLst>
      <p:ext uri="{BB962C8B-B14F-4D97-AF65-F5344CB8AC3E}">
        <p14:creationId xmlns:p14="http://schemas.microsoft.com/office/powerpoint/2010/main" val="37969617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literally the formula (</a:t>
            </a:r>
            <a:r>
              <a:rPr lang="en-US" dirty="0" err="1"/>
              <a:t>v_eps</a:t>
            </a:r>
            <a:r>
              <a:rPr lang="en-US" dirty="0"/>
              <a:t> = (cc/m)·</a:t>
            </a:r>
            <a:r>
              <a:rPr lang="en-US" dirty="0" err="1"/>
              <a:t>ts</a:t>
            </a:r>
            <a:r>
              <a:rPr lang="en-US" dirty="0"/>
              <a:t> is the velocity friction removes in one step) and it needs no notion of resolution. It is also the sentence you could defend if asked where the band comes from: it comes from the step size and the friction force, nothing else.</a:t>
            </a:r>
          </a:p>
          <a:p>
            <a:endParaRPr lang="en-US" dirty="0"/>
          </a:p>
          <a:p>
            <a:endParaRPr lang="en-US" dirty="0"/>
          </a:p>
          <a:p>
            <a:r>
              <a:rPr lang="en-US" dirty="0"/>
              <a:t>One fidelity note. The slide shows the base formula, but the code applies a safety factor: </a:t>
            </a:r>
            <a:r>
              <a:rPr lang="en-US" dirty="0" err="1"/>
              <a:t>v_eps</a:t>
            </a:r>
            <a:r>
              <a:rPr lang="en-US" dirty="0"/>
              <a:t> = 9 · (cc1 + cc2)/m · </a:t>
            </a:r>
            <a:r>
              <a:rPr lang="en-US" dirty="0" err="1"/>
              <a:t>ts</a:t>
            </a:r>
            <a:r>
              <a:rPr lang="en-US" dirty="0"/>
              <a:t> (V_EPS_MARGIN = 9). So if anyone computes it from the slide they will get a number 9x smaller than what runs. That factor is exactly the backup-slide material we discussed (the margin, the sweep, and Gate 3), so it is defensible to leave off the main panel, but you should know the slide's formula is the principle rather than the literal setting.</a:t>
            </a:r>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4</a:t>
            </a:fld>
            <a:endParaRPr lang="en-NL"/>
          </a:p>
        </p:txBody>
      </p:sp>
    </p:spTree>
    <p:extLst>
      <p:ext uri="{BB962C8B-B14F-4D97-AF65-F5344CB8AC3E}">
        <p14:creationId xmlns:p14="http://schemas.microsoft.com/office/powerpoint/2010/main" val="8583968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simulation runs in fixed time steps, and numerically a velocity is never exactly zero. So we need a threshold to decide when a rail counts as stopped. We set it to the speed friction can remove in one time step: friction decelerates the rail at cc over m, so that times the time step. Below that, the rail would be stopped before the next step anyway."</a:t>
            </a:r>
          </a:p>
          <a:p>
            <a:endParaRPr lang="en-US" dirty="0"/>
          </a:p>
          <a:p>
            <a:endParaRPr lang="en-US" dirty="0"/>
          </a:p>
          <a:p>
            <a:endParaRPr lang="en-US" dirty="0"/>
          </a:p>
          <a:p>
            <a:r>
              <a:rPr lang="en-US" dirty="0"/>
              <a:t>the simulation runs in steps, and a velocity is never exactly zero numerically, so we need a threshold to decide when a rail counts as stopped. We set it to the speed friction would remove in a single step.</a:t>
            </a:r>
          </a:p>
          <a:p>
            <a:endParaRPr lang="en-US" dirty="0"/>
          </a:p>
          <a:p>
            <a:r>
              <a:rPr lang="en-US" dirty="0"/>
              <a:t>▎ </a:t>
            </a:r>
            <a:r>
              <a:rPr lang="en-US" dirty="0" err="1"/>
              <a:t>v_eps</a:t>
            </a:r>
            <a:r>
              <a:rPr lang="en-US" dirty="0"/>
              <a:t>: below it a rail counts as stopped, since a velocity is never exactly zero numerically. Friction decelerates at cc/m, so one time step removes </a:t>
            </a:r>
            <a:r>
              <a:rPr lang="en-US" dirty="0" err="1"/>
              <a:t>v_eps</a:t>
            </a:r>
            <a:r>
              <a:rPr lang="en-US" dirty="0"/>
              <a:t> = (cc/m) </a:t>
            </a:r>
            <a:r>
              <a:rPr lang="en-US" dirty="0" err="1"/>
              <a:t>t_s</a:t>
            </a:r>
            <a:r>
              <a:rPr lang="en-US" dirty="0"/>
              <a:t>.</a:t>
            </a:r>
          </a:p>
          <a:p>
            <a:endParaRPr lang="en-US" dirty="0"/>
          </a:p>
          <a:p>
            <a:r>
              <a:rPr lang="en-US" dirty="0"/>
              <a:t>The code does not use (cc/m) </a:t>
            </a:r>
            <a:r>
              <a:rPr lang="en-US" dirty="0" err="1"/>
              <a:t>t_s</a:t>
            </a:r>
            <a:r>
              <a:rPr lang="en-US" dirty="0"/>
              <a:t>. It uses </a:t>
            </a:r>
            <a:r>
              <a:rPr lang="en-US" dirty="0" err="1"/>
              <a:t>v_eps</a:t>
            </a:r>
            <a:r>
              <a:rPr lang="en-US" dirty="0"/>
              <a:t> = 9 · (cc1 + cc2) / </a:t>
            </a:r>
            <a:r>
              <a:rPr lang="en-US" dirty="0" err="1"/>
              <a:t>m_total</a:t>
            </a:r>
            <a:r>
              <a:rPr lang="en-US" dirty="0"/>
              <a:t> · </a:t>
            </a:r>
            <a:r>
              <a:rPr lang="en-US" dirty="0" err="1"/>
              <a:t>t_s</a:t>
            </a:r>
            <a:endParaRPr lang="en-US" dirty="0"/>
          </a:p>
          <a:p>
            <a:endParaRPr lang="en-US" dirty="0"/>
          </a:p>
          <a:p>
            <a:r>
              <a:rPr lang="en-US" dirty="0"/>
              <a:t>One global band for all three rails, with a safety factor of 9. So (cc/m) </a:t>
            </a:r>
            <a:r>
              <a:rPr lang="en-US" dirty="0" err="1"/>
              <a:t>t_s</a:t>
            </a:r>
            <a:r>
              <a:rPr lang="en-US" dirty="0"/>
              <a:t> on a slide is the principle, not the setting, and anyone who computes it gets a number 9x too small.</a:t>
            </a:r>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5</a:t>
            </a:fld>
            <a:endParaRPr lang="en-NL"/>
          </a:p>
        </p:txBody>
      </p:sp>
    </p:spTree>
    <p:extLst>
      <p:ext uri="{BB962C8B-B14F-4D97-AF65-F5344CB8AC3E}">
        <p14:creationId xmlns:p14="http://schemas.microsoft.com/office/powerpoint/2010/main" val="23704278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we cannot measure the two X rails separately. Our model's input is the combined push on the cross-arm, not the two motor forces.</a:t>
            </a:r>
          </a:p>
          <a:p>
            <a:r>
              <a:rPr lang="en-US" dirty="0"/>
              <a:t>So it is like two boxes you can only weigh together:</a:t>
            </a:r>
          </a:p>
          <a:p>
            <a:r>
              <a:rPr lang="en-US" dirty="0"/>
              <a:t>push both rails the same way    -&gt;  you measure  cc1 + cc2</a:t>
            </a:r>
          </a:p>
          <a:p>
            <a:r>
              <a:rPr lang="en-US" dirty="0"/>
              <a:t>push them opposite ways         -&gt;  you measure  cc1 - cc2</a:t>
            </a:r>
          </a:p>
          <a:p>
            <a:r>
              <a:rPr lang="en-US" dirty="0"/>
              <a:t>sum and difference  -&gt;  cc1 and cc2 separately</a:t>
            </a:r>
          </a:p>
          <a:p>
            <a:r>
              <a:rPr lang="en-US" dirty="0"/>
              <a:t>That is E2 and E3. Neither one alone can tell you the two values; together they can.</a:t>
            </a:r>
          </a:p>
          <a:p>
            <a:r>
              <a:rPr lang="en-US" dirty="0"/>
              <a:t>E1 is the Y axis, which is a separate motor with nothing to untangle, so one run gives ccy directly.</a:t>
            </a:r>
          </a:p>
          <a:p>
            <a:endParaRPr lang="en-US" dirty="0"/>
          </a:p>
          <a:p>
            <a:r>
              <a:rPr lang="en-NL" dirty="0"/>
              <a:t>To avoid the cross-arm to rotate, axes X1 and X2 are blocked, i.e. X1 = X2 = constant. Then, the Coulomb and viscous frictions of the Y–axis are estimated by displacing the payload at various constant velocities. </a:t>
            </a:r>
            <a:endParaRPr lang="en-US" dirty="0"/>
          </a:p>
          <a:p>
            <a:endParaRPr lang="en-US" dirty="0"/>
          </a:p>
          <a:p>
            <a:r>
              <a:rPr lang="en-US" dirty="0"/>
              <a:t>▎ "The viscous and Coulomb frictions of actuators X1 and X2 are estimated by moving them in synchronization at various constant velocities, i.e. Ẋ1 = Ẋ2.“</a:t>
            </a:r>
          </a:p>
          <a:p>
            <a:endParaRPr lang="en-US" dirty="0"/>
          </a:p>
          <a:p>
            <a:endParaRPr lang="en-US" dirty="0"/>
          </a:p>
          <a:p>
            <a:r>
              <a:rPr lang="en-US" dirty="0"/>
              <a:t>M is not constant. From gantrySystemExtendedCoulomb.m:99-102 it depends on Y and on </a:t>
            </a:r>
            <a:r>
              <a:rPr lang="en-US" dirty="0" err="1"/>
              <a:t>delta_a</a:t>
            </a:r>
            <a:r>
              <a:rPr lang="en-US" dirty="0"/>
              <a:t>. A supervisor who has seen panel 3's M(Y, </a:t>
            </a:r>
            <a:r>
              <a:rPr lang="en-US" dirty="0" err="1"/>
              <a:t>delta_a</a:t>
            </a:r>
            <a:r>
              <a:rPr lang="en-US" dirty="0"/>
              <a:t>) will read "M constant" on panel 4 and immediately </a:t>
            </a:r>
            <a:r>
              <a:rPr lang="en-US" dirty="0" err="1"/>
              <a:t>object.It</a:t>
            </a:r>
            <a:r>
              <a:rPr lang="en-US" dirty="0"/>
              <a:t> is constant in this experiment, and only because of how the experiment is set up. Gate 1 pins Y = 0 and </a:t>
            </a:r>
            <a:r>
              <a:rPr lang="en-US" dirty="0" err="1"/>
              <a:t>delta_a</a:t>
            </a:r>
            <a:r>
              <a:rPr lang="en-US" dirty="0"/>
              <a:t> = 0 and varies only the velocities. So M is evaluated at a single configuration throughout the sweep.</a:t>
            </a:r>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6</a:t>
            </a:fld>
            <a:endParaRPr lang="en-NL"/>
          </a:p>
        </p:txBody>
      </p:sp>
    </p:spTree>
    <p:extLst>
      <p:ext uri="{BB962C8B-B14F-4D97-AF65-F5344CB8AC3E}">
        <p14:creationId xmlns:p14="http://schemas.microsoft.com/office/powerpoint/2010/main" val="32035608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Bullet 1 — the reading is </a:t>
            </a:r>
            <a:r>
              <a:rPr lang="en-US" dirty="0" err="1"/>
              <a:t>clean.We</a:t>
            </a:r>
            <a:r>
              <a:rPr lang="en-US" dirty="0"/>
              <a:t> get cc by fitting a line and reading where it crosses zero velocity. That only works if the data is genuinely a straight line. It was, to machine precision. So the number we read is really the friction and not a curve being misread.</a:t>
            </a:r>
          </a:p>
          <a:p>
            <a:endParaRPr lang="en-US" dirty="0"/>
          </a:p>
          <a:p>
            <a:r>
              <a:rPr lang="en-US" dirty="0"/>
              <a:t>Bullet 2 — the two rails came back </a:t>
            </a:r>
            <a:r>
              <a:rPr lang="en-US" dirty="0" err="1"/>
              <a:t>different.We</a:t>
            </a:r>
            <a:r>
              <a:rPr lang="en-US" dirty="0"/>
              <a:t> asked for 16.8 on one rail and 18.35 on the other, and got both back separately. That is only possible if the friction really lives on the individual rails. Had we coded it on the cross-arm's X and Theta instead, the two numbers could not come apart.</a:t>
            </a:r>
          </a:p>
          <a:p>
            <a:endParaRPr lang="en-US" dirty="0"/>
          </a:p>
          <a:p>
            <a:r>
              <a:rPr lang="en-US" dirty="0"/>
              <a:t>Bullet 3 — a twist appeared that we never asked </a:t>
            </a:r>
            <a:r>
              <a:rPr lang="en-US" dirty="0" err="1"/>
              <a:t>for.We</a:t>
            </a:r>
            <a:r>
              <a:rPr lang="en-US" dirty="0"/>
              <a:t> specified friction on three rails and nothing on rotation. But the two rails pull with different strength at opposite ends of the arm, so the arm gets twisted. That twist is -0.5619 Nm by geometry, and the model returned -0.561875 Nm. We never put it in; it fell out.</a:t>
            </a:r>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7</a:t>
            </a:fld>
            <a:endParaRPr lang="en-NL"/>
          </a:p>
        </p:txBody>
      </p:sp>
    </p:spTree>
    <p:extLst>
      <p:ext uri="{BB962C8B-B14F-4D97-AF65-F5344CB8AC3E}">
        <p14:creationId xmlns:p14="http://schemas.microsoft.com/office/powerpoint/2010/main" val="22209005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CE19B-043E-F835-771C-90C6D46584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16C294-C831-8514-7545-8EC71B2CB7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B10B3F-D9EE-09AE-BFCB-F0C6477CB764}"/>
              </a:ext>
            </a:extLst>
          </p:cNvPr>
          <p:cNvSpPr>
            <a:spLocks noGrp="1"/>
          </p:cNvSpPr>
          <p:nvPr>
            <p:ph type="body" idx="1"/>
          </p:nvPr>
        </p:nvSpPr>
        <p:spPr/>
        <p:txBody>
          <a:bodyPr/>
          <a:lstStyle/>
          <a:p>
            <a:r>
              <a:rPr lang="en-US" dirty="0"/>
              <a:t>Bullet 1 — the reading is </a:t>
            </a:r>
            <a:r>
              <a:rPr lang="en-US" dirty="0" err="1"/>
              <a:t>clean.We</a:t>
            </a:r>
            <a:r>
              <a:rPr lang="en-US" dirty="0"/>
              <a:t> get cc by fitting a line and reading where it crosses zero velocity. That only works if the data is genuinely a straight line. It was, to machine precision. So the number we read is really the friction and not a curve being misread.</a:t>
            </a:r>
          </a:p>
          <a:p>
            <a:endParaRPr lang="en-US" dirty="0"/>
          </a:p>
          <a:p>
            <a:r>
              <a:rPr lang="en-US" dirty="0"/>
              <a:t>Bullet 2 — the two rails came back </a:t>
            </a:r>
            <a:r>
              <a:rPr lang="en-US" dirty="0" err="1"/>
              <a:t>different.We</a:t>
            </a:r>
            <a:r>
              <a:rPr lang="en-US" dirty="0"/>
              <a:t> asked for 16.8 on one rail and 18.35 on the other, and got both back separately. That is only possible if the friction really lives on the individual rails. Had we coded it on the cross-arm's X and Theta instead, the two numbers could not come apart.</a:t>
            </a:r>
          </a:p>
          <a:p>
            <a:endParaRPr lang="en-US" dirty="0"/>
          </a:p>
          <a:p>
            <a:r>
              <a:rPr lang="en-US" dirty="0"/>
              <a:t>Bullet 3 — a twist appeared that we never asked </a:t>
            </a:r>
            <a:r>
              <a:rPr lang="en-US" dirty="0" err="1"/>
              <a:t>for.We</a:t>
            </a:r>
            <a:r>
              <a:rPr lang="en-US" dirty="0"/>
              <a:t> specified friction on three rails and nothing on rotation. But the two rails pull with different strength at opposite ends of the arm, so the arm gets twisted. That twist is -0.5619 Nm by geometry, and the model returned -0.561875 Nm. We never put it in; it fell out.</a:t>
            </a:r>
            <a:endParaRPr lang="en-NL" dirty="0"/>
          </a:p>
        </p:txBody>
      </p:sp>
      <p:sp>
        <p:nvSpPr>
          <p:cNvPr id="4" name="Slide Number Placeholder 3">
            <a:extLst>
              <a:ext uri="{FF2B5EF4-FFF2-40B4-BE49-F238E27FC236}">
                <a16:creationId xmlns:a16="http://schemas.microsoft.com/office/drawing/2014/main" id="{93EAD9EA-81B6-0AB2-80CA-F1F49564EED1}"/>
              </a:ext>
            </a:extLst>
          </p:cNvPr>
          <p:cNvSpPr>
            <a:spLocks noGrp="1"/>
          </p:cNvSpPr>
          <p:nvPr>
            <p:ph type="sldNum" sz="quarter" idx="5"/>
          </p:nvPr>
        </p:nvSpPr>
        <p:spPr/>
        <p:txBody>
          <a:bodyPr/>
          <a:lstStyle/>
          <a:p>
            <a:fld id="{3623F4C4-4D63-4FEA-9C67-9E0E7CA0EDA8}" type="slidenum">
              <a:rPr lang="en-NL" smtClean="0"/>
              <a:t>8</a:t>
            </a:fld>
            <a:endParaRPr lang="en-NL"/>
          </a:p>
        </p:txBody>
      </p:sp>
    </p:spTree>
    <p:extLst>
      <p:ext uri="{BB962C8B-B14F-4D97-AF65-F5344CB8AC3E}">
        <p14:creationId xmlns:p14="http://schemas.microsoft.com/office/powerpoint/2010/main" val="39261020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AE7CD-62C9-7D51-6EDE-139FF0B296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830D9C-1A08-496B-3D87-1E0379C7B4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08D1C6-EEFE-7792-2686-FC0A53441246}"/>
              </a:ext>
            </a:extLst>
          </p:cNvPr>
          <p:cNvSpPr>
            <a:spLocks noGrp="1"/>
          </p:cNvSpPr>
          <p:nvPr>
            <p:ph type="body" idx="1"/>
          </p:nvPr>
        </p:nvSpPr>
        <p:spPr/>
        <p:txBody>
          <a:bodyPr/>
          <a:lstStyle/>
          <a:p>
            <a:r>
              <a:rPr lang="en-US" dirty="0"/>
              <a:t>Bullet 1 — the reading is </a:t>
            </a:r>
            <a:r>
              <a:rPr lang="en-US" dirty="0" err="1"/>
              <a:t>clean.We</a:t>
            </a:r>
            <a:r>
              <a:rPr lang="en-US" dirty="0"/>
              <a:t> get cc by fitting a line and reading where it crosses zero velocity. That only works if the data is genuinely a straight line. It was, to machine precision. So the number we read is really the friction and not a curve being misread.</a:t>
            </a:r>
          </a:p>
          <a:p>
            <a:endParaRPr lang="en-US" dirty="0"/>
          </a:p>
          <a:p>
            <a:r>
              <a:rPr lang="en-US" dirty="0"/>
              <a:t>Bullet 2 — the two rails came back </a:t>
            </a:r>
            <a:r>
              <a:rPr lang="en-US" dirty="0" err="1"/>
              <a:t>different.We</a:t>
            </a:r>
            <a:r>
              <a:rPr lang="en-US" dirty="0"/>
              <a:t> asked for 16.8 on one rail and 18.35 on the other, and got both back separately. That is only possible if the friction really lives on the individual rails. Had we coded it on the cross-arm's X and Theta instead, the two numbers could not come apart.</a:t>
            </a:r>
          </a:p>
          <a:p>
            <a:endParaRPr lang="en-US" dirty="0"/>
          </a:p>
          <a:p>
            <a:r>
              <a:rPr lang="en-US" dirty="0"/>
              <a:t>Bullet 3 — a twist appeared that we never asked </a:t>
            </a:r>
            <a:r>
              <a:rPr lang="en-US" dirty="0" err="1"/>
              <a:t>for.We</a:t>
            </a:r>
            <a:r>
              <a:rPr lang="en-US" dirty="0"/>
              <a:t> specified friction on three rails and nothing on rotation. But the two rails pull with different strength at opposite ends of the arm, so the arm gets twisted. That twist is -0.5619 Nm by geometry, and the model returned -0.561875 Nm. We never put it in; it fell out.</a:t>
            </a:r>
            <a:endParaRPr lang="en-NL" dirty="0"/>
          </a:p>
        </p:txBody>
      </p:sp>
      <p:sp>
        <p:nvSpPr>
          <p:cNvPr id="4" name="Slide Number Placeholder 3">
            <a:extLst>
              <a:ext uri="{FF2B5EF4-FFF2-40B4-BE49-F238E27FC236}">
                <a16:creationId xmlns:a16="http://schemas.microsoft.com/office/drawing/2014/main" id="{A0E3D3F7-AF72-0987-F827-1475BF071845}"/>
              </a:ext>
            </a:extLst>
          </p:cNvPr>
          <p:cNvSpPr>
            <a:spLocks noGrp="1"/>
          </p:cNvSpPr>
          <p:nvPr>
            <p:ph type="sldNum" sz="quarter" idx="5"/>
          </p:nvPr>
        </p:nvSpPr>
        <p:spPr/>
        <p:txBody>
          <a:bodyPr/>
          <a:lstStyle/>
          <a:p>
            <a:fld id="{3623F4C4-4D63-4FEA-9C67-9E0E7CA0EDA8}" type="slidenum">
              <a:rPr lang="en-NL" smtClean="0"/>
              <a:t>9</a:t>
            </a:fld>
            <a:endParaRPr lang="en-NL"/>
          </a:p>
        </p:txBody>
      </p:sp>
    </p:spTree>
    <p:extLst>
      <p:ext uri="{BB962C8B-B14F-4D97-AF65-F5344CB8AC3E}">
        <p14:creationId xmlns:p14="http://schemas.microsoft.com/office/powerpoint/2010/main" val="4403847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FE27B-FA09-E799-3CB5-91E9543AC85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2CCF61D1-09DB-55E4-4838-7CC75D8B80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B69FB542-4A9B-8B35-A4B5-F8DCE5B9B452}"/>
              </a:ext>
            </a:extLst>
          </p:cNvPr>
          <p:cNvSpPr>
            <a:spLocks noGrp="1"/>
          </p:cNvSpPr>
          <p:nvPr>
            <p:ph type="dt" sz="half" idx="10"/>
          </p:nvPr>
        </p:nvSpPr>
        <p:spPr/>
        <p:txBody>
          <a:bodyPr/>
          <a:lstStyle/>
          <a:p>
            <a:fld id="{BFD134BA-B693-40FB-B3DA-C7143B95156B}" type="datetimeFigureOut">
              <a:rPr lang="en-NL" smtClean="0"/>
              <a:t>22/09/2026</a:t>
            </a:fld>
            <a:endParaRPr lang="en-NL"/>
          </a:p>
        </p:txBody>
      </p:sp>
      <p:sp>
        <p:nvSpPr>
          <p:cNvPr id="5" name="Footer Placeholder 4">
            <a:extLst>
              <a:ext uri="{FF2B5EF4-FFF2-40B4-BE49-F238E27FC236}">
                <a16:creationId xmlns:a16="http://schemas.microsoft.com/office/drawing/2014/main" id="{8182CA0B-2434-5E3C-E7A5-D2C462E32043}"/>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A0A2D623-279B-4CC2-4D88-FAB2575DF339}"/>
              </a:ext>
            </a:extLst>
          </p:cNvPr>
          <p:cNvSpPr>
            <a:spLocks noGrp="1"/>
          </p:cNvSpPr>
          <p:nvPr>
            <p:ph type="sldNum" sz="quarter" idx="12"/>
          </p:nvPr>
        </p:nvSpPr>
        <p:spPr/>
        <p:txBody>
          <a:bodyPr/>
          <a:lstStyle/>
          <a:p>
            <a:fld id="{407FEF1C-DF1B-4785-945C-C0A934EC409A}" type="slidenum">
              <a:rPr lang="en-NL" smtClean="0"/>
              <a:t>‹#›</a:t>
            </a:fld>
            <a:endParaRPr lang="en-NL"/>
          </a:p>
        </p:txBody>
      </p:sp>
    </p:spTree>
    <p:extLst>
      <p:ext uri="{BB962C8B-B14F-4D97-AF65-F5344CB8AC3E}">
        <p14:creationId xmlns:p14="http://schemas.microsoft.com/office/powerpoint/2010/main" val="41006771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2994F-3191-6AAF-0848-AD7F0944E929}"/>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89B1D802-C82A-5347-BC2F-6F9AAA1A69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A6A348B0-1534-5C9C-0609-BEB27A7FC04E}"/>
              </a:ext>
            </a:extLst>
          </p:cNvPr>
          <p:cNvSpPr>
            <a:spLocks noGrp="1"/>
          </p:cNvSpPr>
          <p:nvPr>
            <p:ph type="dt" sz="half" idx="10"/>
          </p:nvPr>
        </p:nvSpPr>
        <p:spPr/>
        <p:txBody>
          <a:bodyPr/>
          <a:lstStyle/>
          <a:p>
            <a:fld id="{BFD134BA-B693-40FB-B3DA-C7143B95156B}" type="datetimeFigureOut">
              <a:rPr lang="en-NL" smtClean="0"/>
              <a:t>22/09/2026</a:t>
            </a:fld>
            <a:endParaRPr lang="en-NL"/>
          </a:p>
        </p:txBody>
      </p:sp>
      <p:sp>
        <p:nvSpPr>
          <p:cNvPr id="5" name="Footer Placeholder 4">
            <a:extLst>
              <a:ext uri="{FF2B5EF4-FFF2-40B4-BE49-F238E27FC236}">
                <a16:creationId xmlns:a16="http://schemas.microsoft.com/office/drawing/2014/main" id="{5E3CD17C-91B1-6E4E-2E29-B9079962BFB7}"/>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5B35BF7F-22C3-2649-5E25-A6D48F06C49F}"/>
              </a:ext>
            </a:extLst>
          </p:cNvPr>
          <p:cNvSpPr>
            <a:spLocks noGrp="1"/>
          </p:cNvSpPr>
          <p:nvPr>
            <p:ph type="sldNum" sz="quarter" idx="12"/>
          </p:nvPr>
        </p:nvSpPr>
        <p:spPr/>
        <p:txBody>
          <a:bodyPr/>
          <a:lstStyle/>
          <a:p>
            <a:fld id="{407FEF1C-DF1B-4785-945C-C0A934EC409A}" type="slidenum">
              <a:rPr lang="en-NL" smtClean="0"/>
              <a:t>‹#›</a:t>
            </a:fld>
            <a:endParaRPr lang="en-NL"/>
          </a:p>
        </p:txBody>
      </p:sp>
    </p:spTree>
    <p:extLst>
      <p:ext uri="{BB962C8B-B14F-4D97-AF65-F5344CB8AC3E}">
        <p14:creationId xmlns:p14="http://schemas.microsoft.com/office/powerpoint/2010/main" val="2794538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DADB4-42B7-441D-0A0C-588C1F90E0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97FC23AB-0C39-8912-898D-FC4EB4500C1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EE615E-C7C7-DBED-30E0-2739E6FF6DA9}"/>
              </a:ext>
            </a:extLst>
          </p:cNvPr>
          <p:cNvSpPr>
            <a:spLocks noGrp="1"/>
          </p:cNvSpPr>
          <p:nvPr>
            <p:ph type="dt" sz="half" idx="10"/>
          </p:nvPr>
        </p:nvSpPr>
        <p:spPr/>
        <p:txBody>
          <a:bodyPr/>
          <a:lstStyle/>
          <a:p>
            <a:fld id="{BFD134BA-B693-40FB-B3DA-C7143B95156B}" type="datetimeFigureOut">
              <a:rPr lang="en-NL" smtClean="0"/>
              <a:t>22/09/2026</a:t>
            </a:fld>
            <a:endParaRPr lang="en-NL"/>
          </a:p>
        </p:txBody>
      </p:sp>
      <p:sp>
        <p:nvSpPr>
          <p:cNvPr id="5" name="Footer Placeholder 4">
            <a:extLst>
              <a:ext uri="{FF2B5EF4-FFF2-40B4-BE49-F238E27FC236}">
                <a16:creationId xmlns:a16="http://schemas.microsoft.com/office/drawing/2014/main" id="{FB9BAB71-62BB-8DBE-EB1B-F36DED3A7D94}"/>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D013F46E-2706-1729-B079-CB5756663832}"/>
              </a:ext>
            </a:extLst>
          </p:cNvPr>
          <p:cNvSpPr>
            <a:spLocks noGrp="1"/>
          </p:cNvSpPr>
          <p:nvPr>
            <p:ph type="sldNum" sz="quarter" idx="12"/>
          </p:nvPr>
        </p:nvSpPr>
        <p:spPr/>
        <p:txBody>
          <a:bodyPr/>
          <a:lstStyle/>
          <a:p>
            <a:fld id="{407FEF1C-DF1B-4785-945C-C0A934EC409A}" type="slidenum">
              <a:rPr lang="en-NL" smtClean="0"/>
              <a:t>‹#›</a:t>
            </a:fld>
            <a:endParaRPr lang="en-NL"/>
          </a:p>
        </p:txBody>
      </p:sp>
    </p:spTree>
    <p:extLst>
      <p:ext uri="{BB962C8B-B14F-4D97-AF65-F5344CB8AC3E}">
        <p14:creationId xmlns:p14="http://schemas.microsoft.com/office/powerpoint/2010/main" val="37668466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2AC93-65D5-BE5B-8C13-AFDDBACDEC9C}"/>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C3D0C333-2598-16A4-9B3A-B62F4F25AE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350872C9-3E50-517F-59AD-E80C4EFD709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907CFC49-0F92-DC2E-BE90-DD1F13FF8CB8}"/>
              </a:ext>
            </a:extLst>
          </p:cNvPr>
          <p:cNvSpPr>
            <a:spLocks noGrp="1"/>
          </p:cNvSpPr>
          <p:nvPr>
            <p:ph type="dt" sz="half" idx="10"/>
          </p:nvPr>
        </p:nvSpPr>
        <p:spPr/>
        <p:txBody>
          <a:bodyPr/>
          <a:lstStyle/>
          <a:p>
            <a:fld id="{BFD134BA-B693-40FB-B3DA-C7143B95156B}" type="datetimeFigureOut">
              <a:rPr lang="en-NL" smtClean="0"/>
              <a:t>22/09/2026</a:t>
            </a:fld>
            <a:endParaRPr lang="en-NL"/>
          </a:p>
        </p:txBody>
      </p:sp>
      <p:sp>
        <p:nvSpPr>
          <p:cNvPr id="6" name="Footer Placeholder 5">
            <a:extLst>
              <a:ext uri="{FF2B5EF4-FFF2-40B4-BE49-F238E27FC236}">
                <a16:creationId xmlns:a16="http://schemas.microsoft.com/office/drawing/2014/main" id="{01000587-CD04-A5CE-F791-ACB5BDEE03AD}"/>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BE035166-0FF9-2D07-198E-6A16FFDE3ECC}"/>
              </a:ext>
            </a:extLst>
          </p:cNvPr>
          <p:cNvSpPr>
            <a:spLocks noGrp="1"/>
          </p:cNvSpPr>
          <p:nvPr>
            <p:ph type="sldNum" sz="quarter" idx="12"/>
          </p:nvPr>
        </p:nvSpPr>
        <p:spPr/>
        <p:txBody>
          <a:bodyPr/>
          <a:lstStyle/>
          <a:p>
            <a:fld id="{407FEF1C-DF1B-4785-945C-C0A934EC409A}" type="slidenum">
              <a:rPr lang="en-NL" smtClean="0"/>
              <a:t>‹#›</a:t>
            </a:fld>
            <a:endParaRPr lang="en-NL"/>
          </a:p>
        </p:txBody>
      </p:sp>
    </p:spTree>
    <p:extLst>
      <p:ext uri="{BB962C8B-B14F-4D97-AF65-F5344CB8AC3E}">
        <p14:creationId xmlns:p14="http://schemas.microsoft.com/office/powerpoint/2010/main" val="16222563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680FB-C765-7C7D-A4E0-ADFA99D04EAD}"/>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C0ADFD71-A29A-66C0-9C54-03FB98716E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139ED3-6945-DECF-9B4D-3CEC6B7939A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49BC8ACB-2B09-988B-4BC3-FB5C9D29D7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7A059E-0F9F-AC19-CB1D-FC90539237C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E017061A-9CC2-A031-189A-9EE77D2F38A8}"/>
              </a:ext>
            </a:extLst>
          </p:cNvPr>
          <p:cNvSpPr>
            <a:spLocks noGrp="1"/>
          </p:cNvSpPr>
          <p:nvPr>
            <p:ph type="dt" sz="half" idx="10"/>
          </p:nvPr>
        </p:nvSpPr>
        <p:spPr/>
        <p:txBody>
          <a:bodyPr/>
          <a:lstStyle/>
          <a:p>
            <a:fld id="{BFD134BA-B693-40FB-B3DA-C7143B95156B}" type="datetimeFigureOut">
              <a:rPr lang="en-NL" smtClean="0"/>
              <a:t>22/09/2026</a:t>
            </a:fld>
            <a:endParaRPr lang="en-NL"/>
          </a:p>
        </p:txBody>
      </p:sp>
      <p:sp>
        <p:nvSpPr>
          <p:cNvPr id="8" name="Footer Placeholder 7">
            <a:extLst>
              <a:ext uri="{FF2B5EF4-FFF2-40B4-BE49-F238E27FC236}">
                <a16:creationId xmlns:a16="http://schemas.microsoft.com/office/drawing/2014/main" id="{B866890A-DFF2-FE58-BAB6-07370137768A}"/>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ACF9665E-3156-DEBE-C18B-276E13147C0D}"/>
              </a:ext>
            </a:extLst>
          </p:cNvPr>
          <p:cNvSpPr>
            <a:spLocks noGrp="1"/>
          </p:cNvSpPr>
          <p:nvPr>
            <p:ph type="sldNum" sz="quarter" idx="12"/>
          </p:nvPr>
        </p:nvSpPr>
        <p:spPr/>
        <p:txBody>
          <a:bodyPr/>
          <a:lstStyle/>
          <a:p>
            <a:fld id="{407FEF1C-DF1B-4785-945C-C0A934EC409A}" type="slidenum">
              <a:rPr lang="en-NL" smtClean="0"/>
              <a:t>‹#›</a:t>
            </a:fld>
            <a:endParaRPr lang="en-NL"/>
          </a:p>
        </p:txBody>
      </p:sp>
    </p:spTree>
    <p:extLst>
      <p:ext uri="{BB962C8B-B14F-4D97-AF65-F5344CB8AC3E}">
        <p14:creationId xmlns:p14="http://schemas.microsoft.com/office/powerpoint/2010/main" val="4081881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FF803-3CA5-132B-6CA8-A483E5B59582}"/>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E897E9ED-8EC1-538A-F3C4-DE7905053E40}"/>
              </a:ext>
            </a:extLst>
          </p:cNvPr>
          <p:cNvSpPr>
            <a:spLocks noGrp="1"/>
          </p:cNvSpPr>
          <p:nvPr>
            <p:ph type="dt" sz="half" idx="10"/>
          </p:nvPr>
        </p:nvSpPr>
        <p:spPr/>
        <p:txBody>
          <a:bodyPr/>
          <a:lstStyle/>
          <a:p>
            <a:fld id="{BFD134BA-B693-40FB-B3DA-C7143B95156B}" type="datetimeFigureOut">
              <a:rPr lang="en-NL" smtClean="0"/>
              <a:t>22/09/2026</a:t>
            </a:fld>
            <a:endParaRPr lang="en-NL"/>
          </a:p>
        </p:txBody>
      </p:sp>
      <p:sp>
        <p:nvSpPr>
          <p:cNvPr id="4" name="Footer Placeholder 3">
            <a:extLst>
              <a:ext uri="{FF2B5EF4-FFF2-40B4-BE49-F238E27FC236}">
                <a16:creationId xmlns:a16="http://schemas.microsoft.com/office/drawing/2014/main" id="{5EE992CE-F2DD-13B1-1FCE-2EBC0E083259}"/>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C4448B81-AE2C-4B0B-D9A4-B0ABF96D4E04}"/>
              </a:ext>
            </a:extLst>
          </p:cNvPr>
          <p:cNvSpPr>
            <a:spLocks noGrp="1"/>
          </p:cNvSpPr>
          <p:nvPr>
            <p:ph type="sldNum" sz="quarter" idx="12"/>
          </p:nvPr>
        </p:nvSpPr>
        <p:spPr/>
        <p:txBody>
          <a:bodyPr/>
          <a:lstStyle/>
          <a:p>
            <a:fld id="{407FEF1C-DF1B-4785-945C-C0A934EC409A}" type="slidenum">
              <a:rPr lang="en-NL" smtClean="0"/>
              <a:t>‹#›</a:t>
            </a:fld>
            <a:endParaRPr lang="en-NL"/>
          </a:p>
        </p:txBody>
      </p:sp>
    </p:spTree>
    <p:extLst>
      <p:ext uri="{BB962C8B-B14F-4D97-AF65-F5344CB8AC3E}">
        <p14:creationId xmlns:p14="http://schemas.microsoft.com/office/powerpoint/2010/main" val="3205407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3AF69B-34B4-0A94-4756-EE190FAFB777}"/>
              </a:ext>
            </a:extLst>
          </p:cNvPr>
          <p:cNvSpPr>
            <a:spLocks noGrp="1"/>
          </p:cNvSpPr>
          <p:nvPr>
            <p:ph type="dt" sz="half" idx="10"/>
          </p:nvPr>
        </p:nvSpPr>
        <p:spPr/>
        <p:txBody>
          <a:bodyPr/>
          <a:lstStyle/>
          <a:p>
            <a:fld id="{BFD134BA-B693-40FB-B3DA-C7143B95156B}" type="datetimeFigureOut">
              <a:rPr lang="en-NL" smtClean="0"/>
              <a:t>22/09/2026</a:t>
            </a:fld>
            <a:endParaRPr lang="en-NL"/>
          </a:p>
        </p:txBody>
      </p:sp>
      <p:sp>
        <p:nvSpPr>
          <p:cNvPr id="3" name="Footer Placeholder 2">
            <a:extLst>
              <a:ext uri="{FF2B5EF4-FFF2-40B4-BE49-F238E27FC236}">
                <a16:creationId xmlns:a16="http://schemas.microsoft.com/office/drawing/2014/main" id="{E3E445F9-839F-FDBB-4700-1629C43FB058}"/>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23266335-652B-7C04-70FC-C958687F7208}"/>
              </a:ext>
            </a:extLst>
          </p:cNvPr>
          <p:cNvSpPr>
            <a:spLocks noGrp="1"/>
          </p:cNvSpPr>
          <p:nvPr>
            <p:ph type="sldNum" sz="quarter" idx="12"/>
          </p:nvPr>
        </p:nvSpPr>
        <p:spPr/>
        <p:txBody>
          <a:bodyPr/>
          <a:lstStyle/>
          <a:p>
            <a:fld id="{407FEF1C-DF1B-4785-945C-C0A934EC409A}" type="slidenum">
              <a:rPr lang="en-NL" smtClean="0"/>
              <a:t>‹#›</a:t>
            </a:fld>
            <a:endParaRPr lang="en-NL"/>
          </a:p>
        </p:txBody>
      </p:sp>
    </p:spTree>
    <p:extLst>
      <p:ext uri="{BB962C8B-B14F-4D97-AF65-F5344CB8AC3E}">
        <p14:creationId xmlns:p14="http://schemas.microsoft.com/office/powerpoint/2010/main" val="2501887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570C8-9C8A-AA52-7FF7-407F8E5CEF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1D81C0A4-5275-E61F-E130-9715223A4B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8E98955A-CC7C-A801-EA85-AFF0784CC1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D5AC38-9A27-070A-0BD2-C99F89AD20FF}"/>
              </a:ext>
            </a:extLst>
          </p:cNvPr>
          <p:cNvSpPr>
            <a:spLocks noGrp="1"/>
          </p:cNvSpPr>
          <p:nvPr>
            <p:ph type="dt" sz="half" idx="10"/>
          </p:nvPr>
        </p:nvSpPr>
        <p:spPr/>
        <p:txBody>
          <a:bodyPr/>
          <a:lstStyle/>
          <a:p>
            <a:fld id="{BFD134BA-B693-40FB-B3DA-C7143B95156B}" type="datetimeFigureOut">
              <a:rPr lang="en-NL" smtClean="0"/>
              <a:t>22/09/2026</a:t>
            </a:fld>
            <a:endParaRPr lang="en-NL"/>
          </a:p>
        </p:txBody>
      </p:sp>
      <p:sp>
        <p:nvSpPr>
          <p:cNvPr id="6" name="Footer Placeholder 5">
            <a:extLst>
              <a:ext uri="{FF2B5EF4-FFF2-40B4-BE49-F238E27FC236}">
                <a16:creationId xmlns:a16="http://schemas.microsoft.com/office/drawing/2014/main" id="{C702D801-39F4-EB2D-C91B-9522171A45AE}"/>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8FA304C-6D2F-6BAE-2A19-0BB6DEB6824D}"/>
              </a:ext>
            </a:extLst>
          </p:cNvPr>
          <p:cNvSpPr>
            <a:spLocks noGrp="1"/>
          </p:cNvSpPr>
          <p:nvPr>
            <p:ph type="sldNum" sz="quarter" idx="12"/>
          </p:nvPr>
        </p:nvSpPr>
        <p:spPr/>
        <p:txBody>
          <a:bodyPr/>
          <a:lstStyle/>
          <a:p>
            <a:fld id="{407FEF1C-DF1B-4785-945C-C0A934EC409A}" type="slidenum">
              <a:rPr lang="en-NL" smtClean="0"/>
              <a:t>‹#›</a:t>
            </a:fld>
            <a:endParaRPr lang="en-NL"/>
          </a:p>
        </p:txBody>
      </p:sp>
    </p:spTree>
    <p:extLst>
      <p:ext uri="{BB962C8B-B14F-4D97-AF65-F5344CB8AC3E}">
        <p14:creationId xmlns:p14="http://schemas.microsoft.com/office/powerpoint/2010/main" val="1709200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03E7B-0D8B-0EDE-3817-826E5BEFAD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712FE584-E377-99E0-0F1F-B0FA7BE305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6838C38E-4CF7-C963-4B7A-A8E5206754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40CAD0-1AC9-ED64-7DC5-8F9465A1FB22}"/>
              </a:ext>
            </a:extLst>
          </p:cNvPr>
          <p:cNvSpPr>
            <a:spLocks noGrp="1"/>
          </p:cNvSpPr>
          <p:nvPr>
            <p:ph type="dt" sz="half" idx="10"/>
          </p:nvPr>
        </p:nvSpPr>
        <p:spPr/>
        <p:txBody>
          <a:bodyPr/>
          <a:lstStyle/>
          <a:p>
            <a:fld id="{BFD134BA-B693-40FB-B3DA-C7143B95156B}" type="datetimeFigureOut">
              <a:rPr lang="en-NL" smtClean="0"/>
              <a:t>22/09/2026</a:t>
            </a:fld>
            <a:endParaRPr lang="en-NL"/>
          </a:p>
        </p:txBody>
      </p:sp>
      <p:sp>
        <p:nvSpPr>
          <p:cNvPr id="6" name="Footer Placeholder 5">
            <a:extLst>
              <a:ext uri="{FF2B5EF4-FFF2-40B4-BE49-F238E27FC236}">
                <a16:creationId xmlns:a16="http://schemas.microsoft.com/office/drawing/2014/main" id="{2A89B8E0-70DE-BEB2-367D-132EE2FDFDFC}"/>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EAB5BCF4-6EBA-1944-504B-9BF1CF839AC6}"/>
              </a:ext>
            </a:extLst>
          </p:cNvPr>
          <p:cNvSpPr>
            <a:spLocks noGrp="1"/>
          </p:cNvSpPr>
          <p:nvPr>
            <p:ph type="sldNum" sz="quarter" idx="12"/>
          </p:nvPr>
        </p:nvSpPr>
        <p:spPr/>
        <p:txBody>
          <a:bodyPr/>
          <a:lstStyle/>
          <a:p>
            <a:fld id="{407FEF1C-DF1B-4785-945C-C0A934EC409A}" type="slidenum">
              <a:rPr lang="en-NL" smtClean="0"/>
              <a:t>‹#›</a:t>
            </a:fld>
            <a:endParaRPr lang="en-NL"/>
          </a:p>
        </p:txBody>
      </p:sp>
    </p:spTree>
    <p:extLst>
      <p:ext uri="{BB962C8B-B14F-4D97-AF65-F5344CB8AC3E}">
        <p14:creationId xmlns:p14="http://schemas.microsoft.com/office/powerpoint/2010/main" val="1294990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D2CC6-B096-7EFB-480D-C10BA3A5E420}"/>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58EFF8E6-6B63-65FC-08D7-56A209E6D7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ECA863C4-D107-8D7D-1780-4460EF5D3F03}"/>
              </a:ext>
            </a:extLst>
          </p:cNvPr>
          <p:cNvSpPr>
            <a:spLocks noGrp="1"/>
          </p:cNvSpPr>
          <p:nvPr>
            <p:ph type="dt" sz="half" idx="10"/>
          </p:nvPr>
        </p:nvSpPr>
        <p:spPr/>
        <p:txBody>
          <a:bodyPr/>
          <a:lstStyle/>
          <a:p>
            <a:fld id="{BFD134BA-B693-40FB-B3DA-C7143B95156B}" type="datetimeFigureOut">
              <a:rPr lang="en-NL" smtClean="0"/>
              <a:t>22/09/2026</a:t>
            </a:fld>
            <a:endParaRPr lang="en-NL"/>
          </a:p>
        </p:txBody>
      </p:sp>
      <p:sp>
        <p:nvSpPr>
          <p:cNvPr id="5" name="Footer Placeholder 4">
            <a:extLst>
              <a:ext uri="{FF2B5EF4-FFF2-40B4-BE49-F238E27FC236}">
                <a16:creationId xmlns:a16="http://schemas.microsoft.com/office/drawing/2014/main" id="{2776125B-B994-076C-8073-135BAF81F8AA}"/>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47D44028-5C8B-723E-82A9-395A7F73857A}"/>
              </a:ext>
            </a:extLst>
          </p:cNvPr>
          <p:cNvSpPr>
            <a:spLocks noGrp="1"/>
          </p:cNvSpPr>
          <p:nvPr>
            <p:ph type="sldNum" sz="quarter" idx="12"/>
          </p:nvPr>
        </p:nvSpPr>
        <p:spPr/>
        <p:txBody>
          <a:bodyPr/>
          <a:lstStyle/>
          <a:p>
            <a:fld id="{407FEF1C-DF1B-4785-945C-C0A934EC409A}" type="slidenum">
              <a:rPr lang="en-NL" smtClean="0"/>
              <a:t>‹#›</a:t>
            </a:fld>
            <a:endParaRPr lang="en-NL"/>
          </a:p>
        </p:txBody>
      </p:sp>
    </p:spTree>
    <p:extLst>
      <p:ext uri="{BB962C8B-B14F-4D97-AF65-F5344CB8AC3E}">
        <p14:creationId xmlns:p14="http://schemas.microsoft.com/office/powerpoint/2010/main" val="3131605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39A8F4-FBA7-54CA-A2D1-BEB049EE4C6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0463E3D7-E80B-77C9-6924-BE9EF8A85EA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3B6C5294-EA37-80F7-2335-4BDD42518DBF}"/>
              </a:ext>
            </a:extLst>
          </p:cNvPr>
          <p:cNvSpPr>
            <a:spLocks noGrp="1"/>
          </p:cNvSpPr>
          <p:nvPr>
            <p:ph type="dt" sz="half" idx="10"/>
          </p:nvPr>
        </p:nvSpPr>
        <p:spPr/>
        <p:txBody>
          <a:bodyPr/>
          <a:lstStyle/>
          <a:p>
            <a:fld id="{BFD134BA-B693-40FB-B3DA-C7143B95156B}" type="datetimeFigureOut">
              <a:rPr lang="en-NL" smtClean="0"/>
              <a:t>22/09/2026</a:t>
            </a:fld>
            <a:endParaRPr lang="en-NL"/>
          </a:p>
        </p:txBody>
      </p:sp>
      <p:sp>
        <p:nvSpPr>
          <p:cNvPr id="5" name="Footer Placeholder 4">
            <a:extLst>
              <a:ext uri="{FF2B5EF4-FFF2-40B4-BE49-F238E27FC236}">
                <a16:creationId xmlns:a16="http://schemas.microsoft.com/office/drawing/2014/main" id="{C84D79E5-344B-9AFE-D22B-A9F2B6C8754D}"/>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9A57DE0-4B28-72D2-4944-A66AA039ACFE}"/>
              </a:ext>
            </a:extLst>
          </p:cNvPr>
          <p:cNvSpPr>
            <a:spLocks noGrp="1"/>
          </p:cNvSpPr>
          <p:nvPr>
            <p:ph type="sldNum" sz="quarter" idx="12"/>
          </p:nvPr>
        </p:nvSpPr>
        <p:spPr/>
        <p:txBody>
          <a:bodyPr/>
          <a:lstStyle/>
          <a:p>
            <a:fld id="{407FEF1C-DF1B-4785-945C-C0A934EC409A}" type="slidenum">
              <a:rPr lang="en-NL" smtClean="0"/>
              <a:t>‹#›</a:t>
            </a:fld>
            <a:endParaRPr lang="en-NL"/>
          </a:p>
        </p:txBody>
      </p:sp>
    </p:spTree>
    <p:extLst>
      <p:ext uri="{BB962C8B-B14F-4D97-AF65-F5344CB8AC3E}">
        <p14:creationId xmlns:p14="http://schemas.microsoft.com/office/powerpoint/2010/main" val="32393929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9EAB11-A52A-1993-E4BD-B6BA6CF8F3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39B3B4A7-9614-9720-1BCD-5E76365A0B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A49EAA77-5176-A88C-E273-AFBC5D6A9E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FD134BA-B693-40FB-B3DA-C7143B95156B}" type="datetimeFigureOut">
              <a:rPr lang="en-NL" smtClean="0"/>
              <a:t>22/09/2026</a:t>
            </a:fld>
            <a:endParaRPr lang="en-NL"/>
          </a:p>
        </p:txBody>
      </p:sp>
      <p:sp>
        <p:nvSpPr>
          <p:cNvPr id="5" name="Footer Placeholder 4">
            <a:extLst>
              <a:ext uri="{FF2B5EF4-FFF2-40B4-BE49-F238E27FC236}">
                <a16:creationId xmlns:a16="http://schemas.microsoft.com/office/drawing/2014/main" id="{C08C7D93-F8F0-D571-2C31-AEEF8CFEEE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F7630A22-3E1E-399C-A33E-B23E01267E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07FEF1C-DF1B-4785-945C-C0A934EC409A}" type="slidenum">
              <a:rPr lang="en-NL" smtClean="0"/>
              <a:t>‹#›</a:t>
            </a:fld>
            <a:endParaRPr lang="en-NL"/>
          </a:p>
        </p:txBody>
      </p:sp>
    </p:spTree>
    <p:extLst>
      <p:ext uri="{BB962C8B-B14F-4D97-AF65-F5344CB8AC3E}">
        <p14:creationId xmlns:p14="http://schemas.microsoft.com/office/powerpoint/2010/main" val="619366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0C955-76E0-C6FA-6493-8A50B4B1E807}"/>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CA3AF71-CC2D-5590-B184-22CDF0A70EE8}"/>
              </a:ext>
            </a:extLst>
          </p:cNvPr>
          <p:cNvSpPr>
            <a:spLocks noGrp="1"/>
          </p:cNvSpPr>
          <p:nvPr>
            <p:ph idx="1"/>
          </p:nvPr>
        </p:nvSpPr>
        <p:spPr/>
        <p:txBody>
          <a:bodyPr>
            <a:normAutofit fontScale="92500" lnSpcReduction="20000"/>
          </a:bodyPr>
          <a:lstStyle/>
          <a:p>
            <a:r>
              <a:rPr lang="en-US" dirty="0" err="1"/>
              <a:t>claude</a:t>
            </a:r>
            <a:r>
              <a:rPr lang="en-US" dirty="0"/>
              <a:t> --resume 1d34a6cd-6c9d-437a-905d-eb6a4b71f30b</a:t>
            </a:r>
          </a:p>
          <a:p>
            <a:r>
              <a:rPr lang="en-US" dirty="0" err="1"/>
              <a:t>claude</a:t>
            </a:r>
            <a:r>
              <a:rPr lang="en-US" dirty="0"/>
              <a:t> --resume f0854f86-f4b3-43a7-acae-6f45faa9eb2d</a:t>
            </a:r>
          </a:p>
          <a:p>
            <a:r>
              <a:rPr lang="en-US" dirty="0" err="1"/>
              <a:t>claude</a:t>
            </a:r>
            <a:r>
              <a:rPr lang="en-US" dirty="0"/>
              <a:t> --resume 8e3ec54f-950f-4de9-8887-44e0e071df77</a:t>
            </a:r>
          </a:p>
          <a:p>
            <a:r>
              <a:rPr lang="en-US" dirty="0" err="1"/>
              <a:t>claude</a:t>
            </a:r>
            <a:r>
              <a:rPr lang="en-US" dirty="0"/>
              <a:t> --resume 03bf0cfb-c9b9-4214-88da-5c765cf1c096</a:t>
            </a:r>
          </a:p>
          <a:p>
            <a:r>
              <a:rPr lang="en-US" dirty="0" err="1"/>
              <a:t>claude</a:t>
            </a:r>
            <a:r>
              <a:rPr lang="en-US" dirty="0"/>
              <a:t> --resume 9fd5c89f-df33-4f0f-99d1-0dec9b55c780</a:t>
            </a:r>
          </a:p>
          <a:p>
            <a:r>
              <a:rPr lang="en-US" dirty="0" err="1"/>
              <a:t>claude</a:t>
            </a:r>
            <a:r>
              <a:rPr lang="en-US" dirty="0"/>
              <a:t> --resume d22121de-0076-4bc5-8857-4004fbe4e2b0</a:t>
            </a:r>
          </a:p>
          <a:p>
            <a:r>
              <a:rPr lang="en-US" dirty="0" err="1"/>
              <a:t>claude</a:t>
            </a:r>
            <a:r>
              <a:rPr lang="en-US" dirty="0"/>
              <a:t> --resume ba44017c-e939-4695-9db3-e30cdbd5fd57</a:t>
            </a:r>
          </a:p>
          <a:p>
            <a:r>
              <a:rPr lang="en-US" dirty="0" err="1"/>
              <a:t>claude</a:t>
            </a:r>
            <a:r>
              <a:rPr lang="en-US" dirty="0"/>
              <a:t> --resume 87492646-4299-4efd-93c4-fa898c462dfe</a:t>
            </a:r>
          </a:p>
          <a:p>
            <a:r>
              <a:rPr lang="en-US" dirty="0" err="1"/>
              <a:t>claude</a:t>
            </a:r>
            <a:r>
              <a:rPr lang="en-US" dirty="0"/>
              <a:t> --resume d535abff-6171-4ccd-84a3-c909639bc8a9</a:t>
            </a:r>
          </a:p>
          <a:p>
            <a:r>
              <a:rPr lang="en-US" dirty="0" err="1"/>
              <a:t>claude</a:t>
            </a:r>
            <a:r>
              <a:rPr lang="en-US" dirty="0"/>
              <a:t> --resume f559d6c3-ab79-41ae-9002-7b1c06a463a3</a:t>
            </a:r>
            <a:endParaRPr lang="en-NL" dirty="0"/>
          </a:p>
        </p:txBody>
      </p:sp>
    </p:spTree>
    <p:extLst>
      <p:ext uri="{BB962C8B-B14F-4D97-AF65-F5344CB8AC3E}">
        <p14:creationId xmlns:p14="http://schemas.microsoft.com/office/powerpoint/2010/main" val="9000052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B79C5-CFF9-EC08-FDA5-0241B97294A8}"/>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7FD40A84-60A0-4C99-507F-971D7D2CA6D5}"/>
              </a:ext>
            </a:extLst>
          </p:cNvPr>
          <p:cNvSpPr>
            <a:spLocks noGrp="1"/>
          </p:cNvSpPr>
          <p:nvPr>
            <p:ph idx="1"/>
          </p:nvPr>
        </p:nvSpPr>
        <p:spPr/>
        <p:txBody>
          <a:bodyPr/>
          <a:lstStyle/>
          <a:p>
            <a:r>
              <a:rPr lang="en-US" dirty="0"/>
              <a:t>Adding friction</a:t>
            </a:r>
          </a:p>
          <a:p>
            <a:r>
              <a:rPr lang="en-US" dirty="0"/>
              <a:t>SNR from ILC</a:t>
            </a:r>
          </a:p>
          <a:p>
            <a:r>
              <a:rPr lang="en-US" dirty="0"/>
              <a:t>Jerk limited</a:t>
            </a:r>
          </a:p>
          <a:p>
            <a:endParaRPr lang="en-NL" dirty="0"/>
          </a:p>
        </p:txBody>
      </p:sp>
    </p:spTree>
    <p:extLst>
      <p:ext uri="{BB962C8B-B14F-4D97-AF65-F5344CB8AC3E}">
        <p14:creationId xmlns:p14="http://schemas.microsoft.com/office/powerpoint/2010/main" val="885823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27D4D-9677-4A92-6E7E-6A559BD0B4FC}"/>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865FB38-0D0F-7082-D74F-13F5CA8F96CF}"/>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F5898FC0-E09D-0F48-C930-174631390768}"/>
              </a:ext>
            </a:extLst>
          </p:cNvPr>
          <p:cNvPicPr>
            <a:picLocks noChangeAspect="1"/>
          </p:cNvPicPr>
          <p:nvPr/>
        </p:nvPicPr>
        <p:blipFill>
          <a:blip r:embed="rId3"/>
          <a:stretch>
            <a:fillRect/>
          </a:stretch>
        </p:blipFill>
        <p:spPr>
          <a:xfrm>
            <a:off x="0" y="-1"/>
            <a:ext cx="12192000" cy="6617553"/>
          </a:xfrm>
          <a:prstGeom prst="rect">
            <a:avLst/>
          </a:prstGeom>
        </p:spPr>
      </p:pic>
    </p:spTree>
    <p:extLst>
      <p:ext uri="{BB962C8B-B14F-4D97-AF65-F5344CB8AC3E}">
        <p14:creationId xmlns:p14="http://schemas.microsoft.com/office/powerpoint/2010/main" val="1016269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CD42D-F13F-0C37-E7D7-C2475EF9E15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5823784-1AFB-32D1-2F4E-9280348F360F}"/>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20C6F767-45AC-7C79-5DFD-830BFC2B3FFE}"/>
              </a:ext>
            </a:extLst>
          </p:cNvPr>
          <p:cNvPicPr>
            <a:picLocks noChangeAspect="1"/>
          </p:cNvPicPr>
          <p:nvPr/>
        </p:nvPicPr>
        <p:blipFill>
          <a:blip r:embed="rId3"/>
          <a:stretch>
            <a:fillRect/>
          </a:stretch>
        </p:blipFill>
        <p:spPr>
          <a:xfrm>
            <a:off x="0" y="0"/>
            <a:ext cx="12192000" cy="6370796"/>
          </a:xfrm>
          <a:prstGeom prst="rect">
            <a:avLst/>
          </a:prstGeom>
        </p:spPr>
      </p:pic>
    </p:spTree>
    <p:extLst>
      <p:ext uri="{BB962C8B-B14F-4D97-AF65-F5344CB8AC3E}">
        <p14:creationId xmlns:p14="http://schemas.microsoft.com/office/powerpoint/2010/main" val="33382947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3B3F2-5E47-7BCA-C3D4-9B032ACE9AD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D252C6B-97EE-2282-24C6-DEFE4EB7AC6C}"/>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AA67A9F2-5D12-E3E7-F377-B4E7E92196F4}"/>
              </a:ext>
            </a:extLst>
          </p:cNvPr>
          <p:cNvPicPr>
            <a:picLocks noChangeAspect="1"/>
          </p:cNvPicPr>
          <p:nvPr/>
        </p:nvPicPr>
        <p:blipFill>
          <a:blip r:embed="rId3"/>
          <a:stretch>
            <a:fillRect/>
          </a:stretch>
        </p:blipFill>
        <p:spPr>
          <a:xfrm>
            <a:off x="0" y="0"/>
            <a:ext cx="12192000" cy="6717181"/>
          </a:xfrm>
          <a:prstGeom prst="rect">
            <a:avLst/>
          </a:prstGeom>
        </p:spPr>
      </p:pic>
    </p:spTree>
    <p:extLst>
      <p:ext uri="{BB962C8B-B14F-4D97-AF65-F5344CB8AC3E}">
        <p14:creationId xmlns:p14="http://schemas.microsoft.com/office/powerpoint/2010/main" val="9183828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5DCD8-0E67-03E6-7B86-255E76E9D9DC}"/>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CEDF2D6-B6AB-8562-41FC-7D85EC557CA1}"/>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915A1319-2AB1-6AD5-48F0-62EF0856293D}"/>
              </a:ext>
            </a:extLst>
          </p:cNvPr>
          <p:cNvPicPr>
            <a:picLocks noChangeAspect="1"/>
          </p:cNvPicPr>
          <p:nvPr/>
        </p:nvPicPr>
        <p:blipFill>
          <a:blip r:embed="rId3"/>
          <a:stretch>
            <a:fillRect/>
          </a:stretch>
        </p:blipFill>
        <p:spPr>
          <a:xfrm>
            <a:off x="0" y="0"/>
            <a:ext cx="12192000" cy="6770990"/>
          </a:xfrm>
          <a:prstGeom prst="rect">
            <a:avLst/>
          </a:prstGeom>
        </p:spPr>
      </p:pic>
    </p:spTree>
    <p:extLst>
      <p:ext uri="{BB962C8B-B14F-4D97-AF65-F5344CB8AC3E}">
        <p14:creationId xmlns:p14="http://schemas.microsoft.com/office/powerpoint/2010/main" val="35634047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EC54A-ACE0-F322-5D03-80C7C8993B7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87C9E1B-6578-4D0C-6FB0-51D0DD51D606}"/>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BF3323E7-E39A-21F7-BB37-F8EAB3932427}"/>
              </a:ext>
            </a:extLst>
          </p:cNvPr>
          <p:cNvPicPr>
            <a:picLocks noChangeAspect="1"/>
          </p:cNvPicPr>
          <p:nvPr/>
        </p:nvPicPr>
        <p:blipFill>
          <a:blip r:embed="rId3"/>
          <a:stretch>
            <a:fillRect/>
          </a:stretch>
        </p:blipFill>
        <p:spPr>
          <a:xfrm>
            <a:off x="0" y="0"/>
            <a:ext cx="12192000" cy="6535589"/>
          </a:xfrm>
          <a:prstGeom prst="rect">
            <a:avLst/>
          </a:prstGeom>
        </p:spPr>
      </p:pic>
    </p:spTree>
    <p:extLst>
      <p:ext uri="{BB962C8B-B14F-4D97-AF65-F5344CB8AC3E}">
        <p14:creationId xmlns:p14="http://schemas.microsoft.com/office/powerpoint/2010/main" val="2301654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38D05-673D-2113-C198-855572979C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BBBBA5-F510-E247-7CED-4F0EE887B87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7428428-B3A6-8B17-E725-E1793118818E}"/>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F661FC05-180F-5660-1537-77856766B90D}"/>
              </a:ext>
            </a:extLst>
          </p:cNvPr>
          <p:cNvPicPr>
            <a:picLocks noChangeAspect="1"/>
          </p:cNvPicPr>
          <p:nvPr/>
        </p:nvPicPr>
        <p:blipFill>
          <a:blip r:embed="rId3"/>
          <a:stretch>
            <a:fillRect/>
          </a:stretch>
        </p:blipFill>
        <p:spPr>
          <a:xfrm>
            <a:off x="0" y="0"/>
            <a:ext cx="12192000" cy="6535589"/>
          </a:xfrm>
          <a:prstGeom prst="rect">
            <a:avLst/>
          </a:prstGeom>
        </p:spPr>
      </p:pic>
      <p:pic>
        <p:nvPicPr>
          <p:cNvPr id="5" name="Picture 4">
            <a:extLst>
              <a:ext uri="{FF2B5EF4-FFF2-40B4-BE49-F238E27FC236}">
                <a16:creationId xmlns:a16="http://schemas.microsoft.com/office/drawing/2014/main" id="{CC08B652-C1B7-B51D-B2EC-D1140084D806}"/>
              </a:ext>
            </a:extLst>
          </p:cNvPr>
          <p:cNvPicPr>
            <a:picLocks noChangeAspect="1"/>
          </p:cNvPicPr>
          <p:nvPr/>
        </p:nvPicPr>
        <p:blipFill>
          <a:blip r:embed="rId4"/>
          <a:stretch>
            <a:fillRect/>
          </a:stretch>
        </p:blipFill>
        <p:spPr>
          <a:xfrm>
            <a:off x="6243237" y="198121"/>
            <a:ext cx="5380186" cy="5143946"/>
          </a:xfrm>
          <a:prstGeom prst="rect">
            <a:avLst/>
          </a:prstGeom>
        </p:spPr>
      </p:pic>
    </p:spTree>
    <p:extLst>
      <p:ext uri="{BB962C8B-B14F-4D97-AF65-F5344CB8AC3E}">
        <p14:creationId xmlns:p14="http://schemas.microsoft.com/office/powerpoint/2010/main" val="30081793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FC433-FBFF-1719-3960-A017B7B80A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3FD8EC-5735-37F8-38E5-00D546671CA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8331090-0A31-9B5F-E672-2296076BEB69}"/>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9AAE939E-16E2-C067-D59F-5DAABFBDDD46}"/>
              </a:ext>
            </a:extLst>
          </p:cNvPr>
          <p:cNvPicPr>
            <a:picLocks noChangeAspect="1"/>
          </p:cNvPicPr>
          <p:nvPr/>
        </p:nvPicPr>
        <p:blipFill>
          <a:blip r:embed="rId3"/>
          <a:stretch>
            <a:fillRect/>
          </a:stretch>
        </p:blipFill>
        <p:spPr>
          <a:xfrm>
            <a:off x="0" y="0"/>
            <a:ext cx="12192000" cy="6535589"/>
          </a:xfrm>
          <a:prstGeom prst="rect">
            <a:avLst/>
          </a:prstGeom>
        </p:spPr>
      </p:pic>
      <p:pic>
        <p:nvPicPr>
          <p:cNvPr id="5" name="Picture 4">
            <a:extLst>
              <a:ext uri="{FF2B5EF4-FFF2-40B4-BE49-F238E27FC236}">
                <a16:creationId xmlns:a16="http://schemas.microsoft.com/office/drawing/2014/main" id="{A25E288F-0784-8F0F-3A7D-B52A592EA79B}"/>
              </a:ext>
            </a:extLst>
          </p:cNvPr>
          <p:cNvPicPr>
            <a:picLocks noChangeAspect="1"/>
          </p:cNvPicPr>
          <p:nvPr/>
        </p:nvPicPr>
        <p:blipFill>
          <a:blip r:embed="rId4"/>
          <a:srcRect t="62809" b="22813"/>
          <a:stretch>
            <a:fillRect/>
          </a:stretch>
        </p:blipFill>
        <p:spPr>
          <a:xfrm>
            <a:off x="268941" y="2650424"/>
            <a:ext cx="11327588" cy="1557151"/>
          </a:xfrm>
          <a:prstGeom prst="rect">
            <a:avLst/>
          </a:prstGeom>
        </p:spPr>
      </p:pic>
    </p:spTree>
    <p:extLst>
      <p:ext uri="{BB962C8B-B14F-4D97-AF65-F5344CB8AC3E}">
        <p14:creationId xmlns:p14="http://schemas.microsoft.com/office/powerpoint/2010/main" val="128538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83F7D-48E3-047E-404B-3B35F803193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CFD37DF-73B9-D5B8-6074-93D3CB0E0305}"/>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C80B009A-C9EC-BE8D-9D12-5668DD3D3902}"/>
              </a:ext>
            </a:extLst>
          </p:cNvPr>
          <p:cNvPicPr>
            <a:picLocks noChangeAspect="1"/>
          </p:cNvPicPr>
          <p:nvPr/>
        </p:nvPicPr>
        <p:blipFill>
          <a:blip r:embed="rId2"/>
          <a:stretch>
            <a:fillRect/>
          </a:stretch>
        </p:blipFill>
        <p:spPr>
          <a:xfrm>
            <a:off x="763724" y="0"/>
            <a:ext cx="10664552" cy="6858000"/>
          </a:xfrm>
          <a:prstGeom prst="rect">
            <a:avLst/>
          </a:prstGeom>
        </p:spPr>
      </p:pic>
    </p:spTree>
    <p:extLst>
      <p:ext uri="{BB962C8B-B14F-4D97-AF65-F5344CB8AC3E}">
        <p14:creationId xmlns:p14="http://schemas.microsoft.com/office/powerpoint/2010/main" val="14692524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22E9B-BBDA-61A9-0EEA-4A4233AF09D1}"/>
              </a:ext>
            </a:extLst>
          </p:cNvPr>
          <p:cNvSpPr>
            <a:spLocks noGrp="1"/>
          </p:cNvSpPr>
          <p:nvPr>
            <p:ph type="title"/>
          </p:nvPr>
        </p:nvSpPr>
        <p:spPr/>
        <p:txBody>
          <a:bodyPr/>
          <a:lstStyle/>
          <a:p>
            <a:r>
              <a:rPr lang="en-US" dirty="0"/>
              <a:t>SNR ILC data</a:t>
            </a:r>
            <a:endParaRPr lang="en-NL" dirty="0"/>
          </a:p>
        </p:txBody>
      </p:sp>
      <p:sp>
        <p:nvSpPr>
          <p:cNvPr id="3" name="Content Placeholder 2">
            <a:extLst>
              <a:ext uri="{FF2B5EF4-FFF2-40B4-BE49-F238E27FC236}">
                <a16:creationId xmlns:a16="http://schemas.microsoft.com/office/drawing/2014/main" id="{424BD6B7-B72B-A760-6AE7-7DF52EA44938}"/>
              </a:ext>
            </a:extLst>
          </p:cNvPr>
          <p:cNvSpPr>
            <a:spLocks noGrp="1"/>
          </p:cNvSpPr>
          <p:nvPr>
            <p:ph idx="1"/>
          </p:nvPr>
        </p:nvSpPr>
        <p:spPr/>
        <p:txBody>
          <a:bodyPr/>
          <a:lstStyle/>
          <a:p>
            <a:r>
              <a:rPr lang="en-US" dirty="0" err="1"/>
              <a:t>Kijken</a:t>
            </a:r>
            <a:r>
              <a:rPr lang="en-US" dirty="0"/>
              <a:t> </a:t>
            </a:r>
            <a:r>
              <a:rPr lang="en-US" dirty="0" err="1"/>
              <a:t>sensitvity</a:t>
            </a:r>
            <a:r>
              <a:rPr lang="en-US" dirty="0"/>
              <a:t> mismatch </a:t>
            </a:r>
            <a:r>
              <a:rPr lang="en-US" dirty="0" err="1"/>
              <a:t>meten</a:t>
            </a:r>
            <a:r>
              <a:rPr lang="en-US" dirty="0"/>
              <a:t> op </a:t>
            </a:r>
            <a:endParaRPr lang="en-NL" dirty="0"/>
          </a:p>
        </p:txBody>
      </p:sp>
    </p:spTree>
    <p:extLst>
      <p:ext uri="{BB962C8B-B14F-4D97-AF65-F5344CB8AC3E}">
        <p14:creationId xmlns:p14="http://schemas.microsoft.com/office/powerpoint/2010/main" val="19926501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469</TotalTime>
  <Words>1394</Words>
  <Application>Microsoft Office PowerPoint</Application>
  <PresentationFormat>Widescreen</PresentationFormat>
  <Paragraphs>68</Paragraphs>
  <Slides>11</Slides>
  <Notes>7</Notes>
  <HiddenSlides>3</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SNR ILC data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Berg, Dirk van den</dc:creator>
  <cp:lastModifiedBy>Berg, Dirk van den</cp:lastModifiedBy>
  <cp:revision>1</cp:revision>
  <dcterms:created xsi:type="dcterms:W3CDTF">2026-09-21T14:18:41Z</dcterms:created>
  <dcterms:modified xsi:type="dcterms:W3CDTF">2026-09-22T10:29:50Z</dcterms:modified>
</cp:coreProperties>
</file>