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2"/>
  </p:notesMasterIdLst>
  <p:sldIdLst>
    <p:sldId id="257" r:id="rId2"/>
    <p:sldId id="301" r:id="rId3"/>
    <p:sldId id="274" r:id="rId4"/>
    <p:sldId id="278" r:id="rId5"/>
    <p:sldId id="277" r:id="rId6"/>
    <p:sldId id="276" r:id="rId7"/>
    <p:sldId id="296" r:id="rId8"/>
    <p:sldId id="289" r:id="rId9"/>
    <p:sldId id="302" r:id="rId10"/>
    <p:sldId id="293" r:id="rId11"/>
    <p:sldId id="295" r:id="rId12"/>
    <p:sldId id="291" r:id="rId13"/>
    <p:sldId id="272" r:id="rId14"/>
    <p:sldId id="298" r:id="rId15"/>
    <p:sldId id="304" r:id="rId16"/>
    <p:sldId id="299" r:id="rId17"/>
    <p:sldId id="303" r:id="rId18"/>
    <p:sldId id="300" r:id="rId19"/>
    <p:sldId id="261" r:id="rId20"/>
    <p:sldId id="262" r:id="rId21"/>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3340D-3257-47F4-8731-8099DB00E14B}" v="3" dt="2026-02-02T15:28:20.697"/>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25" autoAdjust="0"/>
    <p:restoredTop sz="77386" autoAdjust="0"/>
  </p:normalViewPr>
  <p:slideViewPr>
    <p:cSldViewPr snapToGrid="0">
      <p:cViewPr varScale="1">
        <p:scale>
          <a:sx n="79" d="100"/>
          <a:sy n="79" d="100"/>
        </p:scale>
        <p:origin x="97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ekstra, Jan" userId="5d496fe4-0c87-4596-89e4-7951f4c87ccb" providerId="ADAL" clId="{97D91625-A293-482C-B427-66C0286D47AF}"/>
    <pc:docChg chg="undo custSel addSld modSld">
      <pc:chgData name="Hoekstra, Jan" userId="5d496fe4-0c87-4596-89e4-7951f4c87ccb" providerId="ADAL" clId="{97D91625-A293-482C-B427-66C0286D47AF}" dt="2026-02-02T15:29:04.079" v="1141" actId="114"/>
      <pc:docMkLst>
        <pc:docMk/>
      </pc:docMkLst>
      <pc:sldChg chg="addSp modSp mod">
        <pc:chgData name="Hoekstra, Jan" userId="5d496fe4-0c87-4596-89e4-7951f4c87ccb" providerId="ADAL" clId="{97D91625-A293-482C-B427-66C0286D47AF}" dt="2026-02-02T15:29:04.079" v="1141" actId="114"/>
        <pc:sldMkLst>
          <pc:docMk/>
          <pc:sldMk cId="2679595137" sldId="257"/>
        </pc:sldMkLst>
        <pc:spChg chg="mod">
          <ac:chgData name="Hoekstra, Jan" userId="5d496fe4-0c87-4596-89e4-7951f4c87ccb" providerId="ADAL" clId="{97D91625-A293-482C-B427-66C0286D47AF}" dt="2026-02-02T15:25:52.790" v="826" actId="20577"/>
          <ac:spMkLst>
            <pc:docMk/>
            <pc:sldMk cId="2679595137" sldId="257"/>
            <ac:spMk id="3" creationId="{DAAEF679-3C39-E36C-B710-9B50CBAE487E}"/>
          </ac:spMkLst>
        </pc:spChg>
        <pc:spChg chg="add mod">
          <ac:chgData name="Hoekstra, Jan" userId="5d496fe4-0c87-4596-89e4-7951f4c87ccb" providerId="ADAL" clId="{97D91625-A293-482C-B427-66C0286D47AF}" dt="2026-02-02T15:29:04.079" v="1141" actId="114"/>
          <ac:spMkLst>
            <pc:docMk/>
            <pc:sldMk cId="2679595137" sldId="257"/>
            <ac:spMk id="4" creationId="{465EFC2D-66CC-A333-8AD7-17BCBCDB18BB}"/>
          </ac:spMkLst>
        </pc:spChg>
      </pc:sldChg>
      <pc:sldChg chg="addSp modSp new mod">
        <pc:chgData name="Hoekstra, Jan" userId="5d496fe4-0c87-4596-89e4-7951f4c87ccb" providerId="ADAL" clId="{97D91625-A293-482C-B427-66C0286D47AF}" dt="2026-02-02T15:27:13.239" v="1012" actId="20577"/>
        <pc:sldMkLst>
          <pc:docMk/>
          <pc:sldMk cId="2138626586" sldId="259"/>
        </pc:sldMkLst>
        <pc:spChg chg="mod">
          <ac:chgData name="Hoekstra, Jan" userId="5d496fe4-0c87-4596-89e4-7951f4c87ccb" providerId="ADAL" clId="{97D91625-A293-482C-B427-66C0286D47AF}" dt="2026-02-02T15:21:38.324" v="75" actId="20577"/>
          <ac:spMkLst>
            <pc:docMk/>
            <pc:sldMk cId="2138626586" sldId="259"/>
            <ac:spMk id="2" creationId="{1241CBB4-4332-CC27-31DC-1118749DC9EE}"/>
          </ac:spMkLst>
        </pc:spChg>
        <pc:spChg chg="mod">
          <ac:chgData name="Hoekstra, Jan" userId="5d496fe4-0c87-4596-89e4-7951f4c87ccb" providerId="ADAL" clId="{97D91625-A293-482C-B427-66C0286D47AF}" dt="2026-02-02T15:22:56.417" v="251" actId="20577"/>
          <ac:spMkLst>
            <pc:docMk/>
            <pc:sldMk cId="2138626586" sldId="259"/>
            <ac:spMk id="3" creationId="{EF5F3971-08E2-AD39-C334-D1FA58F77EB2}"/>
          </ac:spMkLst>
        </pc:spChg>
        <pc:spChg chg="add mod">
          <ac:chgData name="Hoekstra, Jan" userId="5d496fe4-0c87-4596-89e4-7951f4c87ccb" providerId="ADAL" clId="{97D91625-A293-482C-B427-66C0286D47AF}" dt="2026-02-02T15:27:13.239" v="1012" actId="20577"/>
          <ac:spMkLst>
            <pc:docMk/>
            <pc:sldMk cId="2138626586" sldId="259"/>
            <ac:spMk id="4" creationId="{B119E904-9495-8CB1-E838-D562CF8BB5D9}"/>
          </ac:spMkLst>
        </pc:spChg>
      </pc:sldChg>
      <pc:sldChg chg="addSp modSp new mod">
        <pc:chgData name="Hoekstra, Jan" userId="5d496fe4-0c87-4596-89e4-7951f4c87ccb" providerId="ADAL" clId="{97D91625-A293-482C-B427-66C0286D47AF}" dt="2026-02-02T15:24:23.914" v="615"/>
        <pc:sldMkLst>
          <pc:docMk/>
          <pc:sldMk cId="2175299465" sldId="260"/>
        </pc:sldMkLst>
        <pc:spChg chg="mod">
          <ac:chgData name="Hoekstra, Jan" userId="5d496fe4-0c87-4596-89e4-7951f4c87ccb" providerId="ADAL" clId="{97D91625-A293-482C-B427-66C0286D47AF}" dt="2026-02-02T15:23:06.129" v="262" actId="20577"/>
          <ac:spMkLst>
            <pc:docMk/>
            <pc:sldMk cId="2175299465" sldId="260"/>
            <ac:spMk id="2" creationId="{8275DA82-033F-A5A9-8242-2D5896D94857}"/>
          </ac:spMkLst>
        </pc:spChg>
        <pc:spChg chg="mod">
          <ac:chgData name="Hoekstra, Jan" userId="5d496fe4-0c87-4596-89e4-7951f4c87ccb" providerId="ADAL" clId="{97D91625-A293-482C-B427-66C0286D47AF}" dt="2026-02-02T15:24:18.480" v="614" actId="20577"/>
          <ac:spMkLst>
            <pc:docMk/>
            <pc:sldMk cId="2175299465" sldId="260"/>
            <ac:spMk id="3" creationId="{07C68050-ABAC-21A7-30BB-2C997CD155E6}"/>
          </ac:spMkLst>
        </pc:spChg>
        <pc:spChg chg="add mod">
          <ac:chgData name="Hoekstra, Jan" userId="5d496fe4-0c87-4596-89e4-7951f4c87ccb" providerId="ADAL" clId="{97D91625-A293-482C-B427-66C0286D47AF}" dt="2026-02-02T15:24:23.914" v="615"/>
          <ac:spMkLst>
            <pc:docMk/>
            <pc:sldMk cId="2175299465" sldId="260"/>
            <ac:spMk id="4" creationId="{C22B2196-272F-FC1F-4220-C87739CBF73F}"/>
          </ac:spMkLst>
        </pc:spChg>
      </pc:sldChg>
      <pc:sldChg chg="modSp new mod">
        <pc:chgData name="Hoekstra, Jan" userId="5d496fe4-0c87-4596-89e4-7951f4c87ccb" providerId="ADAL" clId="{97D91625-A293-482C-B427-66C0286D47AF}" dt="2026-02-02T15:26:33.865" v="951" actId="20577"/>
        <pc:sldMkLst>
          <pc:docMk/>
          <pc:sldMk cId="4133975854" sldId="261"/>
        </pc:sldMkLst>
        <pc:spChg chg="mod">
          <ac:chgData name="Hoekstra, Jan" userId="5d496fe4-0c87-4596-89e4-7951f4c87ccb" providerId="ADAL" clId="{97D91625-A293-482C-B427-66C0286D47AF}" dt="2026-02-02T15:24:51.240" v="639" actId="20577"/>
          <ac:spMkLst>
            <pc:docMk/>
            <pc:sldMk cId="4133975854" sldId="261"/>
            <ac:spMk id="2" creationId="{CE8922FA-98D7-2929-D27F-810CECE6E8CA}"/>
          </ac:spMkLst>
        </pc:spChg>
        <pc:spChg chg="mod">
          <ac:chgData name="Hoekstra, Jan" userId="5d496fe4-0c87-4596-89e4-7951f4c87ccb" providerId="ADAL" clId="{97D91625-A293-482C-B427-66C0286D47AF}" dt="2026-02-02T15:26:33.865" v="951" actId="20577"/>
          <ac:spMkLst>
            <pc:docMk/>
            <pc:sldMk cId="4133975854" sldId="261"/>
            <ac:spMk id="3" creationId="{78179DB8-2509-8E4F-14E4-B0B6B2FE756A}"/>
          </ac:spMkLst>
        </pc:spChg>
      </pc:sldChg>
      <pc:sldChg chg="modSp new mod">
        <pc:chgData name="Hoekstra, Jan" userId="5d496fe4-0c87-4596-89e4-7951f4c87ccb" providerId="ADAL" clId="{97D91625-A293-482C-B427-66C0286D47AF}" dt="2026-02-02T15:25:37.756" v="806" actId="20577"/>
        <pc:sldMkLst>
          <pc:docMk/>
          <pc:sldMk cId="3503897311" sldId="262"/>
        </pc:sldMkLst>
        <pc:spChg chg="mod">
          <ac:chgData name="Hoekstra, Jan" userId="5d496fe4-0c87-4596-89e4-7951f4c87ccb" providerId="ADAL" clId="{97D91625-A293-482C-B427-66C0286D47AF}" dt="2026-02-02T15:25:25.271" v="748" actId="20577"/>
          <ac:spMkLst>
            <pc:docMk/>
            <pc:sldMk cId="3503897311" sldId="262"/>
            <ac:spMk id="2" creationId="{E87AE796-708B-909C-F9F8-D1C4E09DB0F7}"/>
          </ac:spMkLst>
        </pc:spChg>
        <pc:spChg chg="mod">
          <ac:chgData name="Hoekstra, Jan" userId="5d496fe4-0c87-4596-89e4-7951f4c87ccb" providerId="ADAL" clId="{97D91625-A293-482C-B427-66C0286D47AF}" dt="2026-02-02T15:25:37.756" v="806" actId="20577"/>
          <ac:spMkLst>
            <pc:docMk/>
            <pc:sldMk cId="3503897311" sldId="262"/>
            <ac:spMk id="3" creationId="{322F13D6-AF08-9392-A25C-ED43A705A9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6355D-D61E-4629-A451-0D5F8A28D69B}" type="datetimeFigureOut">
              <a:rPr lang="en-NL" smtClean="0"/>
              <a:t>16/02/2026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C44169-D6FA-4340-A8EA-FDCA4A57CBC5}" type="slidenum">
              <a:rPr lang="en-NL" smtClean="0"/>
              <a:t>‹#›</a:t>
            </a:fld>
            <a:endParaRPr lang="en-NL"/>
          </a:p>
        </p:txBody>
      </p:sp>
    </p:spTree>
    <p:extLst>
      <p:ext uri="{BB962C8B-B14F-4D97-AF65-F5344CB8AC3E}">
        <p14:creationId xmlns:p14="http://schemas.microsoft.com/office/powerpoint/2010/main" val="99380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44652-53B4-8B17-2E77-A44BE0C37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2C771-2A7F-64A5-07B4-1A98E753C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D817A-2BB0-A990-6E17-D4B6D0361175}"/>
              </a:ext>
            </a:extLst>
          </p:cNvPr>
          <p:cNvSpPr>
            <a:spLocks noGrp="1"/>
          </p:cNvSpPr>
          <p:nvPr>
            <p:ph type="body" idx="1"/>
          </p:nvPr>
        </p:nvSpPr>
        <p:spPr/>
        <p:txBody>
          <a:bodyPr/>
          <a:lstStyle/>
          <a:p>
            <a:r>
              <a:rPr lang="en-US" dirty="0"/>
              <a:t>I will not touch experiment design yet.</a:t>
            </a:r>
            <a:endParaRPr lang="en-NL" dirty="0"/>
          </a:p>
        </p:txBody>
      </p:sp>
      <p:sp>
        <p:nvSpPr>
          <p:cNvPr id="4" name="Slide Number Placeholder 3">
            <a:extLst>
              <a:ext uri="{FF2B5EF4-FFF2-40B4-BE49-F238E27FC236}">
                <a16:creationId xmlns:a16="http://schemas.microsoft.com/office/drawing/2014/main" id="{371B48AA-44B7-EBA3-FA01-FD4161372115}"/>
              </a:ext>
            </a:extLst>
          </p:cNvPr>
          <p:cNvSpPr>
            <a:spLocks noGrp="1"/>
          </p:cNvSpPr>
          <p:nvPr>
            <p:ph type="sldNum" sz="quarter" idx="5"/>
          </p:nvPr>
        </p:nvSpPr>
        <p:spPr/>
        <p:txBody>
          <a:bodyPr/>
          <a:lstStyle/>
          <a:p>
            <a:fld id="{86C44169-D6FA-4340-A8EA-FDCA4A57CBC5}" type="slidenum">
              <a:rPr lang="en-NL" smtClean="0"/>
              <a:t>2</a:t>
            </a:fld>
            <a:endParaRPr lang="en-NL"/>
          </a:p>
        </p:txBody>
      </p:sp>
    </p:spTree>
    <p:extLst>
      <p:ext uri="{BB962C8B-B14F-4D97-AF65-F5344CB8AC3E}">
        <p14:creationId xmlns:p14="http://schemas.microsoft.com/office/powerpoint/2010/main" val="2670146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3</a:t>
            </a:fld>
            <a:endParaRPr lang="en-NL"/>
          </a:p>
        </p:txBody>
      </p:sp>
    </p:spTree>
    <p:extLst>
      <p:ext uri="{BB962C8B-B14F-4D97-AF65-F5344CB8AC3E}">
        <p14:creationId xmlns:p14="http://schemas.microsoft.com/office/powerpoint/2010/main" val="375493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A6E7-0937-246E-43DE-C5AE91A77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D5A23-0E42-B521-932D-016A5B50E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1E4E2-0261-ED33-987D-E4A813C36E56}"/>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77496EB-61AB-B42B-2D5E-31218C50E175}"/>
              </a:ext>
            </a:extLst>
          </p:cNvPr>
          <p:cNvSpPr>
            <a:spLocks noGrp="1"/>
          </p:cNvSpPr>
          <p:nvPr>
            <p:ph type="sldNum" sz="quarter" idx="5"/>
          </p:nvPr>
        </p:nvSpPr>
        <p:spPr/>
        <p:txBody>
          <a:bodyPr/>
          <a:lstStyle/>
          <a:p>
            <a:fld id="{86C44169-D6FA-4340-A8EA-FDCA4A57CBC5}" type="slidenum">
              <a:rPr lang="en-NL" smtClean="0"/>
              <a:t>4</a:t>
            </a:fld>
            <a:endParaRPr lang="en-NL"/>
          </a:p>
        </p:txBody>
      </p:sp>
    </p:spTree>
    <p:extLst>
      <p:ext uri="{BB962C8B-B14F-4D97-AF65-F5344CB8AC3E}">
        <p14:creationId xmlns:p14="http://schemas.microsoft.com/office/powerpoint/2010/main" val="106644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C853F-D1FD-9BB9-A80C-E59AC5176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A36D7-5A36-D7BF-E4C2-50EFD34D7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AB52C-5848-AB66-0C37-32F10A5DAF49}"/>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Kessels</a:t>
            </a:r>
            <a:r>
              <a:rPr lang="en-US" sz="1200" b="0" i="0" kern="1200" dirty="0">
                <a:solidFill>
                  <a:schemeClr val="tx1"/>
                </a:solidFill>
                <a:effectLst/>
                <a:latin typeface="+mn-lt"/>
                <a:ea typeface="+mn-ea"/>
                <a:cs typeface="+mn-cs"/>
              </a:rPr>
              <a:t> found that while TE features (magnitude and timing of peaks) are physically intuitive, they are often </a:t>
            </a:r>
            <a:r>
              <a:rPr lang="en-US" sz="1200" b="1" i="0" kern="1200" dirty="0">
                <a:solidFill>
                  <a:schemeClr val="tx1"/>
                </a:solidFill>
                <a:effectLst/>
                <a:latin typeface="+mn-lt"/>
                <a:ea typeface="+mn-ea"/>
                <a:cs typeface="+mn-cs"/>
              </a:rPr>
              <a:t>comparatively inaccurate</a:t>
            </a:r>
            <a:r>
              <a:rPr lang="en-US" sz="1200" b="0" i="0" kern="1200" dirty="0">
                <a:solidFill>
                  <a:schemeClr val="tx1"/>
                </a:solidFill>
                <a:effectLst/>
                <a:latin typeface="+mn-lt"/>
                <a:ea typeface="+mn-ea"/>
                <a:cs typeface="+mn-cs"/>
              </a:rPr>
              <a:t> in industrial applications because they are </a:t>
            </a:r>
            <a:r>
              <a:rPr lang="en-US" sz="1200" b="1" i="0" kern="1200" dirty="0">
                <a:solidFill>
                  <a:schemeClr val="tx1"/>
                </a:solidFill>
                <a:effectLst/>
                <a:latin typeface="+mn-lt"/>
                <a:ea typeface="+mn-ea"/>
                <a:cs typeface="+mn-cs"/>
              </a:rPr>
              <a:t>sensitive to measurement noise</a:t>
            </a:r>
            <a:r>
              <a:rPr lang="en-US" sz="1200" b="0" i="0" kern="1200" dirty="0">
                <a:solidFill>
                  <a:schemeClr val="tx1"/>
                </a:solidFill>
                <a:effectLst/>
                <a:latin typeface="+mn-lt"/>
                <a:ea typeface="+mn-ea"/>
                <a:cs typeface="+mn-cs"/>
              </a:rPr>
              <a:t> and contain </a:t>
            </a:r>
            <a:r>
              <a:rPr lang="en-US" sz="1200" b="1" i="0" kern="1200" dirty="0">
                <a:solidFill>
                  <a:schemeClr val="tx1"/>
                </a:solidFill>
                <a:effectLst/>
                <a:latin typeface="+mn-lt"/>
                <a:ea typeface="+mn-ea"/>
                <a:cs typeface="+mn-cs"/>
              </a:rPr>
              <a:t>low information density</a:t>
            </a:r>
            <a:r>
              <a:rPr lang="en-US" sz="1200" b="0" i="0" kern="1200" dirty="0">
                <a:solidFill>
                  <a:schemeClr val="tx1"/>
                </a:solidFill>
                <a:effectLst/>
                <a:latin typeface="+mn-lt"/>
                <a:ea typeface="+mn-ea"/>
                <a:cs typeface="+mn-cs"/>
              </a:rPr>
              <a:t> (sparsity) compared to using full time-samples or frequency-domain data</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Real and Imaginary (RI)</a:t>
            </a:r>
            <a:r>
              <a:rPr lang="en-US" sz="1200" b="0" i="0" kern="1200" dirty="0">
                <a:solidFill>
                  <a:schemeClr val="tx1"/>
                </a:solidFill>
                <a:effectLst/>
                <a:latin typeface="+mn-lt"/>
                <a:ea typeface="+mn-ea"/>
                <a:cs typeface="+mn-cs"/>
              </a:rPr>
              <a:t> parts of the Fourier Transform were the most effective features.</a:t>
            </a:r>
          </a:p>
          <a:p>
            <a:r>
              <a:rPr lang="en-US" sz="1200" b="1" i="0" kern="1200" dirty="0">
                <a:solidFill>
                  <a:schemeClr val="tx1"/>
                </a:solidFill>
                <a:effectLst/>
                <a:latin typeface="+mn-lt"/>
                <a:ea typeface="+mn-ea"/>
                <a:cs typeface="+mn-cs"/>
              </a:rPr>
              <a:t>Why they are good: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Kessels</a:t>
            </a:r>
            <a:r>
              <a:rPr lang="en-US" sz="1200" b="0" i="0" kern="1200" dirty="0">
                <a:solidFill>
                  <a:schemeClr val="tx1"/>
                </a:solidFill>
                <a:effectLst/>
                <a:latin typeface="+mn-lt"/>
                <a:ea typeface="+mn-ea"/>
                <a:cs typeface="+mn-cs"/>
              </a:rPr>
              <a:t> notes that RI features are "relatively informative" and robust. Unlike Magnitude/Phase (MP) features, where the phase can look very similar for different parameter combinations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Time Sample (TS)</a:t>
            </a:r>
            <a:r>
              <a:rPr lang="en-US" sz="1200" b="0" i="0" kern="1200" dirty="0">
                <a:solidFill>
                  <a:schemeClr val="tx1"/>
                </a:solidFill>
                <a:effectLst/>
                <a:latin typeface="+mn-lt"/>
                <a:ea typeface="+mn-ea"/>
                <a:cs typeface="+mn-cs"/>
              </a:rPr>
              <a:t> features were the second most important group.</a:t>
            </a:r>
          </a:p>
          <a:p>
            <a:endParaRPr lang="en-US" sz="1200" b="0" i="0" kern="1200" dirty="0">
              <a:solidFill>
                <a:schemeClr val="tx1"/>
              </a:solidFill>
              <a:effectLst/>
              <a:latin typeface="+mn-lt"/>
              <a:ea typeface="+mn-ea"/>
              <a:cs typeface="+mn-cs"/>
            </a:endParaRPr>
          </a:p>
          <a:p>
            <a:r>
              <a:rPr lang="en-US" b="1" dirty="0">
                <a:effectLst/>
              </a:rPr>
              <a:t>JMI Strategy</a:t>
            </a:r>
            <a:r>
              <a:rPr lang="en-US" dirty="0">
                <a:effectLst/>
              </a:rPr>
              <a:t> </a:t>
            </a:r>
            <a:r>
              <a:rPr lang="en-US" b="1" dirty="0">
                <a:effectLst/>
              </a:rPr>
              <a:t>MRMR Strategy</a:t>
            </a:r>
            <a:r>
              <a:rPr lang="en-US" dirty="0">
                <a:effectLst/>
              </a:rPr>
              <a:t> </a:t>
            </a:r>
            <a:r>
              <a:rPr lang="en-US" b="1" dirty="0">
                <a:effectLst/>
              </a:rPr>
              <a:t>MIM Strategy</a:t>
            </a:r>
          </a:p>
          <a:p>
            <a:endParaRPr lang="en-US"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(Define start and end settling: reference trajectory velocity and acceleration 0 end when new movement begins)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Time Extremum (TE) Limitations to justify </a:t>
            </a:r>
            <a:r>
              <a:rPr lang="en-US" sz="1200" b="1" i="0" kern="1200" dirty="0">
                <a:solidFill>
                  <a:schemeClr val="tx1"/>
                </a:solidFill>
                <a:effectLst/>
                <a:latin typeface="+mn-lt"/>
                <a:ea typeface="+mn-ea"/>
                <a:cs typeface="+mn-cs"/>
              </a:rPr>
              <a:t>Cost Function</a:t>
            </a:r>
            <a:r>
              <a:rPr lang="en-US" sz="1200" b="0" i="0" kern="1200" dirty="0">
                <a:solidFill>
                  <a:schemeClr val="tx1"/>
                </a:solidFill>
                <a:effectLst/>
                <a:latin typeface="+mn-lt"/>
                <a:ea typeface="+mn-ea"/>
                <a:cs typeface="+mn-cs"/>
              </a:rPr>
              <a:t>, but clarify that this is a </a:t>
            </a:r>
            <a:r>
              <a:rPr lang="en-US" sz="1200" b="0" i="1" kern="1200" dirty="0">
                <a:solidFill>
                  <a:schemeClr val="tx1"/>
                </a:solidFill>
                <a:effectLst/>
                <a:latin typeface="+mn-lt"/>
                <a:ea typeface="+mn-ea"/>
                <a:cs typeface="+mn-cs"/>
              </a:rPr>
              <a:t>training objective</a:t>
            </a:r>
            <a:r>
              <a:rPr lang="en-US" sz="1200" b="0" i="0" kern="1200" dirty="0">
                <a:solidFill>
                  <a:schemeClr val="tx1"/>
                </a:solidFill>
                <a:effectLst/>
                <a:latin typeface="+mn-lt"/>
                <a:ea typeface="+mn-ea"/>
                <a:cs typeface="+mn-cs"/>
              </a:rPr>
              <a:t> choice, not a </a:t>
            </a:r>
            <a:r>
              <a:rPr lang="en-US" sz="1200" b="0" i="1" kern="1200" dirty="0">
                <a:solidFill>
                  <a:schemeClr val="tx1"/>
                </a:solidFill>
                <a:effectLst/>
                <a:latin typeface="+mn-lt"/>
                <a:ea typeface="+mn-ea"/>
                <a:cs typeface="+mn-cs"/>
              </a:rPr>
              <a:t>feature input</a:t>
            </a:r>
            <a:r>
              <a:rPr lang="en-US" sz="1200" b="0" i="0" kern="1200" dirty="0">
                <a:solidFill>
                  <a:schemeClr val="tx1"/>
                </a:solidFill>
                <a:effectLst/>
                <a:latin typeface="+mn-lt"/>
                <a:ea typeface="+mn-ea"/>
                <a:cs typeface="+mn-cs"/>
              </a:rPr>
              <a:t> choice.</a:t>
            </a:r>
            <a:endParaRPr lang="en-US" sz="1200" dirty="0"/>
          </a:p>
          <a:p>
            <a:endParaRPr lang="en-NL" dirty="0"/>
          </a:p>
        </p:txBody>
      </p:sp>
      <p:sp>
        <p:nvSpPr>
          <p:cNvPr id="4" name="Slide Number Placeholder 3">
            <a:extLst>
              <a:ext uri="{FF2B5EF4-FFF2-40B4-BE49-F238E27FC236}">
                <a16:creationId xmlns:a16="http://schemas.microsoft.com/office/drawing/2014/main" id="{76DAC622-3222-3869-065E-EC60AB004EEF}"/>
              </a:ext>
            </a:extLst>
          </p:cNvPr>
          <p:cNvSpPr>
            <a:spLocks noGrp="1"/>
          </p:cNvSpPr>
          <p:nvPr>
            <p:ph type="sldNum" sz="quarter" idx="5"/>
          </p:nvPr>
        </p:nvSpPr>
        <p:spPr/>
        <p:txBody>
          <a:bodyPr/>
          <a:lstStyle/>
          <a:p>
            <a:fld id="{86C44169-D6FA-4340-A8EA-FDCA4A57CBC5}" type="slidenum">
              <a:rPr lang="en-NL" smtClean="0"/>
              <a:t>5</a:t>
            </a:fld>
            <a:endParaRPr lang="en-NL"/>
          </a:p>
        </p:txBody>
      </p:sp>
    </p:spTree>
    <p:extLst>
      <p:ext uri="{BB962C8B-B14F-4D97-AF65-F5344CB8AC3E}">
        <p14:creationId xmlns:p14="http://schemas.microsoft.com/office/powerpoint/2010/main" val="1373026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concept addresses </a:t>
            </a:r>
            <a:r>
              <a:rPr lang="en-US" b="1" dirty="0">
                <a:effectLst/>
              </a:rPr>
              <a:t>Experiment Design</a:t>
            </a:r>
            <a:r>
              <a:rPr lang="en-US" dirty="0">
                <a:effectLst/>
              </a:rPr>
              <a:t>. You cannot learn to settle fast if your training data doesn't contain aggressive moves that cause settling errors.</a:t>
            </a:r>
          </a:p>
          <a:p>
            <a:r>
              <a:rPr lang="en-US" b="1" dirty="0">
                <a:effectLst/>
              </a:rPr>
              <a:t>The Problem:</a:t>
            </a:r>
            <a:r>
              <a:rPr lang="en-US" dirty="0">
                <a:effectLst/>
              </a:rPr>
              <a:t> Standard identification signals (like Gaussian noise or simple sine waves) often stay in the "linear" region of a system. They do not excite the specific nonlinear behaviors that happen during hard operations.</a:t>
            </a:r>
          </a:p>
          <a:p>
            <a:endParaRPr lang="en-US" dirty="0"/>
          </a:p>
          <a:p>
            <a:r>
              <a:rPr lang="en-US" b="1" dirty="0">
                <a:effectLst/>
              </a:rPr>
              <a:t>Superimposed </a:t>
            </a:r>
            <a:r>
              <a:rPr lang="en-US" b="1" dirty="0" err="1">
                <a:effectLst/>
              </a:rPr>
              <a:t>Multisine</a:t>
            </a:r>
            <a:r>
              <a:rPr lang="en-US" b="1" dirty="0">
                <a:effectLst/>
              </a:rPr>
              <a:t>:</a:t>
            </a:r>
            <a:r>
              <a:rPr lang="en-US" dirty="0">
                <a:effectLst/>
              </a:rPr>
              <a:t> Once the system is in that critical state (e.g., the gantry has arrived and is vibrating), they superimposed a small-amplitude </a:t>
            </a:r>
            <a:r>
              <a:rPr lang="en-US" dirty="0" err="1">
                <a:effectLst/>
              </a:rPr>
              <a:t>multisine</a:t>
            </a:r>
            <a:r>
              <a:rPr lang="en-US" dirty="0">
                <a:effectLst/>
              </a:rPr>
              <a:t> signal.</a:t>
            </a:r>
          </a:p>
          <a:p>
            <a:r>
              <a:rPr lang="en-US" b="1" dirty="0">
                <a:effectLst/>
              </a:rPr>
              <a:t>Why do this?</a:t>
            </a:r>
            <a:r>
              <a:rPr lang="en-US" dirty="0">
                <a:effectLst/>
              </a:rPr>
              <a:t> The "spike" forces the system to the operating point where the error matters (the crash/stop), and the "</a:t>
            </a:r>
            <a:r>
              <a:rPr lang="en-US" dirty="0" err="1">
                <a:effectLst/>
              </a:rPr>
              <a:t>multisine</a:t>
            </a:r>
            <a:r>
              <a:rPr lang="en-US" dirty="0">
                <a:effectLst/>
              </a:rPr>
              <a:t>" acts as a probe to identify the local dynamics (stiffness/damping) specifically at that difficult moment</a:t>
            </a:r>
          </a:p>
          <a:p>
            <a:endParaRPr lang="en-US" dirty="0"/>
          </a:p>
          <a:p>
            <a:r>
              <a:rPr lang="en-US" sz="1200" b="1" i="0" kern="1200" dirty="0">
                <a:solidFill>
                  <a:schemeClr val="tx1"/>
                </a:solidFill>
                <a:effectLst/>
                <a:latin typeface="+mn-lt"/>
                <a:ea typeface="+mn-ea"/>
                <a:cs typeface="+mn-cs"/>
              </a:rPr>
              <a:t>For Dual-Gantry:</a:t>
            </a:r>
            <a:r>
              <a:rPr lang="en-US" sz="1200" b="0" i="0" kern="1200" dirty="0">
                <a:solidFill>
                  <a:schemeClr val="tx1"/>
                </a:solidFill>
                <a:effectLst/>
                <a:latin typeface="+mn-lt"/>
                <a:ea typeface="+mn-ea"/>
                <a:cs typeface="+mn-cs"/>
              </a:rPr>
              <a:t> This means you should not just train on random noise. You must train on </a:t>
            </a:r>
            <a:r>
              <a:rPr lang="en-US" sz="1200" b="1" i="0" kern="1200" dirty="0">
                <a:solidFill>
                  <a:schemeClr val="tx1"/>
                </a:solidFill>
                <a:effectLst/>
                <a:latin typeface="+mn-lt"/>
                <a:ea typeface="+mn-ea"/>
                <a:cs typeface="+mn-cs"/>
              </a:rPr>
              <a:t>"Step + Noise"</a:t>
            </a:r>
            <a:r>
              <a:rPr lang="en-US" sz="1200" b="0" i="0" kern="1200" dirty="0">
                <a:solidFill>
                  <a:schemeClr val="tx1"/>
                </a:solidFill>
                <a:effectLst/>
                <a:latin typeface="+mn-lt"/>
                <a:ea typeface="+mn-ea"/>
                <a:cs typeface="+mn-cs"/>
              </a:rPr>
              <a:t> signals: Hard jumps (to trigger the residual vibrations) + small vibrations (to help the Neural Network learn how to dampen them).</a:t>
            </a:r>
            <a:endParaRPr lang="en-US" dirty="0"/>
          </a:p>
          <a:p>
            <a:br>
              <a:rPr lang="en-US" dirty="0"/>
            </a:br>
            <a:r>
              <a:rPr lang="en-US" sz="1200" b="1" i="0" kern="1200" dirty="0">
                <a:solidFill>
                  <a:schemeClr val="tx1"/>
                </a:solidFill>
                <a:effectLst/>
                <a:latin typeface="+mn-lt"/>
                <a:ea typeface="+mn-ea"/>
                <a:cs typeface="+mn-cs"/>
              </a:rPr>
              <a:t>Spiky Command:</a:t>
            </a:r>
            <a:r>
              <a:rPr lang="en-US" sz="1200" b="0" i="0" kern="1200" dirty="0">
                <a:solidFill>
                  <a:schemeClr val="tx1"/>
                </a:solidFill>
                <a:effectLst/>
                <a:latin typeface="+mn-lt"/>
                <a:ea typeface="+mn-ea"/>
                <a:cs typeface="+mn-cs"/>
              </a:rPr>
              <a:t> They designed an input with large, sharp spikes (high amplitude) to force the system rapidly into its critical phase (filling the clutch / moving the gantry)</a:t>
            </a:r>
            <a:br>
              <a:rPr lang="en-US" dirty="0"/>
            </a:br>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superimpose</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multisine</a:t>
            </a:r>
            <a:r>
              <a:rPr lang="en-US" sz="1200" b="0" i="0" kern="1200" dirty="0">
                <a:solidFill>
                  <a:schemeClr val="tx1"/>
                </a:solidFill>
                <a:effectLst/>
                <a:latin typeface="+mn-lt"/>
                <a:ea typeface="+mn-ea"/>
                <a:cs typeface="+mn-cs"/>
              </a:rPr>
              <a:t> onto a spiky trajectory to create a "Rich Spiky Signal.“</a:t>
            </a:r>
          </a:p>
          <a:p>
            <a:endParaRPr lang="en-US" sz="1200" b="0" i="0" kern="1200" dirty="0">
              <a:solidFill>
                <a:schemeClr val="tx1"/>
              </a:solidFill>
              <a:effectLst/>
              <a:latin typeface="+mn-lt"/>
              <a:ea typeface="+mn-ea"/>
              <a:cs typeface="+mn-cs"/>
            </a:endParaRPr>
          </a:p>
          <a:p>
            <a:r>
              <a:rPr lang="en-US" b="1" dirty="0">
                <a:effectLst/>
              </a:rPr>
              <a:t>Spike:</a:t>
            </a:r>
            <a:r>
              <a:rPr lang="en-US" dirty="0">
                <a:effectLst/>
              </a:rPr>
              <a:t> take the specific trajectory you need (e.g., the rapid engagement profile or your gantry's stop-start motion). You create a band-limited approximation of this "spike" forces the system into the correct </a:t>
            </a:r>
            <a:r>
              <a:rPr lang="en-US" b="1" dirty="0">
                <a:effectLst/>
              </a:rPr>
              <a:t>operating regime</a:t>
            </a:r>
            <a:r>
              <a:rPr lang="en-US" dirty="0">
                <a:effectLst/>
              </a:rPr>
              <a:t>.</a:t>
            </a:r>
          </a:p>
          <a:p>
            <a:r>
              <a:rPr lang="en-US" b="1" dirty="0" err="1">
                <a:effectLst/>
              </a:rPr>
              <a:t>Multisine</a:t>
            </a:r>
            <a:r>
              <a:rPr lang="en-US" b="1" dirty="0">
                <a:effectLst/>
              </a:rPr>
              <a:t>:</a:t>
            </a:r>
            <a:r>
              <a:rPr lang="en-US" dirty="0">
                <a:effectLst/>
              </a:rPr>
              <a:t> add a </a:t>
            </a:r>
            <a:r>
              <a:rPr lang="en-US" b="1" dirty="0">
                <a:effectLst/>
              </a:rPr>
              <a:t>small-amplitude, flat-spectrum </a:t>
            </a:r>
            <a:r>
              <a:rPr lang="en-US" b="1" dirty="0" err="1">
                <a:effectLst/>
              </a:rPr>
              <a:t>multisine</a:t>
            </a:r>
            <a:r>
              <a:rPr lang="en-US" dirty="0">
                <a:effectLst/>
              </a:rPr>
              <a:t> on top of it</a:t>
            </a:r>
          </a:p>
          <a:p>
            <a:endParaRPr lang="en-US" dirty="0">
              <a:effectLst/>
            </a:endParaRPr>
          </a:p>
          <a:p>
            <a:endParaRPr lang="en-US" dirty="0">
              <a:effectLst/>
            </a:endParaRPr>
          </a:p>
          <a:p>
            <a:r>
              <a:rPr lang="en-US" sz="1200" b="0" i="0" kern="1200" dirty="0">
                <a:solidFill>
                  <a:schemeClr val="tx1"/>
                </a:solidFill>
                <a:effectLst/>
                <a:latin typeface="+mn-lt"/>
                <a:ea typeface="+mn-ea"/>
                <a:cs typeface="+mn-cs"/>
              </a:rPr>
              <a:t>Normally, Maximum Likelihood estimation weights errors by the </a:t>
            </a:r>
            <a:r>
              <a:rPr lang="en-US" sz="1200" b="1" i="0" kern="1200" dirty="0">
                <a:solidFill>
                  <a:schemeClr val="tx1"/>
                </a:solidFill>
                <a:effectLst/>
                <a:latin typeface="+mn-lt"/>
                <a:ea typeface="+mn-ea"/>
                <a:cs typeface="+mn-cs"/>
              </a:rPr>
              <a:t>Noise </a:t>
            </a:r>
            <a:endParaRPr lang="en-US" dirty="0">
              <a:effectLst/>
            </a:endParaRPr>
          </a:p>
          <a:p>
            <a:r>
              <a:rPr lang="en-US" sz="1200" b="0" i="0" kern="1200" dirty="0">
                <a:solidFill>
                  <a:schemeClr val="tx1"/>
                </a:solidFill>
                <a:effectLst/>
                <a:latin typeface="+mn-lt"/>
                <a:ea typeface="+mn-ea"/>
                <a:cs typeface="+mn-cs"/>
              </a:rPr>
              <a:t>This means you filter the error signal </a:t>
            </a:r>
            <a:r>
              <a:rPr lang="en-US" sz="1200" b="0" i="1" kern="1200" dirty="0">
                <a:solidFill>
                  <a:schemeClr val="tx1"/>
                </a:solidFill>
                <a:effectLst/>
                <a:latin typeface="+mn-lt"/>
                <a:ea typeface="+mn-ea"/>
                <a:cs typeface="+mn-cs"/>
              </a:rPr>
              <a:t>before</a:t>
            </a:r>
            <a:r>
              <a:rPr lang="en-US" sz="1200" b="0" i="0" kern="1200" dirty="0">
                <a:solidFill>
                  <a:schemeClr val="tx1"/>
                </a:solidFill>
                <a:effectLst/>
                <a:latin typeface="+mn-lt"/>
                <a:ea typeface="+mn-ea"/>
                <a:cs typeface="+mn-cs"/>
              </a:rPr>
              <a:t> squaring it.</a:t>
            </a:r>
            <a:endParaRPr lang="en-US" dirty="0">
              <a:effectLst/>
            </a:endParaRPr>
          </a:p>
          <a:p>
            <a:endParaRPr lang="en-US" dirty="0">
              <a:effectLst/>
            </a:endParaRPr>
          </a:p>
          <a:p>
            <a:r>
              <a:rPr lang="en-US" b="1" dirty="0">
                <a:effectLst/>
              </a:rPr>
              <a:t>The Mechanism:</a:t>
            </a:r>
            <a:r>
              <a:rPr lang="en-US" dirty="0">
                <a:effectLst/>
              </a:rPr>
              <a:t> If you want the model to be extremely accurate at a specific frequency (e.g., the resonance frequency causing your settling vibrations), you choose a weighting function </a:t>
            </a:r>
            <a:r>
              <a:rPr lang="en-US" sz="1200" i="1" kern="1200" dirty="0">
                <a:solidFill>
                  <a:schemeClr val="tx1"/>
                </a:solidFill>
                <a:effectLst/>
                <a:latin typeface="+mn-lt"/>
                <a:ea typeface="+mn-ea"/>
                <a:cs typeface="+mn-cs"/>
              </a:rPr>
              <a:t>L</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f</a:t>
            </a:r>
            <a:r>
              <a:rPr lang="en-US" sz="1200" kern="1200" dirty="0">
                <a:solidFill>
                  <a:schemeClr val="tx1"/>
                </a:solidFill>
                <a:effectLst/>
                <a:latin typeface="+mn-lt"/>
                <a:ea typeface="+mn-ea"/>
                <a:cs typeface="+mn-cs"/>
              </a:rPr>
              <a:t>)</a:t>
            </a:r>
            <a:r>
              <a:rPr lang="en-US" dirty="0">
                <a:effectLst/>
              </a:rPr>
              <a:t> that is </a:t>
            </a:r>
            <a:r>
              <a:rPr lang="en-US" b="1" dirty="0">
                <a:effectLst/>
              </a:rPr>
              <a:t>very small</a:t>
            </a:r>
            <a:r>
              <a:rPr lang="en-US" dirty="0">
                <a:effectLst/>
              </a:rPr>
              <a:t> at that frequency.</a:t>
            </a:r>
          </a:p>
          <a:p>
            <a:r>
              <a:rPr lang="en-US" dirty="0">
                <a:effectLst/>
              </a:rPr>
              <a:t>        ▪ </a:t>
            </a:r>
            <a:r>
              <a:rPr lang="en-US" b="1" dirty="0">
                <a:effectLst/>
              </a:rPr>
              <a:t>The Result:</a:t>
            </a:r>
            <a:r>
              <a:rPr lang="en-US" dirty="0">
                <a:effectLst/>
              </a:rPr>
              <a:t> Because you divide by a small number, the "cost" for errors at that frequency becomes huge. The optimizer is forced to work extra hard to fix the model at that specific resonance, even if it ignores errors elsewhere</a:t>
            </a:r>
          </a:p>
          <a:p>
            <a:endParaRPr lang="en-US" dirty="0">
              <a:effectLst/>
            </a:endParaRPr>
          </a:p>
          <a:p>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a </a:t>
            </a:r>
            <a:r>
              <a:rPr lang="en-US" b="1" dirty="0"/>
              <a:t>chosen weighting filter</a:t>
            </a:r>
            <a:r>
              <a:rPr lang="en-US" b="0" dirty="0"/>
              <a:t> instead of a </a:t>
            </a:r>
            <a:r>
              <a:rPr lang="en-US" b="1" dirty="0"/>
              <a:t>noise-based weighting</a:t>
            </a:r>
            <a:r>
              <a:rPr lang="en-US" dirty="0"/>
              <a:t> tries to be optimal if your model structure is correct and noise assumptions hold.</a:t>
            </a:r>
          </a:p>
          <a:p>
            <a:endParaRPr lang="en-US" dirty="0">
              <a:effectLst/>
            </a:endParaRPr>
          </a:p>
          <a:p>
            <a:endParaRPr lang="en-US" dirty="0">
              <a:effectLst/>
            </a:endParaRPr>
          </a:p>
          <a:p>
            <a:r>
              <a:rPr lang="en-US" b="1" dirty="0" err="1"/>
              <a:t>Kessels</a:t>
            </a:r>
            <a:r>
              <a:rPr lang="en-US" b="1" dirty="0"/>
              <a:t> Application</a:t>
            </a:r>
          </a:p>
          <a:p>
            <a:r>
              <a:rPr lang="en-US" b="1" dirty="0"/>
              <a:t>Imitating Operation (Input Design):</a:t>
            </a:r>
            <a:r>
              <a:rPr lang="en-US" dirty="0"/>
              <a:t> Instead of abstract random noise, </a:t>
            </a:r>
            <a:r>
              <a:rPr lang="en-US" dirty="0" err="1"/>
              <a:t>Kessels</a:t>
            </a:r>
            <a:r>
              <a:rPr lang="en-US" dirty="0"/>
              <a:t> generates training data using </a:t>
            </a:r>
            <a:r>
              <a:rPr lang="en-US" b="1" dirty="0"/>
              <a:t>"alternating smoothed step-up and step-down profiles."</a:t>
            </a:r>
            <a:r>
              <a:rPr lang="en-US" dirty="0"/>
              <a:t> These explicitly mimic the reference profiles used during the machine's actual operation to capture relevant behavior</a:t>
            </a:r>
          </a:p>
          <a:p>
            <a:r>
              <a:rPr lang="en-US" b="1" dirty="0"/>
              <a:t>Implicit Filtering (Feature Selection):</a:t>
            </a:r>
            <a:r>
              <a:rPr lang="en-US" dirty="0"/>
              <a:t> He replaces standard frequency weighting (</a:t>
            </a:r>
            <a:r>
              <a:rPr lang="en-US" i="1" dirty="0"/>
              <a:t>L</a:t>
            </a:r>
            <a:r>
              <a:rPr lang="en-US" dirty="0"/>
              <a:t>) with </a:t>
            </a:r>
            <a:r>
              <a:rPr lang="en-US" b="1" dirty="0"/>
              <a:t>Feature Selection on "Frequency Bins of Interest" (</a:t>
            </a:r>
            <a:r>
              <a:rPr lang="en-US" b="1" dirty="0" err="1"/>
              <a:t>FBoIs</a:t>
            </a:r>
            <a:r>
              <a:rPr lang="en-US" b="1" dirty="0"/>
              <a:t>)</a:t>
            </a:r>
            <a:r>
              <a:rPr lang="en-US" dirty="0"/>
              <a:t>. The method extracts specific frequency ranges (e.g., near eigenfrequencies) and uses Mutual Information algorithms (like JMI) to discard noisy or irrelevant bins, effectively filtering the error signal</a:t>
            </a:r>
          </a:p>
          <a:p>
            <a:r>
              <a:rPr lang="en-US" b="1" dirty="0"/>
              <a:t>Regime Forcing (Closed-Loop):</a:t>
            </a:r>
            <a:r>
              <a:rPr lang="en-US" dirty="0"/>
              <a:t> Similar to the "Wet-Clutch" high-pressure requirement, </a:t>
            </a:r>
            <a:r>
              <a:rPr lang="en-US" dirty="0" err="1"/>
              <a:t>Kessels</a:t>
            </a:r>
            <a:r>
              <a:rPr lang="en-US" dirty="0"/>
              <a:t> uses </a:t>
            </a:r>
            <a:r>
              <a:rPr lang="en-US" b="1" dirty="0"/>
              <a:t>Closed-Loop Feedback</a:t>
            </a:r>
            <a:r>
              <a:rPr lang="en-US" dirty="0"/>
              <a:t> during data generation. This forces the system to track the reference steps, ensuring the dataset is rich in the specific </a:t>
            </a:r>
            <a:r>
              <a:rPr lang="en-US" b="1" dirty="0"/>
              <a:t>settling dynamics</a:t>
            </a:r>
            <a:r>
              <a:rPr lang="en-US" dirty="0"/>
              <a:t> required for the high-precision application</a:t>
            </a:r>
            <a:endParaRPr lang="en-NL" dirty="0"/>
          </a:p>
          <a:p>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6</a:t>
            </a:fld>
            <a:endParaRPr lang="en-NL"/>
          </a:p>
        </p:txBody>
      </p:sp>
    </p:spTree>
    <p:extLst>
      <p:ext uri="{BB962C8B-B14F-4D97-AF65-F5344CB8AC3E}">
        <p14:creationId xmlns:p14="http://schemas.microsoft.com/office/powerpoint/2010/main" val="659189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The EA Solution:</a:t>
            </a:r>
            <a:endParaRPr lang="en-US" dirty="0">
              <a:effectLst/>
            </a:endParaRPr>
          </a:p>
          <a:p>
            <a:r>
              <a:rPr lang="en-US" dirty="0">
                <a:effectLst/>
              </a:rPr>
              <a:t>• </a:t>
            </a:r>
            <a:r>
              <a:rPr lang="en-US" b="1" dirty="0">
                <a:effectLst/>
              </a:rPr>
              <a:t>New Variables:</a:t>
            </a:r>
            <a:r>
              <a:rPr lang="en-US" dirty="0">
                <a:effectLst/>
              </a:rPr>
              <a:t> EA mathematically </a:t>
            </a:r>
            <a:r>
              <a:rPr lang="en-US" i="1" dirty="0">
                <a:effectLst/>
              </a:rPr>
              <a:t>extends</a:t>
            </a:r>
            <a:r>
              <a:rPr lang="en-US" dirty="0">
                <a:effectLst/>
              </a:rPr>
              <a:t> the state vector. If your model has 2 states </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x</a:t>
            </a:r>
            <a:r>
              <a:rPr lang="en-US" sz="1200" kern="1200" dirty="0">
                <a:solidFill>
                  <a:schemeClr val="tx1"/>
                </a:solidFill>
                <a:effectLst/>
                <a:latin typeface="+mn-lt"/>
                <a:ea typeface="+mn-ea"/>
                <a:cs typeface="+mn-cs"/>
              </a:rPr>
              <a:t>˙]</a:t>
            </a:r>
            <a:r>
              <a:rPr lang="en-US" dirty="0">
                <a:effectLst/>
              </a:rPr>
              <a:t>, EA adds </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2​]</a:t>
            </a:r>
            <a:r>
              <a:rPr lang="en-US" dirty="0">
                <a:effectLst/>
              </a:rPr>
              <a:t> to track the unmodeled vibrations</a:t>
            </a:r>
          </a:p>
          <a:p>
            <a:endParaRPr lang="en-US" dirty="0"/>
          </a:p>
          <a:p>
            <a:endParaRPr lang="en-US" dirty="0"/>
          </a:p>
          <a:p>
            <a:r>
              <a:rPr lang="en-US" sz="1200" b="1" i="0" kern="1200" dirty="0">
                <a:solidFill>
                  <a:schemeClr val="tx1"/>
                </a:solidFill>
                <a:effectLst/>
                <a:latin typeface="+mn-lt"/>
                <a:ea typeface="+mn-ea"/>
                <a:cs typeface="+mn-cs"/>
              </a:rPr>
              <a:t>The Subspace Encoder:</a:t>
            </a:r>
            <a:r>
              <a:rPr lang="en-US" sz="1200" b="0" i="0" kern="1200" dirty="0">
                <a:solidFill>
                  <a:schemeClr val="tx1"/>
                </a:solidFill>
                <a:effectLst/>
                <a:latin typeface="+mn-lt"/>
                <a:ea typeface="+mn-ea"/>
                <a:cs typeface="+mn-cs"/>
              </a:rPr>
              <a:t> Since you cannot measure these new "hidden" vibration states directly with sensors, you use a </a:t>
            </a:r>
            <a:r>
              <a:rPr lang="en-US" sz="1200" b="1" i="0" kern="1200" dirty="0">
                <a:solidFill>
                  <a:schemeClr val="tx1"/>
                </a:solidFill>
                <a:effectLst/>
                <a:latin typeface="+mn-lt"/>
                <a:ea typeface="+mn-ea"/>
                <a:cs typeface="+mn-cs"/>
              </a:rPr>
              <a:t>Subspace Encoder</a:t>
            </a:r>
            <a:r>
              <a:rPr lang="en-US" sz="1200" b="0" i="0" kern="1200" dirty="0">
                <a:solidFill>
                  <a:schemeClr val="tx1"/>
                </a:solidFill>
                <a:effectLst/>
                <a:latin typeface="+mn-lt"/>
                <a:ea typeface="+mn-ea"/>
                <a:cs typeface="+mn-cs"/>
              </a:rPr>
              <a:t>. This is a Neural Network that looks at a window of </a:t>
            </a:r>
            <a:r>
              <a:rPr lang="en-US" sz="1200" b="0" i="1" kern="1200" dirty="0">
                <a:solidFill>
                  <a:schemeClr val="tx1"/>
                </a:solidFill>
                <a:effectLst/>
                <a:latin typeface="+mn-lt"/>
                <a:ea typeface="+mn-ea"/>
                <a:cs typeface="+mn-cs"/>
              </a:rPr>
              <a:t>past</a:t>
            </a:r>
            <a:r>
              <a:rPr lang="en-US" sz="1200" b="0" i="0" kern="1200" dirty="0">
                <a:solidFill>
                  <a:schemeClr val="tx1"/>
                </a:solidFill>
                <a:effectLst/>
                <a:latin typeface="+mn-lt"/>
                <a:ea typeface="+mn-ea"/>
                <a:cs typeface="+mn-cs"/>
              </a:rPr>
              <a:t> input/output data (history) to estimate what these hidden states are at the current moment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Dynamics:</a:t>
            </a:r>
            <a:r>
              <a:rPr lang="en-US" sz="1200" b="0" i="0" kern="1200" dirty="0">
                <a:solidFill>
                  <a:schemeClr val="tx1"/>
                </a:solidFill>
                <a:effectLst/>
                <a:latin typeface="+mn-lt"/>
                <a:ea typeface="+mn-ea"/>
                <a:cs typeface="+mn-cs"/>
              </a:rPr>
              <a:t> A Recurrent Neural Network (RNN) learns how these new states evolve over time (e.g., how the vibration decays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b="1" dirty="0">
                <a:effectLst/>
              </a:rPr>
              <a:t>The EA Solution:</a:t>
            </a:r>
            <a:endParaRPr lang="en-US" dirty="0">
              <a:effectLst/>
            </a:endParaRPr>
          </a:p>
          <a:p>
            <a:r>
              <a:rPr lang="en-US" dirty="0">
                <a:effectLst/>
              </a:rPr>
              <a:t>• </a:t>
            </a:r>
            <a:r>
              <a:rPr lang="en-US" b="1" dirty="0">
                <a:effectLst/>
              </a:rPr>
              <a:t>Force Injection:</a:t>
            </a:r>
            <a:r>
              <a:rPr lang="en-US" dirty="0">
                <a:effectLst/>
              </a:rPr>
              <a:t> EA </a:t>
            </a:r>
            <a:r>
              <a:rPr lang="en-US" i="1" dirty="0">
                <a:effectLst/>
              </a:rPr>
              <a:t>augments</a:t>
            </a:r>
            <a:r>
              <a:rPr lang="en-US" dirty="0">
                <a:effectLst/>
              </a:rPr>
              <a:t> the existing equations. It injects a "correction force" directly into the acceleration equation of the FP model</a:t>
            </a:r>
          </a:p>
          <a:p>
            <a:endParaRPr lang="en-US" dirty="0">
              <a:effectLst/>
            </a:endParaRPr>
          </a:p>
          <a:p>
            <a:r>
              <a:rPr lang="en-US" dirty="0">
                <a:effectLst/>
              </a:rPr>
              <a:t>◦ </a:t>
            </a:r>
            <a:r>
              <a:rPr lang="en-US" i="1" dirty="0">
                <a:effectLst/>
              </a:rPr>
              <a:t>Standard FP:</a:t>
            </a:r>
            <a:r>
              <a:rPr lang="en-US" dirty="0">
                <a:effectLst/>
              </a:rPr>
              <a:t>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Finput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m</a:t>
            </a:r>
            <a:endParaRPr lang="en-US" dirty="0">
              <a:effectLst/>
            </a:endParaRPr>
          </a:p>
          <a:p>
            <a:r>
              <a:rPr lang="en-US" dirty="0">
                <a:effectLst/>
              </a:rPr>
              <a:t>    ◦ </a:t>
            </a:r>
            <a:r>
              <a:rPr lang="en-US" i="1" dirty="0">
                <a:effectLst/>
              </a:rPr>
              <a:t>Augmented:</a:t>
            </a:r>
            <a:r>
              <a:rPr lang="en-US" dirty="0">
                <a:effectLst/>
              </a:rPr>
              <a:t>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Finput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RNN</a:t>
            </a:r>
            <a:r>
              <a:rPr lang="en-US" sz="1200" b="1" i="0" kern="1200" dirty="0" err="1">
                <a:solidFill>
                  <a:schemeClr val="tx1"/>
                </a:solidFill>
                <a:effectLst/>
                <a:latin typeface="+mn-lt"/>
                <a:ea typeface="+mn-ea"/>
                <a:cs typeface="+mn-cs"/>
              </a:rPr>
              <a:t>correction</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Dynamics (The RNN):</a:t>
            </a:r>
            <a:r>
              <a:rPr lang="en-US" sz="1200" b="0" i="0" kern="1200" dirty="0">
                <a:solidFill>
                  <a:schemeClr val="tx1"/>
                </a:solidFill>
                <a:effectLst/>
                <a:latin typeface="+mn-lt"/>
                <a:ea typeface="+mn-ea"/>
                <a:cs typeface="+mn-cs"/>
              </a:rPr>
              <a:t> Once initialized by the encoder, the evolution of these new states is governed by a </a:t>
            </a:r>
            <a:r>
              <a:rPr lang="en-US" sz="1200" b="1" i="0" kern="1200" dirty="0">
                <a:solidFill>
                  <a:schemeClr val="tx1"/>
                </a:solidFill>
                <a:effectLst/>
                <a:latin typeface="+mn-lt"/>
                <a:ea typeface="+mn-ea"/>
                <a:cs typeface="+mn-cs"/>
              </a:rPr>
              <a:t>Recurrent Neural Network (RNN)</a:t>
            </a:r>
            <a:r>
              <a:rPr lang="en-US" sz="1200" b="0" i="0" kern="1200" dirty="0">
                <a:solidFill>
                  <a:schemeClr val="tx1"/>
                </a:solidFill>
                <a:effectLst/>
                <a:latin typeface="+mn-lt"/>
                <a:ea typeface="+mn-ea"/>
                <a:cs typeface="+mn-cs"/>
              </a:rPr>
              <a:t>. In his mechanical use cases, he explicitly imposes a second-order structure (position/velocity pairs) on these new states to mimic physical laws, but their behavior is learned entirely from data </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8</a:t>
            </a:fld>
            <a:endParaRPr lang="en-NL"/>
          </a:p>
        </p:txBody>
      </p:sp>
    </p:spTree>
    <p:extLst>
      <p:ext uri="{BB962C8B-B14F-4D97-AF65-F5344CB8AC3E}">
        <p14:creationId xmlns:p14="http://schemas.microsoft.com/office/powerpoint/2010/main" val="219707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46480-0DA4-4001-FFBE-355B57775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0470B-3F32-F8F8-4804-90BE55330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EAC68-6CD1-CCAD-B623-27497B760290}"/>
              </a:ext>
            </a:extLst>
          </p:cNvPr>
          <p:cNvSpPr>
            <a:spLocks noGrp="1"/>
          </p:cNvSpPr>
          <p:nvPr>
            <p:ph type="body" idx="1"/>
          </p:nvPr>
        </p:nvSpPr>
        <p:spPr/>
        <p:txBody>
          <a:bodyPr/>
          <a:lstStyle/>
          <a:p>
            <a:r>
              <a:rPr lang="en-US" dirty="0"/>
              <a:t>Orthogonal by construction currently states that further research for state-space needs to be done</a:t>
            </a:r>
          </a:p>
          <a:p>
            <a:r>
              <a:rPr lang="en-US" dirty="0">
                <a:sym typeface="Wingdings" panose="05000000000000000000" pitchFamily="2" charset="2"/>
              </a:rPr>
              <a:t>resonance frequencies = poles</a:t>
            </a:r>
          </a:p>
          <a:p>
            <a:endParaRPr lang="en-US" dirty="0">
              <a:sym typeface="Wingdings" panose="05000000000000000000" pitchFamily="2" charset="2"/>
            </a:endParaRPr>
          </a:p>
          <a:p>
            <a:r>
              <a:rPr lang="en-US" sz="1200" b="1" i="0" kern="1200" dirty="0">
                <a:solidFill>
                  <a:schemeClr val="tx1"/>
                </a:solidFill>
                <a:effectLst/>
                <a:latin typeface="+mn-lt"/>
                <a:ea typeface="+mn-ea"/>
                <a:cs typeface="+mn-cs"/>
              </a:rPr>
              <a:t>Dual-gantry: position-dependent dynamics</a:t>
            </a:r>
            <a:r>
              <a:rPr lang="en-US" sz="1200" b="0" i="0" kern="1200" dirty="0">
                <a:solidFill>
                  <a:schemeClr val="tx1"/>
                </a:solidFill>
                <a:effectLst/>
                <a:latin typeface="+mn-lt"/>
                <a:ea typeface="+mn-ea"/>
                <a:cs typeface="+mn-cs"/>
              </a:rPr>
              <a:t> and cross-coupling between gantries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Definition of Internal Dynamics (NIIR):</a:t>
            </a:r>
            <a:r>
              <a:rPr lang="en-US" sz="1200" b="0" i="0" kern="1200" dirty="0">
                <a:solidFill>
                  <a:schemeClr val="tx1"/>
                </a:solidFill>
                <a:effectLst/>
                <a:latin typeface="+mn-lt"/>
                <a:ea typeface="+mn-ea"/>
                <a:cs typeface="+mn-cs"/>
              </a:rPr>
              <a:t> These models have a </a:t>
            </a:r>
            <a:r>
              <a:rPr lang="en-US" sz="1200" b="1" i="0" kern="1200" dirty="0">
                <a:solidFill>
                  <a:schemeClr val="tx1"/>
                </a:solidFill>
                <a:effectLst/>
                <a:latin typeface="+mn-lt"/>
                <a:ea typeface="+mn-ea"/>
                <a:cs typeface="+mn-cs"/>
              </a:rPr>
              <a:t>nonlinear feedback loop</a:t>
            </a:r>
            <a:r>
              <a:rPr lang="en-US" sz="1200" b="0" i="0" kern="1200" dirty="0">
                <a:solidFill>
                  <a:schemeClr val="tx1"/>
                </a:solidFill>
                <a:effectLst/>
                <a:latin typeface="+mn-lt"/>
                <a:ea typeface="+mn-ea"/>
                <a:cs typeface="+mn-cs"/>
              </a:rPr>
              <a:t>. The nonlinearity isn't just applied to the input (external); it is part of the system's internal memory loop.</a:t>
            </a:r>
          </a:p>
          <a:p>
            <a:endParaRPr lang="en-US" sz="1200" b="0" i="0" kern="1200" dirty="0">
              <a:solidFill>
                <a:schemeClr val="tx1"/>
              </a:solidFill>
              <a:effectLst/>
              <a:latin typeface="+mn-lt"/>
              <a:ea typeface="+mn-ea"/>
              <a:cs typeface="+mn-cs"/>
            </a:endParaRPr>
          </a:p>
          <a:p>
            <a:r>
              <a:rPr lang="en-US" b="1" dirty="0">
                <a:effectLst/>
              </a:rPr>
              <a:t>When to Use Them:</a:t>
            </a:r>
            <a:r>
              <a:rPr lang="en-US" dirty="0">
                <a:effectLst/>
              </a:rPr>
              <a:t> You </a:t>
            </a:r>
            <a:r>
              <a:rPr lang="en-US" i="1" dirty="0">
                <a:effectLst/>
              </a:rPr>
              <a:t>must</a:t>
            </a:r>
            <a:r>
              <a:rPr lang="en-US" dirty="0">
                <a:effectLst/>
              </a:rPr>
              <a:t> use this class of models if your system shows strong nonlinear behaviors like:</a:t>
            </a:r>
          </a:p>
          <a:p>
            <a:r>
              <a:rPr lang="en-US" dirty="0">
                <a:effectLst/>
              </a:rPr>
              <a:t>    ◦ </a:t>
            </a:r>
            <a:r>
              <a:rPr lang="en-US" b="1" dirty="0">
                <a:effectLst/>
              </a:rPr>
              <a:t>Moving Resonances:</a:t>
            </a:r>
            <a:r>
              <a:rPr lang="en-US" dirty="0">
                <a:effectLst/>
              </a:rPr>
              <a:t> The resonance frequency shifts as the operating point or excitation amplitude changes (crucial for dual-gantry).</a:t>
            </a:r>
          </a:p>
          <a:p>
            <a:endParaRPr lang="en-NL" dirty="0"/>
          </a:p>
        </p:txBody>
      </p:sp>
      <p:sp>
        <p:nvSpPr>
          <p:cNvPr id="4" name="Slide Number Placeholder 3">
            <a:extLst>
              <a:ext uri="{FF2B5EF4-FFF2-40B4-BE49-F238E27FC236}">
                <a16:creationId xmlns:a16="http://schemas.microsoft.com/office/drawing/2014/main" id="{25021D94-33AB-34F6-53DF-1C2F4F02B0DA}"/>
              </a:ext>
            </a:extLst>
          </p:cNvPr>
          <p:cNvSpPr>
            <a:spLocks noGrp="1"/>
          </p:cNvSpPr>
          <p:nvPr>
            <p:ph type="sldNum" sz="quarter" idx="5"/>
          </p:nvPr>
        </p:nvSpPr>
        <p:spPr/>
        <p:txBody>
          <a:bodyPr/>
          <a:lstStyle/>
          <a:p>
            <a:fld id="{86C44169-D6FA-4340-A8EA-FDCA4A57CBC5}" type="slidenum">
              <a:rPr lang="en-NL" smtClean="0"/>
              <a:t>9</a:t>
            </a:fld>
            <a:endParaRPr lang="en-NL"/>
          </a:p>
        </p:txBody>
      </p:sp>
    </p:spTree>
    <p:extLst>
      <p:ext uri="{BB962C8B-B14F-4D97-AF65-F5344CB8AC3E}">
        <p14:creationId xmlns:p14="http://schemas.microsoft.com/office/powerpoint/2010/main" val="638392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Orthogonal Regularization for physical parameters vs prediction accuracy for the EA method</a:t>
            </a:r>
            <a:endParaRPr lang="en-NL" dirty="0"/>
          </a:p>
          <a:p>
            <a:endParaRPr lang="en-US" dirty="0"/>
          </a:p>
          <a:p>
            <a:r>
              <a:rPr lang="en-US" sz="1200" b="0" i="0" kern="1200" dirty="0">
                <a:solidFill>
                  <a:schemeClr val="tx1"/>
                </a:solidFill>
                <a:effectLst/>
                <a:latin typeface="+mn-lt"/>
                <a:ea typeface="+mn-ea"/>
                <a:cs typeface="+mn-cs"/>
              </a:rPr>
              <a:t>add a penalty term to the cost function. This penalizes the neural network if its output lies in the same mathematical subspace as the physical model's output.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Why simulated?</a:t>
            </a:r>
            <a:r>
              <a:rPr lang="en-US" sz="1200" b="0" i="0" kern="1200" dirty="0">
                <a:solidFill>
                  <a:schemeClr val="tx1"/>
                </a:solidFill>
                <a:effectLst/>
                <a:latin typeface="+mn-lt"/>
                <a:ea typeface="+mn-ea"/>
                <a:cs typeface="+mn-cs"/>
              </a:rPr>
              <a:t> In "Orthogonal-by-Construction" methods for input-output models, you use past measured data to build the projection matrix. However, for a </a:t>
            </a:r>
            <a:r>
              <a:rPr lang="en-US" sz="1200" b="1" i="0" kern="1200" dirty="0">
                <a:solidFill>
                  <a:schemeClr val="tx1"/>
                </a:solidFill>
                <a:effectLst/>
                <a:latin typeface="+mn-lt"/>
                <a:ea typeface="+mn-ea"/>
                <a:cs typeface="+mn-cs"/>
              </a:rPr>
              <a:t>State-Space</a:t>
            </a:r>
            <a:r>
              <a:rPr lang="en-US" sz="1200" b="0" i="0" kern="1200" dirty="0">
                <a:solidFill>
                  <a:schemeClr val="tx1"/>
                </a:solidFill>
                <a:effectLst/>
                <a:latin typeface="+mn-lt"/>
                <a:ea typeface="+mn-ea"/>
                <a:cs typeface="+mn-cs"/>
              </a:rPr>
              <a:t> model (like your dual-gantry), the internal states (velocities, flexible modes) are often not fully measured.</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Method:</a:t>
            </a:r>
            <a:r>
              <a:rPr lang="en-US" sz="1200" b="0" i="0" kern="1200" dirty="0">
                <a:solidFill>
                  <a:schemeClr val="tx1"/>
                </a:solidFill>
                <a:effectLst/>
                <a:latin typeface="+mn-lt"/>
                <a:ea typeface="+mn-ea"/>
                <a:cs typeface="+mn-cs"/>
              </a:rPr>
              <a:t> use the </a:t>
            </a:r>
            <a:r>
              <a:rPr lang="en-US" sz="1200" b="1" i="0" kern="1200" dirty="0">
                <a:solidFill>
                  <a:schemeClr val="tx1"/>
                </a:solidFill>
                <a:effectLst/>
                <a:latin typeface="+mn-lt"/>
                <a:ea typeface="+mn-ea"/>
                <a:cs typeface="+mn-cs"/>
              </a:rPr>
              <a:t>simulated states</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generated by your First-Principles (FP) model to construct the Jacobian (sensitivity matrix). This allows you to apply orthogonality even to latent/hidden states, making it compatible with nonlinear state-space formulations where full state measurement is impossible.</a:t>
            </a:r>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10</a:t>
            </a:fld>
            <a:endParaRPr lang="en-NL"/>
          </a:p>
        </p:txBody>
      </p:sp>
    </p:spTree>
    <p:extLst>
      <p:ext uri="{BB962C8B-B14F-4D97-AF65-F5344CB8AC3E}">
        <p14:creationId xmlns:p14="http://schemas.microsoft.com/office/powerpoint/2010/main" val="2802506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Why "EA continuously updates" is a problem for Orthogonality</a:t>
            </a:r>
            <a:r>
              <a:rPr lang="en-US" sz="1200" b="0" i="0" kern="1200" dirty="0">
                <a:solidFill>
                  <a:schemeClr val="tx1"/>
                </a:solidFill>
                <a:effectLst/>
                <a:latin typeface="+mn-lt"/>
                <a:ea typeface="+mn-ea"/>
                <a:cs typeface="+mn-cs"/>
              </a:rPr>
              <a:t> In standard "serial" grey-box modeling, you might fix the physical parameters and then train a network. But in your EA method, you are doing </a:t>
            </a:r>
            <a:r>
              <a:rPr lang="en-US" sz="1200" b="1" i="0" kern="1200" dirty="0">
                <a:solidFill>
                  <a:schemeClr val="tx1"/>
                </a:solidFill>
                <a:effectLst/>
                <a:latin typeface="+mn-lt"/>
                <a:ea typeface="+mn-ea"/>
                <a:cs typeface="+mn-cs"/>
              </a:rPr>
              <a:t>joint estimation</a:t>
            </a:r>
            <a:r>
              <a:rPr lang="en-US" sz="1200" b="0" i="0" kern="1200" dirty="0">
                <a:solidFill>
                  <a:schemeClr val="tx1"/>
                </a:solidFill>
                <a:effectLst/>
                <a:latin typeface="+mn-lt"/>
                <a:ea typeface="+mn-ea"/>
                <a:cs typeface="+mn-cs"/>
              </a:rPr>
              <a:t>—updating the mass/stiffness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 Logic:</a:t>
            </a:r>
            <a:r>
              <a:rPr lang="en-US" sz="1200" b="0" i="0" kern="1200" dirty="0">
                <a:solidFill>
                  <a:schemeClr val="tx1"/>
                </a:solidFill>
                <a:effectLst/>
                <a:latin typeface="+mn-lt"/>
                <a:ea typeface="+mn-ea"/>
                <a:cs typeface="+mn-cs"/>
              </a:rPr>
              <a:t> Even though the datasheets aren't perfect (that's why you are updating them), they capture the </a:t>
            </a:r>
            <a:r>
              <a:rPr lang="en-US" sz="1200" b="0" i="1" kern="1200" dirty="0">
                <a:solidFill>
                  <a:schemeClr val="tx1"/>
                </a:solidFill>
                <a:effectLst/>
                <a:latin typeface="+mn-lt"/>
                <a:ea typeface="+mn-ea"/>
                <a:cs typeface="+mn-cs"/>
              </a:rPr>
              <a:t>general</a:t>
            </a:r>
            <a:r>
              <a:rPr lang="en-US" sz="1200" b="0" i="0" kern="1200" dirty="0">
                <a:solidFill>
                  <a:schemeClr val="tx1"/>
                </a:solidFill>
                <a:effectLst/>
                <a:latin typeface="+mn-lt"/>
                <a:ea typeface="+mn-ea"/>
                <a:cs typeface="+mn-cs"/>
              </a:rPr>
              <a:t> rigid-body behavior (mass/geometry) correctly.</a:t>
            </a:r>
            <a:endParaRPr lang="en-US" dirty="0">
              <a:effectLst/>
            </a:endParaRPr>
          </a:p>
          <a:p>
            <a:endParaRPr lang="en-US" dirty="0">
              <a:effectLst/>
            </a:endParaRPr>
          </a:p>
          <a:p>
            <a:r>
              <a:rPr lang="en-US" dirty="0">
                <a:effectLst/>
              </a:rPr>
              <a:t>• </a:t>
            </a:r>
            <a:r>
              <a:rPr lang="en-US" b="1" dirty="0">
                <a:effectLst/>
              </a:rPr>
              <a:t>The Theoretical Ideal: Adaptive Orthogonality</a:t>
            </a:r>
            <a:endParaRPr lang="en-US" dirty="0">
              <a:effectLst/>
            </a:endParaRPr>
          </a:p>
          <a:p>
            <a:r>
              <a:rPr lang="en-US" dirty="0">
                <a:effectLst/>
              </a:rPr>
              <a:t>    ◦ To ensure strict orthogonality, we </a:t>
            </a:r>
            <a:r>
              <a:rPr lang="en-US" i="1" dirty="0">
                <a:effectLst/>
              </a:rPr>
              <a:t>should</a:t>
            </a:r>
            <a:r>
              <a:rPr lang="en-US" dirty="0">
                <a:effectLst/>
              </a:rPr>
              <a:t> re-linearize the physical model around the current </a:t>
            </a:r>
            <a:r>
              <a:rPr lang="en-US" sz="1200" i="1" kern="1200" dirty="0">
                <a:solidFill>
                  <a:schemeClr val="tx1"/>
                </a:solidFill>
                <a:effectLst/>
                <a:latin typeface="+mn-lt"/>
                <a:ea typeface="+mn-ea"/>
                <a:cs typeface="+mn-cs"/>
              </a:rPr>
              <a:t>θ</a:t>
            </a:r>
            <a:r>
              <a:rPr lang="en-US" sz="1200" kern="1200" dirty="0">
                <a:solidFill>
                  <a:schemeClr val="tx1"/>
                </a:solidFill>
                <a:effectLst/>
                <a:latin typeface="+mn-lt"/>
                <a:ea typeface="+mn-ea"/>
                <a:cs typeface="+mn-cs"/>
              </a:rPr>
              <a:t>^</a:t>
            </a:r>
            <a:r>
              <a:rPr lang="en-US" dirty="0">
                <a:effectLst/>
              </a:rPr>
              <a:t> at every iteration.</a:t>
            </a:r>
          </a:p>
          <a:p>
            <a:r>
              <a:rPr lang="en-US" dirty="0">
                <a:effectLst/>
              </a:rPr>
              <a:t>    ◦ </a:t>
            </a:r>
            <a:r>
              <a:rPr lang="en-US" b="1" dirty="0">
                <a:effectLst/>
              </a:rPr>
              <a:t>Drawback:</a:t>
            </a:r>
            <a:r>
              <a:rPr lang="en-US" dirty="0">
                <a:effectLst/>
              </a:rPr>
              <a:t> This requires re-computing the Jacobian and performing an SVD at every step, which is computationally prohibitive</a:t>
            </a:r>
          </a:p>
          <a:p>
            <a:endParaRPr lang="en-US" dirty="0"/>
          </a:p>
          <a:p>
            <a:r>
              <a:rPr lang="en-US" b="1" dirty="0">
                <a:effectLst/>
              </a:rPr>
              <a:t>The Practical Solution: Nominal Approximation</a:t>
            </a:r>
            <a:endParaRPr lang="en-US" dirty="0">
              <a:effectLst/>
            </a:endParaRPr>
          </a:p>
          <a:p>
            <a:r>
              <a:rPr lang="en-US" dirty="0">
                <a:effectLst/>
              </a:rPr>
              <a:t>    ◦ </a:t>
            </a:r>
            <a:r>
              <a:rPr lang="en-US" b="1" dirty="0">
                <a:effectLst/>
              </a:rPr>
              <a:t>Method:</a:t>
            </a:r>
            <a:r>
              <a:rPr lang="en-US" dirty="0">
                <a:effectLst/>
              </a:rPr>
              <a:t> We calculate the Jacobian and Projection Matrix (</a:t>
            </a:r>
            <a:r>
              <a:rPr lang="en-US" sz="1200" kern="1200" dirty="0">
                <a:solidFill>
                  <a:schemeClr val="tx1"/>
                </a:solidFill>
                <a:effectLst/>
                <a:latin typeface="+mn-lt"/>
                <a:ea typeface="+mn-ea"/>
                <a:cs typeface="+mn-cs"/>
              </a:rPr>
              <a:t>Π</a:t>
            </a:r>
            <a:r>
              <a:rPr lang="en-US" dirty="0">
                <a:effectLst/>
              </a:rPr>
              <a:t>) </a:t>
            </a:r>
            <a:r>
              <a:rPr lang="en-US" b="1" dirty="0">
                <a:effectLst/>
              </a:rPr>
              <a:t>once</a:t>
            </a:r>
            <a:r>
              <a:rPr lang="en-US" dirty="0">
                <a:effectLst/>
              </a:rPr>
              <a:t> at the start, using the nominal parameters (</a:t>
            </a:r>
            <a:r>
              <a:rPr lang="en-US" sz="1200" i="1" kern="1200" dirty="0">
                <a:solidFill>
                  <a:schemeClr val="tx1"/>
                </a:solidFill>
                <a:effectLst/>
                <a:latin typeface="+mn-lt"/>
                <a:ea typeface="+mn-ea"/>
                <a:cs typeface="+mn-cs"/>
              </a:rPr>
              <a:t>θ</a:t>
            </a:r>
            <a:r>
              <a:rPr lang="en-US" sz="1200" kern="1200" dirty="0">
                <a:solidFill>
                  <a:schemeClr val="tx1"/>
                </a:solidFill>
                <a:effectLst/>
                <a:latin typeface="+mn-lt"/>
                <a:ea typeface="+mn-ea"/>
                <a:cs typeface="+mn-cs"/>
              </a:rPr>
              <a:t>0​</a:t>
            </a:r>
            <a:r>
              <a:rPr lang="en-US" dirty="0">
                <a:effectLst/>
              </a:rPr>
              <a:t>) from the </a:t>
            </a:r>
            <a:r>
              <a:rPr lang="en-US" b="1" dirty="0">
                <a:effectLst/>
              </a:rPr>
              <a:t>Telica datasheets</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12</a:t>
            </a:fld>
            <a:endParaRPr lang="en-NL"/>
          </a:p>
        </p:txBody>
      </p:sp>
    </p:spTree>
    <p:extLst>
      <p:ext uri="{BB962C8B-B14F-4D97-AF65-F5344CB8AC3E}">
        <p14:creationId xmlns:p14="http://schemas.microsoft.com/office/powerpoint/2010/main" val="165234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OMNIPUS (</a:t>
            </a:r>
            <a:r>
              <a:rPr lang="en-US" dirty="0" err="1">
                <a:effectLst/>
              </a:rPr>
              <a:t>OptiMized</a:t>
            </a:r>
            <a:r>
              <a:rPr lang="en-US" dirty="0">
                <a:effectLst/>
              </a:rPr>
              <a:t> Nonlinear </a:t>
            </a:r>
            <a:r>
              <a:rPr lang="en-US" dirty="0" err="1">
                <a:effectLst/>
              </a:rPr>
              <a:t>InPUt</a:t>
            </a:r>
            <a:r>
              <a:rPr lang="en-US" dirty="0">
                <a:effectLst/>
              </a:rPr>
              <a:t> Signal)</a:t>
            </a:r>
          </a:p>
          <a:p>
            <a:r>
              <a:rPr lang="en-US" dirty="0">
                <a:effectLst/>
              </a:rPr>
              <a:t>• </a:t>
            </a:r>
            <a:r>
              <a:rPr lang="en-US" b="1" dirty="0">
                <a:effectLst/>
              </a:rPr>
              <a:t>What it is:</a:t>
            </a:r>
            <a:r>
              <a:rPr lang="en-US" dirty="0">
                <a:effectLst/>
              </a:rPr>
              <a:t> Instead of using standard white noise (which concentrates energy around zero), OMNIPUS generates </a:t>
            </a:r>
            <a:r>
              <a:rPr lang="en-US" b="1" dirty="0">
                <a:effectLst/>
              </a:rPr>
              <a:t>randomized step-like sequences</a:t>
            </a:r>
            <a:r>
              <a:rPr lang="en-US" dirty="0">
                <a:effectLst/>
              </a:rPr>
              <a:t>.</a:t>
            </a:r>
          </a:p>
          <a:p>
            <a:r>
              <a:rPr lang="en-US" dirty="0">
                <a:effectLst/>
              </a:rPr>
              <a:t>• </a:t>
            </a:r>
            <a:r>
              <a:rPr lang="en-US" b="1" dirty="0">
                <a:effectLst/>
              </a:rPr>
              <a:t>Why use it for the Gantry:</a:t>
            </a:r>
            <a:endParaRPr lang="en-US" dirty="0">
              <a:effectLst/>
            </a:endParaRPr>
          </a:p>
          <a:p>
            <a:r>
              <a:rPr lang="en-US" dirty="0">
                <a:effectLst/>
              </a:rPr>
              <a:t>    ◦ </a:t>
            </a:r>
            <a:r>
              <a:rPr lang="en-US" b="1" dirty="0">
                <a:effectLst/>
              </a:rPr>
              <a:t>Constraint Handling:</a:t>
            </a:r>
            <a:r>
              <a:rPr lang="en-US" dirty="0">
                <a:effectLst/>
              </a:rPr>
              <a:t> It respects physical limits (amplitude and gradients) while maximizing coverage of the operating space.</a:t>
            </a:r>
          </a:p>
          <a:p>
            <a:endParaRPr lang="en-US" dirty="0">
              <a:effectLst/>
            </a:endParaRPr>
          </a:p>
          <a:p>
            <a:r>
              <a:rPr lang="en-US" dirty="0">
                <a:effectLst/>
              </a:rPr>
              <a:t>2. Combining OMNIPUS with the "Wet-Clutch Trick"</a:t>
            </a:r>
          </a:p>
          <a:p>
            <a:r>
              <a:rPr lang="en-US" dirty="0">
                <a:effectLst/>
              </a:rPr>
              <a:t>You should explain this as a </a:t>
            </a:r>
            <a:r>
              <a:rPr lang="en-US" b="1" dirty="0">
                <a:effectLst/>
              </a:rPr>
              <a:t>"Global vs. Local" identification strategy</a:t>
            </a:r>
            <a:r>
              <a:rPr lang="en-US" dirty="0">
                <a:effectLst/>
              </a:rPr>
              <a:t>.</a:t>
            </a:r>
          </a:p>
          <a:p>
            <a:r>
              <a:rPr lang="en-US" dirty="0">
                <a:effectLst/>
              </a:rPr>
              <a:t>• </a:t>
            </a:r>
            <a:r>
              <a:rPr lang="en-US" b="1" dirty="0">
                <a:effectLst/>
              </a:rPr>
              <a:t>OMNIPUS (Global Position):</a:t>
            </a:r>
            <a:r>
              <a:rPr lang="en-US" dirty="0">
                <a:effectLst/>
              </a:rPr>
              <a:t> Use the randomized steps of OMNIPUS to move the gantry to specific positions (</a:t>
            </a:r>
            <a:r>
              <a:rPr lang="en-US" sz="1200" i="1" kern="1200" dirty="0" err="1">
                <a:solidFill>
                  <a:schemeClr val="tx1"/>
                </a:solidFill>
                <a:effectLst/>
                <a:latin typeface="+mn-lt"/>
                <a:ea typeface="+mn-ea"/>
                <a:cs typeface="+mn-cs"/>
              </a:rPr>
              <a:t>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y</a:t>
            </a:r>
            <a:r>
              <a:rPr lang="en-US" dirty="0">
                <a:effectLst/>
              </a:rPr>
              <a:t>) within the workspace. This handles the </a:t>
            </a:r>
            <a:r>
              <a:rPr lang="en-US" b="1" dirty="0">
                <a:effectLst/>
              </a:rPr>
              <a:t>position-dependent</a:t>
            </a:r>
            <a:r>
              <a:rPr lang="en-US" dirty="0">
                <a:effectLst/>
              </a:rPr>
              <a:t> nature of the system (moving to where the stiffness changes).</a:t>
            </a:r>
          </a:p>
          <a:p>
            <a:r>
              <a:rPr lang="en-US" dirty="0">
                <a:effectLst/>
              </a:rPr>
              <a:t>• </a:t>
            </a:r>
            <a:r>
              <a:rPr lang="en-US" b="1" dirty="0">
                <a:effectLst/>
              </a:rPr>
              <a:t>Wet-Clutch Trick (Local Dynamics):</a:t>
            </a:r>
            <a:r>
              <a:rPr lang="en-US" dirty="0">
                <a:effectLst/>
              </a:rPr>
              <a:t> Once the OMNIPUS signal holds the gantry at a specific "step" (regime point), you superimpose a </a:t>
            </a:r>
            <a:r>
              <a:rPr lang="en-US" b="1" dirty="0">
                <a:effectLst/>
              </a:rPr>
              <a:t>small-amplitude </a:t>
            </a:r>
            <a:r>
              <a:rPr lang="en-US" b="1" dirty="0" err="1">
                <a:effectLst/>
              </a:rPr>
              <a:t>Multisine</a:t>
            </a:r>
            <a:r>
              <a:rPr lang="en-US" dirty="0">
                <a:effectLst/>
              </a:rPr>
              <a:t>.</a:t>
            </a:r>
          </a:p>
          <a:p>
            <a:r>
              <a:rPr lang="en-US" dirty="0">
                <a:effectLst/>
              </a:rPr>
              <a:t>    ◦ </a:t>
            </a:r>
            <a:r>
              <a:rPr lang="en-US" i="1" dirty="0">
                <a:effectLst/>
              </a:rPr>
              <a:t>Purpose:</a:t>
            </a:r>
            <a:r>
              <a:rPr lang="en-US" dirty="0">
                <a:effectLst/>
              </a:rPr>
              <a:t> This excites the </a:t>
            </a:r>
            <a:r>
              <a:rPr lang="en-US" b="1" dirty="0">
                <a:effectLst/>
              </a:rPr>
              <a:t>local</a:t>
            </a:r>
            <a:r>
              <a:rPr lang="en-US" dirty="0">
                <a:effectLst/>
              </a:rPr>
              <a:t> flexible modes (resonances) </a:t>
            </a:r>
            <a:r>
              <a:rPr lang="en-US" i="1" dirty="0">
                <a:effectLst/>
              </a:rPr>
              <a:t>at that specific position</a:t>
            </a:r>
            <a:r>
              <a:rPr lang="en-US" dirty="0">
                <a:effectLst/>
              </a:rPr>
              <a:t>.</a:t>
            </a:r>
          </a:p>
          <a:p>
            <a:r>
              <a:rPr lang="en-US" dirty="0">
                <a:effectLst/>
              </a:rPr>
              <a:t>    ◦ </a:t>
            </a:r>
            <a:r>
              <a:rPr lang="en-US" i="1" dirty="0">
                <a:effectLst/>
              </a:rPr>
              <a:t>Result:</a:t>
            </a:r>
            <a:r>
              <a:rPr lang="en-US" dirty="0">
                <a:effectLst/>
              </a:rPr>
              <a:t> You get a high-fidelity snapshot of the frequency response (stiffness/damping) at every critical position in the workspace, solving the "moving resonance" problem .</a:t>
            </a:r>
          </a:p>
          <a:p>
            <a:endParaRPr lang="en-US" dirty="0">
              <a:effectLst/>
            </a:endParaRPr>
          </a:p>
          <a:p>
            <a:r>
              <a:rPr lang="en-US" dirty="0">
                <a:effectLst/>
              </a:rPr>
              <a:t>• </a:t>
            </a:r>
            <a:r>
              <a:rPr lang="en-US" b="1" dirty="0">
                <a:effectLst/>
              </a:rPr>
              <a:t>The Solution:</a:t>
            </a:r>
            <a:r>
              <a:rPr lang="en-US" dirty="0">
                <a:effectLst/>
              </a:rPr>
              <a:t> HILOMOT is an algorithm that </a:t>
            </a:r>
            <a:r>
              <a:rPr lang="en-US" b="1" dirty="0">
                <a:effectLst/>
              </a:rPr>
              <a:t>automatically partitions the input space</a:t>
            </a:r>
            <a:r>
              <a:rPr lang="en-US" dirty="0">
                <a:effectLst/>
              </a:rPr>
              <a:t>.</a:t>
            </a:r>
          </a:p>
          <a:p>
            <a:r>
              <a:rPr lang="en-US" dirty="0">
                <a:effectLst/>
              </a:rPr>
              <a:t>Because cant visit every coordinate</a:t>
            </a:r>
          </a:p>
          <a:p>
            <a:r>
              <a:rPr lang="en-US" dirty="0">
                <a:effectLst/>
              </a:rPr>
              <a:t>• </a:t>
            </a:r>
            <a:r>
              <a:rPr lang="en-US" b="1" dirty="0">
                <a:effectLst/>
              </a:rPr>
              <a:t>How it works:</a:t>
            </a:r>
            <a:endParaRPr lang="en-US" dirty="0">
              <a:effectLst/>
            </a:endParaRPr>
          </a:p>
          <a:p>
            <a:r>
              <a:rPr lang="en-US" dirty="0">
                <a:effectLst/>
              </a:rPr>
              <a:t>    1. Start with a single global linear model for the whole gantry workspace.</a:t>
            </a:r>
          </a:p>
          <a:p>
            <a:r>
              <a:rPr lang="en-US" dirty="0">
                <a:effectLst/>
              </a:rPr>
              <a:t>    2. Calculate the local error across the workspace.</a:t>
            </a:r>
          </a:p>
          <a:p>
            <a:r>
              <a:rPr lang="en-US" dirty="0">
                <a:effectLst/>
              </a:rPr>
              <a:t>    3. </a:t>
            </a:r>
            <a:r>
              <a:rPr lang="en-US" b="1" dirty="0">
                <a:effectLst/>
              </a:rPr>
              <a:t>Split the space:</a:t>
            </a:r>
            <a:r>
              <a:rPr lang="en-US" dirty="0">
                <a:effectLst/>
              </a:rPr>
              <a:t> The algorithm automatically splits the input space (the XY positions) into two halves at the location where the local error is worst.</a:t>
            </a:r>
          </a:p>
          <a:p>
            <a:r>
              <a:rPr lang="en-US" dirty="0">
                <a:effectLst/>
              </a:rPr>
              <a:t>    4. </a:t>
            </a:r>
            <a:r>
              <a:rPr lang="en-US" b="1" dirty="0">
                <a:effectLst/>
              </a:rPr>
              <a:t>Repeat:</a:t>
            </a:r>
            <a:r>
              <a:rPr lang="en-US" dirty="0">
                <a:effectLst/>
              </a:rPr>
              <a:t> It continues to split these regions into smaller "leaves" (local models) until the error is acceptable everywhere [Source 0, 87].</a:t>
            </a:r>
          </a:p>
          <a:p>
            <a:endParaRPr lang="en-US" dirty="0">
              <a:effectLst/>
            </a:endParaRP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Why for Gantry:</a:t>
            </a:r>
            <a:r>
              <a:rPr lang="en-US" sz="1200" b="0" i="0" kern="1200" dirty="0">
                <a:solidFill>
                  <a:schemeClr val="tx1"/>
                </a:solidFill>
                <a:effectLst/>
                <a:latin typeface="+mn-lt"/>
                <a:ea typeface="+mn-ea"/>
                <a:cs typeface="+mn-cs"/>
              </a:rPr>
              <a:t> This is ideal for position-dependent stiffness because it will automatically place more regime points in areas where the stiffness changes rapidly (likely near the center of the travel range) and fewer points where behavior is linear/consistent (near the supports) [Source 0, 87].</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13</a:t>
            </a:fld>
            <a:endParaRPr lang="en-NL"/>
          </a:p>
        </p:txBody>
      </p:sp>
    </p:spTree>
    <p:extLst>
      <p:ext uri="{BB962C8B-B14F-4D97-AF65-F5344CB8AC3E}">
        <p14:creationId xmlns:p14="http://schemas.microsoft.com/office/powerpoint/2010/main" val="230865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The Garcia-Herreros paper demonstrates that </a:t>
            </a:r>
            <a:r>
              <a:rPr lang="en-US" b="1" dirty="0">
                <a:effectLst/>
              </a:rPr>
              <a:t>Modal Decoupling</a:t>
            </a:r>
            <a:r>
              <a:rPr lang="en-US" dirty="0">
                <a:effectLst/>
              </a:rPr>
              <a:t> (separating Translation </a:t>
            </a:r>
            <a:r>
              <a:rPr lang="en-US" sz="1200" i="1" kern="1200" dirty="0">
                <a:solidFill>
                  <a:schemeClr val="tx1"/>
                </a:solidFill>
                <a:effectLst/>
                <a:latin typeface="+mn-lt"/>
                <a:ea typeface="+mn-ea"/>
                <a:cs typeface="+mn-cs"/>
              </a:rPr>
              <a:t>X</a:t>
            </a:r>
            <a:r>
              <a:rPr lang="en-US" dirty="0">
                <a:effectLst/>
              </a:rPr>
              <a:t> and Rotation </a:t>
            </a:r>
            <a:r>
              <a:rPr lang="en-US" sz="1200" kern="1200" dirty="0">
                <a:solidFill>
                  <a:schemeClr val="tx1"/>
                </a:solidFill>
                <a:effectLst/>
                <a:latin typeface="+mn-lt"/>
                <a:ea typeface="+mn-ea"/>
                <a:cs typeface="+mn-cs"/>
              </a:rPr>
              <a:t>Θ</a:t>
            </a:r>
            <a:r>
              <a:rPr lang="en-US" dirty="0">
                <a:effectLst/>
              </a:rPr>
              <a:t>) reduces error by 50% compared to </a:t>
            </a:r>
            <a:r>
              <a:rPr lang="en-US" b="1" dirty="0">
                <a:effectLst/>
              </a:rPr>
              <a:t>Independent SISO</a:t>
            </a:r>
            <a:r>
              <a:rPr lang="en-US" dirty="0">
                <a:effectLst/>
              </a:rPr>
              <a:t> control.</a:t>
            </a:r>
          </a:p>
          <a:p>
            <a:r>
              <a:rPr lang="en-US" dirty="0">
                <a:effectLst/>
              </a:rPr>
              <a:t>However, my notes indicate we cannot implement this decoupling strategy, likely due to the </a:t>
            </a:r>
            <a:r>
              <a:rPr lang="en-US" b="1" dirty="0">
                <a:effectLst/>
              </a:rPr>
              <a:t>ETEL hardware constraints</a:t>
            </a:r>
            <a:r>
              <a:rPr lang="en-US" dirty="0">
                <a:effectLst/>
              </a:rPr>
              <a:t> preventing us from modifying the feedback loop topology.</a:t>
            </a:r>
          </a:p>
          <a:p>
            <a:r>
              <a:rPr lang="en-US" b="1" dirty="0">
                <a:effectLst/>
              </a:rPr>
              <a:t>Therefore:</a:t>
            </a:r>
            <a:r>
              <a:rPr lang="en-US" dirty="0">
                <a:effectLst/>
              </a:rPr>
              <a:t> Should my Neural Network assume the baseline operates in </a:t>
            </a:r>
            <a:r>
              <a:rPr lang="en-US" b="1" dirty="0">
                <a:effectLst/>
              </a:rPr>
              <a:t>'Independent/Master-Master'</a:t>
            </a:r>
            <a:r>
              <a:rPr lang="en-US" dirty="0">
                <a:effectLst/>
              </a:rPr>
              <a:t> mode? If so, my Network must specifically learn the </a:t>
            </a:r>
            <a:r>
              <a:rPr lang="en-US" b="1" dirty="0">
                <a:effectLst/>
              </a:rPr>
              <a:t>mechanical coupling terms</a:t>
            </a:r>
            <a:r>
              <a:rPr lang="en-US" dirty="0">
                <a:effectLst/>
              </a:rPr>
              <a: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a:t>
            </a:r>
            <a:r>
              <a:rPr lang="en-US" dirty="0">
                <a:effectLst/>
              </a:rPr>
              <a:t> interaction) that the Modal strategy </a:t>
            </a:r>
            <a:r>
              <a:rPr lang="en-US" i="1" dirty="0">
                <a:effectLst/>
              </a:rPr>
              <a:t>would</a:t>
            </a:r>
            <a:r>
              <a:rPr lang="en-US" dirty="0">
                <a:effectLst/>
              </a:rPr>
              <a:t> have removed, but the Independent strategy ignores.</a:t>
            </a: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14</a:t>
            </a:fld>
            <a:endParaRPr lang="en-NL"/>
          </a:p>
        </p:txBody>
      </p:sp>
    </p:spTree>
    <p:extLst>
      <p:ext uri="{BB962C8B-B14F-4D97-AF65-F5344CB8AC3E}">
        <p14:creationId xmlns:p14="http://schemas.microsoft.com/office/powerpoint/2010/main" val="604880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5DC4-0EC7-970E-790B-6C47F15B5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975EB-28CE-F919-8DAB-A0F7470AB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DAE174-ACF2-C982-DF53-13A301FB88A0}"/>
              </a:ext>
            </a:extLst>
          </p:cNvPr>
          <p:cNvSpPr>
            <a:spLocks noGrp="1"/>
          </p:cNvSpPr>
          <p:nvPr>
            <p:ph type="body" idx="1"/>
          </p:nvPr>
        </p:nvSpPr>
        <p:spPr/>
        <p:txBody>
          <a:bodyPr/>
          <a:lstStyle/>
          <a:p>
            <a:r>
              <a:rPr lang="en-US" dirty="0">
                <a:effectLst/>
              </a:rPr>
              <a:t>The Garcia-Herreros paper demonstrates that </a:t>
            </a:r>
            <a:r>
              <a:rPr lang="en-US" b="1" dirty="0">
                <a:effectLst/>
              </a:rPr>
              <a:t>Modal Decoupling</a:t>
            </a:r>
            <a:r>
              <a:rPr lang="en-US" dirty="0">
                <a:effectLst/>
              </a:rPr>
              <a:t> (separating Translation </a:t>
            </a:r>
            <a:r>
              <a:rPr lang="en-US" sz="1200" i="1" kern="1200" dirty="0">
                <a:solidFill>
                  <a:schemeClr val="tx1"/>
                </a:solidFill>
                <a:effectLst/>
                <a:latin typeface="+mn-lt"/>
                <a:ea typeface="+mn-ea"/>
                <a:cs typeface="+mn-cs"/>
              </a:rPr>
              <a:t>X</a:t>
            </a:r>
            <a:r>
              <a:rPr lang="en-US" dirty="0">
                <a:effectLst/>
              </a:rPr>
              <a:t> and Rotation </a:t>
            </a:r>
            <a:r>
              <a:rPr lang="en-US" sz="1200" kern="1200" dirty="0">
                <a:solidFill>
                  <a:schemeClr val="tx1"/>
                </a:solidFill>
                <a:effectLst/>
                <a:latin typeface="+mn-lt"/>
                <a:ea typeface="+mn-ea"/>
                <a:cs typeface="+mn-cs"/>
              </a:rPr>
              <a:t>Θ</a:t>
            </a:r>
            <a:r>
              <a:rPr lang="en-US" dirty="0">
                <a:effectLst/>
              </a:rPr>
              <a:t>) reduces error by 50% compared to </a:t>
            </a:r>
            <a:r>
              <a:rPr lang="en-US" b="1" dirty="0">
                <a:effectLst/>
              </a:rPr>
              <a:t>Independent SISO</a:t>
            </a:r>
            <a:r>
              <a:rPr lang="en-US" dirty="0">
                <a:effectLst/>
              </a:rPr>
              <a:t> control.</a:t>
            </a:r>
          </a:p>
          <a:p>
            <a:r>
              <a:rPr lang="en-US" dirty="0">
                <a:effectLst/>
              </a:rPr>
              <a:t>However, my notes indicate we cannot implement this decoupling strategy, likely due to the </a:t>
            </a:r>
            <a:r>
              <a:rPr lang="en-US" b="1" dirty="0">
                <a:effectLst/>
              </a:rPr>
              <a:t>ETEL hardware constraints</a:t>
            </a:r>
            <a:r>
              <a:rPr lang="en-US" dirty="0">
                <a:effectLst/>
              </a:rPr>
              <a:t> preventing us from modifying the feedback loop topology.</a:t>
            </a:r>
          </a:p>
          <a:p>
            <a:r>
              <a:rPr lang="en-US" b="1" dirty="0">
                <a:effectLst/>
              </a:rPr>
              <a:t>Therefore:</a:t>
            </a:r>
            <a:r>
              <a:rPr lang="en-US" dirty="0">
                <a:effectLst/>
              </a:rPr>
              <a:t> Should my Neural Network assume the baseline operates in </a:t>
            </a:r>
            <a:r>
              <a:rPr lang="en-US" b="1" dirty="0">
                <a:effectLst/>
              </a:rPr>
              <a:t>'Independent/Master-Master'</a:t>
            </a:r>
            <a:r>
              <a:rPr lang="en-US" dirty="0">
                <a:effectLst/>
              </a:rPr>
              <a:t> mode? If so, my Network must specifically learn the </a:t>
            </a:r>
            <a:r>
              <a:rPr lang="en-US" b="1" dirty="0">
                <a:effectLst/>
              </a:rPr>
              <a:t>mechanical coupling terms</a:t>
            </a:r>
            <a:r>
              <a:rPr lang="en-US" dirty="0">
                <a:effectLst/>
              </a:rPr>
              <a: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a:t>
            </a:r>
            <a:r>
              <a:rPr lang="en-US" dirty="0">
                <a:effectLst/>
              </a:rPr>
              <a:t> interaction) that the Modal strategy </a:t>
            </a:r>
            <a:r>
              <a:rPr lang="en-US" i="1" dirty="0">
                <a:effectLst/>
              </a:rPr>
              <a:t>would</a:t>
            </a:r>
            <a:r>
              <a:rPr lang="en-US" dirty="0">
                <a:effectLst/>
              </a:rPr>
              <a:t> have removed, but the Independent strategy ignores.</a:t>
            </a:r>
          </a:p>
          <a:p>
            <a:endParaRPr lang="en-US" dirty="0"/>
          </a:p>
          <a:p>
            <a:r>
              <a:rPr lang="en-US" dirty="0"/>
              <a:t>master–master/independent control</a:t>
            </a:r>
          </a:p>
          <a:p>
            <a:endParaRPr lang="en-US" dirty="0"/>
          </a:p>
          <a:p>
            <a:r>
              <a:rPr lang="en-US" dirty="0">
                <a:effectLst/>
              </a:rPr>
              <a:t>1. What are "Static Coupling Terms"?</a:t>
            </a:r>
          </a:p>
          <a:p>
            <a:r>
              <a:rPr lang="en-US" dirty="0">
                <a:effectLst/>
              </a:rPr>
              <a:t>In the context of the First Principles (FP) model for a dual-gantry, </a:t>
            </a:r>
            <a:r>
              <a:rPr lang="en-US" b="1" dirty="0">
                <a:effectLst/>
              </a:rPr>
              <a:t>static coupling terms</a:t>
            </a:r>
            <a:r>
              <a:rPr lang="en-US" dirty="0">
                <a:effectLst/>
              </a:rPr>
              <a:t> are the specific coefficients in the equations of motion that mathematically link the behavior of Axis 1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a:t>
            </a:r>
            <a:r>
              <a:rPr lang="en-US" dirty="0">
                <a:effectLst/>
              </a:rPr>
              <a:t>) to Axis 2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a:t>
            </a:r>
            <a:r>
              <a:rPr lang="en-US" dirty="0">
                <a:effectLst/>
              </a:rPr>
              <a:t>). If these terms are present (non-zero), the model predicts that moving one motor will physically pull or push the other.</a:t>
            </a:r>
          </a:p>
          <a:p>
            <a:r>
              <a:rPr lang="en-US" sz="1200" b="1" i="0" kern="1200" dirty="0">
                <a:solidFill>
                  <a:schemeClr val="tx1"/>
                </a:solidFill>
                <a:effectLst/>
                <a:latin typeface="+mn-lt"/>
                <a:ea typeface="+mn-ea"/>
                <a:cs typeface="+mn-cs"/>
              </a:rPr>
              <a:t>Why you are asking this:</a:t>
            </a:r>
            <a:r>
              <a:rPr lang="en-US" sz="1200" b="0" i="0" kern="1200" dirty="0">
                <a:solidFill>
                  <a:schemeClr val="tx1"/>
                </a:solidFill>
                <a:effectLst/>
                <a:latin typeface="+mn-lt"/>
                <a:ea typeface="+mn-ea"/>
                <a:cs typeface="+mn-cs"/>
              </a:rPr>
              <a:t> You need to know if their FP model includes these terms (a </a:t>
            </a:r>
            <a:r>
              <a:rPr lang="en-US" sz="1200" b="1" i="0" kern="1200" dirty="0">
                <a:solidFill>
                  <a:schemeClr val="tx1"/>
                </a:solidFill>
                <a:effectLst/>
                <a:latin typeface="+mn-lt"/>
                <a:ea typeface="+mn-ea"/>
                <a:cs typeface="+mn-cs"/>
              </a:rPr>
              <a:t>Coupled MIMO</a:t>
            </a:r>
            <a:r>
              <a:rPr lang="en-US" sz="1200" b="0" i="0" kern="1200" dirty="0">
                <a:solidFill>
                  <a:schemeClr val="tx1"/>
                </a:solidFill>
                <a:effectLst/>
                <a:latin typeface="+mn-lt"/>
                <a:ea typeface="+mn-ea"/>
                <a:cs typeface="+mn-cs"/>
              </a:rPr>
              <a:t> model) or if it sets them to zero (two </a:t>
            </a:r>
            <a:r>
              <a:rPr lang="en-US" sz="1200" b="1" i="0" kern="1200" dirty="0">
                <a:solidFill>
                  <a:schemeClr val="tx1"/>
                </a:solidFill>
                <a:effectLst/>
                <a:latin typeface="+mn-lt"/>
                <a:ea typeface="+mn-ea"/>
                <a:cs typeface="+mn-cs"/>
              </a:rPr>
              <a:t>Independent SISO</a:t>
            </a:r>
            <a:r>
              <a:rPr lang="en-US" sz="1200" b="0" i="0" kern="1200" dirty="0">
                <a:solidFill>
                  <a:schemeClr val="tx1"/>
                </a:solidFill>
                <a:effectLst/>
                <a:latin typeface="+mn-lt"/>
                <a:ea typeface="+mn-ea"/>
                <a:cs typeface="+mn-cs"/>
              </a:rPr>
              <a:t> models).</a:t>
            </a:r>
            <a:endParaRPr lang="en-NL" dirty="0"/>
          </a:p>
        </p:txBody>
      </p:sp>
      <p:sp>
        <p:nvSpPr>
          <p:cNvPr id="4" name="Slide Number Placeholder 3">
            <a:extLst>
              <a:ext uri="{FF2B5EF4-FFF2-40B4-BE49-F238E27FC236}">
                <a16:creationId xmlns:a16="http://schemas.microsoft.com/office/drawing/2014/main" id="{804C93D3-D2F6-55EF-2E37-70C78A9251A5}"/>
              </a:ext>
            </a:extLst>
          </p:cNvPr>
          <p:cNvSpPr>
            <a:spLocks noGrp="1"/>
          </p:cNvSpPr>
          <p:nvPr>
            <p:ph type="sldNum" sz="quarter" idx="5"/>
          </p:nvPr>
        </p:nvSpPr>
        <p:spPr/>
        <p:txBody>
          <a:bodyPr/>
          <a:lstStyle/>
          <a:p>
            <a:fld id="{86C44169-D6FA-4340-A8EA-FDCA4A57CBC5}" type="slidenum">
              <a:rPr lang="en-NL" smtClean="0"/>
              <a:t>15</a:t>
            </a:fld>
            <a:endParaRPr lang="en-NL"/>
          </a:p>
        </p:txBody>
      </p:sp>
    </p:spTree>
    <p:extLst>
      <p:ext uri="{BB962C8B-B14F-4D97-AF65-F5344CB8AC3E}">
        <p14:creationId xmlns:p14="http://schemas.microsoft.com/office/powerpoint/2010/main" val="1661235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What the </a:t>
            </a:r>
            <a:r>
              <a:rPr lang="en-US" sz="1200" b="0" i="0" kern="1200" dirty="0" err="1">
                <a:solidFill>
                  <a:schemeClr val="tx1"/>
                </a:solidFill>
                <a:effectLst/>
                <a:latin typeface="+mn-lt"/>
                <a:ea typeface="+mn-ea"/>
                <a:cs typeface="+mn-cs"/>
              </a:rPr>
              <a:t>augmentend</a:t>
            </a:r>
            <a:r>
              <a:rPr lang="en-US" sz="1200" b="0" i="0" kern="1200" dirty="0">
                <a:solidFill>
                  <a:schemeClr val="tx1"/>
                </a:solidFill>
                <a:effectLst/>
                <a:latin typeface="+mn-lt"/>
                <a:ea typeface="+mn-ea"/>
                <a:cs typeface="+mn-cs"/>
              </a:rPr>
              <a:t> model should capture.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Does enforcing a static orthogonality constraint based on center-dynamics create a validity gap at the workspace extremities?</a:t>
            </a:r>
            <a:r>
              <a:rPr lang="en-US" sz="1200" b="0" i="0" kern="1200" dirty="0">
                <a:solidFill>
                  <a:schemeClr val="tx1"/>
                </a:solidFill>
                <a:effectLst/>
                <a:latin typeface="+mn-lt"/>
                <a:ea typeface="+mn-ea"/>
                <a:cs typeface="+mn-cs"/>
              </a:rPr>
              <a:t> Specifically, do we risk incorrectly penalizing the Neural Network for learning valid local stiffness variations at the corners because they fall into the 'forbidden subspace' defined only for the center?“</a:t>
            </a:r>
          </a:p>
          <a:p>
            <a:endParaRPr lang="en-US" sz="1200" b="0" i="0" kern="1200" dirty="0">
              <a:solidFill>
                <a:schemeClr val="tx1"/>
              </a:solidFill>
              <a:effectLst/>
              <a:latin typeface="+mn-lt"/>
              <a:ea typeface="+mn-ea"/>
              <a:cs typeface="+mn-cs"/>
            </a:endParaRPr>
          </a:p>
          <a:p>
            <a:r>
              <a:rPr lang="en-US" i="1" dirty="0">
                <a:effectLst/>
              </a:rPr>
              <a:t>Reasoning:</a:t>
            </a:r>
            <a:r>
              <a:rPr lang="en-US" dirty="0">
                <a:effectLst/>
              </a:rPr>
              <a:t> If modes are missing, I must prioritize the </a:t>
            </a:r>
            <a:r>
              <a:rPr lang="en-US" b="1" dirty="0">
                <a:effectLst/>
              </a:rPr>
              <a:t>Subspace Encoder</a:t>
            </a:r>
            <a:r>
              <a:rPr lang="en-US" dirty="0">
                <a:effectLst/>
              </a:rPr>
              <a:t> to 'discover' them. If it is just complex forces, I can focus on </a:t>
            </a:r>
            <a:r>
              <a:rPr lang="en-US" b="1" dirty="0">
                <a:effectLst/>
              </a:rPr>
              <a:t>Neural Network Augmentation</a:t>
            </a:r>
            <a:r>
              <a:rPr lang="en-US" dirty="0">
                <a:effectLst/>
              </a:rPr>
              <a:t> to learn the nonlinear map."</a:t>
            </a:r>
          </a:p>
          <a:p>
            <a:br>
              <a:rPr lang="en-US" dirty="0"/>
            </a:br>
            <a:endParaRPr lang="en-US" dirty="0"/>
          </a:p>
          <a:p>
            <a:r>
              <a:rPr lang="en-US" sz="1200" b="1" i="0" kern="1200" dirty="0">
                <a:solidFill>
                  <a:schemeClr val="tx1"/>
                </a:solidFill>
                <a:effectLst/>
                <a:latin typeface="+mn-lt"/>
                <a:ea typeface="+mn-ea"/>
                <a:cs typeface="+mn-cs"/>
              </a:rPr>
              <a:t>Gantry Paper</a:t>
            </a:r>
            <a:r>
              <a:rPr lang="en-US" sz="1200" b="0" i="0" kern="1200" dirty="0">
                <a:solidFill>
                  <a:schemeClr val="tx1"/>
                </a:solidFill>
                <a:effectLst/>
                <a:latin typeface="+mn-lt"/>
                <a:ea typeface="+mn-ea"/>
                <a:cs typeface="+mn-cs"/>
              </a:rPr>
              <a:t> explicitly states that </a:t>
            </a:r>
            <a:r>
              <a:rPr lang="en-US" sz="1200" b="1" i="0" kern="1200" dirty="0">
                <a:solidFill>
                  <a:schemeClr val="tx1"/>
                </a:solidFill>
                <a:effectLst/>
                <a:latin typeface="+mn-lt"/>
                <a:ea typeface="+mn-ea"/>
                <a:cs typeface="+mn-cs"/>
              </a:rPr>
              <a:t>base frame resonances</a:t>
            </a:r>
            <a:r>
              <a:rPr lang="en-US" sz="1200" b="0" i="0" kern="1200" dirty="0">
                <a:solidFill>
                  <a:schemeClr val="tx1"/>
                </a:solidFill>
                <a:effectLst/>
                <a:latin typeface="+mn-lt"/>
                <a:ea typeface="+mn-ea"/>
                <a:cs typeface="+mn-cs"/>
              </a:rPr>
              <a:t> were </a:t>
            </a:r>
            <a:r>
              <a:rPr lang="en-US" sz="1200" b="0" i="1" kern="1200" dirty="0">
                <a:solidFill>
                  <a:schemeClr val="tx1"/>
                </a:solidFill>
                <a:effectLst/>
                <a:latin typeface="+mn-lt"/>
                <a:ea typeface="+mn-ea"/>
                <a:cs typeface="+mn-cs"/>
              </a:rPr>
              <a:t>unknown/ignored</a:t>
            </a:r>
            <a:r>
              <a:rPr lang="en-US" sz="1200" b="0" i="0" kern="1200" dirty="0">
                <a:solidFill>
                  <a:schemeClr val="tx1"/>
                </a:solidFill>
                <a:effectLst/>
                <a:latin typeface="+mn-lt"/>
                <a:ea typeface="+mn-ea"/>
                <a:cs typeface="+mn-cs"/>
              </a:rPr>
              <a:t> until observed in data (requiring Extension), while </a:t>
            </a:r>
            <a:r>
              <a:rPr lang="en-US" sz="1200" b="1" i="0" kern="1200" dirty="0">
                <a:solidFill>
                  <a:schemeClr val="tx1"/>
                </a:solidFill>
                <a:effectLst/>
                <a:latin typeface="+mn-lt"/>
                <a:ea typeface="+mn-ea"/>
                <a:cs typeface="+mn-cs"/>
              </a:rPr>
              <a:t>detent forces</a:t>
            </a:r>
            <a:r>
              <a:rPr lang="en-US" sz="1200" b="0" i="0" kern="1200" dirty="0">
                <a:solidFill>
                  <a:schemeClr val="tx1"/>
                </a:solidFill>
                <a:effectLst/>
                <a:latin typeface="+mn-lt"/>
                <a:ea typeface="+mn-ea"/>
                <a:cs typeface="+mn-cs"/>
              </a:rPr>
              <a:t> were </a:t>
            </a:r>
            <a:r>
              <a:rPr lang="en-US" sz="1200" b="0" i="1" kern="1200" dirty="0">
                <a:solidFill>
                  <a:schemeClr val="tx1"/>
                </a:solidFill>
                <a:effectLst/>
                <a:latin typeface="+mn-lt"/>
                <a:ea typeface="+mn-ea"/>
                <a:cs typeface="+mn-cs"/>
              </a:rPr>
              <a:t>known</a:t>
            </a:r>
            <a:r>
              <a:rPr lang="en-US" sz="1200" b="0" i="0" kern="1200" dirty="0">
                <a:solidFill>
                  <a:schemeClr val="tx1"/>
                </a:solidFill>
                <a:effectLst/>
                <a:latin typeface="+mn-lt"/>
                <a:ea typeface="+mn-ea"/>
                <a:cs typeface="+mn-cs"/>
              </a:rPr>
              <a:t> but "not considered within the model" because they were too complex/distracting for the control strategy (requiring Augmentation)</a:t>
            </a:r>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16</a:t>
            </a:fld>
            <a:endParaRPr lang="en-NL"/>
          </a:p>
        </p:txBody>
      </p:sp>
    </p:spTree>
    <p:extLst>
      <p:ext uri="{BB962C8B-B14F-4D97-AF65-F5344CB8AC3E}">
        <p14:creationId xmlns:p14="http://schemas.microsoft.com/office/powerpoint/2010/main" val="157242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E716A-ABF2-210B-1830-3A63C06D1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7D8E3-25AC-6E86-50F3-8E47C7585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8B7EF-D84C-F73F-17A5-AD136FF82923}"/>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Does enforcing a static orthogonality constraint based on center-dynamics create a validity gap at the workspace extremities?</a:t>
            </a:r>
            <a:r>
              <a:rPr lang="en-US" sz="1200" b="0" i="0" kern="1200" dirty="0">
                <a:solidFill>
                  <a:schemeClr val="tx1"/>
                </a:solidFill>
                <a:effectLst/>
                <a:latin typeface="+mn-lt"/>
                <a:ea typeface="+mn-ea"/>
                <a:cs typeface="+mn-cs"/>
              </a:rPr>
              <a:t> Specifically, do we risk incorrectly penalizing the Neural Network for learning valid local stiffness variations at the corners because they fall into the 'forbidden subspace' defined only for the center?“</a:t>
            </a:r>
          </a:p>
          <a:p>
            <a:endParaRPr lang="en-US" sz="1200" b="0" i="0" kern="1200" dirty="0">
              <a:solidFill>
                <a:schemeClr val="tx1"/>
              </a:solidFill>
              <a:effectLst/>
              <a:latin typeface="+mn-lt"/>
              <a:ea typeface="+mn-ea"/>
              <a:cs typeface="+mn-cs"/>
            </a:endParaRPr>
          </a:p>
          <a:p>
            <a:r>
              <a:rPr lang="en-US" b="1" dirty="0"/>
              <a:t>Direct Inversion:</a:t>
            </a:r>
            <a:r>
              <a:rPr lang="en-US" dirty="0"/>
              <a:t> </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Definition:</a:t>
            </a:r>
            <a:r>
              <a:rPr lang="en-US" sz="1200" b="0" i="0" kern="1200" dirty="0">
                <a:solidFill>
                  <a:schemeClr val="tx1"/>
                </a:solidFill>
                <a:effectLst/>
                <a:latin typeface="+mn-lt"/>
                <a:ea typeface="+mn-ea"/>
                <a:cs typeface="+mn-cs"/>
              </a:rPr>
              <a:t> This approach assumes you have a perfect mathematical model of the system (Baseline + Augmentation) and you mathematically solve it backwards. Given a desired trajectory </a:t>
            </a:r>
            <a:r>
              <a:rPr lang="en-US" sz="1200" b="0" i="1" kern="1200" dirty="0" err="1">
                <a:solidFill>
                  <a:schemeClr val="tx1"/>
                </a:solidFill>
                <a:effectLst/>
                <a:latin typeface="+mn-lt"/>
                <a:ea typeface="+mn-ea"/>
                <a:cs typeface="+mn-cs"/>
              </a:rPr>
              <a:t>yref</a:t>
            </a:r>
            <a:r>
              <a:rPr lang="en-US" sz="1200" b="0" i="0" kern="1200" dirty="0">
                <a:solidFill>
                  <a:schemeClr val="tx1"/>
                </a:solidFill>
                <a:effectLst/>
                <a:latin typeface="+mn-lt"/>
                <a:ea typeface="+mn-ea"/>
                <a:cs typeface="+mn-cs"/>
              </a:rPr>
              <a:t>​ (position), you calculate exactly what input force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 is required to produce 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your augmented model uses a complex Neural Network, calculating the mathematical inverse in real-time is computationally expensive and prone to numerical errors.</a:t>
            </a:r>
          </a:p>
          <a:p>
            <a:endParaRPr lang="en-US" sz="1200" b="0" i="0" kern="1200" dirty="0">
              <a:solidFill>
                <a:schemeClr val="tx1"/>
              </a:solidFill>
              <a:effectLst/>
              <a:latin typeface="+mn-lt"/>
              <a:ea typeface="+mn-ea"/>
              <a:cs typeface="+mn-cs"/>
            </a:endParaRPr>
          </a:p>
          <a:p>
            <a:r>
              <a:rPr lang="en-US" b="1" dirty="0">
                <a:effectLst/>
              </a:rPr>
              <a:t>Add-on Correction (The "Parallel" Strategy)</a:t>
            </a:r>
          </a:p>
          <a:p>
            <a:r>
              <a:rPr lang="en-US" b="1" dirty="0">
                <a:effectLst/>
              </a:rPr>
              <a:t>Definition:</a:t>
            </a:r>
            <a:r>
              <a:rPr lang="en-US" dirty="0">
                <a:effectLst/>
              </a:rPr>
              <a:t> This approach keeps your existing standard Feedforward (based on rigid-body physics) and uses the Neural Network only to predict the </a:t>
            </a:r>
            <a:r>
              <a:rPr lang="en-US" b="1" dirty="0">
                <a:effectLst/>
              </a:rPr>
              <a:t>"force error"</a:t>
            </a:r>
            <a:r>
              <a:rPr lang="en-US" dirty="0">
                <a:effectLst/>
              </a:rPr>
              <a:t> (disturbance) that the standard model misses. This prediction is added as a correction signal.</a:t>
            </a:r>
          </a:p>
          <a:p>
            <a:endParaRPr lang="en-NL" dirty="0"/>
          </a:p>
        </p:txBody>
      </p:sp>
      <p:sp>
        <p:nvSpPr>
          <p:cNvPr id="4" name="Slide Number Placeholder 3">
            <a:extLst>
              <a:ext uri="{FF2B5EF4-FFF2-40B4-BE49-F238E27FC236}">
                <a16:creationId xmlns:a16="http://schemas.microsoft.com/office/drawing/2014/main" id="{B751BD6A-D43A-1C32-722E-0EAA8009064B}"/>
              </a:ext>
            </a:extLst>
          </p:cNvPr>
          <p:cNvSpPr>
            <a:spLocks noGrp="1"/>
          </p:cNvSpPr>
          <p:nvPr>
            <p:ph type="sldNum" sz="quarter" idx="5"/>
          </p:nvPr>
        </p:nvSpPr>
        <p:spPr/>
        <p:txBody>
          <a:bodyPr/>
          <a:lstStyle/>
          <a:p>
            <a:fld id="{86C44169-D6FA-4340-A8EA-FDCA4A57CBC5}" type="slidenum">
              <a:rPr lang="en-NL" smtClean="0"/>
              <a:t>17</a:t>
            </a:fld>
            <a:endParaRPr lang="en-NL"/>
          </a:p>
        </p:txBody>
      </p:sp>
    </p:spTree>
    <p:extLst>
      <p:ext uri="{BB962C8B-B14F-4D97-AF65-F5344CB8AC3E}">
        <p14:creationId xmlns:p14="http://schemas.microsoft.com/office/powerpoint/2010/main" val="4192826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 are using </a:t>
            </a:r>
            <a:r>
              <a:rPr lang="en-US" sz="1200" b="1" i="0" kern="1200" dirty="0">
                <a:solidFill>
                  <a:schemeClr val="tx1"/>
                </a:solidFill>
                <a:effectLst/>
                <a:latin typeface="+mn-lt"/>
                <a:ea typeface="+mn-ea"/>
                <a:cs typeface="+mn-cs"/>
              </a:rPr>
              <a:t>LPV-LFR</a:t>
            </a:r>
            <a:r>
              <a:rPr lang="en-US" sz="1200" b="0" i="0" kern="1200" dirty="0">
                <a:solidFill>
                  <a:schemeClr val="tx1"/>
                </a:solidFill>
                <a:effectLst/>
                <a:latin typeface="+mn-lt"/>
                <a:ea typeface="+mn-ea"/>
                <a:cs typeface="+mn-cs"/>
              </a:rPr>
              <a:t> because it allows you to keep your </a:t>
            </a:r>
            <a:r>
              <a:rPr lang="en-US" sz="1200" b="1" i="0" kern="1200" dirty="0">
                <a:solidFill>
                  <a:schemeClr val="tx1"/>
                </a:solidFill>
                <a:effectLst/>
                <a:latin typeface="+mn-lt"/>
                <a:ea typeface="+mn-ea"/>
                <a:cs typeface="+mn-cs"/>
              </a:rPr>
              <a:t>First Principles (rigid body) model</a:t>
            </a:r>
            <a:r>
              <a:rPr lang="en-US" sz="1200" b="0" i="0" kern="1200" dirty="0">
                <a:solidFill>
                  <a:schemeClr val="tx1"/>
                </a:solidFill>
                <a:effectLst/>
                <a:latin typeface="+mn-lt"/>
                <a:ea typeface="+mn-ea"/>
                <a:cs typeface="+mn-cs"/>
              </a:rPr>
              <a:t> separate and constant (in the </a:t>
            </a:r>
            <a:r>
              <a:rPr lang="en-US" sz="1200" b="0" i="1" kern="1200" dirty="0">
                <a:solidFill>
                  <a:schemeClr val="tx1"/>
                </a:solidFill>
                <a:effectLst/>
                <a:latin typeface="+mn-lt"/>
                <a:ea typeface="+mn-ea"/>
                <a:cs typeface="+mn-cs"/>
              </a:rPr>
              <a:t>G</a:t>
            </a:r>
            <a:r>
              <a:rPr lang="en-US" sz="1200" b="0" i="0" kern="1200" dirty="0">
                <a:solidFill>
                  <a:schemeClr val="tx1"/>
                </a:solidFill>
                <a:effectLst/>
                <a:latin typeface="+mn-lt"/>
                <a:ea typeface="+mn-ea"/>
                <a:cs typeface="+mn-cs"/>
              </a:rPr>
              <a:t> block), while isolating the </a:t>
            </a:r>
            <a:r>
              <a:rPr lang="en-US" sz="1200" b="1" i="0" kern="1200" dirty="0">
                <a:solidFill>
                  <a:schemeClr val="tx1"/>
                </a:solidFill>
                <a:effectLst/>
                <a:latin typeface="+mn-lt"/>
                <a:ea typeface="+mn-ea"/>
                <a:cs typeface="+mn-cs"/>
              </a:rPr>
              <a:t>position-dependent couplings and Neural Network augmentations</a:t>
            </a:r>
            <a:r>
              <a:rPr lang="en-US" sz="1200" b="0" i="0" kern="1200" dirty="0">
                <a:solidFill>
                  <a:schemeClr val="tx1"/>
                </a:solidFill>
                <a:effectLst/>
                <a:latin typeface="+mn-lt"/>
                <a:ea typeface="+mn-ea"/>
                <a:cs typeface="+mn-cs"/>
              </a:rPr>
              <a:t> in the feedback loop (Δ block). This makes the physics interpretable and allows the model to handle the gantry's shifting resonances efficiently.</a:t>
            </a:r>
          </a:p>
          <a:p>
            <a:endParaRPr lang="en-US" sz="1200" b="0" i="0" kern="1200" dirty="0">
              <a:solidFill>
                <a:schemeClr val="tx1"/>
              </a:solidFill>
              <a:effectLst/>
              <a:latin typeface="+mn-lt"/>
              <a:ea typeface="+mn-ea"/>
              <a:cs typeface="+mn-cs"/>
            </a:endParaRPr>
          </a:p>
          <a:p>
            <a:r>
              <a:rPr lang="en-US" b="1" dirty="0">
                <a:effectLst/>
              </a:rPr>
              <a:t>LPV-LFR</a:t>
            </a:r>
            <a:r>
              <a:rPr lang="en-US" dirty="0">
                <a:effectLst/>
              </a:rPr>
              <a:t> is a modeling architecture that splits a complex nonlinear or time-varying system into two distinct blocks connected by a feedback loop:</a:t>
            </a:r>
          </a:p>
          <a:p>
            <a:r>
              <a:rPr lang="en-US" dirty="0">
                <a:effectLst/>
              </a:rPr>
              <a:t>• </a:t>
            </a:r>
            <a:r>
              <a:rPr lang="en-US" b="1" dirty="0">
                <a:effectLst/>
              </a:rPr>
              <a:t>The LTI Block (</a:t>
            </a:r>
            <a:r>
              <a:rPr lang="en-US" sz="1200" i="1" kern="1200" dirty="0">
                <a:solidFill>
                  <a:schemeClr val="tx1"/>
                </a:solidFill>
                <a:effectLst/>
                <a:latin typeface="+mn-lt"/>
                <a:ea typeface="+mn-ea"/>
                <a:cs typeface="+mn-cs"/>
              </a:rPr>
              <a:t>G</a:t>
            </a:r>
            <a:r>
              <a:rPr lang="en-US" b="1" dirty="0">
                <a:effectLst/>
              </a:rPr>
              <a:t>):</a:t>
            </a:r>
            <a:r>
              <a:rPr lang="en-US" dirty="0">
                <a:effectLst/>
              </a:rPr>
              <a:t> This block contains all the </a:t>
            </a:r>
            <a:r>
              <a:rPr lang="en-US" b="1" dirty="0">
                <a:effectLst/>
              </a:rPr>
              <a:t>constant</a:t>
            </a:r>
            <a:r>
              <a:rPr lang="en-US" dirty="0">
                <a:effectLst/>
              </a:rPr>
              <a:t> linear dynamics (matrices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D</a:t>
            </a:r>
            <a:r>
              <a:rPr lang="en-US" dirty="0">
                <a:effectLst/>
              </a:rPr>
              <a:t>) that do not change. In your case, this represents the rigid-body physics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K</a:t>
            </a:r>
            <a:r>
              <a:rPr lang="en-US" dirty="0">
                <a:effectLst/>
              </a:rPr>
              <a:t> matrices) of the gantry [Source 4, 370].</a:t>
            </a:r>
          </a:p>
          <a:p>
            <a:r>
              <a:rPr lang="en-US" dirty="0">
                <a:effectLst/>
              </a:rPr>
              <a:t>• </a:t>
            </a:r>
            <a:r>
              <a:rPr lang="en-US" b="1" dirty="0">
                <a:effectLst/>
              </a:rPr>
              <a:t>The Delta Block (</a:t>
            </a:r>
            <a:r>
              <a:rPr lang="en-US" sz="1200" kern="1200" dirty="0">
                <a:solidFill>
                  <a:schemeClr val="tx1"/>
                </a:solidFill>
                <a:effectLst/>
                <a:latin typeface="+mn-lt"/>
                <a:ea typeface="+mn-ea"/>
                <a:cs typeface="+mn-cs"/>
              </a:rPr>
              <a:t>Δ(</a:t>
            </a:r>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b="1" dirty="0">
                <a:effectLst/>
              </a:rPr>
              <a:t>):</a:t>
            </a:r>
            <a:r>
              <a:rPr lang="en-US" dirty="0">
                <a:effectLst/>
              </a:rPr>
              <a:t> This block contains all the </a:t>
            </a:r>
            <a:r>
              <a:rPr lang="en-US" b="1" dirty="0">
                <a:effectLst/>
              </a:rPr>
              <a:t>varying</a:t>
            </a:r>
            <a:r>
              <a:rPr lang="en-US" dirty="0">
                <a:effectLst/>
              </a:rPr>
              <a:t> elements (parameters </a:t>
            </a:r>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a:t>
            </a:r>
            <a:r>
              <a:rPr lang="en-US" dirty="0">
                <a:effectLst/>
              </a:rPr>
              <a:t>). In your case, this contains the position-dependent stiffness (moving resonance) or the output of the Neural Network [Source 4, 371].</a:t>
            </a: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19</a:t>
            </a:fld>
            <a:endParaRPr lang="en-NL"/>
          </a:p>
        </p:txBody>
      </p:sp>
    </p:spTree>
    <p:extLst>
      <p:ext uri="{BB962C8B-B14F-4D97-AF65-F5344CB8AC3E}">
        <p14:creationId xmlns:p14="http://schemas.microsoft.com/office/powerpoint/2010/main" val="630104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16/02/2026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16/02/2026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16/02/2026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a:xfrm>
            <a:off x="838200" y="436246"/>
            <a:ext cx="10515600" cy="1097914"/>
          </a:xfrm>
        </p:spPr>
        <p:txBody>
          <a:bodyPr>
            <a:normAutofit fontScale="90000"/>
          </a:bodyPr>
          <a:lstStyle/>
          <a:p>
            <a:r>
              <a:rPr lang="en-US" dirty="0"/>
              <a:t>Meeting Week 2 – Hybrid modeling Dual-Gantry</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a:xfrm>
            <a:off x="838200" y="1534160"/>
            <a:ext cx="10515600" cy="4351338"/>
          </a:xfrm>
        </p:spPr>
        <p:txBody>
          <a:bodyPr>
            <a:normAutofit/>
          </a:bodyPr>
          <a:lstStyle/>
          <a:p>
            <a:r>
              <a:rPr lang="en-US" dirty="0"/>
              <a:t>Last week summary</a:t>
            </a:r>
          </a:p>
          <a:p>
            <a:pPr lvl="1"/>
            <a:r>
              <a:rPr lang="en-US" dirty="0"/>
              <a:t>Key metric</a:t>
            </a:r>
          </a:p>
          <a:p>
            <a:r>
              <a:rPr lang="en-US" dirty="0"/>
              <a:t>Model for Region of Interest</a:t>
            </a:r>
          </a:p>
          <a:p>
            <a:r>
              <a:rPr lang="en-US" dirty="0" err="1"/>
              <a:t>Kessels</a:t>
            </a:r>
            <a:r>
              <a:rPr lang="en-US" dirty="0"/>
              <a:t> Extension and Augmentation method</a:t>
            </a:r>
          </a:p>
          <a:p>
            <a:r>
              <a:rPr lang="en-US" dirty="0"/>
              <a:t>Orthogonal Regularization </a:t>
            </a:r>
          </a:p>
          <a:p>
            <a:r>
              <a:rPr lang="en-US" dirty="0"/>
              <a:t>Question 1-4</a:t>
            </a:r>
          </a:p>
          <a:p>
            <a:r>
              <a:rPr lang="en-US" dirty="0"/>
              <a:t>Outline </a:t>
            </a:r>
            <a:r>
              <a:rPr lang="en-US" dirty="0" err="1"/>
              <a:t>ToDo</a:t>
            </a:r>
            <a:r>
              <a:rPr lang="en-US" dirty="0"/>
              <a:t> next week</a:t>
            </a:r>
          </a:p>
          <a:p>
            <a:pPr lvl="1"/>
            <a:r>
              <a:rPr lang="en-US" dirty="0"/>
              <a:t>Experiment design</a:t>
            </a:r>
          </a:p>
          <a:p>
            <a:pPr lvl="1"/>
            <a:r>
              <a:rPr lang="en-US" dirty="0">
                <a:sym typeface="Wingdings" panose="05000000000000000000" pitchFamily="2" charset="2"/>
              </a:rPr>
              <a:t>Simulation</a:t>
            </a:r>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AA86E-536E-22FE-82F6-2DD361ED8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84DAC-1602-4DC8-8640-3B26ADC52523}"/>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30EA826F-D48E-F982-7FA4-9ACEF1247062}"/>
              </a:ext>
            </a:extLst>
          </p:cNvPr>
          <p:cNvSpPr>
            <a:spLocks noGrp="1"/>
          </p:cNvSpPr>
          <p:nvPr>
            <p:ph idx="1"/>
          </p:nvPr>
        </p:nvSpPr>
        <p:spPr>
          <a:xfrm>
            <a:off x="838200" y="1444625"/>
            <a:ext cx="10515600" cy="4351338"/>
          </a:xfrm>
        </p:spPr>
        <p:txBody>
          <a:bodyPr>
            <a:normAutofit fontScale="85000" lnSpcReduction="20000"/>
          </a:bodyPr>
          <a:lstStyle/>
          <a:p>
            <a:r>
              <a:rPr lang="en-US" dirty="0"/>
              <a:t>Critical metric: settling error bounds</a:t>
            </a:r>
          </a:p>
          <a:p>
            <a:pPr lvl="1"/>
            <a:r>
              <a:rPr lang="en-US" dirty="0"/>
              <a:t>For performance: initial movement reference tracking not as important</a:t>
            </a:r>
          </a:p>
          <a:p>
            <a:pPr lvl="2"/>
            <a:r>
              <a:rPr lang="en-US" dirty="0"/>
              <a:t>Hysteresis is also applicable (= previous movements effects gantry initial movement)</a:t>
            </a:r>
          </a:p>
          <a:p>
            <a:r>
              <a:rPr lang="en-US" dirty="0"/>
              <a:t>Generic approach for obtaining data for experiments</a:t>
            </a:r>
          </a:p>
          <a:p>
            <a:pPr lvl="1"/>
            <a:r>
              <a:rPr lang="en-US" dirty="0"/>
              <a:t>Need to design “smart” tests rich in information and for unseen data validation</a:t>
            </a:r>
          </a:p>
          <a:p>
            <a:pPr lvl="1"/>
            <a:r>
              <a:rPr lang="en-US" dirty="0"/>
              <a:t>Would be beneficial if its applicable on other setups</a:t>
            </a:r>
          </a:p>
          <a:p>
            <a:r>
              <a:rPr lang="en-US" dirty="0"/>
              <a:t>Augmentation </a:t>
            </a:r>
            <a:r>
              <a:rPr lang="en-US" dirty="0" err="1"/>
              <a:t>Kessels</a:t>
            </a:r>
            <a:r>
              <a:rPr lang="en-US" dirty="0"/>
              <a:t> was effective on wire bonder </a:t>
            </a:r>
            <a:r>
              <a:rPr lang="en-US" dirty="0">
                <a:sym typeface="Wingdings" panose="05000000000000000000" pitchFamily="2" charset="2"/>
              </a:rPr>
              <a:t> proposes orthogonality in limitations</a:t>
            </a:r>
          </a:p>
          <a:p>
            <a:pPr lvl="1"/>
            <a:r>
              <a:rPr lang="en-US" dirty="0"/>
              <a:t>Discussed two methods for orthogonality: Orthogonal Parameterization and Orthogonal Regularization </a:t>
            </a:r>
          </a:p>
          <a:p>
            <a:r>
              <a:rPr lang="en-US" dirty="0"/>
              <a:t>Look at mapping multiple nonlinearities, unseen flexible modes </a:t>
            </a:r>
            <a:r>
              <a:rPr lang="en-US" dirty="0">
                <a:sym typeface="Wingdings" panose="05000000000000000000" pitchFamily="2" charset="2"/>
              </a:rPr>
              <a:t> </a:t>
            </a:r>
            <a:r>
              <a:rPr lang="en-US" dirty="0" err="1">
                <a:sym typeface="Wingdings" panose="05000000000000000000" pitchFamily="2" charset="2"/>
              </a:rPr>
              <a:t>Kessels</a:t>
            </a:r>
            <a:r>
              <a:rPr lang="en-US" dirty="0">
                <a:sym typeface="Wingdings" panose="05000000000000000000" pitchFamily="2" charset="2"/>
              </a:rPr>
              <a:t> solves this by:</a:t>
            </a:r>
            <a:endParaRPr lang="en-US" dirty="0"/>
          </a:p>
          <a:p>
            <a:pPr lvl="1"/>
            <a:r>
              <a:rPr lang="fr-FR" dirty="0"/>
              <a:t>Extension: fixes </a:t>
            </a:r>
            <a:r>
              <a:rPr lang="fr-FR" dirty="0" err="1"/>
              <a:t>unseen</a:t>
            </a:r>
            <a:r>
              <a:rPr lang="fr-FR" dirty="0"/>
              <a:t> flexible modes</a:t>
            </a:r>
          </a:p>
          <a:p>
            <a:pPr lvl="1"/>
            <a:r>
              <a:rPr lang="en-US" dirty="0"/>
              <a:t>Augmentation: mapping multiple nonlinearities</a:t>
            </a:r>
          </a:p>
        </p:txBody>
      </p:sp>
    </p:spTree>
    <p:extLst>
      <p:ext uri="{BB962C8B-B14F-4D97-AF65-F5344CB8AC3E}">
        <p14:creationId xmlns:p14="http://schemas.microsoft.com/office/powerpoint/2010/main" val="810213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C141-1FEE-4C34-D74D-0903D9CBF62A}"/>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B6217803-295B-32FD-4D1B-9A566E687E08}"/>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solidFill>
                  <a:schemeClr val="bg1"/>
                </a:solidFill>
              </a:rPr>
              <a:t>FP often fails due to unmodeled dynamics</a:t>
            </a:r>
          </a:p>
          <a:p>
            <a:r>
              <a:rPr lang="en-US" dirty="0">
                <a:solidFill>
                  <a:schemeClr val="bg1"/>
                </a:solidFill>
              </a:rPr>
              <a:t>Goal of augmentation: reduce settling error bounds from FP model / </a:t>
            </a:r>
            <a:r>
              <a:rPr lang="en-US" dirty="0" err="1">
                <a:solidFill>
                  <a:schemeClr val="bg1"/>
                </a:solidFill>
              </a:rPr>
              <a:t>telica</a:t>
            </a:r>
            <a:r>
              <a:rPr lang="en-US" dirty="0">
                <a:solidFill>
                  <a:schemeClr val="bg1"/>
                </a:solidFill>
              </a:rPr>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3466E8D9-4B4A-BD2A-C611-F49582C21511}"/>
              </a:ext>
            </a:extLst>
          </p:cNvPr>
          <p:cNvPicPr>
            <a:picLocks noChangeAspect="1"/>
          </p:cNvPicPr>
          <p:nvPr/>
        </p:nvPicPr>
        <p:blipFill>
          <a:blip r:embed="rId3"/>
          <a:srcRect t="2540"/>
          <a:stretch>
            <a:fillRect/>
          </a:stretch>
        </p:blipFill>
        <p:spPr>
          <a:xfrm>
            <a:off x="5120019" y="2655766"/>
            <a:ext cx="6967206" cy="4135559"/>
          </a:xfrm>
          <a:prstGeom prst="rect">
            <a:avLst/>
          </a:prstGeom>
        </p:spPr>
      </p:pic>
      <p:sp>
        <p:nvSpPr>
          <p:cNvPr id="15" name="TextBox 14">
            <a:extLst>
              <a:ext uri="{FF2B5EF4-FFF2-40B4-BE49-F238E27FC236}">
                <a16:creationId xmlns:a16="http://schemas.microsoft.com/office/drawing/2014/main" id="{ED9395B7-63A2-D899-26D9-5FFE50AE524C}"/>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737078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25254-1A55-53D7-F62F-BA13F829E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81E63-6A17-C7BB-6C31-3EC4C9D758FF}"/>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A504FB4-5DC3-76F5-34DE-F3EC3EB2715F}"/>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t>FP often fails due to unmodeled dynamics</a:t>
            </a:r>
          </a:p>
          <a:p>
            <a:r>
              <a:rPr lang="en-US" dirty="0"/>
              <a:t>Goal of augmentation: reduce settling error bounds from FP model / </a:t>
            </a:r>
            <a:r>
              <a:rPr lang="en-US" dirty="0" err="1"/>
              <a:t>telica</a:t>
            </a:r>
            <a:r>
              <a:rPr lang="en-US" dirty="0"/>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E9B88BC2-A97E-9CFE-4671-46A09A351146}"/>
              </a:ext>
            </a:extLst>
          </p:cNvPr>
          <p:cNvPicPr>
            <a:picLocks noChangeAspect="1"/>
          </p:cNvPicPr>
          <p:nvPr/>
        </p:nvPicPr>
        <p:blipFill>
          <a:blip r:embed="rId3"/>
          <a:srcRect t="2540"/>
          <a:stretch>
            <a:fillRect/>
          </a:stretch>
        </p:blipFill>
        <p:spPr>
          <a:xfrm>
            <a:off x="6591299" y="3529082"/>
            <a:ext cx="5495925" cy="3262243"/>
          </a:xfrm>
          <a:prstGeom prst="rect">
            <a:avLst/>
          </a:prstGeom>
        </p:spPr>
      </p:pic>
      <p:pic>
        <p:nvPicPr>
          <p:cNvPr id="11" name="Picture 10">
            <a:extLst>
              <a:ext uri="{FF2B5EF4-FFF2-40B4-BE49-F238E27FC236}">
                <a16:creationId xmlns:a16="http://schemas.microsoft.com/office/drawing/2014/main" id="{B2E28E10-2B3C-C8A9-C398-109729EBB936}"/>
              </a:ext>
            </a:extLst>
          </p:cNvPr>
          <p:cNvPicPr>
            <a:picLocks noChangeAspect="1"/>
          </p:cNvPicPr>
          <p:nvPr/>
        </p:nvPicPr>
        <p:blipFill>
          <a:blip r:embed="rId4"/>
          <a:stretch>
            <a:fillRect/>
          </a:stretch>
        </p:blipFill>
        <p:spPr>
          <a:xfrm>
            <a:off x="104776" y="3934619"/>
            <a:ext cx="6581774" cy="741734"/>
          </a:xfrm>
          <a:prstGeom prst="rect">
            <a:avLst/>
          </a:prstGeom>
        </p:spPr>
      </p:pic>
      <p:sp>
        <p:nvSpPr>
          <p:cNvPr id="15" name="TextBox 14">
            <a:extLst>
              <a:ext uri="{FF2B5EF4-FFF2-40B4-BE49-F238E27FC236}">
                <a16:creationId xmlns:a16="http://schemas.microsoft.com/office/drawing/2014/main" id="{7ED04C00-6564-CB91-208A-DE62DEAFB6FB}"/>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1356465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963AF-A925-5D6F-6A48-5424C17A2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09993-D8C6-D49D-5B82-3FC0002B9F70}"/>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FF6682C-4C0C-450E-30A5-14C29BD93E4B}"/>
              </a:ext>
            </a:extLst>
          </p:cNvPr>
          <p:cNvSpPr>
            <a:spLocks noGrp="1"/>
          </p:cNvSpPr>
          <p:nvPr>
            <p:ph idx="1"/>
          </p:nvPr>
        </p:nvSpPr>
        <p:spPr>
          <a:xfrm>
            <a:off x="838200" y="1825625"/>
            <a:ext cx="10337800" cy="3189574"/>
          </a:xfrm>
        </p:spPr>
        <p:txBody>
          <a:bodyPr>
            <a:normAutofit lnSpcReduction="10000"/>
          </a:bodyPr>
          <a:lstStyle/>
          <a:p>
            <a:r>
              <a:rPr lang="en-US" sz="2200" dirty="0"/>
              <a:t>Instead of RMSE </a:t>
            </a:r>
            <a:r>
              <a:rPr lang="en-US" sz="2200" dirty="0">
                <a:sym typeface="Wingdings" panose="05000000000000000000" pitchFamily="2" charset="2"/>
              </a:rPr>
              <a:t> </a:t>
            </a:r>
            <a:r>
              <a:rPr lang="en-US" sz="2200" b="1" dirty="0"/>
              <a:t>Target the Peaks;</a:t>
            </a:r>
            <a:r>
              <a:rPr lang="en-US" sz="2200" dirty="0"/>
              <a:t> Settling time is determined by the last peak that exceeds the yellow limit line. Even with low RMSE peak could exceed</a:t>
            </a:r>
          </a:p>
          <a:p>
            <a:r>
              <a:rPr lang="en-US" sz="2200" dirty="0"/>
              <a:t>Feature selection: Extract a subset of highly informative features extracted from time-series data.</a:t>
            </a:r>
          </a:p>
          <a:p>
            <a:pPr lvl="1"/>
            <a:r>
              <a:rPr lang="en-US" sz="1800" b="1" dirty="0"/>
              <a:t>Time Extremum (TE) Limitation: </a:t>
            </a:r>
            <a:r>
              <a:rPr lang="en-US" sz="1800" dirty="0" err="1"/>
              <a:t>Kessels</a:t>
            </a:r>
            <a:r>
              <a:rPr lang="en-US" sz="1800" dirty="0"/>
              <a:t> showed that extracting local extrema features is often suboptimal for industrial systems due to noise sensitivity and low information density</a:t>
            </a:r>
            <a:r>
              <a:rPr lang="en-US" sz="1800" dirty="0">
                <a:sym typeface="Wingdings" panose="05000000000000000000" pitchFamily="2" charset="2"/>
              </a:rPr>
              <a:t> For dual-gantry cost function: peak-</a:t>
            </a:r>
            <a:r>
              <a:rPr lang="en-US" sz="1800" dirty="0"/>
              <a:t>weighted or time-weighted penalty</a:t>
            </a:r>
          </a:p>
          <a:p>
            <a:pPr lvl="1"/>
            <a:r>
              <a:rPr lang="en-US" sz="1800" b="1" dirty="0"/>
              <a:t>Real and Imaginary (RI)</a:t>
            </a:r>
            <a:r>
              <a:rPr lang="en-US" sz="1800" dirty="0"/>
              <a:t> parts of the Fourier Transform were the most effective features.</a:t>
            </a:r>
          </a:p>
          <a:p>
            <a:pPr lvl="2"/>
            <a:r>
              <a:rPr lang="en-US" sz="1400" dirty="0"/>
              <a:t>Relatively informative and robust, unlike magnitude/phase features, where the phase can look very similar for different parameter combinations </a:t>
            </a:r>
          </a:p>
          <a:p>
            <a:pPr lvl="1"/>
            <a:r>
              <a:rPr lang="en-US" sz="1800" b="1" dirty="0"/>
              <a:t>Time Sample (TS)</a:t>
            </a:r>
            <a:r>
              <a:rPr lang="en-US" sz="1800" dirty="0"/>
              <a:t> features were the second most important group.</a:t>
            </a:r>
          </a:p>
        </p:txBody>
      </p:sp>
      <p:pic>
        <p:nvPicPr>
          <p:cNvPr id="9" name="Picture 8">
            <a:extLst>
              <a:ext uri="{FF2B5EF4-FFF2-40B4-BE49-F238E27FC236}">
                <a16:creationId xmlns:a16="http://schemas.microsoft.com/office/drawing/2014/main" id="{D443DE64-4448-BCF9-48A5-3AF48DC810FF}"/>
              </a:ext>
            </a:extLst>
          </p:cNvPr>
          <p:cNvPicPr>
            <a:picLocks noChangeAspect="1"/>
          </p:cNvPicPr>
          <p:nvPr/>
        </p:nvPicPr>
        <p:blipFill>
          <a:blip r:embed="rId3"/>
          <a:srcRect t="3998"/>
          <a:stretch>
            <a:fillRect/>
          </a:stretch>
        </p:blipFill>
        <p:spPr>
          <a:xfrm>
            <a:off x="7047895" y="4763910"/>
            <a:ext cx="5144105" cy="2267973"/>
          </a:xfrm>
          <a:prstGeom prst="rect">
            <a:avLst/>
          </a:prstGeom>
        </p:spPr>
      </p:pic>
      <p:sp>
        <p:nvSpPr>
          <p:cNvPr id="15" name="TextBox 14">
            <a:extLst>
              <a:ext uri="{FF2B5EF4-FFF2-40B4-BE49-F238E27FC236}">
                <a16:creationId xmlns:a16="http://schemas.microsoft.com/office/drawing/2014/main" id="{061A7988-B7BA-14CA-2137-373B480F72CF}"/>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pic>
        <p:nvPicPr>
          <p:cNvPr id="5" name="Picture 4">
            <a:extLst>
              <a:ext uri="{FF2B5EF4-FFF2-40B4-BE49-F238E27FC236}">
                <a16:creationId xmlns:a16="http://schemas.microsoft.com/office/drawing/2014/main" id="{6FEABA9B-C247-D391-5801-1613D09FF28E}"/>
              </a:ext>
            </a:extLst>
          </p:cNvPr>
          <p:cNvPicPr>
            <a:picLocks noChangeAspect="1"/>
          </p:cNvPicPr>
          <p:nvPr/>
        </p:nvPicPr>
        <p:blipFill>
          <a:blip r:embed="rId4"/>
          <a:stretch>
            <a:fillRect/>
          </a:stretch>
        </p:blipFill>
        <p:spPr>
          <a:xfrm>
            <a:off x="-140305" y="5015199"/>
            <a:ext cx="7059153" cy="1407088"/>
          </a:xfrm>
          <a:prstGeom prst="rect">
            <a:avLst/>
          </a:prstGeom>
        </p:spPr>
      </p:pic>
    </p:spTree>
    <p:extLst>
      <p:ext uri="{BB962C8B-B14F-4D97-AF65-F5344CB8AC3E}">
        <p14:creationId xmlns:p14="http://schemas.microsoft.com/office/powerpoint/2010/main" val="16010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C8F342-80DE-B099-4559-4A913DF3BC0F}"/>
              </a:ext>
            </a:extLst>
          </p:cNvPr>
          <p:cNvSpPr txBox="1"/>
          <p:nvPr/>
        </p:nvSpPr>
        <p:spPr>
          <a:xfrm>
            <a:off x="838200" y="1321356"/>
            <a:ext cx="6096000" cy="369332"/>
          </a:xfrm>
          <a:prstGeom prst="rect">
            <a:avLst/>
          </a:prstGeom>
          <a:noFill/>
        </p:spPr>
        <p:txBody>
          <a:bodyPr wrap="square">
            <a:spAutoFit/>
          </a:bodyPr>
          <a:lstStyle/>
          <a:p>
            <a:r>
              <a:rPr lang="en-US" b="1" dirty="0"/>
              <a:t>Schoukens &amp; Ljung</a:t>
            </a:r>
            <a:endParaRPr lang="en-NL" b="1" dirty="0"/>
          </a:p>
        </p:txBody>
      </p:sp>
      <p:sp>
        <p:nvSpPr>
          <p:cNvPr id="2" name="Title 1">
            <a:extLst>
              <a:ext uri="{FF2B5EF4-FFF2-40B4-BE49-F238E27FC236}">
                <a16:creationId xmlns:a16="http://schemas.microsoft.com/office/drawing/2014/main" id="{6232C9E1-3AC1-1E9B-2122-713A694F4E39}"/>
              </a:ext>
            </a:extLst>
          </p:cNvPr>
          <p:cNvSpPr>
            <a:spLocks noGrp="1"/>
          </p:cNvSpPr>
          <p:nvPr>
            <p:ph type="title"/>
          </p:nvPr>
        </p:nvSpPr>
        <p:spPr/>
        <p:txBody>
          <a:bodyPr/>
          <a:lstStyle/>
          <a:p>
            <a:r>
              <a:rPr lang="en-US" dirty="0"/>
              <a:t>Region of interest &amp; Targeting the peaks</a:t>
            </a:r>
            <a:endParaRPr lang="en-NL" dirty="0"/>
          </a:p>
        </p:txBody>
      </p:sp>
      <p:sp>
        <p:nvSpPr>
          <p:cNvPr id="3" name="Content Placeholder 2">
            <a:extLst>
              <a:ext uri="{FF2B5EF4-FFF2-40B4-BE49-F238E27FC236}">
                <a16:creationId xmlns:a16="http://schemas.microsoft.com/office/drawing/2014/main" id="{289D4F49-2D17-B4D7-827E-856E54E8E7C8}"/>
              </a:ext>
            </a:extLst>
          </p:cNvPr>
          <p:cNvSpPr>
            <a:spLocks noGrp="1"/>
          </p:cNvSpPr>
          <p:nvPr>
            <p:ph idx="1"/>
          </p:nvPr>
        </p:nvSpPr>
        <p:spPr>
          <a:xfrm>
            <a:off x="838200" y="1825625"/>
            <a:ext cx="7117080" cy="4595495"/>
          </a:xfrm>
        </p:spPr>
        <p:txBody>
          <a:bodyPr>
            <a:normAutofit fontScale="92500" lnSpcReduction="10000"/>
          </a:bodyPr>
          <a:lstStyle/>
          <a:p>
            <a:r>
              <a:rPr lang="en-US" dirty="0"/>
              <a:t>Wet-Clutch example for dual-gantry</a:t>
            </a:r>
          </a:p>
          <a:p>
            <a:pPr lvl="1"/>
            <a:r>
              <a:rPr lang="en-US" dirty="0"/>
              <a:t>Design “spiky” position commands to make the response settling-dominated. Superimpose a </a:t>
            </a:r>
            <a:r>
              <a:rPr lang="en-US" dirty="0" err="1"/>
              <a:t>multisine</a:t>
            </a:r>
            <a:r>
              <a:rPr lang="en-US" dirty="0"/>
              <a:t> to identify local dynamics </a:t>
            </a:r>
          </a:p>
          <a:p>
            <a:r>
              <a:rPr lang="en-US" dirty="0">
                <a:sym typeface="Wingdings" panose="05000000000000000000" pitchFamily="2" charset="2"/>
              </a:rPr>
              <a:t>Weighting function L(q): tells the optimizer where accuracy matters</a:t>
            </a:r>
          </a:p>
          <a:p>
            <a:pPr lvl="1"/>
            <a:r>
              <a:rPr lang="en-US" dirty="0">
                <a:sym typeface="Wingdings" panose="05000000000000000000" pitchFamily="2" charset="2"/>
              </a:rPr>
              <a:t>Acts as a pre-filter to the prediction error before computing the cost  result minimize a weighted (filtered) error </a:t>
            </a:r>
          </a:p>
          <a:p>
            <a:pPr lvl="1"/>
            <a:r>
              <a:rPr lang="en-US" dirty="0"/>
              <a:t>Choose L to specify which frequencies require more accuracy</a:t>
            </a:r>
            <a:endParaRPr lang="en-US" dirty="0">
              <a:sym typeface="Wingdings" panose="05000000000000000000" pitchFamily="2" charset="2"/>
            </a:endParaRPr>
          </a:p>
          <a:p>
            <a:pPr lvl="1"/>
            <a:r>
              <a:rPr lang="en-US" dirty="0">
                <a:sym typeface="Wingdings" panose="05000000000000000000" pitchFamily="2" charset="2"/>
              </a:rPr>
              <a:t>Need to translate time-domain requirement (stay within ±1.5 µm) into a frequency domain instruction for the optimizer</a:t>
            </a:r>
          </a:p>
        </p:txBody>
      </p:sp>
      <p:pic>
        <p:nvPicPr>
          <p:cNvPr id="11" name="Picture 10">
            <a:extLst>
              <a:ext uri="{FF2B5EF4-FFF2-40B4-BE49-F238E27FC236}">
                <a16:creationId xmlns:a16="http://schemas.microsoft.com/office/drawing/2014/main" id="{B42FB2AC-0B0C-AFBA-8087-B5D2B45A05F9}"/>
              </a:ext>
            </a:extLst>
          </p:cNvPr>
          <p:cNvPicPr>
            <a:picLocks noChangeAspect="1"/>
          </p:cNvPicPr>
          <p:nvPr/>
        </p:nvPicPr>
        <p:blipFill>
          <a:blip r:embed="rId3"/>
          <a:stretch>
            <a:fillRect/>
          </a:stretch>
        </p:blipFill>
        <p:spPr>
          <a:xfrm>
            <a:off x="7955280" y="2180525"/>
            <a:ext cx="4025900" cy="3885694"/>
          </a:xfrm>
          <a:prstGeom prst="rect">
            <a:avLst/>
          </a:prstGeom>
        </p:spPr>
      </p:pic>
    </p:spTree>
    <p:extLst>
      <p:ext uri="{BB962C8B-B14F-4D97-AF65-F5344CB8AC3E}">
        <p14:creationId xmlns:p14="http://schemas.microsoft.com/office/powerpoint/2010/main" val="424195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91B8-BA56-19F8-8969-86F391AF04CE}"/>
              </a:ext>
            </a:extLst>
          </p:cNvPr>
          <p:cNvSpPr>
            <a:spLocks noGrp="1"/>
          </p:cNvSpPr>
          <p:nvPr>
            <p:ph type="title"/>
          </p:nvPr>
        </p:nvSpPr>
        <p:spPr/>
        <p:txBody>
          <a:bodyPr>
            <a:normAutofit/>
          </a:bodyPr>
          <a:lstStyle/>
          <a:p>
            <a:r>
              <a:rPr lang="en-US" b="1" dirty="0" err="1"/>
              <a:t>Kessels</a:t>
            </a:r>
            <a:r>
              <a:rPr lang="en-US" b="1" dirty="0"/>
              <a:t> Application</a:t>
            </a:r>
            <a:endParaRPr lang="en-NL" dirty="0"/>
          </a:p>
        </p:txBody>
      </p:sp>
      <p:sp>
        <p:nvSpPr>
          <p:cNvPr id="3" name="Content Placeholder 2">
            <a:extLst>
              <a:ext uri="{FF2B5EF4-FFF2-40B4-BE49-F238E27FC236}">
                <a16:creationId xmlns:a16="http://schemas.microsoft.com/office/drawing/2014/main" id="{D787748F-BB3A-D37F-32DB-EA9EA5323260}"/>
              </a:ext>
            </a:extLst>
          </p:cNvPr>
          <p:cNvSpPr>
            <a:spLocks noGrp="1"/>
          </p:cNvSpPr>
          <p:nvPr>
            <p:ph idx="1"/>
          </p:nvPr>
        </p:nvSpPr>
        <p:spPr/>
        <p:txBody>
          <a:bodyPr>
            <a:normAutofit fontScale="85000" lnSpcReduction="20000"/>
          </a:bodyPr>
          <a:lstStyle/>
          <a:p>
            <a:r>
              <a:rPr lang="en-US" b="1" dirty="0"/>
              <a:t>Imitating Operation (Input Design):</a:t>
            </a:r>
            <a:r>
              <a:rPr lang="en-US" dirty="0"/>
              <a:t> Instead of abstract random noise, </a:t>
            </a:r>
            <a:r>
              <a:rPr lang="en-US" dirty="0" err="1"/>
              <a:t>Kessels</a:t>
            </a:r>
            <a:r>
              <a:rPr lang="en-US" dirty="0"/>
              <a:t> generates training data using </a:t>
            </a:r>
            <a:r>
              <a:rPr lang="en-US" b="1" dirty="0"/>
              <a:t>"alternating smoothed step-up and step-down profiles."</a:t>
            </a:r>
            <a:r>
              <a:rPr lang="en-US" dirty="0"/>
              <a:t> These explicitly mimic the reference profiles used during the machine's actual operation to capture relevant behavior</a:t>
            </a:r>
          </a:p>
          <a:p>
            <a:r>
              <a:rPr lang="en-US" b="1" dirty="0"/>
              <a:t>Implicit Filtering (Feature Selection):</a:t>
            </a:r>
            <a:r>
              <a:rPr lang="en-US" dirty="0"/>
              <a:t> He replaces standard frequency weighting (</a:t>
            </a:r>
            <a:r>
              <a:rPr lang="en-US" i="1" dirty="0"/>
              <a:t>L</a:t>
            </a:r>
            <a:r>
              <a:rPr lang="en-US" dirty="0"/>
              <a:t>) with </a:t>
            </a:r>
            <a:r>
              <a:rPr lang="en-US" b="1" dirty="0"/>
              <a:t>Feature Selection on "Frequency Bins of Interest" (</a:t>
            </a:r>
            <a:r>
              <a:rPr lang="en-US" b="1" dirty="0" err="1"/>
              <a:t>FBoIs</a:t>
            </a:r>
            <a:r>
              <a:rPr lang="en-US" b="1" dirty="0"/>
              <a:t>)</a:t>
            </a:r>
            <a:r>
              <a:rPr lang="en-US" dirty="0"/>
              <a:t>. The method extracts specific frequency ranges (e.g., near eigenfrequencies) and uses Mutual Information algorithms (like JMI) to discard noisy or irrelevant bins, effectively filtering the error signal</a:t>
            </a:r>
          </a:p>
          <a:p>
            <a:r>
              <a:rPr lang="en-US" b="1" dirty="0"/>
              <a:t>Regime Forcing (Closed-Loop):</a:t>
            </a:r>
            <a:r>
              <a:rPr lang="en-US" dirty="0"/>
              <a:t> Similar to the "Wet-Clutch" high-pressure requirement, </a:t>
            </a:r>
            <a:r>
              <a:rPr lang="en-US" dirty="0" err="1"/>
              <a:t>Kessels</a:t>
            </a:r>
            <a:r>
              <a:rPr lang="en-US" dirty="0"/>
              <a:t> uses </a:t>
            </a:r>
            <a:r>
              <a:rPr lang="en-US" b="1" dirty="0"/>
              <a:t>Closed-Loop Feedback</a:t>
            </a:r>
            <a:r>
              <a:rPr lang="en-US" dirty="0"/>
              <a:t> during data generation. This forces the system to track the reference steps, ensuring the dataset is rich in the specific </a:t>
            </a:r>
            <a:r>
              <a:rPr lang="en-US" b="1" dirty="0"/>
              <a:t>settling dynamics</a:t>
            </a:r>
            <a:r>
              <a:rPr lang="en-US" dirty="0"/>
              <a:t> required for the high-precision application</a:t>
            </a:r>
            <a:endParaRPr lang="en-NL" dirty="0"/>
          </a:p>
        </p:txBody>
      </p:sp>
    </p:spTree>
    <p:extLst>
      <p:ext uri="{BB962C8B-B14F-4D97-AF65-F5344CB8AC3E}">
        <p14:creationId xmlns:p14="http://schemas.microsoft.com/office/powerpoint/2010/main" val="2247496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76AB-FBCF-A967-A29F-0D75FC271B94}"/>
              </a:ext>
            </a:extLst>
          </p:cNvPr>
          <p:cNvSpPr>
            <a:spLocks noGrp="1"/>
          </p:cNvSpPr>
          <p:nvPr>
            <p:ph type="title"/>
          </p:nvPr>
        </p:nvSpPr>
        <p:spPr/>
        <p:txBody>
          <a:bodyPr/>
          <a:lstStyle/>
          <a:p>
            <a:r>
              <a:rPr lang="en-US" dirty="0"/>
              <a:t>Extension and Augmentation (EA)</a:t>
            </a:r>
            <a:endParaRPr lang="en-NL" dirty="0"/>
          </a:p>
        </p:txBody>
      </p:sp>
      <p:sp>
        <p:nvSpPr>
          <p:cNvPr id="3" name="Content Placeholder 2">
            <a:extLst>
              <a:ext uri="{FF2B5EF4-FFF2-40B4-BE49-F238E27FC236}">
                <a16:creationId xmlns:a16="http://schemas.microsoft.com/office/drawing/2014/main" id="{FF938514-E70C-CAE0-46DB-B793E20F609E}"/>
              </a:ext>
            </a:extLst>
          </p:cNvPr>
          <p:cNvSpPr>
            <a:spLocks noGrp="1"/>
          </p:cNvSpPr>
          <p:nvPr>
            <p:ph idx="1"/>
          </p:nvPr>
        </p:nvSpPr>
        <p:spPr/>
        <p:txBody>
          <a:bodyPr>
            <a:normAutofit fontScale="92500" lnSpcReduction="10000"/>
          </a:bodyPr>
          <a:lstStyle/>
          <a:p>
            <a:r>
              <a:rPr lang="en-US" dirty="0"/>
              <a:t>Goal: fix mismatch between theoretical First Principles (FP) model and the real physical system</a:t>
            </a:r>
          </a:p>
          <a:p>
            <a:r>
              <a:rPr lang="en-US" dirty="0"/>
              <a:t>Extension: introduce new state variables that capture unmodeled dynamics</a:t>
            </a:r>
          </a:p>
          <a:p>
            <a:pPr lvl="1"/>
            <a:r>
              <a:rPr lang="en-US" dirty="0"/>
              <a:t>Subspace Encoder (NN) looks at past data and estimates hidden states</a:t>
            </a:r>
          </a:p>
          <a:p>
            <a:r>
              <a:rPr lang="en-US" dirty="0" err="1"/>
              <a:t>Augmenation</a:t>
            </a:r>
            <a:r>
              <a:rPr lang="en-US" dirty="0"/>
              <a:t>: Physical model might have incorrect parameters (or simplified equations)</a:t>
            </a:r>
          </a:p>
          <a:p>
            <a:pPr lvl="1"/>
            <a:r>
              <a:rPr lang="en-US" dirty="0"/>
              <a:t>EA adds RNNs directly into the force/accelerations equations of the physical model</a:t>
            </a:r>
          </a:p>
          <a:p>
            <a:r>
              <a:rPr lang="en-US" b="1" dirty="0"/>
              <a:t>Negation Problem:</a:t>
            </a:r>
            <a:r>
              <a:rPr lang="en-US" dirty="0"/>
              <a:t> NN cancels out physical parameters; NN might take easy route and learn simple dynamics and not the nonlinearities</a:t>
            </a:r>
            <a:endParaRPr lang="en-NL" dirty="0"/>
          </a:p>
          <a:p>
            <a:pPr lvl="1"/>
            <a:r>
              <a:rPr lang="en-US" dirty="0"/>
              <a:t>Mentions for further research Orthogonality to improve on negation effect</a:t>
            </a:r>
          </a:p>
        </p:txBody>
      </p:sp>
      <p:sp>
        <p:nvSpPr>
          <p:cNvPr id="5" name="TextBox 4">
            <a:extLst>
              <a:ext uri="{FF2B5EF4-FFF2-40B4-BE49-F238E27FC236}">
                <a16:creationId xmlns:a16="http://schemas.microsoft.com/office/drawing/2014/main" id="{CDA2C041-CEE7-0BEB-CAF0-4A44EED06506}"/>
              </a:ext>
            </a:extLst>
          </p:cNvPr>
          <p:cNvSpPr txBox="1"/>
          <p:nvPr/>
        </p:nvSpPr>
        <p:spPr>
          <a:xfrm>
            <a:off x="838200" y="1321356"/>
            <a:ext cx="6096000" cy="369332"/>
          </a:xfrm>
          <a:prstGeom prst="rect">
            <a:avLst/>
          </a:prstGeom>
          <a:noFill/>
        </p:spPr>
        <p:txBody>
          <a:bodyPr wrap="square">
            <a:spAutoFit/>
          </a:bodyPr>
          <a:lstStyle/>
          <a:p>
            <a:r>
              <a:rPr lang="en-US" b="1" dirty="0" err="1"/>
              <a:t>Kessels</a:t>
            </a:r>
            <a:endParaRPr lang="en-NL" b="1" dirty="0"/>
          </a:p>
        </p:txBody>
      </p:sp>
    </p:spTree>
    <p:extLst>
      <p:ext uri="{BB962C8B-B14F-4D97-AF65-F5344CB8AC3E}">
        <p14:creationId xmlns:p14="http://schemas.microsoft.com/office/powerpoint/2010/main" val="764761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D53CA-FD55-B5AB-0A99-AFF1A02C4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23FD0-83CE-0538-E58C-DEE4BA1624B4}"/>
              </a:ext>
            </a:extLst>
          </p:cNvPr>
          <p:cNvSpPr>
            <a:spLocks noGrp="1"/>
          </p:cNvSpPr>
          <p:nvPr>
            <p:ph type="title"/>
          </p:nvPr>
        </p:nvSpPr>
        <p:spPr/>
        <p:txBody>
          <a:bodyPr/>
          <a:lstStyle/>
          <a:p>
            <a:r>
              <a:rPr lang="en-US" dirty="0"/>
              <a:t>Orthogonality</a:t>
            </a:r>
            <a:endParaRPr lang="en-NL" dirty="0"/>
          </a:p>
        </p:txBody>
      </p:sp>
      <p:sp>
        <p:nvSpPr>
          <p:cNvPr id="3" name="Content Placeholder 2">
            <a:extLst>
              <a:ext uri="{FF2B5EF4-FFF2-40B4-BE49-F238E27FC236}">
                <a16:creationId xmlns:a16="http://schemas.microsoft.com/office/drawing/2014/main" id="{D0B152CC-64E3-D8D1-44F4-2A40C6F01F3A}"/>
              </a:ext>
            </a:extLst>
          </p:cNvPr>
          <p:cNvSpPr>
            <a:spLocks noGrp="1"/>
          </p:cNvSpPr>
          <p:nvPr>
            <p:ph idx="1"/>
          </p:nvPr>
        </p:nvSpPr>
        <p:spPr>
          <a:xfrm>
            <a:off x="838200" y="1559407"/>
            <a:ext cx="10515600" cy="4351338"/>
          </a:xfrm>
        </p:spPr>
        <p:txBody>
          <a:bodyPr/>
          <a:lstStyle/>
          <a:p>
            <a:r>
              <a:rPr lang="en-US" dirty="0"/>
              <a:t>Orthogonal by construction (</a:t>
            </a:r>
            <a:r>
              <a:rPr lang="en-US" dirty="0" err="1"/>
              <a:t>ObC</a:t>
            </a:r>
            <a:r>
              <a:rPr lang="en-US" dirty="0"/>
              <a:t>) requires input-output, realistic for the dual-gantry system?</a:t>
            </a:r>
          </a:p>
          <a:p>
            <a:r>
              <a:rPr lang="en-US" dirty="0"/>
              <a:t>For the dual-gantry system due to multivariable (MIMO) coupling and for physical interpretability </a:t>
            </a:r>
            <a:r>
              <a:rPr lang="en-US" dirty="0">
                <a:sym typeface="Wingdings" panose="05000000000000000000" pitchFamily="2" charset="2"/>
              </a:rPr>
              <a:t> state space the best option</a:t>
            </a:r>
            <a:endParaRPr lang="en-US" dirty="0"/>
          </a:p>
          <a:p>
            <a:endParaRPr lang="en-US" dirty="0"/>
          </a:p>
        </p:txBody>
      </p:sp>
    </p:spTree>
    <p:extLst>
      <p:ext uri="{BB962C8B-B14F-4D97-AF65-F5344CB8AC3E}">
        <p14:creationId xmlns:p14="http://schemas.microsoft.com/office/powerpoint/2010/main" val="873770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A1C9-1170-D722-5E92-80269F8D2A7B}"/>
              </a:ext>
            </a:extLst>
          </p:cNvPr>
          <p:cNvSpPr>
            <a:spLocks noGrp="1"/>
          </p:cNvSpPr>
          <p:nvPr>
            <p:ph type="title"/>
          </p:nvPr>
        </p:nvSpPr>
        <p:spPr/>
        <p:txBody>
          <a:bodyPr/>
          <a:lstStyle/>
          <a:p>
            <a:r>
              <a:rPr lang="en-US" dirty="0"/>
              <a:t>Orthogonal Regularization (State-Space)</a:t>
            </a:r>
            <a:endParaRPr lang="en-NL" dirty="0"/>
          </a:p>
        </p:txBody>
      </p:sp>
      <p:sp>
        <p:nvSpPr>
          <p:cNvPr id="3" name="Content Placeholder 2">
            <a:extLst>
              <a:ext uri="{FF2B5EF4-FFF2-40B4-BE49-F238E27FC236}">
                <a16:creationId xmlns:a16="http://schemas.microsoft.com/office/drawing/2014/main" id="{449DF795-9254-8119-777E-77B504FA86EC}"/>
              </a:ext>
            </a:extLst>
          </p:cNvPr>
          <p:cNvSpPr>
            <a:spLocks noGrp="1"/>
          </p:cNvSpPr>
          <p:nvPr>
            <p:ph idx="1"/>
          </p:nvPr>
        </p:nvSpPr>
        <p:spPr>
          <a:xfrm>
            <a:off x="838200" y="1790901"/>
            <a:ext cx="10515600" cy="4351338"/>
          </a:xfrm>
        </p:spPr>
        <p:txBody>
          <a:bodyPr/>
          <a:lstStyle/>
          <a:p>
            <a:r>
              <a:rPr lang="en-US" dirty="0"/>
              <a:t>Add penalty term to the optimization cost function for predictions that look like rigid-body physics</a:t>
            </a:r>
          </a:p>
          <a:p>
            <a:r>
              <a:rPr lang="en-US" dirty="0"/>
              <a:t>Use simulated states generated by FP model to construct projection matrix </a:t>
            </a:r>
            <a:r>
              <a:rPr lang="en-US" dirty="0">
                <a:sym typeface="Wingdings" panose="05000000000000000000" pitchFamily="2" charset="2"/>
              </a:rPr>
              <a:t> </a:t>
            </a:r>
            <a:r>
              <a:rPr lang="en-US" dirty="0"/>
              <a:t>compatible with </a:t>
            </a:r>
            <a:r>
              <a:rPr lang="en-US" b="1" dirty="0"/>
              <a:t>Nonlinear State-Space</a:t>
            </a:r>
          </a:p>
          <a:p>
            <a:r>
              <a:rPr lang="en-US" dirty="0"/>
              <a:t>Linearization point can be updated at each iteration using the current estimate</a:t>
            </a:r>
          </a:p>
          <a:p>
            <a:pPr lvl="1"/>
            <a:r>
              <a:rPr lang="en-US" dirty="0"/>
              <a:t>Requires recomputing SVD and projection matrix every time the cost function is evaluated </a:t>
            </a:r>
            <a:r>
              <a:rPr lang="en-US" dirty="0">
                <a:sym typeface="Wingdings" panose="05000000000000000000" pitchFamily="2" charset="2"/>
              </a:rPr>
              <a:t> computation expensive</a:t>
            </a:r>
          </a:p>
          <a:p>
            <a:pPr lvl="1"/>
            <a:r>
              <a:rPr lang="en-US" dirty="0">
                <a:sym typeface="Wingdings" panose="05000000000000000000" pitchFamily="2" charset="2"/>
              </a:rPr>
              <a:t>Only initialize projection matrix at the start of training with initial best guess estimate of the physical parameters  </a:t>
            </a:r>
            <a:r>
              <a:rPr lang="en-US" dirty="0" err="1">
                <a:sym typeface="Wingdings" panose="05000000000000000000" pitchFamily="2" charset="2"/>
              </a:rPr>
              <a:t>telica</a:t>
            </a:r>
            <a:r>
              <a:rPr lang="en-US" dirty="0">
                <a:sym typeface="Wingdings" panose="05000000000000000000" pitchFamily="2" charset="2"/>
              </a:rPr>
              <a:t> datasheets available</a:t>
            </a:r>
            <a:endParaRPr lang="en-US" dirty="0"/>
          </a:p>
          <a:p>
            <a:endParaRPr lang="en-NL" dirty="0"/>
          </a:p>
        </p:txBody>
      </p:sp>
    </p:spTree>
    <p:extLst>
      <p:ext uri="{BB962C8B-B14F-4D97-AF65-F5344CB8AC3E}">
        <p14:creationId xmlns:p14="http://schemas.microsoft.com/office/powerpoint/2010/main" val="2762510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50B96-3F58-453F-C993-0CAF6249023E}"/>
              </a:ext>
            </a:extLst>
          </p:cNvPr>
          <p:cNvSpPr>
            <a:spLocks noGrp="1"/>
          </p:cNvSpPr>
          <p:nvPr>
            <p:ph type="title"/>
          </p:nvPr>
        </p:nvSpPr>
        <p:spPr/>
        <p:txBody>
          <a:bodyPr/>
          <a:lstStyle/>
          <a:p>
            <a:r>
              <a:rPr lang="en-US" dirty="0"/>
              <a:t>LPV-LFR</a:t>
            </a:r>
            <a:endParaRPr lang="en-NL" dirty="0"/>
          </a:p>
        </p:txBody>
      </p:sp>
      <p:sp>
        <p:nvSpPr>
          <p:cNvPr id="3" name="Content Placeholder 2">
            <a:extLst>
              <a:ext uri="{FF2B5EF4-FFF2-40B4-BE49-F238E27FC236}">
                <a16:creationId xmlns:a16="http://schemas.microsoft.com/office/drawing/2014/main" id="{8C3F7A0A-7882-4BD3-CFF8-BB9B0A66696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26111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1820-23E9-F04F-2BED-D30E0E2635C1}"/>
              </a:ext>
            </a:extLst>
          </p:cNvPr>
          <p:cNvSpPr>
            <a:spLocks noGrp="1"/>
          </p:cNvSpPr>
          <p:nvPr>
            <p:ph type="title"/>
          </p:nvPr>
        </p:nvSpPr>
        <p:spPr/>
        <p:txBody>
          <a:bodyPr/>
          <a:lstStyle/>
          <a:p>
            <a:r>
              <a:rPr lang="en-US" dirty="0"/>
              <a:t>Combining EA with Orthogonality</a:t>
            </a:r>
            <a:endParaRPr lang="en-NL" dirty="0"/>
          </a:p>
        </p:txBody>
      </p:sp>
      <p:sp>
        <p:nvSpPr>
          <p:cNvPr id="3" name="Content Placeholder 2">
            <a:extLst>
              <a:ext uri="{FF2B5EF4-FFF2-40B4-BE49-F238E27FC236}">
                <a16:creationId xmlns:a16="http://schemas.microsoft.com/office/drawing/2014/main" id="{E01F4637-9DED-3B77-1819-84C80A233E91}"/>
              </a:ext>
            </a:extLst>
          </p:cNvPr>
          <p:cNvSpPr>
            <a:spLocks noGrp="1"/>
          </p:cNvSpPr>
          <p:nvPr>
            <p:ph idx="1"/>
          </p:nvPr>
        </p:nvSpPr>
        <p:spPr/>
        <p:txBody>
          <a:bodyPr/>
          <a:lstStyle/>
          <a:p>
            <a:r>
              <a:rPr lang="en-US" dirty="0"/>
              <a:t>EA continuously updates physical parameters </a:t>
            </a:r>
          </a:p>
          <a:p>
            <a:r>
              <a:rPr lang="en-US" dirty="0"/>
              <a:t>Nominal approximation: Initialize SVD once to build projection matrix </a:t>
            </a:r>
            <a:r>
              <a:rPr lang="el-GR" dirty="0"/>
              <a:t>Π</a:t>
            </a:r>
            <a:r>
              <a:rPr lang="en-US" dirty="0"/>
              <a:t>. </a:t>
            </a:r>
          </a:p>
          <a:p>
            <a:pPr lvl="1"/>
            <a:r>
              <a:rPr lang="en-US" dirty="0"/>
              <a:t>Ideally we would update the SVD at every update step</a:t>
            </a:r>
            <a:endParaRPr lang="en-NL" dirty="0"/>
          </a:p>
        </p:txBody>
      </p:sp>
    </p:spTree>
    <p:extLst>
      <p:ext uri="{BB962C8B-B14F-4D97-AF65-F5344CB8AC3E}">
        <p14:creationId xmlns:p14="http://schemas.microsoft.com/office/powerpoint/2010/main" val="132494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343F-6342-0E27-294B-993538F48FC7}"/>
              </a:ext>
            </a:extLst>
          </p:cNvPr>
          <p:cNvSpPr>
            <a:spLocks noGrp="1"/>
          </p:cNvSpPr>
          <p:nvPr>
            <p:ph type="title"/>
          </p:nvPr>
        </p:nvSpPr>
        <p:spPr/>
        <p:txBody>
          <a:bodyPr/>
          <a:lstStyle/>
          <a:p>
            <a:r>
              <a:rPr lang="en-US" dirty="0"/>
              <a:t>Nonlinear System Identification</a:t>
            </a:r>
            <a:endParaRPr lang="en-NL" dirty="0"/>
          </a:p>
        </p:txBody>
      </p:sp>
      <p:sp>
        <p:nvSpPr>
          <p:cNvPr id="3" name="Content Placeholder 2">
            <a:extLst>
              <a:ext uri="{FF2B5EF4-FFF2-40B4-BE49-F238E27FC236}">
                <a16:creationId xmlns:a16="http://schemas.microsoft.com/office/drawing/2014/main" id="{3E6D4B73-9CA9-B601-1057-ADAE5F5F5DE7}"/>
              </a:ext>
            </a:extLst>
          </p:cNvPr>
          <p:cNvSpPr>
            <a:spLocks noGrp="1"/>
          </p:cNvSpPr>
          <p:nvPr>
            <p:ph idx="1"/>
          </p:nvPr>
        </p:nvSpPr>
        <p:spPr/>
        <p:txBody>
          <a:bodyPr/>
          <a:lstStyle/>
          <a:p>
            <a:r>
              <a:rPr lang="en-US" dirty="0"/>
              <a:t>OMNIPUS (</a:t>
            </a:r>
            <a:r>
              <a:rPr lang="en-US" dirty="0" err="1"/>
              <a:t>OptiMized</a:t>
            </a:r>
            <a:r>
              <a:rPr lang="en-US" dirty="0"/>
              <a:t> Nonlinear </a:t>
            </a:r>
            <a:r>
              <a:rPr lang="en-US" dirty="0" err="1"/>
              <a:t>InPUt</a:t>
            </a:r>
            <a:r>
              <a:rPr lang="en-US" dirty="0"/>
              <a:t> Signal):  Instead of random noise, generates </a:t>
            </a:r>
            <a:r>
              <a:rPr lang="en-US" b="1" dirty="0"/>
              <a:t>randomized step-like sequences</a:t>
            </a:r>
          </a:p>
          <a:p>
            <a:pPr lvl="1"/>
            <a:r>
              <a:rPr lang="en-US" dirty="0"/>
              <a:t>Models better to unseen data</a:t>
            </a:r>
          </a:p>
          <a:p>
            <a:pPr lvl="1"/>
            <a:r>
              <a:rPr lang="en-US" dirty="0"/>
              <a:t>OMNIPUS responsible for global movement for covering the full operating space. Combine with “Wet-Clutch Trick” for local excitation</a:t>
            </a:r>
          </a:p>
          <a:p>
            <a:r>
              <a:rPr lang="en-US" dirty="0"/>
              <a:t>Selecting regime points for the dual-gantry system</a:t>
            </a:r>
          </a:p>
          <a:p>
            <a:pPr lvl="1"/>
            <a:r>
              <a:rPr lang="en-US" dirty="0"/>
              <a:t>Need to select specific coordinates that represent extreme cases</a:t>
            </a:r>
          </a:p>
          <a:p>
            <a:pPr lvl="1"/>
            <a:r>
              <a:rPr lang="en-US" dirty="0"/>
              <a:t>Automate with </a:t>
            </a:r>
            <a:r>
              <a:rPr lang="en-US" b="1" dirty="0"/>
              <a:t>HILOMOT (</a:t>
            </a:r>
            <a:r>
              <a:rPr lang="en-US" b="1" dirty="0" err="1"/>
              <a:t>HIerarchical</a:t>
            </a:r>
            <a:r>
              <a:rPr lang="en-US" b="1" dirty="0"/>
              <a:t> </a:t>
            </a:r>
            <a:r>
              <a:rPr lang="en-US" b="1" dirty="0" err="1"/>
              <a:t>LOcal</a:t>
            </a:r>
            <a:r>
              <a:rPr lang="en-US" b="1" dirty="0"/>
              <a:t> </a:t>
            </a:r>
            <a:r>
              <a:rPr lang="en-US" b="1" dirty="0" err="1"/>
              <a:t>MOdel</a:t>
            </a:r>
            <a:r>
              <a:rPr lang="en-US" b="1" dirty="0"/>
              <a:t> Tree) </a:t>
            </a:r>
            <a:r>
              <a:rPr lang="en-US" dirty="0"/>
              <a:t>algorithm</a:t>
            </a:r>
            <a:endParaRPr lang="en-NL" dirty="0"/>
          </a:p>
        </p:txBody>
      </p:sp>
      <p:sp>
        <p:nvSpPr>
          <p:cNvPr id="9" name="TextBox 8">
            <a:extLst>
              <a:ext uri="{FF2B5EF4-FFF2-40B4-BE49-F238E27FC236}">
                <a16:creationId xmlns:a16="http://schemas.microsoft.com/office/drawing/2014/main" id="{21DCAAFD-807C-BF4F-B247-4072BEF85085}"/>
              </a:ext>
            </a:extLst>
          </p:cNvPr>
          <p:cNvSpPr txBox="1"/>
          <p:nvPr/>
        </p:nvSpPr>
        <p:spPr>
          <a:xfrm>
            <a:off x="838200" y="1387396"/>
            <a:ext cx="6096000" cy="369332"/>
          </a:xfrm>
          <a:prstGeom prst="rect">
            <a:avLst/>
          </a:prstGeom>
          <a:noFill/>
        </p:spPr>
        <p:txBody>
          <a:bodyPr wrap="square">
            <a:spAutoFit/>
          </a:bodyPr>
          <a:lstStyle/>
          <a:p>
            <a:r>
              <a:rPr lang="en-US" b="1" dirty="0"/>
              <a:t>Schoukens &amp; Ljung, </a:t>
            </a:r>
            <a:r>
              <a:rPr lang="en-US" b="1" dirty="0" err="1"/>
              <a:t>Kessels</a:t>
            </a:r>
            <a:endParaRPr lang="en-NL" b="1" dirty="0"/>
          </a:p>
        </p:txBody>
      </p:sp>
    </p:spTree>
    <p:extLst>
      <p:ext uri="{BB962C8B-B14F-4D97-AF65-F5344CB8AC3E}">
        <p14:creationId xmlns:p14="http://schemas.microsoft.com/office/powerpoint/2010/main" val="2171402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1AF4134-B082-0054-7E8D-D6219CB06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A4B0D-EFA4-89FD-8455-14FDDA0A46ED}"/>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23FC63B2-B931-DF59-BFD7-18E122B0EE47}"/>
              </a:ext>
            </a:extLst>
          </p:cNvPr>
          <p:cNvSpPr>
            <a:spLocks noGrp="1"/>
          </p:cNvSpPr>
          <p:nvPr>
            <p:ph idx="1"/>
          </p:nvPr>
        </p:nvSpPr>
        <p:spPr/>
        <p:txBody>
          <a:bodyPr>
            <a:normAutofit fontScale="55000" lnSpcReduction="20000"/>
          </a:bodyPr>
          <a:lstStyle/>
          <a:p>
            <a:r>
              <a:rPr lang="en-US" dirty="0"/>
              <a:t>In the First Principles (FP) model you are developing, how exactly is the decoupling formulated? Is it modeled as two completely independent SISO systems (where Axis X ignores Axis Y), or does it contain static coupling terms?</a:t>
            </a:r>
          </a:p>
          <a:p>
            <a:r>
              <a:rPr lang="en-US" dirty="0"/>
              <a:t>Are the physical parameters (mass, stiffness) in this FP model lumped parameters, or are they distributed? I need to know which specific parameters (</a:t>
            </a:r>
            <a:r>
              <a:rPr lang="en-US" i="1" dirty="0" err="1"/>
              <a:t>θbase</a:t>
            </a:r>
            <a:r>
              <a:rPr lang="en-US" dirty="0"/>
              <a:t>​) I am allowed to update/tune versus which ones are fixed structure. </a:t>
            </a:r>
            <a:r>
              <a:rPr lang="en-US" dirty="0">
                <a:sym typeface="Wingdings" panose="05000000000000000000" pitchFamily="2" charset="2"/>
              </a:rPr>
              <a:t> coupling?</a:t>
            </a:r>
          </a:p>
          <a:p>
            <a:endParaRPr lang="en-US" dirty="0">
              <a:sym typeface="Wingdings" panose="05000000000000000000" pitchFamily="2" charset="2"/>
            </a:endParaRPr>
          </a:p>
          <a:p>
            <a:r>
              <a:rPr lang="en-US" dirty="0"/>
              <a:t>The Garcia-Herreros paper demonstrates that </a:t>
            </a:r>
            <a:r>
              <a:rPr lang="en-US" b="1" dirty="0"/>
              <a:t>Modal Decoupling</a:t>
            </a:r>
            <a:r>
              <a:rPr lang="en-US" dirty="0"/>
              <a:t>—mathematically transforming the axes into 'Translation </a:t>
            </a:r>
            <a:r>
              <a:rPr lang="en-US" i="1" dirty="0"/>
              <a:t>X</a:t>
            </a:r>
            <a:r>
              <a:rPr lang="en-US" dirty="0"/>
              <a:t>' and 'Rotation Θ' modes—reduces positioning error by over 50% compared to standard independent control.</a:t>
            </a:r>
          </a:p>
          <a:p>
            <a:r>
              <a:rPr lang="en-US" dirty="0"/>
              <a:t>However, my notes indicate that the </a:t>
            </a:r>
            <a:r>
              <a:rPr lang="en-US" b="1" dirty="0"/>
              <a:t>ETEL hardware architecture</a:t>
            </a:r>
            <a:r>
              <a:rPr lang="en-US" dirty="0"/>
              <a:t> likely prevents us from modifying the low-level feedback loops to implement this decoupling directly in the controller.</a:t>
            </a:r>
          </a:p>
          <a:p>
            <a:r>
              <a:rPr lang="en-US" b="1" dirty="0"/>
              <a:t>Therefore, for the LPV-LFR model structure:</a:t>
            </a:r>
            <a:r>
              <a:rPr lang="en-US" dirty="0"/>
              <a:t> Should I assume the </a:t>
            </a:r>
            <a:r>
              <a:rPr lang="en-US" b="1" dirty="0"/>
              <a:t>Baseline Model (</a:t>
            </a:r>
            <a:r>
              <a:rPr lang="en-US" i="1" dirty="0" err="1"/>
              <a:t>fbase</a:t>
            </a:r>
            <a:r>
              <a:rPr lang="en-US" dirty="0"/>
              <a:t>​</a:t>
            </a:r>
            <a:r>
              <a:rPr lang="en-US" b="1" dirty="0"/>
              <a:t>)</a:t>
            </a:r>
            <a:r>
              <a:rPr lang="en-US" dirty="0"/>
              <a:t> operates in </a:t>
            </a:r>
            <a:r>
              <a:rPr lang="en-US" b="1" dirty="0"/>
              <a:t>'Independent/Master-Master' mode</a:t>
            </a:r>
            <a:r>
              <a:rPr lang="en-US" dirty="0"/>
              <a:t> (where the physics model ignores the cross-arm connection)?</a:t>
            </a:r>
          </a:p>
          <a:p>
            <a:r>
              <a:rPr lang="en-US" dirty="0"/>
              <a:t>• </a:t>
            </a:r>
            <a:r>
              <a:rPr lang="en-US" i="1" dirty="0"/>
              <a:t>If yes:</a:t>
            </a:r>
            <a:r>
              <a:rPr lang="en-US" dirty="0"/>
              <a:t> My Neural Network (</a:t>
            </a:r>
            <a:r>
              <a:rPr lang="en-US" i="1" dirty="0" err="1"/>
              <a:t>faug</a:t>
            </a:r>
            <a:r>
              <a:rPr lang="en-US" dirty="0"/>
              <a:t>​) must be explicitly designed to learn the </a:t>
            </a:r>
            <a:r>
              <a:rPr lang="en-US" b="1" dirty="0"/>
              <a:t>rigid-body mechanical coupling</a:t>
            </a:r>
            <a:r>
              <a:rPr lang="en-US" dirty="0"/>
              <a:t> (</a:t>
            </a:r>
            <a:r>
              <a:rPr lang="en-US" i="1" dirty="0"/>
              <a:t>X</a:t>
            </a:r>
            <a:r>
              <a:rPr lang="en-US" dirty="0"/>
              <a:t>1​↔</a:t>
            </a:r>
            <a:r>
              <a:rPr lang="en-US" i="1" dirty="0"/>
              <a:t>X</a:t>
            </a:r>
            <a:r>
              <a:rPr lang="en-US" dirty="0"/>
              <a:t>2​ interaction) that the independent baseline ignores.</a:t>
            </a:r>
          </a:p>
          <a:p>
            <a:r>
              <a:rPr lang="en-US" dirty="0"/>
              <a:t>• </a:t>
            </a:r>
            <a:r>
              <a:rPr lang="en-US" i="1" dirty="0"/>
              <a:t>If no:</a:t>
            </a:r>
            <a:r>
              <a:rPr lang="en-US" dirty="0"/>
              <a:t> Does the current Feedforward model already include a decoupling matrix that I should incorporate into my baseline to avoid re-learning known physics?"</a:t>
            </a:r>
          </a:p>
          <a:p>
            <a:endParaRPr lang="en-NL" dirty="0"/>
          </a:p>
        </p:txBody>
      </p:sp>
    </p:spTree>
    <p:extLst>
      <p:ext uri="{BB962C8B-B14F-4D97-AF65-F5344CB8AC3E}">
        <p14:creationId xmlns:p14="http://schemas.microsoft.com/office/powerpoint/2010/main" val="1397591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64F3A-2020-701D-3794-CAF5840D6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67AC1-4192-493B-0EAF-B9A63EB38726}"/>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9D503FC4-BA91-72A2-50A0-C02ED32A1087}"/>
              </a:ext>
            </a:extLst>
          </p:cNvPr>
          <p:cNvSpPr>
            <a:spLocks noGrp="1"/>
          </p:cNvSpPr>
          <p:nvPr>
            <p:ph idx="1"/>
          </p:nvPr>
        </p:nvSpPr>
        <p:spPr/>
        <p:txBody>
          <a:bodyPr>
            <a:normAutofit/>
          </a:bodyPr>
          <a:lstStyle/>
          <a:p>
            <a:r>
              <a:rPr lang="en-US" dirty="0"/>
              <a:t>How is decoupling formulated in the FP model?</a:t>
            </a:r>
          </a:p>
          <a:p>
            <a:pPr lvl="1"/>
            <a:r>
              <a:rPr lang="en-US" b="1" dirty="0"/>
              <a:t>ETEL </a:t>
            </a:r>
            <a:r>
              <a:rPr lang="en-US" dirty="0"/>
              <a:t>limits ability to implement the </a:t>
            </a:r>
            <a:r>
              <a:rPr lang="en-US" b="1" dirty="0"/>
              <a:t>modal decoupling </a:t>
            </a:r>
            <a:r>
              <a:rPr lang="en-US" dirty="0"/>
              <a:t>control?</a:t>
            </a:r>
            <a:endParaRPr lang="en-NL" dirty="0"/>
          </a:p>
          <a:p>
            <a:pPr lvl="1"/>
            <a:r>
              <a:rPr lang="en-US" dirty="0"/>
              <a:t>Is it modeled as two fully independent SISO systems, independent control?</a:t>
            </a:r>
          </a:p>
          <a:p>
            <a:pPr lvl="1"/>
            <a:r>
              <a:rPr lang="en-US" dirty="0"/>
              <a:t>Or does the FP model include </a:t>
            </a:r>
            <a:r>
              <a:rPr lang="en-US" b="1" dirty="0"/>
              <a:t>static coupling terms</a:t>
            </a:r>
            <a:r>
              <a:rPr lang="en-US" dirty="0"/>
              <a:t> (or a coupling matrix) that captures cross-axis interaction?</a:t>
            </a:r>
          </a:p>
        </p:txBody>
      </p:sp>
    </p:spTree>
    <p:extLst>
      <p:ext uri="{BB962C8B-B14F-4D97-AF65-F5344CB8AC3E}">
        <p14:creationId xmlns:p14="http://schemas.microsoft.com/office/powerpoint/2010/main" val="606929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1258C-D895-257E-0C95-98F40DD45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C5E3E-416F-39BB-946F-041EFF4A1907}"/>
              </a:ext>
            </a:extLst>
          </p:cNvPr>
          <p:cNvSpPr>
            <a:spLocks noGrp="1"/>
          </p:cNvSpPr>
          <p:nvPr>
            <p:ph type="title"/>
          </p:nvPr>
        </p:nvSpPr>
        <p:spPr/>
        <p:txBody>
          <a:bodyPr/>
          <a:lstStyle/>
          <a:p>
            <a:r>
              <a:rPr lang="en-US" dirty="0"/>
              <a:t>Question 2</a:t>
            </a:r>
            <a:endParaRPr lang="en-NL" dirty="0"/>
          </a:p>
        </p:txBody>
      </p:sp>
      <p:sp>
        <p:nvSpPr>
          <p:cNvPr id="3" name="Content Placeholder 2">
            <a:extLst>
              <a:ext uri="{FF2B5EF4-FFF2-40B4-BE49-F238E27FC236}">
                <a16:creationId xmlns:a16="http://schemas.microsoft.com/office/drawing/2014/main" id="{8FFBF54C-E8E6-9499-89D1-2C1DC5E98D53}"/>
              </a:ext>
            </a:extLst>
          </p:cNvPr>
          <p:cNvSpPr>
            <a:spLocks noGrp="1"/>
          </p:cNvSpPr>
          <p:nvPr>
            <p:ph idx="1"/>
          </p:nvPr>
        </p:nvSpPr>
        <p:spPr/>
        <p:txBody>
          <a:bodyPr/>
          <a:lstStyle/>
          <a:p>
            <a:r>
              <a:rPr lang="en-US" dirty="0"/>
              <a:t>Regarding the unmodeled dynamics causing the settling error: Is the dominant cause considered “</a:t>
            </a:r>
            <a:r>
              <a:rPr lang="en-US" b="1" dirty="0"/>
              <a:t>unknown”</a:t>
            </a:r>
            <a:r>
              <a:rPr lang="en-US" dirty="0"/>
              <a:t> (missing from the equations) or </a:t>
            </a:r>
            <a:r>
              <a:rPr lang="en-US" b="1" dirty="0"/>
              <a:t>“hard-to-model”</a:t>
            </a:r>
            <a:r>
              <a:rPr lang="en-US" dirty="0"/>
              <a:t> (simplified in the equations)?</a:t>
            </a:r>
          </a:p>
          <a:p>
            <a:pPr lvl="1"/>
            <a:r>
              <a:rPr lang="en-US" dirty="0"/>
              <a:t>Hypothesis for the dominant physical cause of the settling error? </a:t>
            </a:r>
          </a:p>
          <a:p>
            <a:pPr lvl="2"/>
            <a:r>
              <a:rPr lang="en-US" dirty="0"/>
              <a:t>Model-based decoupling paper: </a:t>
            </a:r>
            <a:r>
              <a:rPr lang="en-US" b="1" dirty="0"/>
              <a:t>detent forces</a:t>
            </a:r>
          </a:p>
          <a:p>
            <a:pPr lvl="3"/>
            <a:r>
              <a:rPr lang="en-US" dirty="0"/>
              <a:t>Forces generated by the Permanent Magnet Linear Synchronous Motors (PMLSM)</a:t>
            </a:r>
            <a:endParaRPr lang="en-NL" dirty="0"/>
          </a:p>
        </p:txBody>
      </p:sp>
      <p:pic>
        <p:nvPicPr>
          <p:cNvPr id="7" name="Picture 6">
            <a:extLst>
              <a:ext uri="{FF2B5EF4-FFF2-40B4-BE49-F238E27FC236}">
                <a16:creationId xmlns:a16="http://schemas.microsoft.com/office/drawing/2014/main" id="{A8D14961-6B46-2647-0B85-96A548287F88}"/>
              </a:ext>
            </a:extLst>
          </p:cNvPr>
          <p:cNvPicPr>
            <a:picLocks noChangeAspect="1"/>
          </p:cNvPicPr>
          <p:nvPr/>
        </p:nvPicPr>
        <p:blipFill>
          <a:blip r:embed="rId3"/>
          <a:stretch>
            <a:fillRect/>
          </a:stretch>
        </p:blipFill>
        <p:spPr>
          <a:xfrm>
            <a:off x="2088446" y="4311221"/>
            <a:ext cx="7111999" cy="2181654"/>
          </a:xfrm>
          <a:prstGeom prst="rect">
            <a:avLst/>
          </a:prstGeom>
        </p:spPr>
      </p:pic>
    </p:spTree>
    <p:extLst>
      <p:ext uri="{BB962C8B-B14F-4D97-AF65-F5344CB8AC3E}">
        <p14:creationId xmlns:p14="http://schemas.microsoft.com/office/powerpoint/2010/main" val="477167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E2F8-DD6F-E228-6C22-5879722A1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0D6BB-0C66-9193-2AB4-21D644971AF4}"/>
              </a:ext>
            </a:extLst>
          </p:cNvPr>
          <p:cNvSpPr>
            <a:spLocks noGrp="1"/>
          </p:cNvSpPr>
          <p:nvPr>
            <p:ph type="title"/>
          </p:nvPr>
        </p:nvSpPr>
        <p:spPr/>
        <p:txBody>
          <a:bodyPr/>
          <a:lstStyle/>
          <a:p>
            <a:r>
              <a:rPr lang="en-US" dirty="0"/>
              <a:t>Question 3</a:t>
            </a:r>
            <a:endParaRPr lang="en-NL" dirty="0"/>
          </a:p>
        </p:txBody>
      </p:sp>
      <p:sp>
        <p:nvSpPr>
          <p:cNvPr id="3" name="Content Placeholder 2">
            <a:extLst>
              <a:ext uri="{FF2B5EF4-FFF2-40B4-BE49-F238E27FC236}">
                <a16:creationId xmlns:a16="http://schemas.microsoft.com/office/drawing/2014/main" id="{27E82337-81F0-D833-3398-0CE6343B5DEE}"/>
              </a:ext>
            </a:extLst>
          </p:cNvPr>
          <p:cNvSpPr>
            <a:spLocks noGrp="1"/>
          </p:cNvSpPr>
          <p:nvPr>
            <p:ph idx="1"/>
          </p:nvPr>
        </p:nvSpPr>
        <p:spPr/>
        <p:txBody>
          <a:bodyPr>
            <a:normAutofit/>
          </a:bodyPr>
          <a:lstStyle/>
          <a:p>
            <a:r>
              <a:rPr lang="en-US" dirty="0"/>
              <a:t>In the case the neural network is able to capture the 'missing physics’, what is the implementation strategy for the </a:t>
            </a:r>
            <a:r>
              <a:rPr lang="en-US" b="1" dirty="0"/>
              <a:t>feedforward</a:t>
            </a:r>
            <a:r>
              <a:rPr lang="en-US" dirty="0"/>
              <a:t>?</a:t>
            </a:r>
          </a:p>
          <a:p>
            <a:pPr lvl="1"/>
            <a:r>
              <a:rPr lang="en-US" b="1" dirty="0"/>
              <a:t>Direct Inversion:</a:t>
            </a:r>
            <a:r>
              <a:rPr lang="en-US" dirty="0"/>
              <a:t> Mathematically invert augmented model to generate a more accurate reference force</a:t>
            </a:r>
          </a:p>
          <a:p>
            <a:pPr lvl="1"/>
            <a:r>
              <a:rPr lang="en-US" b="1" dirty="0"/>
              <a:t>Add-on Correction:</a:t>
            </a:r>
            <a:r>
              <a:rPr lang="en-US" dirty="0"/>
              <a:t> Neural network output as an additive “correction signal” on top of the existing feedforward?</a:t>
            </a:r>
          </a:p>
          <a:p>
            <a:endParaRPr lang="en-NL" dirty="0"/>
          </a:p>
        </p:txBody>
      </p:sp>
    </p:spTree>
    <p:extLst>
      <p:ext uri="{BB962C8B-B14F-4D97-AF65-F5344CB8AC3E}">
        <p14:creationId xmlns:p14="http://schemas.microsoft.com/office/powerpoint/2010/main" val="2498060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B89B-B61C-B0A0-B7E7-FDDDE3EB3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547C4-A7A3-E551-8148-1AE1A0A19645}"/>
              </a:ext>
            </a:extLst>
          </p:cNvPr>
          <p:cNvSpPr>
            <a:spLocks noGrp="1"/>
          </p:cNvSpPr>
          <p:nvPr>
            <p:ph type="title"/>
          </p:nvPr>
        </p:nvSpPr>
        <p:spPr/>
        <p:txBody>
          <a:bodyPr/>
          <a:lstStyle/>
          <a:p>
            <a:r>
              <a:rPr lang="en-US" dirty="0"/>
              <a:t>Question 4</a:t>
            </a:r>
            <a:endParaRPr lang="en-NL" dirty="0"/>
          </a:p>
        </p:txBody>
      </p:sp>
      <p:sp>
        <p:nvSpPr>
          <p:cNvPr id="3" name="Content Placeholder 2">
            <a:extLst>
              <a:ext uri="{FF2B5EF4-FFF2-40B4-BE49-F238E27FC236}">
                <a16:creationId xmlns:a16="http://schemas.microsoft.com/office/drawing/2014/main" id="{47F92BEA-C113-000C-5FA0-6927616193E7}"/>
              </a:ext>
            </a:extLst>
          </p:cNvPr>
          <p:cNvSpPr>
            <a:spLocks noGrp="1"/>
          </p:cNvSpPr>
          <p:nvPr>
            <p:ph idx="1"/>
          </p:nvPr>
        </p:nvSpPr>
        <p:spPr/>
        <p:txBody>
          <a:bodyPr/>
          <a:lstStyle/>
          <a:p>
            <a:r>
              <a:rPr lang="en-US" dirty="0"/>
              <a:t>Is there a preference for continuous- or discrete time for the model?</a:t>
            </a:r>
          </a:p>
          <a:p>
            <a:pPr lvl="1"/>
            <a:r>
              <a:rPr lang="en-US" dirty="0"/>
              <a:t>DT?</a:t>
            </a:r>
            <a:endParaRPr lang="en-NL" dirty="0"/>
          </a:p>
        </p:txBody>
      </p:sp>
    </p:spTree>
    <p:extLst>
      <p:ext uri="{BB962C8B-B14F-4D97-AF65-F5344CB8AC3E}">
        <p14:creationId xmlns:p14="http://schemas.microsoft.com/office/powerpoint/2010/main" val="873005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Map the dual-gantry physics into </a:t>
            </a:r>
            <a:r>
              <a:rPr lang="en-US" dirty="0" err="1"/>
              <a:t>Phd</a:t>
            </a:r>
            <a:r>
              <a:rPr lang="en-US" dirty="0"/>
              <a:t> supervisor </a:t>
            </a:r>
            <a:r>
              <a:rPr lang="en-US" b="1" dirty="0"/>
              <a:t>LPV-LFR</a:t>
            </a:r>
            <a:r>
              <a:rPr lang="en-US" dirty="0"/>
              <a:t> code structure</a:t>
            </a:r>
          </a:p>
          <a:p>
            <a:pPr lvl="1"/>
            <a:r>
              <a:rPr lang="en-US" dirty="0"/>
              <a:t>Simulate model augmentation for dual-gantry</a:t>
            </a:r>
          </a:p>
          <a:p>
            <a:pPr lvl="1"/>
            <a:r>
              <a:rPr lang="en-US" dirty="0"/>
              <a:t>LPV-LFR splits model into 2 blocks</a:t>
            </a:r>
          </a:p>
          <a:p>
            <a:pPr lvl="2"/>
            <a:r>
              <a:rPr lang="en-US" b="1" dirty="0"/>
              <a:t>Constant</a:t>
            </a:r>
            <a:r>
              <a:rPr lang="en-US" dirty="0"/>
              <a:t> linear dynamics</a:t>
            </a:r>
          </a:p>
          <a:p>
            <a:pPr lvl="2"/>
            <a:r>
              <a:rPr lang="en-US" b="1" dirty="0"/>
              <a:t>Varying </a:t>
            </a:r>
            <a:r>
              <a:rPr lang="en-US" dirty="0"/>
              <a:t>elements</a:t>
            </a:r>
            <a:endParaRPr lang="en-US" b="1" dirty="0"/>
          </a:p>
          <a:p>
            <a:r>
              <a:rPr lang="en-US" dirty="0"/>
              <a:t>Proposition experiment design</a:t>
            </a:r>
          </a:p>
          <a:p>
            <a:pPr lvl="1"/>
            <a:r>
              <a:rPr lang="en-US" dirty="0"/>
              <a:t>for combined EA + Orthogonality method</a:t>
            </a:r>
          </a:p>
          <a:p>
            <a:endParaRPr lang="en-US" dirty="0"/>
          </a:p>
        </p:txBody>
      </p:sp>
    </p:spTree>
    <p:extLst>
      <p:ext uri="{BB962C8B-B14F-4D97-AF65-F5344CB8AC3E}">
        <p14:creationId xmlns:p14="http://schemas.microsoft.com/office/powerpoint/2010/main" val="4133975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Possible Gantt-chart or Planning</a:t>
            </a:r>
            <a:endParaRPr lang="en-NL" dirty="0"/>
          </a:p>
        </p:txBody>
      </p:sp>
      <p:sp>
        <p:nvSpPr>
          <p:cNvPr id="3" name="Content Placeholder 2">
            <a:extLst>
              <a:ext uri="{FF2B5EF4-FFF2-40B4-BE49-F238E27FC236}">
                <a16:creationId xmlns:a16="http://schemas.microsoft.com/office/drawing/2014/main" id="{322F13D6-AF08-9392-A25C-ED43A705A9E8}"/>
              </a:ext>
            </a:extLst>
          </p:cNvPr>
          <p:cNvSpPr>
            <a:spLocks noGrp="1"/>
          </p:cNvSpPr>
          <p:nvPr>
            <p:ph idx="1"/>
          </p:nvPr>
        </p:nvSpPr>
        <p:spPr/>
        <p:txBody>
          <a:bodyPr/>
          <a:lstStyle/>
          <a:p>
            <a:r>
              <a:rPr lang="en-US" dirty="0"/>
              <a:t>To keep an overview of what the progress overall is.</a:t>
            </a:r>
            <a:endParaRPr lang="en-NL" dirty="0"/>
          </a:p>
        </p:txBody>
      </p:sp>
    </p:spTree>
    <p:extLst>
      <p:ext uri="{BB962C8B-B14F-4D97-AF65-F5344CB8AC3E}">
        <p14:creationId xmlns:p14="http://schemas.microsoft.com/office/powerpoint/2010/main" val="3503897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7147</TotalTime>
  <Words>4369</Words>
  <Application>Microsoft Office PowerPoint</Application>
  <PresentationFormat>Widescreen</PresentationFormat>
  <Paragraphs>277</Paragraphs>
  <Slides>20</Slides>
  <Notes>15</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Wingdings</vt:lpstr>
      <vt:lpstr>Office Theme</vt:lpstr>
      <vt:lpstr>Meeting Week 2 – Hybrid modeling Dual-Gantry</vt:lpstr>
      <vt:lpstr>Last week summary</vt:lpstr>
      <vt:lpstr>Settling error bound for Dual-Gantry</vt:lpstr>
      <vt:lpstr>Settling error bound for Dual-Gantry</vt:lpstr>
      <vt:lpstr>Settling error bound for Dual-Gantry</vt:lpstr>
      <vt:lpstr>Region of interest &amp; Targeting the peaks</vt:lpstr>
      <vt:lpstr>Kessels Application</vt:lpstr>
      <vt:lpstr>Extension and Augmentation (EA)</vt:lpstr>
      <vt:lpstr>Orthogonality</vt:lpstr>
      <vt:lpstr>Orthogonal Regularization (State-Space)</vt:lpstr>
      <vt:lpstr>LPV-LFR</vt:lpstr>
      <vt:lpstr>Combining EA with Orthogonality</vt:lpstr>
      <vt:lpstr>Nonlinear System Identification</vt:lpstr>
      <vt:lpstr>Question 1</vt:lpstr>
      <vt:lpstr>Question 1</vt:lpstr>
      <vt:lpstr>Question 2</vt:lpstr>
      <vt:lpstr>Question 3</vt:lpstr>
      <vt:lpstr>Question 4</vt:lpstr>
      <vt:lpstr>Outline next week</vt:lpstr>
      <vt:lpstr>Possible Gantt-chart or Planning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454</cp:revision>
  <dcterms:created xsi:type="dcterms:W3CDTF">2026-02-02T15:14:22Z</dcterms:created>
  <dcterms:modified xsi:type="dcterms:W3CDTF">2026-02-16T09:03:29Z</dcterms:modified>
</cp:coreProperties>
</file>