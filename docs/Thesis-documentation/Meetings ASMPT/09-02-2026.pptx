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14"/>
  </p:notesMasterIdLst>
  <p:sldIdLst>
    <p:sldId id="274" r:id="rId2"/>
    <p:sldId id="264" r:id="rId3"/>
    <p:sldId id="266" r:id="rId4"/>
    <p:sldId id="267" r:id="rId5"/>
    <p:sldId id="265" r:id="rId6"/>
    <p:sldId id="272" r:id="rId7"/>
    <p:sldId id="275" r:id="rId8"/>
    <p:sldId id="276" r:id="rId9"/>
    <p:sldId id="273" r:id="rId10"/>
    <p:sldId id="269" r:id="rId11"/>
    <p:sldId id="271" r:id="rId12"/>
    <p:sldId id="270" r:id="rId1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3340D-3257-47F4-8731-8099DB00E14B}" v="3" dt="2026-02-02T15:28:20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 snapToGrid="0">
      <p:cViewPr varScale="1">
        <p:scale>
          <a:sx n="95" d="100"/>
          <a:sy n="95" d="100"/>
        </p:scale>
        <p:origin x="396" y="0"/>
      </p:cViewPr>
      <p:guideLst/>
    </p:cSldViewPr>
  </p:slideViewPr>
  <p:outlineViewPr>
    <p:cViewPr>
      <p:scale>
        <a:sx n="33" d="100"/>
        <a:sy n="33" d="100"/>
      </p:scale>
      <p:origin x="0" y="-16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ekstra, Jan" userId="5d496fe4-0c87-4596-89e4-7951f4c87ccb" providerId="ADAL" clId="{97D91625-A293-482C-B427-66C0286D47AF}"/>
    <pc:docChg chg="undo custSel addSld modSld">
      <pc:chgData name="Hoekstra, Jan" userId="5d496fe4-0c87-4596-89e4-7951f4c87ccb" providerId="ADAL" clId="{97D91625-A293-482C-B427-66C0286D47AF}" dt="2026-02-02T15:29:04.079" v="1141" actId="114"/>
      <pc:docMkLst>
        <pc:docMk/>
      </pc:docMkLst>
      <pc:sldChg chg="addSp modSp mod">
        <pc:chgData name="Hoekstra, Jan" userId="5d496fe4-0c87-4596-89e4-7951f4c87ccb" providerId="ADAL" clId="{97D91625-A293-482C-B427-66C0286D47AF}" dt="2026-02-02T15:29:04.079" v="1141" actId="114"/>
        <pc:sldMkLst>
          <pc:docMk/>
          <pc:sldMk cId="2679595137" sldId="257"/>
        </pc:sldMkLst>
        <pc:spChg chg="mod">
          <ac:chgData name="Hoekstra, Jan" userId="5d496fe4-0c87-4596-89e4-7951f4c87ccb" providerId="ADAL" clId="{97D91625-A293-482C-B427-66C0286D47AF}" dt="2026-02-02T15:25:52.790" v="826" actId="20577"/>
          <ac:spMkLst>
            <pc:docMk/>
            <pc:sldMk cId="2679595137" sldId="257"/>
            <ac:spMk id="3" creationId="{DAAEF679-3C39-E36C-B710-9B50CBAE487E}"/>
          </ac:spMkLst>
        </pc:spChg>
        <pc:spChg chg="add mod">
          <ac:chgData name="Hoekstra, Jan" userId="5d496fe4-0c87-4596-89e4-7951f4c87ccb" providerId="ADAL" clId="{97D91625-A293-482C-B427-66C0286D47AF}" dt="2026-02-02T15:29:04.079" v="1141" actId="114"/>
          <ac:spMkLst>
            <pc:docMk/>
            <pc:sldMk cId="2679595137" sldId="257"/>
            <ac:spMk id="4" creationId="{465EFC2D-66CC-A333-8AD7-17BCBCDB18BB}"/>
          </ac:spMkLst>
        </pc:spChg>
      </pc:sldChg>
      <pc:sldChg chg="addSp modSp new mod">
        <pc:chgData name="Hoekstra, Jan" userId="5d496fe4-0c87-4596-89e4-7951f4c87ccb" providerId="ADAL" clId="{97D91625-A293-482C-B427-66C0286D47AF}" dt="2026-02-02T15:27:13.239" v="1012" actId="20577"/>
        <pc:sldMkLst>
          <pc:docMk/>
          <pc:sldMk cId="2138626586" sldId="259"/>
        </pc:sldMkLst>
        <pc:spChg chg="mod">
          <ac:chgData name="Hoekstra, Jan" userId="5d496fe4-0c87-4596-89e4-7951f4c87ccb" providerId="ADAL" clId="{97D91625-A293-482C-B427-66C0286D47AF}" dt="2026-02-02T15:21:38.324" v="75" actId="20577"/>
          <ac:spMkLst>
            <pc:docMk/>
            <pc:sldMk cId="2138626586" sldId="259"/>
            <ac:spMk id="2" creationId="{1241CBB4-4332-CC27-31DC-1118749DC9EE}"/>
          </ac:spMkLst>
        </pc:spChg>
        <pc:spChg chg="mod">
          <ac:chgData name="Hoekstra, Jan" userId="5d496fe4-0c87-4596-89e4-7951f4c87ccb" providerId="ADAL" clId="{97D91625-A293-482C-B427-66C0286D47AF}" dt="2026-02-02T15:22:56.417" v="251" actId="20577"/>
          <ac:spMkLst>
            <pc:docMk/>
            <pc:sldMk cId="2138626586" sldId="259"/>
            <ac:spMk id="3" creationId="{EF5F3971-08E2-AD39-C334-D1FA58F77EB2}"/>
          </ac:spMkLst>
        </pc:spChg>
        <pc:spChg chg="add mod">
          <ac:chgData name="Hoekstra, Jan" userId="5d496fe4-0c87-4596-89e4-7951f4c87ccb" providerId="ADAL" clId="{97D91625-A293-482C-B427-66C0286D47AF}" dt="2026-02-02T15:27:13.239" v="1012" actId="20577"/>
          <ac:spMkLst>
            <pc:docMk/>
            <pc:sldMk cId="2138626586" sldId="259"/>
            <ac:spMk id="4" creationId="{B119E904-9495-8CB1-E838-D562CF8BB5D9}"/>
          </ac:spMkLst>
        </pc:spChg>
      </pc:sldChg>
      <pc:sldChg chg="addSp modSp new mod">
        <pc:chgData name="Hoekstra, Jan" userId="5d496fe4-0c87-4596-89e4-7951f4c87ccb" providerId="ADAL" clId="{97D91625-A293-482C-B427-66C0286D47AF}" dt="2026-02-02T15:24:23.914" v="615"/>
        <pc:sldMkLst>
          <pc:docMk/>
          <pc:sldMk cId="2175299465" sldId="260"/>
        </pc:sldMkLst>
        <pc:spChg chg="mod">
          <ac:chgData name="Hoekstra, Jan" userId="5d496fe4-0c87-4596-89e4-7951f4c87ccb" providerId="ADAL" clId="{97D91625-A293-482C-B427-66C0286D47AF}" dt="2026-02-02T15:23:06.129" v="262" actId="20577"/>
          <ac:spMkLst>
            <pc:docMk/>
            <pc:sldMk cId="2175299465" sldId="260"/>
            <ac:spMk id="2" creationId="{8275DA82-033F-A5A9-8242-2D5896D94857}"/>
          </ac:spMkLst>
        </pc:spChg>
        <pc:spChg chg="mod">
          <ac:chgData name="Hoekstra, Jan" userId="5d496fe4-0c87-4596-89e4-7951f4c87ccb" providerId="ADAL" clId="{97D91625-A293-482C-B427-66C0286D47AF}" dt="2026-02-02T15:24:18.480" v="614" actId="20577"/>
          <ac:spMkLst>
            <pc:docMk/>
            <pc:sldMk cId="2175299465" sldId="260"/>
            <ac:spMk id="3" creationId="{07C68050-ABAC-21A7-30BB-2C997CD155E6}"/>
          </ac:spMkLst>
        </pc:spChg>
        <pc:spChg chg="add mod">
          <ac:chgData name="Hoekstra, Jan" userId="5d496fe4-0c87-4596-89e4-7951f4c87ccb" providerId="ADAL" clId="{97D91625-A293-482C-B427-66C0286D47AF}" dt="2026-02-02T15:24:23.914" v="615"/>
          <ac:spMkLst>
            <pc:docMk/>
            <pc:sldMk cId="2175299465" sldId="260"/>
            <ac:spMk id="4" creationId="{C22B2196-272F-FC1F-4220-C87739CBF73F}"/>
          </ac:spMkLst>
        </pc:spChg>
      </pc:sldChg>
      <pc:sldChg chg="modSp new mod">
        <pc:chgData name="Hoekstra, Jan" userId="5d496fe4-0c87-4596-89e4-7951f4c87ccb" providerId="ADAL" clId="{97D91625-A293-482C-B427-66C0286D47AF}" dt="2026-02-02T15:26:33.865" v="951" actId="20577"/>
        <pc:sldMkLst>
          <pc:docMk/>
          <pc:sldMk cId="4133975854" sldId="261"/>
        </pc:sldMkLst>
        <pc:spChg chg="mod">
          <ac:chgData name="Hoekstra, Jan" userId="5d496fe4-0c87-4596-89e4-7951f4c87ccb" providerId="ADAL" clId="{97D91625-A293-482C-B427-66C0286D47AF}" dt="2026-02-02T15:24:51.240" v="639" actId="20577"/>
          <ac:spMkLst>
            <pc:docMk/>
            <pc:sldMk cId="4133975854" sldId="261"/>
            <ac:spMk id="2" creationId="{CE8922FA-98D7-2929-D27F-810CECE6E8CA}"/>
          </ac:spMkLst>
        </pc:spChg>
        <pc:spChg chg="mod">
          <ac:chgData name="Hoekstra, Jan" userId="5d496fe4-0c87-4596-89e4-7951f4c87ccb" providerId="ADAL" clId="{97D91625-A293-482C-B427-66C0286D47AF}" dt="2026-02-02T15:26:33.865" v="951" actId="20577"/>
          <ac:spMkLst>
            <pc:docMk/>
            <pc:sldMk cId="4133975854" sldId="261"/>
            <ac:spMk id="3" creationId="{78179DB8-2509-8E4F-14E4-B0B6B2FE756A}"/>
          </ac:spMkLst>
        </pc:spChg>
      </pc:sldChg>
      <pc:sldChg chg="modSp new mod">
        <pc:chgData name="Hoekstra, Jan" userId="5d496fe4-0c87-4596-89e4-7951f4c87ccb" providerId="ADAL" clId="{97D91625-A293-482C-B427-66C0286D47AF}" dt="2026-02-02T15:25:37.756" v="806" actId="20577"/>
        <pc:sldMkLst>
          <pc:docMk/>
          <pc:sldMk cId="3503897311" sldId="262"/>
        </pc:sldMkLst>
        <pc:spChg chg="mod">
          <ac:chgData name="Hoekstra, Jan" userId="5d496fe4-0c87-4596-89e4-7951f4c87ccb" providerId="ADAL" clId="{97D91625-A293-482C-B427-66C0286D47AF}" dt="2026-02-02T15:25:25.271" v="748" actId="20577"/>
          <ac:spMkLst>
            <pc:docMk/>
            <pc:sldMk cId="3503897311" sldId="262"/>
            <ac:spMk id="2" creationId="{E87AE796-708B-909C-F9F8-D1C4E09DB0F7}"/>
          </ac:spMkLst>
        </pc:spChg>
        <pc:spChg chg="mod">
          <ac:chgData name="Hoekstra, Jan" userId="5d496fe4-0c87-4596-89e4-7951f4c87ccb" providerId="ADAL" clId="{97D91625-A293-482C-B427-66C0286D47AF}" dt="2026-02-02T15:25:37.756" v="806" actId="20577"/>
          <ac:spMkLst>
            <pc:docMk/>
            <pc:sldMk cId="3503897311" sldId="262"/>
            <ac:spMk id="3" creationId="{322F13D6-AF08-9392-A25C-ED43A705A9E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318F7-3750-4973-A5AE-E2A68BC15B5C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0D07A3-9D2C-473A-ACAD-8714898AA54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413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scanned over </a:t>
            </a:r>
            <a:r>
              <a:rPr lang="en-US" dirty="0" err="1"/>
              <a:t>Kessels</a:t>
            </a:r>
            <a:r>
              <a:rPr lang="en-US" dirty="0"/>
              <a:t> for some potential useful concepts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(Additional paper dual-gantry methods)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0D07A3-9D2C-473A-ACAD-8714898AA542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4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0D07A3-9D2C-473A-ACAD-8714898AA542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08071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0D07A3-9D2C-473A-ACAD-8714898AA542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58971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1249D-DEDA-87A3-309B-F959A8E0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8772D-386B-F858-27B1-A3C077489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2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D0952-F7C1-ED81-D564-778C5A1FB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week overview</a:t>
            </a:r>
          </a:p>
          <a:p>
            <a:pPr lvl="1"/>
            <a:r>
              <a:rPr lang="en-US" dirty="0"/>
              <a:t>Readings papers for model augmentation</a:t>
            </a:r>
          </a:p>
          <a:p>
            <a:pPr lvl="2"/>
            <a:r>
              <a:rPr lang="en-US" dirty="0"/>
              <a:t>Mainly about orthonormality</a:t>
            </a:r>
          </a:p>
          <a:p>
            <a:r>
              <a:rPr lang="en-US" dirty="0"/>
              <a:t>This meeting:</a:t>
            </a:r>
          </a:p>
          <a:p>
            <a:pPr lvl="1"/>
            <a:r>
              <a:rPr lang="en-US" dirty="0"/>
              <a:t>Are there any concepts from </a:t>
            </a:r>
            <a:r>
              <a:rPr lang="en-US" dirty="0" err="1"/>
              <a:t>Kessels</a:t>
            </a:r>
            <a:r>
              <a:rPr lang="en-US" dirty="0"/>
              <a:t> that are useful for dual-gantry?</a:t>
            </a:r>
          </a:p>
          <a:p>
            <a:pPr lvl="1"/>
            <a:r>
              <a:rPr lang="en-US" dirty="0"/>
              <a:t>How can the orthogonality methods be used to overcome mentioned limitations in </a:t>
            </a:r>
            <a:r>
              <a:rPr lang="en-US" dirty="0" err="1"/>
              <a:t>Kessels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12367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714D9-773A-68D7-18CE-3F56A2541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Kessels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61FD7-E22C-EA89-9A43-2F62F7F4F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Inverse Mapping Parameter Updating (IMPU)</a:t>
            </a:r>
          </a:p>
          <a:p>
            <a:pPr lvl="1"/>
            <a:r>
              <a:rPr lang="en-US" dirty="0"/>
              <a:t>Online phase keeps updating in real time </a:t>
            </a:r>
            <a:r>
              <a:rPr lang="en-US" dirty="0">
                <a:sym typeface="Wingdings" panose="05000000000000000000" pitchFamily="2" charset="2"/>
              </a:rPr>
              <a:t> might cause an issue / conflicting with augmented approach.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Calculating the subspace to avoid is expensive (uses SVD)</a:t>
            </a:r>
          </a:p>
          <a:p>
            <a:pPr lvl="1"/>
            <a:r>
              <a:rPr lang="en-US" dirty="0"/>
              <a:t>Offline training – simulation environment</a:t>
            </a:r>
          </a:p>
          <a:p>
            <a:pPr lvl="2"/>
            <a:r>
              <a:rPr lang="en-US" dirty="0"/>
              <a:t>Generate training dataset by randomizing Telica datasheet parameter ranges? Instead of collecting data first?</a:t>
            </a:r>
          </a:p>
          <a:p>
            <a:pPr lvl="2"/>
            <a:r>
              <a:rPr lang="en-US" dirty="0"/>
              <a:t>(Pick and place cycle) </a:t>
            </a:r>
          </a:p>
          <a:p>
            <a:r>
              <a:rPr lang="en-US" dirty="0"/>
              <a:t>Feature Selection for Synchronization for Parallel Axis</a:t>
            </a:r>
          </a:p>
          <a:p>
            <a:pPr lvl="1"/>
            <a:r>
              <a:rPr lang="en-US" dirty="0"/>
              <a:t>From the model based decoupling: </a:t>
            </a:r>
            <a:r>
              <a:rPr lang="en-US" b="1" dirty="0"/>
              <a:t>synchronization error</a:t>
            </a:r>
          </a:p>
          <a:p>
            <a:pPr lvl="2"/>
            <a:r>
              <a:rPr lang="en-US" dirty="0" err="1"/>
              <a:t>Kessels</a:t>
            </a:r>
            <a:r>
              <a:rPr lang="en-US" dirty="0"/>
              <a:t>' </a:t>
            </a:r>
            <a:r>
              <a:rPr lang="en-US" b="1" dirty="0"/>
              <a:t>Feature Selection (FS) </a:t>
            </a:r>
            <a:r>
              <a:rPr lang="en-US" dirty="0"/>
              <a:t>strategies (Joint Mutual Information (JMI) might be useful) to identify which physical parameter is causing the issue</a:t>
            </a:r>
          </a:p>
          <a:p>
            <a:pPr lvl="3"/>
            <a:r>
              <a:rPr lang="en-US" dirty="0"/>
              <a:t>JMI might be able to select features correlated with the Y-axis motion profile, which allows to accurately update the cross-arm parameters </a:t>
            </a:r>
          </a:p>
        </p:txBody>
      </p:sp>
    </p:spTree>
    <p:extLst>
      <p:ext uri="{BB962C8B-B14F-4D97-AF65-F5344CB8AC3E}">
        <p14:creationId xmlns:p14="http://schemas.microsoft.com/office/powerpoint/2010/main" val="1002033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54371-9CC1-C74E-E45B-82040F00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 - </a:t>
            </a:r>
            <a:r>
              <a:rPr lang="en-US" dirty="0" err="1"/>
              <a:t>Kessels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763DC-FE79-513D-9AEE-5F2F385DC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Augmentation (Correcting Force Equations):</a:t>
            </a:r>
            <a:endParaRPr lang="en-US" dirty="0"/>
          </a:p>
          <a:p>
            <a:pPr lvl="1"/>
            <a:r>
              <a:rPr lang="en-US" i="1" dirty="0"/>
              <a:t>Problem:</a:t>
            </a:r>
            <a:r>
              <a:rPr lang="en-US" dirty="0"/>
              <a:t> The gantry paper ignores </a:t>
            </a:r>
            <a:r>
              <a:rPr lang="en-US" b="1" dirty="0"/>
              <a:t>"detent forces"</a:t>
            </a:r>
            <a:r>
              <a:rPr lang="en-US" dirty="0"/>
              <a:t> (cogging forces from the linear motors) and assumes simple Coulomb/Viscous friction</a:t>
            </a:r>
          </a:p>
          <a:p>
            <a:pPr lvl="1"/>
            <a:r>
              <a:rPr lang="en-US" i="1" dirty="0"/>
              <a:t>Solution:</a:t>
            </a:r>
            <a:r>
              <a:rPr lang="en-US" dirty="0"/>
              <a:t> Use </a:t>
            </a:r>
            <a:r>
              <a:rPr lang="en-US" dirty="0" err="1"/>
              <a:t>Kessels</a:t>
            </a:r>
            <a:r>
              <a:rPr lang="en-US" dirty="0"/>
              <a:t>' augmentation strategy to add a Recurrent Neural Network (RNN) term to the force equations (</a:t>
            </a:r>
            <a:r>
              <a:rPr lang="en-US" i="1" dirty="0" err="1"/>
              <a:t>fS</a:t>
            </a:r>
            <a:r>
              <a:rPr lang="en-US" dirty="0"/>
              <a:t>​ in Eq. 15 of the gantry paper). This RNN would learn the nonlinear, position-dependent detent forces and cable drag that the analytical model misses.</a:t>
            </a:r>
          </a:p>
          <a:p>
            <a:pPr lvl="1"/>
            <a:r>
              <a:rPr lang="en-US" dirty="0"/>
              <a:t>(</a:t>
            </a:r>
            <a:r>
              <a:rPr lang="en-US" b="1" dirty="0"/>
              <a:t>Link to Orthonormality paper Maarten and Roland)</a:t>
            </a:r>
          </a:p>
          <a:p>
            <a:r>
              <a:rPr lang="en-US" b="1" dirty="0"/>
              <a:t>Extension (Adding Missing States):</a:t>
            </a:r>
          </a:p>
          <a:p>
            <a:pPr lvl="1"/>
            <a:r>
              <a:rPr lang="en-US" dirty="0"/>
              <a:t>Dual-gantry 37.7 Hz: jerk rate </a:t>
            </a:r>
            <a:r>
              <a:rPr lang="en-US" dirty="0">
                <a:sym typeface="Wingdings" panose="05000000000000000000" pitchFamily="2" charset="2"/>
              </a:rPr>
              <a:t> Instead use </a:t>
            </a:r>
            <a:r>
              <a:rPr lang="en-US" dirty="0" err="1">
                <a:sym typeface="Wingdings" panose="05000000000000000000" pitchFamily="2" charset="2"/>
              </a:rPr>
              <a:t>Kessels</a:t>
            </a:r>
            <a:r>
              <a:rPr lang="en-US" dirty="0">
                <a:sym typeface="Wingdings" panose="05000000000000000000" pitchFamily="2" charset="2"/>
              </a:rPr>
              <a:t>’ </a:t>
            </a:r>
            <a:r>
              <a:rPr lang="en-US" b="1" dirty="0">
                <a:sym typeface="Wingdings" panose="05000000000000000000" pitchFamily="2" charset="2"/>
              </a:rPr>
              <a:t>Subspace Encoder </a:t>
            </a:r>
            <a:r>
              <a:rPr lang="en-US" dirty="0">
                <a:sym typeface="Wingdings" panose="05000000000000000000" pitchFamily="2" charset="2"/>
              </a:rPr>
              <a:t>to introduce new states (</a:t>
            </a:r>
            <a:r>
              <a:rPr lang="en-US" dirty="0" err="1">
                <a:sym typeface="Wingdings" panose="05000000000000000000" pitchFamily="2" charset="2"/>
              </a:rPr>
              <a:t>x_excitation</a:t>
            </a:r>
            <a:r>
              <a:rPr lang="en-US" dirty="0">
                <a:sym typeface="Wingdings" panose="05000000000000000000" pitchFamily="2" charset="2"/>
              </a:rPr>
              <a:t>) to the state-space model  allows feedforward to compensate </a:t>
            </a:r>
            <a:r>
              <a:rPr lang="en-US" dirty="0" err="1">
                <a:sym typeface="Wingdings" panose="05000000000000000000" pitchFamily="2" charset="2"/>
              </a:rPr>
              <a:t>fr</a:t>
            </a:r>
            <a:r>
              <a:rPr lang="en-US" dirty="0">
                <a:sym typeface="Wingdings" panose="05000000000000000000" pitchFamily="2" charset="2"/>
              </a:rPr>
              <a:t> base vibrations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Also allows to capture flexible modes</a:t>
            </a:r>
            <a:endParaRPr lang="en-US" dirty="0"/>
          </a:p>
          <a:p>
            <a:pPr lvl="1"/>
            <a:r>
              <a:rPr lang="en-US" dirty="0"/>
              <a:t>(</a:t>
            </a:r>
            <a:r>
              <a:rPr lang="en-US" b="1" dirty="0"/>
              <a:t>Papers Jan also have a solution for this)</a:t>
            </a:r>
            <a:endParaRPr lang="en-US" dirty="0"/>
          </a:p>
          <a:p>
            <a:r>
              <a:rPr lang="en-US" dirty="0"/>
              <a:t>Uncertainty Quantification (UQ) for High-Reliability Control:</a:t>
            </a:r>
          </a:p>
          <a:p>
            <a:pPr lvl="1"/>
            <a:r>
              <a:rPr lang="en-US" dirty="0"/>
              <a:t>Telica system operates at 7,500 UPH (Units Per Hour)</a:t>
            </a:r>
          </a:p>
          <a:p>
            <a:pPr lvl="2"/>
            <a:r>
              <a:rPr lang="en-US" dirty="0" err="1"/>
              <a:t>Kessels</a:t>
            </a:r>
            <a:r>
              <a:rPr lang="en-US" dirty="0"/>
              <a:t>' </a:t>
            </a:r>
            <a:r>
              <a:rPr lang="en-US" b="1" dirty="0"/>
              <a:t>Probabilistic Bayesian Neural Networks (PBNN)</a:t>
            </a:r>
            <a:r>
              <a:rPr lang="en-US" dirty="0"/>
              <a:t> (Chapter 4) can be applied to the parameter updating process.</a:t>
            </a:r>
          </a:p>
          <a:p>
            <a:pPr lvl="2"/>
            <a:r>
              <a:rPr lang="en-US" dirty="0" err="1"/>
              <a:t>Insteadof</a:t>
            </a:r>
            <a:r>
              <a:rPr lang="en-US" dirty="0"/>
              <a:t> a single value for the payload mass, the system </a:t>
            </a:r>
            <a:r>
              <a:rPr lang="en-US" dirty="0" err="1"/>
              <a:t>outpus</a:t>
            </a:r>
            <a:r>
              <a:rPr lang="en-US" dirty="0"/>
              <a:t> a probability distribution.</a:t>
            </a:r>
          </a:p>
          <a:p>
            <a:pPr lvl="3"/>
            <a:r>
              <a:rPr lang="en-US" dirty="0"/>
              <a:t>Benefit: If the gantry performs a move that doesn't excite the system enough to identify friction (high uncertainty), the PBNN will report a wide confidence interval. The control system can then decide not to update the feedforward gains based on this uncertain data, preventing instability</a:t>
            </a:r>
            <a:br>
              <a:rPr lang="en-US" dirty="0"/>
            </a:br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9313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ADDB4E-CB8C-3363-F4FC-C29908453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9518" b="328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791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1288A-84B7-FA2B-9E13-CB685386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 - Orthogonality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07655-5CB0-075E-4091-242F239B2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Kessels</a:t>
            </a:r>
            <a:r>
              <a:rPr lang="en-US" dirty="0"/>
              <a:t> mentions limitation</a:t>
            </a:r>
          </a:p>
          <a:p>
            <a:pPr lvl="1"/>
            <a:r>
              <a:rPr lang="en-US" dirty="0"/>
              <a:t>To prevent the augmentation from learning the same parameters as the FP</a:t>
            </a:r>
          </a:p>
          <a:p>
            <a:pPr lvl="2"/>
            <a:r>
              <a:rPr lang="en-US" dirty="0"/>
              <a:t>He introduces orthogonality for non-linear systems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FE2CDF-42DF-8B49-55AA-AAD1E067B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483" y="3315060"/>
            <a:ext cx="6957663" cy="317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56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777B8-AC71-4B71-9B8F-879DF9D35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Orthogonal Parameterization - Györök method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8F299-B5B5-29AE-86D2-36CBBDDBF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7700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Györök enforces the neural network cannot learn dynamics already represented by the physics model</a:t>
            </a:r>
          </a:p>
          <a:p>
            <a:r>
              <a:rPr lang="en-US" dirty="0"/>
              <a:t>Concept: Project the NN output onto the </a:t>
            </a:r>
            <a:r>
              <a:rPr lang="en-US" b="1" dirty="0"/>
              <a:t>null space</a:t>
            </a:r>
            <a:r>
              <a:rPr lang="en-US" dirty="0"/>
              <a:t> of the physics regressor matrix </a:t>
            </a:r>
            <a:r>
              <a:rPr lang="el-GR" dirty="0"/>
              <a:t>Φ</a:t>
            </a:r>
            <a:endParaRPr lang="en-US" dirty="0"/>
          </a:p>
          <a:p>
            <a:pPr lvl="1"/>
            <a:r>
              <a:rPr lang="el-GR" sz="2800" dirty="0"/>
              <a:t>Φ</a:t>
            </a:r>
            <a:r>
              <a:rPr lang="en-US" sz="2800" dirty="0"/>
              <a:t> is the mathematical representation of the physics based model output (subspace)</a:t>
            </a:r>
          </a:p>
          <a:p>
            <a:endParaRPr lang="en-NL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68CAF2-11D8-0410-8FED-3B3D8B4AD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434" y="1396621"/>
            <a:ext cx="6778623" cy="88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980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D45C60-5591-197E-5ABD-C57C659E6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59" y="601067"/>
            <a:ext cx="11083901" cy="1440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3F8D59-46FA-1D1F-E4CC-D496E536F2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98"/>
          <a:stretch>
            <a:fillRect/>
          </a:stretch>
        </p:blipFill>
        <p:spPr>
          <a:xfrm>
            <a:off x="67738" y="2789079"/>
            <a:ext cx="12056524" cy="292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990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E4CDA-3118-C715-AFEC-8F8248624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Orthogonal Regularization (Kon method)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FEB66-F96F-7AE1-C259-1C5294281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9983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Less computation expensive; add a penalty term to the training cost function</a:t>
            </a:r>
          </a:p>
          <a:p>
            <a:r>
              <a:rPr lang="en-US" dirty="0" err="1"/>
              <a:t>Π_x,u</a:t>
            </a:r>
            <a:r>
              <a:rPr lang="en-US" dirty="0"/>
              <a:t>, </a:t>
            </a:r>
            <a:r>
              <a:rPr lang="en-US" dirty="0" err="1"/>
              <a:t>f_ANN</a:t>
            </a:r>
            <a:r>
              <a:rPr lang="en-US" dirty="0"/>
              <a:t>: projection of the neural network output onto the physics model’s subspace.</a:t>
            </a:r>
          </a:p>
          <a:p>
            <a:pPr lvl="1"/>
            <a:r>
              <a:rPr lang="en-US" dirty="0"/>
              <a:t>Project is penalized in case the NN tries to mimic the physics model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cost increases.</a:t>
            </a:r>
          </a:p>
          <a:p>
            <a:r>
              <a:rPr lang="en-US" dirty="0"/>
              <a:t>Györök extends Kon’s method for nonlinear models:</a:t>
            </a:r>
          </a:p>
          <a:p>
            <a:pPr lvl="1"/>
            <a:r>
              <a:rPr lang="en-US" dirty="0"/>
              <a:t>Uses the Jacobian of the physics model to define the subspace locally</a:t>
            </a:r>
          </a:p>
          <a:p>
            <a:pPr lvl="2"/>
            <a:r>
              <a:rPr lang="en-US" dirty="0"/>
              <a:t>Uses </a:t>
            </a:r>
            <a:r>
              <a:rPr lang="en-US" dirty="0" err="1"/>
              <a:t>taylor</a:t>
            </a:r>
            <a:r>
              <a:rPr lang="en-US" dirty="0"/>
              <a:t> expansion on the physics model to linearize it; the Jacobian defines the local subspace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402333-49C0-A057-035F-EF6198EEC1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825"/>
          <a:stretch>
            <a:fillRect/>
          </a:stretch>
        </p:blipFill>
        <p:spPr>
          <a:xfrm>
            <a:off x="2837683" y="1690687"/>
            <a:ext cx="5844093" cy="79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976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F850-9F6B-E8A3-D463-A9E2B6879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17CCD-EC82-A787-15EF-43BAD4164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DE875-8984-9C76-6455-63268C612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661" y="814193"/>
            <a:ext cx="8656450" cy="488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092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E2B5D-AD51-44F3-6531-434C1A88A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Advanced Synchronization Control of a Dual-Linear-Motor-Driven Gantry With Rotational Dynamics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0FAF2-B974-6826-23B1-4C24A08D6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Detailed Modeling of Bearing Stiffness</a:t>
            </a:r>
          </a:p>
          <a:p>
            <a:pPr lvl="1"/>
            <a:r>
              <a:rPr lang="en-US" dirty="0"/>
              <a:t>While García-Herreros models the flexible joints simply as lumped springs (</a:t>
            </a:r>
            <a:r>
              <a:rPr lang="en-US" i="1" dirty="0"/>
              <a:t>kb</a:t>
            </a:r>
            <a:r>
              <a:rPr lang="en-US" dirty="0"/>
              <a:t>1​), Li et al. provide a more detailed physical derivation of where this stiffness comes from.</a:t>
            </a:r>
          </a:p>
          <a:p>
            <a:pPr lvl="1"/>
            <a:r>
              <a:rPr lang="en-US" b="1" dirty="0"/>
              <a:t>The Insight:</a:t>
            </a:r>
            <a:r>
              <a:rPr lang="en-US" dirty="0"/>
              <a:t> They model the </a:t>
            </a:r>
            <a:r>
              <a:rPr lang="en-US" b="1" dirty="0"/>
              <a:t>linear guide rails</a:t>
            </a:r>
            <a:r>
              <a:rPr lang="en-US" dirty="0"/>
              <a:t> as distributed horizontal springs. They derive an "equivalent rotational stiffness" (</a:t>
            </a:r>
            <a:r>
              <a:rPr lang="en-US" i="1" dirty="0"/>
              <a:t>Kα</a:t>
            </a:r>
            <a:r>
              <a:rPr lang="en-US" dirty="0"/>
              <a:t>​) by integrating the stiffness of the bearing balls over the length of the carriage block</a:t>
            </a:r>
          </a:p>
          <a:p>
            <a:r>
              <a:rPr lang="en-US" dirty="0"/>
              <a:t>Rotational Friction Modeling</a:t>
            </a:r>
          </a:p>
          <a:p>
            <a:pPr lvl="1"/>
            <a:r>
              <a:rPr lang="en-US" dirty="0"/>
              <a:t>The García-Herreros paper explicitly ignored the torque associated with friction to simplify their decoupling control. Li et al., however, demonstrate that friction is critical in the rotational dynamics.</a:t>
            </a:r>
          </a:p>
          <a:p>
            <a:pPr lvl="1"/>
            <a:r>
              <a:rPr lang="en-US" b="1" dirty="0"/>
              <a:t>The Insight:</a:t>
            </a:r>
            <a:r>
              <a:rPr lang="en-US" dirty="0"/>
              <a:t> They include a term </a:t>
            </a:r>
            <a:r>
              <a:rPr lang="en-US" i="1" dirty="0"/>
              <a:t>Fri</a:t>
            </a:r>
            <a:r>
              <a:rPr lang="en-US" dirty="0"/>
              <a:t>​ (combined viscous and Coulomb friction) directly in the rotational dynamics equation: They show that differences in friction between rail 1 and rail 2 (</a:t>
            </a:r>
            <a:r>
              <a:rPr lang="en-US" i="1" dirty="0"/>
              <a:t>B</a:t>
            </a:r>
            <a:r>
              <a:rPr lang="en-US" dirty="0"/>
              <a:t>1​=</a:t>
            </a:r>
            <a:r>
              <a:rPr lang="en-US" i="1" dirty="0"/>
              <a:t>B</a:t>
            </a:r>
            <a:r>
              <a:rPr lang="en-US" dirty="0"/>
              <a:t>2​) contribute to the synchronization error.</a:t>
            </a:r>
          </a:p>
          <a:p>
            <a:pPr lvl="2"/>
            <a:r>
              <a:rPr lang="en-US" b="1" dirty="0"/>
              <a:t>Relevance:</a:t>
            </a:r>
            <a:r>
              <a:rPr lang="en-US" dirty="0"/>
              <a:t> If your "Physics-Informed" neural network is trying to learn missing dynamics, explicitly including this friction asymmetry in your baseline physics model (which García-Herreros omitted) will reduce the burden on the neural network, preventing it from having to "learn" basic friction physics that could have been modeled analytically.</a:t>
            </a:r>
          </a:p>
          <a:p>
            <a:r>
              <a:rPr lang="en-US" dirty="0"/>
              <a:t>Internal Force Regulation </a:t>
            </a:r>
          </a:p>
          <a:p>
            <a:r>
              <a:rPr lang="en-US" dirty="0"/>
              <a:t>introducing </a:t>
            </a:r>
            <a:r>
              <a:rPr lang="en-US" b="1" dirty="0"/>
              <a:t>Adaptive Robust Control (ARC)</a:t>
            </a:r>
            <a:r>
              <a:rPr lang="en-US" dirty="0"/>
              <a:t>, which actively learns and compensates for the errors that the decoupling method neglects.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45803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5190D-7DE7-688B-261A-E8F7CE29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can Adaptive Robust Control enhance gantry synchronization?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7588C-A06E-28DD-2C34-7B34E54DF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Online Parameter Adaptation </a:t>
            </a:r>
            <a:r>
              <a:rPr lang="en-US" dirty="0"/>
              <a:t>(how useful is Online Parameter Adaptation, if we add an augmented model on top? wont this just interfere?)</a:t>
            </a:r>
          </a:p>
          <a:p>
            <a:r>
              <a:rPr lang="en-US" b="1" dirty="0"/>
              <a:t>Advice:</a:t>
            </a:r>
            <a:r>
              <a:rPr lang="en-US" dirty="0"/>
              <a:t> Follow </a:t>
            </a:r>
            <a:r>
              <a:rPr lang="en-US" dirty="0" err="1"/>
              <a:t>Kessels</a:t>
            </a:r>
            <a:r>
              <a:rPr lang="en-US" dirty="0"/>
              <a:t>' recommendation to </a:t>
            </a:r>
            <a:r>
              <a:rPr lang="en-US" b="1" dirty="0"/>
              <a:t>update the model structure offline first</a:t>
            </a:r>
            <a:r>
              <a:rPr lang="en-US" dirty="0"/>
              <a:t> (fixing the missing physics), and then </a:t>
            </a:r>
            <a:r>
              <a:rPr lang="en-US" b="1" dirty="0"/>
              <a:t>update the parameters online</a:t>
            </a:r>
            <a:r>
              <a:rPr lang="en-US" dirty="0"/>
              <a:t> using that enhanced structure.</a:t>
            </a:r>
          </a:p>
          <a:p>
            <a:r>
              <a:rPr lang="en-US" dirty="0"/>
              <a:t>Does this fix the issue?: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FBDFC7-6A36-94E1-DD0B-1CF927777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604" y="4959418"/>
            <a:ext cx="7973538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23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5560E-09A5-7A1A-23DD-9ED57398C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3838E7-743D-E6C8-0CFD-B042CC0D9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007" y="599498"/>
            <a:ext cx="7468642" cy="479174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5337A4-5BC5-3E5B-D888-300F0FFDF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75208" y="599498"/>
            <a:ext cx="55592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995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1285</TotalTime>
  <Words>940</Words>
  <Application>Microsoft Office PowerPoint</Application>
  <PresentationFormat>Widescreen</PresentationFormat>
  <Paragraphs>66</Paragraphs>
  <Slides>12</Slides>
  <Notes>3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Meeting Week 2</vt:lpstr>
      <vt:lpstr>Kessels</vt:lpstr>
      <vt:lpstr>Augmentation - Kessels</vt:lpstr>
      <vt:lpstr>PowerPoint Presentation</vt:lpstr>
      <vt:lpstr>Augmentation - Orthogonality</vt:lpstr>
      <vt:lpstr>Orthogonal Parameterization - Györök method</vt:lpstr>
      <vt:lpstr>PowerPoint Presentation</vt:lpstr>
      <vt:lpstr>Orthogonal Regularization (Kon method)</vt:lpstr>
      <vt:lpstr>PowerPoint Presentation</vt:lpstr>
      <vt:lpstr>Advanced Synchronization Control of a Dual-Linear-Motor-Driven Gantry With Rotational Dynamics</vt:lpstr>
      <vt:lpstr>How can Adaptive Robust Control enhance gantry synchronization?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92</cp:revision>
  <dcterms:created xsi:type="dcterms:W3CDTF">2026-02-02T15:14:22Z</dcterms:created>
  <dcterms:modified xsi:type="dcterms:W3CDTF">2026-02-09T09:57:26Z</dcterms:modified>
</cp:coreProperties>
</file>