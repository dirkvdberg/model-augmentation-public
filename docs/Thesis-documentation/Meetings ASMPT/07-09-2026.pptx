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725" r:id="rId2"/>
    <p:sldId id="692" r:id="rId3"/>
    <p:sldId id="713" r:id="rId4"/>
    <p:sldId id="714" r:id="rId5"/>
    <p:sldId id="690" r:id="rId6"/>
    <p:sldId id="693" r:id="rId7"/>
    <p:sldId id="283" r:id="rId8"/>
    <p:sldId id="284" r:id="rId9"/>
    <p:sldId id="290" r:id="rId10"/>
    <p:sldId id="285" r:id="rId11"/>
    <p:sldId id="291" r:id="rId12"/>
    <p:sldId id="286" r:id="rId13"/>
    <p:sldId id="292" r:id="rId14"/>
    <p:sldId id="287" r:id="rId15"/>
    <p:sldId id="288" r:id="rId16"/>
    <p:sldId id="296" r:id="rId17"/>
    <p:sldId id="295" r:id="rId18"/>
    <p:sldId id="294" r:id="rId19"/>
    <p:sldId id="289" r:id="rId20"/>
    <p:sldId id="721" r:id="rId21"/>
    <p:sldId id="278" r:id="rId22"/>
    <p:sldId id="718" r:id="rId23"/>
    <p:sldId id="716" r:id="rId24"/>
    <p:sldId id="720" r:id="rId25"/>
    <p:sldId id="715" r:id="rId26"/>
    <p:sldId id="717" r:id="rId27"/>
    <p:sldId id="726" r:id="rId28"/>
    <p:sldId id="293" r:id="rId29"/>
    <p:sldId id="722" r:id="rId30"/>
    <p:sldId id="728" r:id="rId31"/>
    <p:sldId id="723" r:id="rId32"/>
    <p:sldId id="724" r:id="rId33"/>
    <p:sldId id="655" r:id="rId34"/>
    <p:sldId id="656" r:id="rId35"/>
    <p:sldId id="548" r:id="rId36"/>
    <p:sldId id="549" r:id="rId37"/>
    <p:sldId id="569" r:id="rId38"/>
    <p:sldId id="606" r:id="rId39"/>
    <p:sldId id="282" r:id="rId40"/>
    <p:sldId id="727" r:id="rId41"/>
    <p:sldId id="279" r:id="rId42"/>
    <p:sldId id="262" r:id="rId43"/>
    <p:sldId id="257" r:id="rId44"/>
    <p:sldId id="267" r:id="rId45"/>
    <p:sldId id="280" r:id="rId46"/>
    <p:sldId id="281" r:id="rId47"/>
    <p:sldId id="259" r:id="rId48"/>
    <p:sldId id="258" r:id="rId49"/>
    <p:sldId id="260" r:id="rId50"/>
    <p:sldId id="263" r:id="rId51"/>
    <p:sldId id="261" r:id="rId52"/>
    <p:sldId id="264" r:id="rId53"/>
    <p:sldId id="265" r:id="rId54"/>
    <p:sldId id="266" r:id="rId55"/>
    <p:sldId id="270" r:id="rId56"/>
    <p:sldId id="269" r:id="rId57"/>
    <p:sldId id="271" r:id="rId58"/>
    <p:sldId id="272" r:id="rId59"/>
    <p:sldId id="273" r:id="rId60"/>
    <p:sldId id="268" r:id="rId61"/>
    <p:sldId id="274" r:id="rId62"/>
    <p:sldId id="275" r:id="rId63"/>
    <p:sldId id="276" r:id="rId64"/>
    <p:sldId id="277" r:id="rId6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2" autoAdjust="0"/>
    <p:restoredTop sz="68235" autoAdjust="0"/>
  </p:normalViewPr>
  <p:slideViewPr>
    <p:cSldViewPr snapToGrid="0">
      <p:cViewPr varScale="1">
        <p:scale>
          <a:sx n="75" d="100"/>
          <a:sy n="75" d="100"/>
        </p:scale>
        <p:origin x="16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addSld modSld sldOrd">
      <pc:chgData name="Berg, Dirk van den" userId="035ecb32-01d9-4b47-a105-eacf059a4647" providerId="ADAL" clId="{F7FF961E-CF96-44AC-93C2-93612F62D46D}" dt="2026-09-10T19:27:43.578" v="90" actId="20577"/>
      <pc:docMkLst>
        <pc:docMk/>
      </pc:docMkLst>
      <pc:sldChg chg="modSp">
        <pc:chgData name="Berg, Dirk van den" userId="035ecb32-01d9-4b47-a105-eacf059a4647" providerId="ADAL" clId="{F7FF961E-CF96-44AC-93C2-93612F62D46D}" dt="2026-09-04T11:43:06.787" v="0"/>
        <pc:sldMkLst>
          <pc:docMk/>
          <pc:sldMk cId="3301833277" sldId="263"/>
        </pc:sldMkLst>
        <pc:spChg chg="mod">
          <ac:chgData name="Berg, Dirk van den" userId="035ecb32-01d9-4b47-a105-eacf059a4647" providerId="ADAL" clId="{F7FF961E-CF96-44AC-93C2-93612F62D46D}" dt="2026-09-04T11:43:06.787" v="0"/>
          <ac:spMkLst>
            <pc:docMk/>
            <pc:sldMk cId="3301833277" sldId="263"/>
            <ac:spMk id="3" creationId="{9A7869CF-FD0D-DBC5-595D-32283D450865}"/>
          </ac:spMkLst>
        </pc:spChg>
      </pc:sldChg>
      <pc:sldChg chg="modSp">
        <pc:chgData name="Berg, Dirk van den" userId="035ecb32-01d9-4b47-a105-eacf059a4647" providerId="ADAL" clId="{F7FF961E-CF96-44AC-93C2-93612F62D46D}" dt="2026-09-04T11:59:18.781" v="1"/>
        <pc:sldMkLst>
          <pc:docMk/>
          <pc:sldMk cId="833360353" sldId="265"/>
        </pc:sldMkLst>
        <pc:spChg chg="mod">
          <ac:chgData name="Berg, Dirk van den" userId="035ecb32-01d9-4b47-a105-eacf059a4647" providerId="ADAL" clId="{F7FF961E-CF96-44AC-93C2-93612F62D46D}" dt="2026-09-04T11:59:18.781" v="1"/>
          <ac:spMkLst>
            <pc:docMk/>
            <pc:sldMk cId="833360353" sldId="265"/>
            <ac:spMk id="3" creationId="{E7B6FCE6-EA9F-9917-35DC-B91C97008986}"/>
          </ac:spMkLst>
        </pc:spChg>
      </pc:sldChg>
      <pc:sldChg chg="modSp">
        <pc:chgData name="Berg, Dirk van den" userId="035ecb32-01d9-4b47-a105-eacf059a4647" providerId="ADAL" clId="{F7FF961E-CF96-44AC-93C2-93612F62D46D}" dt="2026-09-04T12:03:01.445" v="2"/>
        <pc:sldMkLst>
          <pc:docMk/>
          <pc:sldMk cId="4063184588" sldId="266"/>
        </pc:sldMkLst>
        <pc:spChg chg="mod">
          <ac:chgData name="Berg, Dirk van den" userId="035ecb32-01d9-4b47-a105-eacf059a4647" providerId="ADAL" clId="{F7FF961E-CF96-44AC-93C2-93612F62D46D}" dt="2026-09-04T12:03:01.445" v="2"/>
          <ac:spMkLst>
            <pc:docMk/>
            <pc:sldMk cId="4063184588" sldId="266"/>
            <ac:spMk id="3" creationId="{80F9A0AB-2774-5E85-AA2E-EB71A0C31B0D}"/>
          </ac:spMkLst>
        </pc:spChg>
      </pc:sldChg>
      <pc:sldChg chg="ord">
        <pc:chgData name="Berg, Dirk van den" userId="035ecb32-01d9-4b47-a105-eacf059a4647" providerId="ADAL" clId="{F7FF961E-CF96-44AC-93C2-93612F62D46D}" dt="2026-09-06T08:50:18.125" v="15"/>
        <pc:sldMkLst>
          <pc:docMk/>
          <pc:sldMk cId="3660571534" sldId="267"/>
        </pc:sldMkLst>
      </pc:sldChg>
      <pc:sldChg chg="modSp">
        <pc:chgData name="Berg, Dirk van den" userId="035ecb32-01d9-4b47-a105-eacf059a4647" providerId="ADAL" clId="{F7FF961E-CF96-44AC-93C2-93612F62D46D}" dt="2026-09-04T13:00:43.280" v="3"/>
        <pc:sldMkLst>
          <pc:docMk/>
          <pc:sldMk cId="3788196699" sldId="269"/>
        </pc:sldMkLst>
        <pc:spChg chg="mod">
          <ac:chgData name="Berg, Dirk van den" userId="035ecb32-01d9-4b47-a105-eacf059a4647" providerId="ADAL" clId="{F7FF961E-CF96-44AC-93C2-93612F62D46D}" dt="2026-09-04T13:00:43.280" v="3"/>
          <ac:spMkLst>
            <pc:docMk/>
            <pc:sldMk cId="3788196699" sldId="269"/>
            <ac:spMk id="3" creationId="{4F7043E2-B308-C518-22D7-5CDF16E47EAF}"/>
          </ac:spMkLst>
        </pc:spChg>
      </pc:sldChg>
      <pc:sldChg chg="modSp">
        <pc:chgData name="Berg, Dirk van den" userId="035ecb32-01d9-4b47-a105-eacf059a4647" providerId="ADAL" clId="{F7FF961E-CF96-44AC-93C2-93612F62D46D}" dt="2026-09-04T17:37:42.419" v="6"/>
        <pc:sldMkLst>
          <pc:docMk/>
          <pc:sldMk cId="4165505975" sldId="270"/>
        </pc:sldMkLst>
        <pc:spChg chg="mod">
          <ac:chgData name="Berg, Dirk van den" userId="035ecb32-01d9-4b47-a105-eacf059a4647" providerId="ADAL" clId="{F7FF961E-CF96-44AC-93C2-93612F62D46D}" dt="2026-09-04T13:02:58.924" v="4"/>
          <ac:spMkLst>
            <pc:docMk/>
            <pc:sldMk cId="4165505975" sldId="270"/>
            <ac:spMk id="2" creationId="{3417E0C3-E296-157F-5BA3-E7C17D8944CD}"/>
          </ac:spMkLst>
        </pc:spChg>
        <pc:spChg chg="mod">
          <ac:chgData name="Berg, Dirk van den" userId="035ecb32-01d9-4b47-a105-eacf059a4647" providerId="ADAL" clId="{F7FF961E-CF96-44AC-93C2-93612F62D46D}" dt="2026-09-04T17:37:42.419" v="6"/>
          <ac:spMkLst>
            <pc:docMk/>
            <pc:sldMk cId="4165505975" sldId="270"/>
            <ac:spMk id="3" creationId="{4EF15EBD-1E8C-EEBA-8250-C9C078D37AB4}"/>
          </ac:spMkLst>
        </pc:spChg>
      </pc:sldChg>
      <pc:sldChg chg="modSp">
        <pc:chgData name="Berg, Dirk van den" userId="035ecb32-01d9-4b47-a105-eacf059a4647" providerId="ADAL" clId="{F7FF961E-CF96-44AC-93C2-93612F62D46D}" dt="2026-09-04T13:21:38.335" v="5"/>
        <pc:sldMkLst>
          <pc:docMk/>
          <pc:sldMk cId="1053228542" sldId="271"/>
        </pc:sldMkLst>
        <pc:spChg chg="mod">
          <ac:chgData name="Berg, Dirk van den" userId="035ecb32-01d9-4b47-a105-eacf059a4647" providerId="ADAL" clId="{F7FF961E-CF96-44AC-93C2-93612F62D46D}" dt="2026-09-04T13:21:38.335" v="5"/>
          <ac:spMkLst>
            <pc:docMk/>
            <pc:sldMk cId="1053228542" sldId="271"/>
            <ac:spMk id="3" creationId="{A51FE982-F3BB-F4C5-B63E-A784A0925CB4}"/>
          </ac:spMkLst>
        </pc:spChg>
      </pc:sldChg>
      <pc:sldChg chg="modSp">
        <pc:chgData name="Berg, Dirk van den" userId="035ecb32-01d9-4b47-a105-eacf059a4647" providerId="ADAL" clId="{F7FF961E-CF96-44AC-93C2-93612F62D46D}" dt="2026-09-04T17:45:56.809" v="8"/>
        <pc:sldMkLst>
          <pc:docMk/>
          <pc:sldMk cId="311323515" sldId="272"/>
        </pc:sldMkLst>
        <pc:spChg chg="mod">
          <ac:chgData name="Berg, Dirk van den" userId="035ecb32-01d9-4b47-a105-eacf059a4647" providerId="ADAL" clId="{F7FF961E-CF96-44AC-93C2-93612F62D46D}" dt="2026-09-04T17:45:56.809" v="8"/>
          <ac:spMkLst>
            <pc:docMk/>
            <pc:sldMk cId="311323515" sldId="272"/>
            <ac:spMk id="3" creationId="{E12CFA2C-828E-E384-9D06-C8CE86DE05B1}"/>
          </ac:spMkLst>
        </pc:spChg>
      </pc:sldChg>
      <pc:sldChg chg="modSp">
        <pc:chgData name="Berg, Dirk van den" userId="035ecb32-01d9-4b47-a105-eacf059a4647" providerId="ADAL" clId="{F7FF961E-CF96-44AC-93C2-93612F62D46D}" dt="2026-09-04T18:02:21.989" v="9"/>
        <pc:sldMkLst>
          <pc:docMk/>
          <pc:sldMk cId="2620506820" sldId="277"/>
        </pc:sldMkLst>
        <pc:spChg chg="mod">
          <ac:chgData name="Berg, Dirk van den" userId="035ecb32-01d9-4b47-a105-eacf059a4647" providerId="ADAL" clId="{F7FF961E-CF96-44AC-93C2-93612F62D46D}" dt="2026-09-04T18:02:21.989" v="9"/>
          <ac:spMkLst>
            <pc:docMk/>
            <pc:sldMk cId="2620506820" sldId="277"/>
            <ac:spMk id="2" creationId="{8CBB5470-0300-A216-86E1-1C2777532653}"/>
          </ac:spMkLst>
        </pc:spChg>
      </pc:sldChg>
      <pc:sldChg chg="modSp ord">
        <pc:chgData name="Berg, Dirk van den" userId="035ecb32-01d9-4b47-a105-eacf059a4647" providerId="ADAL" clId="{F7FF961E-CF96-44AC-93C2-93612F62D46D}" dt="2026-09-06T18:15:57.269" v="28"/>
        <pc:sldMkLst>
          <pc:docMk/>
          <pc:sldMk cId="3204310414" sldId="278"/>
        </pc:sldMkLst>
        <pc:spChg chg="mod">
          <ac:chgData name="Berg, Dirk van den" userId="035ecb32-01d9-4b47-a105-eacf059a4647" providerId="ADAL" clId="{F7FF961E-CF96-44AC-93C2-93612F62D46D}" dt="2026-09-06T18:15:57.269" v="28"/>
          <ac:spMkLst>
            <pc:docMk/>
            <pc:sldMk cId="3204310414" sldId="278"/>
            <ac:spMk id="3" creationId="{7802E01D-790A-0B0B-4182-F22D0E92F116}"/>
          </ac:spMkLst>
        </pc:spChg>
      </pc:sldChg>
      <pc:sldChg chg="modSp">
        <pc:chgData name="Berg, Dirk van den" userId="035ecb32-01d9-4b47-a105-eacf059a4647" providerId="ADAL" clId="{F7FF961E-CF96-44AC-93C2-93612F62D46D}" dt="2026-09-06T11:24:24.515" v="16"/>
        <pc:sldMkLst>
          <pc:docMk/>
          <pc:sldMk cId="132955220" sldId="280"/>
        </pc:sldMkLst>
        <pc:spChg chg="mod">
          <ac:chgData name="Berg, Dirk van den" userId="035ecb32-01d9-4b47-a105-eacf059a4647" providerId="ADAL" clId="{F7FF961E-CF96-44AC-93C2-93612F62D46D}" dt="2026-09-06T11:24:24.515" v="16"/>
          <ac:spMkLst>
            <pc:docMk/>
            <pc:sldMk cId="132955220" sldId="280"/>
            <ac:spMk id="3" creationId="{CF4229DB-7336-A7C8-D906-CFF9F55FA024}"/>
          </ac:spMkLst>
        </pc:spChg>
      </pc:sldChg>
      <pc:sldChg chg="modSp">
        <pc:chgData name="Berg, Dirk van den" userId="035ecb32-01d9-4b47-a105-eacf059a4647" providerId="ADAL" clId="{F7FF961E-CF96-44AC-93C2-93612F62D46D}" dt="2026-09-06T16:40:40.325" v="17"/>
        <pc:sldMkLst>
          <pc:docMk/>
          <pc:sldMk cId="773265027" sldId="281"/>
        </pc:sldMkLst>
        <pc:spChg chg="mod">
          <ac:chgData name="Berg, Dirk van den" userId="035ecb32-01d9-4b47-a105-eacf059a4647" providerId="ADAL" clId="{F7FF961E-CF96-44AC-93C2-93612F62D46D}" dt="2026-09-06T16:40:40.325" v="17"/>
          <ac:spMkLst>
            <pc:docMk/>
            <pc:sldMk cId="773265027" sldId="281"/>
            <ac:spMk id="3" creationId="{7299B234-F75A-37F4-EF3E-C578A0CBD53C}"/>
          </ac:spMkLst>
        </pc:spChg>
      </pc:sldChg>
      <pc:sldChg chg="modSp">
        <pc:chgData name="Berg, Dirk van den" userId="035ecb32-01d9-4b47-a105-eacf059a4647" providerId="ADAL" clId="{F7FF961E-CF96-44AC-93C2-93612F62D46D}" dt="2026-09-06T16:52:07.271" v="18"/>
        <pc:sldMkLst>
          <pc:docMk/>
          <pc:sldMk cId="869181938" sldId="282"/>
        </pc:sldMkLst>
        <pc:spChg chg="mod">
          <ac:chgData name="Berg, Dirk van den" userId="035ecb32-01d9-4b47-a105-eacf059a4647" providerId="ADAL" clId="{F7FF961E-CF96-44AC-93C2-93612F62D46D}" dt="2026-09-06T16:52:07.271" v="18"/>
          <ac:spMkLst>
            <pc:docMk/>
            <pc:sldMk cId="869181938" sldId="282"/>
            <ac:spMk id="3" creationId="{B28435CB-C32A-0EA2-592B-0505400314AB}"/>
          </ac:spMkLst>
        </pc:spChg>
      </pc:sldChg>
      <pc:sldChg chg="ord">
        <pc:chgData name="Berg, Dirk van den" userId="035ecb32-01d9-4b47-a105-eacf059a4647" providerId="ADAL" clId="{F7FF961E-CF96-44AC-93C2-93612F62D46D}" dt="2026-09-06T18:33:57.628" v="34"/>
        <pc:sldMkLst>
          <pc:docMk/>
          <pc:sldMk cId="2478246118" sldId="293"/>
        </pc:sldMkLst>
      </pc:sldChg>
      <pc:sldChg chg="ord">
        <pc:chgData name="Berg, Dirk van den" userId="035ecb32-01d9-4b47-a105-eacf059a4647" providerId="ADAL" clId="{F7FF961E-CF96-44AC-93C2-93612F62D46D}" dt="2026-09-06T17:45:55.749" v="19"/>
        <pc:sldMkLst>
          <pc:docMk/>
          <pc:sldMk cId="2831078896" sldId="296"/>
        </pc:sldMkLst>
      </pc:sldChg>
      <pc:sldChg chg="add">
        <pc:chgData name="Berg, Dirk van den" userId="035ecb32-01d9-4b47-a105-eacf059a4647" providerId="ADAL" clId="{F7FF961E-CF96-44AC-93C2-93612F62D46D}" dt="2026-09-06T18:26:49.079" v="31"/>
        <pc:sldMkLst>
          <pc:docMk/>
          <pc:sldMk cId="2864597027" sldId="548"/>
        </pc:sldMkLst>
      </pc:sldChg>
      <pc:sldChg chg="add">
        <pc:chgData name="Berg, Dirk van den" userId="035ecb32-01d9-4b47-a105-eacf059a4647" providerId="ADAL" clId="{F7FF961E-CF96-44AC-93C2-93612F62D46D}" dt="2026-09-06T18:26:49.079" v="31"/>
        <pc:sldMkLst>
          <pc:docMk/>
          <pc:sldMk cId="3223135088" sldId="549"/>
        </pc:sldMkLst>
      </pc:sldChg>
      <pc:sldChg chg="add">
        <pc:chgData name="Berg, Dirk van den" userId="035ecb32-01d9-4b47-a105-eacf059a4647" providerId="ADAL" clId="{F7FF961E-CF96-44AC-93C2-93612F62D46D}" dt="2026-09-06T18:26:49.079" v="31"/>
        <pc:sldMkLst>
          <pc:docMk/>
          <pc:sldMk cId="458560000" sldId="569"/>
        </pc:sldMkLst>
      </pc:sldChg>
      <pc:sldChg chg="add">
        <pc:chgData name="Berg, Dirk van den" userId="035ecb32-01d9-4b47-a105-eacf059a4647" providerId="ADAL" clId="{F7FF961E-CF96-44AC-93C2-93612F62D46D}" dt="2026-09-06T18:26:32.847" v="29"/>
        <pc:sldMkLst>
          <pc:docMk/>
          <pc:sldMk cId="1292336844" sldId="606"/>
        </pc:sldMkLst>
      </pc:sldChg>
      <pc:sldChg chg="add">
        <pc:chgData name="Berg, Dirk van den" userId="035ecb32-01d9-4b47-a105-eacf059a4647" providerId="ADAL" clId="{F7FF961E-CF96-44AC-93C2-93612F62D46D}" dt="2026-09-06T18:26:40.273" v="30"/>
        <pc:sldMkLst>
          <pc:docMk/>
          <pc:sldMk cId="2588143863" sldId="655"/>
        </pc:sldMkLst>
      </pc:sldChg>
      <pc:sldChg chg="add">
        <pc:chgData name="Berg, Dirk van den" userId="035ecb32-01d9-4b47-a105-eacf059a4647" providerId="ADAL" clId="{F7FF961E-CF96-44AC-93C2-93612F62D46D}" dt="2026-09-06T18:26:40.273" v="30"/>
        <pc:sldMkLst>
          <pc:docMk/>
          <pc:sldMk cId="3080546448" sldId="656"/>
        </pc:sldMkLst>
      </pc:sldChg>
      <pc:sldChg chg="add">
        <pc:chgData name="Berg, Dirk van den" userId="035ecb32-01d9-4b47-a105-eacf059a4647" providerId="ADAL" clId="{F7FF961E-CF96-44AC-93C2-93612F62D46D}" dt="2026-09-06T17:49:15.098" v="22"/>
        <pc:sldMkLst>
          <pc:docMk/>
          <pc:sldMk cId="2216163527" sldId="690"/>
        </pc:sldMkLst>
      </pc:sldChg>
      <pc:sldChg chg="add">
        <pc:chgData name="Berg, Dirk van den" userId="035ecb32-01d9-4b47-a105-eacf059a4647" providerId="ADAL" clId="{F7FF961E-CF96-44AC-93C2-93612F62D46D}" dt="2026-09-06T17:49:15.098" v="22"/>
        <pc:sldMkLst>
          <pc:docMk/>
          <pc:sldMk cId="436403324" sldId="692"/>
        </pc:sldMkLst>
      </pc:sldChg>
      <pc:sldChg chg="add">
        <pc:chgData name="Berg, Dirk van den" userId="035ecb32-01d9-4b47-a105-eacf059a4647" providerId="ADAL" clId="{F7FF961E-CF96-44AC-93C2-93612F62D46D}" dt="2026-09-06T18:32:09.507" v="32"/>
        <pc:sldMkLst>
          <pc:docMk/>
          <pc:sldMk cId="3625026622" sldId="693"/>
        </pc:sldMkLst>
      </pc:sldChg>
      <pc:sldChg chg="add">
        <pc:chgData name="Berg, Dirk van den" userId="035ecb32-01d9-4b47-a105-eacf059a4647" providerId="ADAL" clId="{F7FF961E-CF96-44AC-93C2-93612F62D46D}" dt="2026-09-06T17:49:15.098" v="22"/>
        <pc:sldMkLst>
          <pc:docMk/>
          <pc:sldMk cId="1764723338" sldId="713"/>
        </pc:sldMkLst>
      </pc:sldChg>
      <pc:sldChg chg="modSp add">
        <pc:chgData name="Berg, Dirk van den" userId="035ecb32-01d9-4b47-a105-eacf059a4647" providerId="ADAL" clId="{F7FF961E-CF96-44AC-93C2-93612F62D46D}" dt="2026-09-06T17:53:19.568" v="23"/>
        <pc:sldMkLst>
          <pc:docMk/>
          <pc:sldMk cId="2193077345" sldId="714"/>
        </pc:sldMkLst>
        <pc:spChg chg="mod">
          <ac:chgData name="Berg, Dirk van den" userId="035ecb32-01d9-4b47-a105-eacf059a4647" providerId="ADAL" clId="{F7FF961E-CF96-44AC-93C2-93612F62D46D}" dt="2026-09-06T17:53:19.568" v="23"/>
          <ac:spMkLst>
            <pc:docMk/>
            <pc:sldMk cId="2193077345" sldId="714"/>
            <ac:spMk id="3" creationId="{4D721D95-0BED-2CDE-39DE-0C63305D2DC3}"/>
          </ac:spMkLst>
        </pc:spChg>
      </pc:sldChg>
      <pc:sldChg chg="ord">
        <pc:chgData name="Berg, Dirk van den" userId="035ecb32-01d9-4b47-a105-eacf059a4647" providerId="ADAL" clId="{F7FF961E-CF96-44AC-93C2-93612F62D46D}" dt="2026-09-06T18:07:17.802" v="26"/>
        <pc:sldMkLst>
          <pc:docMk/>
          <pc:sldMk cId="78729875" sldId="715"/>
        </pc:sldMkLst>
      </pc:sldChg>
      <pc:sldChg chg="modSp mod">
        <pc:chgData name="Berg, Dirk van den" userId="035ecb32-01d9-4b47-a105-eacf059a4647" providerId="ADAL" clId="{F7FF961E-CF96-44AC-93C2-93612F62D46D}" dt="2026-09-10T19:27:43.578" v="90" actId="20577"/>
        <pc:sldMkLst>
          <pc:docMk/>
          <pc:sldMk cId="127795043" sldId="723"/>
        </pc:sldMkLst>
        <pc:spChg chg="mod">
          <ac:chgData name="Berg, Dirk van den" userId="035ecb32-01d9-4b47-a105-eacf059a4647" providerId="ADAL" clId="{F7FF961E-CF96-44AC-93C2-93612F62D46D}" dt="2026-09-10T19:27:43.578" v="90" actId="20577"/>
          <ac:spMkLst>
            <pc:docMk/>
            <pc:sldMk cId="127795043" sldId="723"/>
            <ac:spMk id="3" creationId="{C219B3B1-6053-D0FD-FFA0-DBBBC8D60C6D}"/>
          </ac:spMkLst>
        </pc:spChg>
      </pc:sldChg>
      <pc:sldChg chg="add">
        <pc:chgData name="Berg, Dirk van den" userId="035ecb32-01d9-4b47-a105-eacf059a4647" providerId="ADAL" clId="{F7FF961E-CF96-44AC-93C2-93612F62D46D}" dt="2026-09-06T18:32:19.251" v="33"/>
        <pc:sldMkLst>
          <pc:docMk/>
          <pc:sldMk cId="1102904052" sldId="725"/>
        </pc:sldMkLst>
      </pc:sldChg>
      <pc:sldChg chg="addSp delSp modSp">
        <pc:chgData name="Berg, Dirk van den" userId="035ecb32-01d9-4b47-a105-eacf059a4647" providerId="ADAL" clId="{F7FF961E-CF96-44AC-93C2-93612F62D46D}" dt="2026-09-07T06:33:53.144" v="35"/>
        <pc:sldMkLst>
          <pc:docMk/>
          <pc:sldMk cId="491292481" sldId="728"/>
        </pc:sldMkLst>
        <pc:picChg chg="add mod">
          <ac:chgData name="Berg, Dirk van den" userId="035ecb32-01d9-4b47-a105-eacf059a4647" providerId="ADAL" clId="{F7FF961E-CF96-44AC-93C2-93612F62D46D}" dt="2026-09-07T06:33:53.144" v="35"/>
          <ac:picMkLst>
            <pc:docMk/>
            <pc:sldMk cId="491292481" sldId="728"/>
            <ac:picMk id="5" creationId="{38869E43-EC7A-9842-1B92-AA0A7B9DF5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C6AB9-FE72-4D6B-9F79-DE810BFE0976}" type="datetimeFigureOut">
              <a:rPr lang="en-NL" smtClean="0"/>
              <a:t>09/09/2026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B64C4C-CBD2-4257-926A-E23DC8EC0706}" type="slidenum">
              <a:rPr lang="en-NL" smtClean="0"/>
              <a:t>‹#›</a:t>
            </a:fld>
            <a:endParaRPr lang="en-NL"/>
          </a:p>
        </p:txBody>
      </p:sp>
    </p:spTree>
    <p:extLst>
      <p:ext uri="{BB962C8B-B14F-4D97-AF65-F5344CB8AC3E}">
        <p14:creationId xmlns:p14="http://schemas.microsoft.com/office/powerpoint/2010/main" val="1352032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ratio is not 5x across the dataset. It ranges 0.98x to 5.07x.- Standstills and Y-sweeps: ~5.0x on X, ~3.75x on Y (T1-T7, V1, V3, E2)- APRBS and </a:t>
            </a:r>
            <a:r>
              <a:rPr lang="en-US" dirty="0" err="1"/>
              <a:t>lissajous</a:t>
            </a:r>
            <a:r>
              <a:rPr lang="en-US" dirty="0"/>
              <a:t>: 1.2x to 2.9x- E4_multisine_off: 1.00x, </a:t>
            </a:r>
            <a:r>
              <a:rPr lang="en-US" dirty="0" err="1"/>
              <a:t>unchangedBecause</a:t>
            </a:r>
            <a:r>
              <a:rPr lang="en-US" dirty="0"/>
              <a:t> AMP_SCALE scales the excitation, not the total input. On a standstill the force is almost pure excitation so it scales ~5x; on an APRBS record the trajectory-following force dominates and barely moves.</a:t>
            </a:r>
          </a:p>
          <a:p>
            <a:endParaRPr lang="en-US" dirty="0"/>
          </a:p>
          <a:p>
            <a:endParaRPr lang="en-US" dirty="0"/>
          </a:p>
          <a:p>
            <a:endParaRPr lang="en-US" dirty="0"/>
          </a:p>
          <a:p>
            <a:r>
              <a:rPr lang="en-US" dirty="0"/>
              <a:t>Net effect on the absorber displacement, which is what the augmentation has to learn: 2.19e-05 m to 3.17e-05 m, a factor 1.45, because the mass-fraction change worked against the amplitude change.</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2</a:t>
            </a:fld>
            <a:endParaRPr lang="en-NL"/>
          </a:p>
        </p:txBody>
      </p:sp>
    </p:spTree>
    <p:extLst>
      <p:ext uri="{BB962C8B-B14F-4D97-AF65-F5344CB8AC3E}">
        <p14:creationId xmlns:p14="http://schemas.microsoft.com/office/powerpoint/2010/main" val="89068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model_augmentation</a:t>
            </a:r>
            <a:r>
              <a:rPr lang="en-US" dirty="0"/>
              <a:t>/</a:t>
            </a:r>
            <a:r>
              <a:rPr lang="en-US" dirty="0" err="1"/>
              <a:t>fit_systems</a:t>
            </a:r>
            <a:r>
              <a:rPr lang="en-US" dirty="0"/>
              <a:t>/interconnect.py, inside </a:t>
            </a:r>
            <a:r>
              <a:rPr lang="en-US" dirty="0" err="1"/>
              <a:t>init_forward</a:t>
            </a:r>
            <a:r>
              <a:rPr lang="en-US" dirty="0"/>
              <a:t>, at line 212:# </a:t>
            </a:r>
            <a:r>
              <a:rPr lang="en-US" dirty="0" err="1"/>
              <a:t>beforeself.order_output_signal_computation.append</a:t>
            </a:r>
            <a:r>
              <a:rPr lang="en-US" dirty="0"/>
              <a:t>(element)# </a:t>
            </a:r>
            <a:r>
              <a:rPr lang="en-US" dirty="0" err="1"/>
              <a:t>afterself.order_output_signal_computation.append</a:t>
            </a:r>
            <a:r>
              <a:rPr lang="en-US" dirty="0"/>
              <a:t>(int(element))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6</a:t>
            </a:fld>
            <a:endParaRPr lang="en-NL"/>
          </a:p>
        </p:txBody>
      </p:sp>
    </p:spTree>
    <p:extLst>
      <p:ext uri="{BB962C8B-B14F-4D97-AF65-F5344CB8AC3E}">
        <p14:creationId xmlns:p14="http://schemas.microsoft.com/office/powerpoint/2010/main" val="2998305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After Adam, not instead of it: Adam explores, the quasi-Newton phase converges.</a:t>
            </a:r>
          </a:p>
          <a:p>
            <a:pPr marL="171450" indent="-171450">
              <a:buFontTx/>
              <a:buChar char="-"/>
            </a:pPr>
            <a:r>
              <a:rPr lang="en-US" dirty="0"/>
              <a:t>- One fixed batch of 16384 windows, held constant for the whole phase, because a fresh minibatch each iteration would break both the curvature estimate and the line search.</a:t>
            </a:r>
          </a:p>
          <a:p>
            <a:pPr marL="171450" indent="-171450">
              <a:buFontTx/>
              <a:buChar char="-"/>
            </a:pPr>
            <a:r>
              <a:rPr lang="en-US" dirty="0"/>
              <a:t>- All parameters in one vector, m = 50 stored pairs, strong-Wolfe line search.</a:t>
            </a:r>
          </a:p>
          <a:p>
            <a:pPr marL="171450" indent="-171450">
              <a:buFontTx/>
              <a:buChar char="-"/>
            </a:pPr>
            <a:r>
              <a:rPr lang="en-US" dirty="0"/>
              <a:t>- The result is kept only if it improves the closed-loop validation; otherwise the weights are restored exactly.</a:t>
            </a:r>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21</a:t>
            </a:fld>
            <a:endParaRPr lang="en-NL"/>
          </a:p>
        </p:txBody>
      </p:sp>
    </p:spTree>
    <p:extLst>
      <p:ext uri="{BB962C8B-B14F-4D97-AF65-F5344CB8AC3E}">
        <p14:creationId xmlns:p14="http://schemas.microsoft.com/office/powerpoint/2010/main" val="1960724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55A7-D98B-7E8A-983F-4A4E26D6E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B6F7B-E796-6AB9-CF76-749493257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D688D3-5BFF-F64C-CB4D-F0CF28AFF807}"/>
              </a:ext>
            </a:extLst>
          </p:cNvPr>
          <p:cNvSpPr>
            <a:spLocks noGrp="1"/>
          </p:cNvSpPr>
          <p:nvPr>
            <p:ph type="body" idx="1"/>
          </p:nvPr>
        </p:nvSpPr>
        <p:spPr/>
        <p:txBody>
          <a:bodyPr/>
          <a:lstStyle/>
          <a:p>
            <a:pPr marL="171450" indent="-171450">
              <a:buFontTx/>
              <a:buChar char="-"/>
            </a:pPr>
            <a:r>
              <a:rPr lang="en-US" dirty="0"/>
              <a:t>After Adam, not instead of it: Adam explores, the quasi-Newton phase converges.</a:t>
            </a:r>
          </a:p>
          <a:p>
            <a:pPr marL="171450" indent="-171450">
              <a:buFontTx/>
              <a:buChar char="-"/>
            </a:pPr>
            <a:r>
              <a:rPr lang="en-US" dirty="0"/>
              <a:t>- One fixed batch of 16384 windows, held constant for the whole phase, because a fresh minibatch each iteration would break both the curvature estimate and the line search.</a:t>
            </a:r>
          </a:p>
          <a:p>
            <a:pPr marL="171450" indent="-171450">
              <a:buFontTx/>
              <a:buChar char="-"/>
            </a:pPr>
            <a:r>
              <a:rPr lang="en-US" dirty="0"/>
              <a:t>- All parameters in one vector, m = 50 stored pairs, strong-Wolfe line search.</a:t>
            </a:r>
          </a:p>
          <a:p>
            <a:pPr marL="171450" indent="-171450">
              <a:buFontTx/>
              <a:buChar char="-"/>
            </a:pPr>
            <a:r>
              <a:rPr lang="en-US" dirty="0"/>
              <a:t>- The result is kept only if it improves the closed-loop validation; otherwise the weights are restored exactly.</a:t>
            </a:r>
            <a:endParaRPr lang="en-NL" dirty="0"/>
          </a:p>
        </p:txBody>
      </p:sp>
      <p:sp>
        <p:nvSpPr>
          <p:cNvPr id="4" name="Slide Number Placeholder 3">
            <a:extLst>
              <a:ext uri="{FF2B5EF4-FFF2-40B4-BE49-F238E27FC236}">
                <a16:creationId xmlns:a16="http://schemas.microsoft.com/office/drawing/2014/main" id="{DE58676A-5F23-AD82-B376-B4B4A473F03F}"/>
              </a:ext>
            </a:extLst>
          </p:cNvPr>
          <p:cNvSpPr>
            <a:spLocks noGrp="1"/>
          </p:cNvSpPr>
          <p:nvPr>
            <p:ph type="sldNum" sz="quarter" idx="5"/>
          </p:nvPr>
        </p:nvSpPr>
        <p:spPr/>
        <p:txBody>
          <a:bodyPr/>
          <a:lstStyle/>
          <a:p>
            <a:fld id="{26B64C4C-CBD2-4257-926A-E23DC8EC0706}" type="slidenum">
              <a:rPr lang="en-NL" smtClean="0"/>
              <a:t>22</a:t>
            </a:fld>
            <a:endParaRPr lang="en-NL"/>
          </a:p>
        </p:txBody>
      </p:sp>
    </p:spTree>
    <p:extLst>
      <p:ext uri="{BB962C8B-B14F-4D97-AF65-F5344CB8AC3E}">
        <p14:creationId xmlns:p14="http://schemas.microsoft.com/office/powerpoint/2010/main" val="3528794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step                    │ change  │ share │</a:t>
            </a:r>
          </a:p>
          <a:p>
            <a:r>
              <a:rPr lang="en-US" dirty="0"/>
              <a:t>│ 81262 → 81757 (50 more epochs, no burn-in) │ −0.274% │ 81%   │</a:t>
            </a:r>
          </a:p>
          <a:p>
            <a:r>
              <a:rPr lang="en-US" dirty="0"/>
              <a:t>│ 81757 → 81758 (burn-in 100 instead of 0)   │ −0.066% │ 19%   │</a:t>
            </a:r>
          </a:p>
          <a:p>
            <a:r>
              <a:rPr lang="en-US" dirty="0"/>
              <a:t>│ 81262 → 81758 (total)                      │ −0.339% │ 100%  │</a:t>
            </a:r>
          </a:p>
          <a:p>
            <a:endParaRPr lang="en-US"/>
          </a:p>
          <a:p>
            <a:endParaRPr lang="en-NL" dirty="0"/>
          </a:p>
        </p:txBody>
      </p:sp>
      <p:sp>
        <p:nvSpPr>
          <p:cNvPr id="4" name="Slide Number Placeholder 3"/>
          <p:cNvSpPr>
            <a:spLocks noGrp="1"/>
          </p:cNvSpPr>
          <p:nvPr>
            <p:ph type="sldNum" sz="quarter" idx="5"/>
          </p:nvPr>
        </p:nvSpPr>
        <p:spPr/>
        <p:txBody>
          <a:bodyPr/>
          <a:lstStyle/>
          <a:p>
            <a:fld id="{26B64C4C-CBD2-4257-926A-E23DC8EC0706}" type="slidenum">
              <a:rPr lang="en-NL" smtClean="0"/>
              <a:t>26</a:t>
            </a:fld>
            <a:endParaRPr lang="en-NL"/>
          </a:p>
        </p:txBody>
      </p:sp>
    </p:spTree>
    <p:extLst>
      <p:ext uri="{BB962C8B-B14F-4D97-AF65-F5344CB8AC3E}">
        <p14:creationId xmlns:p14="http://schemas.microsoft.com/office/powerpoint/2010/main" val="2223428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a:p>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33</a:t>
            </a:fld>
            <a:endParaRPr lang="en-NL"/>
          </a:p>
        </p:txBody>
      </p:sp>
    </p:spTree>
    <p:extLst>
      <p:ext uri="{BB962C8B-B14F-4D97-AF65-F5344CB8AC3E}">
        <p14:creationId xmlns:p14="http://schemas.microsoft.com/office/powerpoint/2010/main" val="404998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simulation window we start with zero controller correction.</a:t>
            </a:r>
          </a:p>
          <a:p>
            <a:endParaRPr lang="en-US" dirty="0"/>
          </a:p>
          <a:p>
            <a:endParaRPr lang="en-US" dirty="0"/>
          </a:p>
          <a:p>
            <a:r>
              <a:rPr lang="cy-GB" dirty="0"/>
              <a:t>ŷ[k]   = h(x[k])                  &lt;- model output at k, from the STATE only</a:t>
            </a:r>
          </a:p>
          <a:p>
            <a:r>
              <a:rPr lang="cy-GB" dirty="0"/>
              <a:t>e[k]   = y[k] - ŷ[k]</a:t>
            </a:r>
          </a:p>
          <a:p>
            <a:r>
              <a:rPr lang="cy-GB" dirty="0"/>
              <a:t>u_fb[k]= Cc xc[k] + Dc e[k]</a:t>
            </a:r>
          </a:p>
          <a:p>
            <a:r>
              <a:rPr lang="cy-GB" dirty="0"/>
              <a:t>û[k]   = u[k] + u_fb[k]x[k+1] = f(x[k], û[k])            &lt;- û[k] produces ŷ[k+1], not ŷ[k]</a:t>
            </a:r>
          </a:p>
          <a:p>
            <a:r>
              <a:rPr lang="cy-GB" dirty="0"/>
              <a:t>xc[k+1]= Ac xc[k] + Bc e[k]</a:t>
            </a:r>
          </a:p>
          <a:p>
            <a:endParaRPr lang="cy-GB" dirty="0"/>
          </a:p>
          <a:p>
            <a:r>
              <a:rPr lang="cy-GB" dirty="0"/>
              <a:t>ŷ[k] is used to build û[k]; û[k] then moves the state forward and so determines ŷ[k+1]. It is not the same ŷ on both sides of the equal sign, it is k and k+1.</a:t>
            </a:r>
          </a:p>
          <a:p>
            <a:endParaRPr lang="cy-GB" dirty="0"/>
          </a:p>
          <a:p>
            <a:r>
              <a:rPr lang="en-US" dirty="0"/>
              <a:t>- Controller initial condition. xc = 0 at every window start.</a:t>
            </a:r>
            <a:endParaRPr lang="en-NL" dirty="0"/>
          </a:p>
        </p:txBody>
      </p:sp>
      <p:sp>
        <p:nvSpPr>
          <p:cNvPr id="4" name="Slide Number Placeholder 3"/>
          <p:cNvSpPr>
            <a:spLocks noGrp="1"/>
          </p:cNvSpPr>
          <p:nvPr>
            <p:ph type="sldNum" sz="quarter" idx="5"/>
          </p:nvPr>
        </p:nvSpPr>
        <p:spPr/>
        <p:txBody>
          <a:bodyPr/>
          <a:lstStyle/>
          <a:p>
            <a:fld id="{31D200E8-B9A1-4008-A846-29320645B2FD}" type="slidenum">
              <a:rPr lang="en-NL" smtClean="0"/>
              <a:t>34</a:t>
            </a:fld>
            <a:endParaRPr lang="en-NL"/>
          </a:p>
        </p:txBody>
      </p:sp>
    </p:spTree>
    <p:extLst>
      <p:ext uri="{BB962C8B-B14F-4D97-AF65-F5344CB8AC3E}">
        <p14:creationId xmlns:p14="http://schemas.microsoft.com/office/powerpoint/2010/main" val="212034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35</a:t>
            </a:fld>
            <a:endParaRPr lang="en-NL"/>
          </a:p>
        </p:txBody>
      </p:sp>
    </p:spTree>
    <p:extLst>
      <p:ext uri="{BB962C8B-B14F-4D97-AF65-F5344CB8AC3E}">
        <p14:creationId xmlns:p14="http://schemas.microsoft.com/office/powerpoint/2010/main" val="1129621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36</a:t>
            </a:fld>
            <a:endParaRPr lang="en-NL"/>
          </a:p>
        </p:txBody>
      </p:sp>
    </p:spTree>
    <p:extLst>
      <p:ext uri="{BB962C8B-B14F-4D97-AF65-F5344CB8AC3E}">
        <p14:creationId xmlns:p14="http://schemas.microsoft.com/office/powerpoint/2010/main" val="3103641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Kijken</a:t>
            </a:r>
            <a:r>
              <a:rPr lang="en-US" dirty="0"/>
              <a:t> </a:t>
            </a:r>
            <a:r>
              <a:rPr lang="en-US" dirty="0" err="1"/>
              <a:t>gaug</a:t>
            </a:r>
            <a:r>
              <a:rPr lang="en-US" dirty="0"/>
              <a:t> is </a:t>
            </a:r>
            <a:r>
              <a:rPr lang="en-US" dirty="0" err="1"/>
              <a:t>dat</a:t>
            </a:r>
            <a:r>
              <a:rPr lang="en-US" dirty="0"/>
              <a:t> augmented states?</a:t>
            </a:r>
            <a:endParaRPr lang="en-NL" dirty="0"/>
          </a:p>
        </p:txBody>
      </p:sp>
      <p:sp>
        <p:nvSpPr>
          <p:cNvPr id="4" name="Slide Number Placeholder 3"/>
          <p:cNvSpPr>
            <a:spLocks noGrp="1"/>
          </p:cNvSpPr>
          <p:nvPr>
            <p:ph type="sldNum" sz="quarter" idx="5"/>
          </p:nvPr>
        </p:nvSpPr>
        <p:spPr/>
        <p:txBody>
          <a:bodyPr/>
          <a:lstStyle/>
          <a:p>
            <a:fld id="{CAC5582B-9ED5-4B7F-BF1D-5EAA82C0EBB2}" type="slidenum">
              <a:rPr lang="en-NL" smtClean="0"/>
              <a:t>37</a:t>
            </a:fld>
            <a:endParaRPr lang="en-NL"/>
          </a:p>
        </p:txBody>
      </p:sp>
    </p:spTree>
    <p:extLst>
      <p:ext uri="{BB962C8B-B14F-4D97-AF65-F5344CB8AC3E}">
        <p14:creationId xmlns:p14="http://schemas.microsoft.com/office/powerpoint/2010/main" val="4136818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3E55C74-6043-42BA-AD50-52AE106FD173}" type="slidenum">
              <a:rPr lang="en-NL" smtClean="0"/>
              <a:t>38</a:t>
            </a:fld>
            <a:endParaRPr lang="en-NL"/>
          </a:p>
        </p:txBody>
      </p:sp>
    </p:spTree>
    <p:extLst>
      <p:ext uri="{BB962C8B-B14F-4D97-AF65-F5344CB8AC3E}">
        <p14:creationId xmlns:p14="http://schemas.microsoft.com/office/powerpoint/2010/main" val="3177128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4693-E474-E1CB-4BB2-38D91AA1D1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07949E64-CC1C-E74C-6DD5-D1F06B4460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EE57D823-24C2-BF7C-5B24-B2A9EF234EAF}"/>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F2FED66F-AD38-1567-3C31-41B69869B1F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7698F96-FCE2-2643-4847-1D57C1476266}"/>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3502548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46BB-1F1C-6D20-BA40-5E3BB5DAF2DD}"/>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903C82FA-ABC8-E86E-D090-ECF548EE59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DCC3D82-53A3-BCAE-1269-25FFCF5693AE}"/>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5136975D-7BB8-1A97-A792-CFB92B4F2EF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BC4DFED-8D00-8FCA-AF78-3841F51F41AD}"/>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1714486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DC7B-0002-565F-23E3-1E9017805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B4AB4F5-1A7F-64AA-1AC6-78E506746C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35097A-91F7-51AB-2184-925CE447438D}"/>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9F0273C8-8AEF-0A03-ED3B-989F36752FE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FCCE643-AAC7-3585-3CF8-7193D1DAA1B8}"/>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4232223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1318-713E-70C3-8ADF-4BED887B008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6BAFD229-7A6B-FED4-6C45-EBE8CDEEAF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F306D52-A1D9-3154-51D8-961D61645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903A94F2-6F79-417E-B70A-4617D1B3DAE8}"/>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6" name="Footer Placeholder 5">
            <a:extLst>
              <a:ext uri="{FF2B5EF4-FFF2-40B4-BE49-F238E27FC236}">
                <a16:creationId xmlns:a16="http://schemas.microsoft.com/office/drawing/2014/main" id="{AC3D2C43-4649-197D-7CDA-2D7B1B2A90FA}"/>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3109F59-1571-7251-C6BE-AF35A8556083}"/>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3784455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32438-5AD6-85F2-690D-1AC3EC694792}"/>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54D945F8-A6A9-73DF-D7A9-05F6B6647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778893-4E7B-89FE-9E0D-0F1886084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9410E9B3-6F09-1408-13E1-F006E1DC50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0FFCA1-856E-92BC-CCDC-A8836C64B1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89EBA81-E892-B4AC-2925-DDF271FB3DB3}"/>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8" name="Footer Placeholder 7">
            <a:extLst>
              <a:ext uri="{FF2B5EF4-FFF2-40B4-BE49-F238E27FC236}">
                <a16:creationId xmlns:a16="http://schemas.microsoft.com/office/drawing/2014/main" id="{808A4732-4F8C-351E-B350-5F19281BBDC0}"/>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A513B25-B631-F8C7-FCA0-85278091711F}"/>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48790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AC862-6165-D037-612E-5D87CD31F6CB}"/>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AC3CDADF-949B-1F32-4275-CF0B50D18F23}"/>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4" name="Footer Placeholder 3">
            <a:extLst>
              <a:ext uri="{FF2B5EF4-FFF2-40B4-BE49-F238E27FC236}">
                <a16:creationId xmlns:a16="http://schemas.microsoft.com/office/drawing/2014/main" id="{50AE61A2-AC3B-90BB-9516-0E68F6EA34DE}"/>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03E513E8-0FAB-32C5-9C80-8452FDE45CA3}"/>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4225973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89E6E7-11F1-A706-0380-03ED7F59C2BF}"/>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3" name="Footer Placeholder 2">
            <a:extLst>
              <a:ext uri="{FF2B5EF4-FFF2-40B4-BE49-F238E27FC236}">
                <a16:creationId xmlns:a16="http://schemas.microsoft.com/office/drawing/2014/main" id="{C3C4D1CD-D2CA-BAC6-985A-C2BB58494101}"/>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56A76AAA-4D86-F3E8-3D91-03008190F029}"/>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2214429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156E1-229F-B093-522C-06127921D3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148DEEF-DC56-971B-A426-D8C59DF2A7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E2E9E0BA-8CEF-13EC-74CE-088896833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2E9077-D15E-841B-9E43-698FDD39DBC0}"/>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6" name="Footer Placeholder 5">
            <a:extLst>
              <a:ext uri="{FF2B5EF4-FFF2-40B4-BE49-F238E27FC236}">
                <a16:creationId xmlns:a16="http://schemas.microsoft.com/office/drawing/2014/main" id="{E52D86DB-F2B3-ED97-6967-91A6AB53A3E7}"/>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C4D42B4-5BE3-9F7C-C87A-6842E7934D1F}"/>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2985572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4363E-F150-FB6C-1ABA-00D4493992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A7590E30-1DA3-5FDD-DFB6-B167871F7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524A00A-2082-99D0-483A-29799586BB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66CCB2-6BE3-3FCB-3E3B-3E4E7FFFA56A}"/>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6" name="Footer Placeholder 5">
            <a:extLst>
              <a:ext uri="{FF2B5EF4-FFF2-40B4-BE49-F238E27FC236}">
                <a16:creationId xmlns:a16="http://schemas.microsoft.com/office/drawing/2014/main" id="{D1AB4337-E466-BB02-C1C8-E6AF30EFD04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2ABFA2F-C815-5414-1D3C-046229FFD8C9}"/>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2618336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995C-F90B-A37E-B08D-36D49EF5973D}"/>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261C958A-F169-8E91-B773-2AB08C2579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F60BAC7-0023-6913-4A08-2D45C4DF80EC}"/>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11F12B60-C368-2A13-981A-12FBFB65EFF0}"/>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4BC25E9-2C23-A9FC-D0F2-940E79EFEF92}"/>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8459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F29DA-8168-F6E0-72A0-55EE1EB9A2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EAE9216B-7CF3-531A-3502-388D445C41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C48AA2E-941A-22BC-3468-D849C854DD6B}"/>
              </a:ext>
            </a:extLst>
          </p:cNvPr>
          <p:cNvSpPr>
            <a:spLocks noGrp="1"/>
          </p:cNvSpPr>
          <p:nvPr>
            <p:ph type="dt" sz="half" idx="10"/>
          </p:nvPr>
        </p:nvSpPr>
        <p:spPr/>
        <p:txBody>
          <a:body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BFA4EB14-FE39-EDC0-6549-49EB1227CBE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7548166A-A620-50FA-F7BF-78824888B0B2}"/>
              </a:ext>
            </a:extLst>
          </p:cNvPr>
          <p:cNvSpPr>
            <a:spLocks noGrp="1"/>
          </p:cNvSpPr>
          <p:nvPr>
            <p:ph type="sldNum" sz="quarter" idx="12"/>
          </p:nvPr>
        </p:nvSpPr>
        <p:spPr/>
        <p:txBody>
          <a:bodyPr/>
          <a:lstStyle/>
          <a:p>
            <a:fld id="{4AD2329E-155A-4DCA-87DA-68A8102D8B36}" type="slidenum">
              <a:rPr lang="en-NL" smtClean="0"/>
              <a:t>‹#›</a:t>
            </a:fld>
            <a:endParaRPr lang="en-NL"/>
          </a:p>
        </p:txBody>
      </p:sp>
    </p:spTree>
    <p:extLst>
      <p:ext uri="{BB962C8B-B14F-4D97-AF65-F5344CB8AC3E}">
        <p14:creationId xmlns:p14="http://schemas.microsoft.com/office/powerpoint/2010/main" val="296295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91A4F4-5E26-C3CE-6887-9617F1BA05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67ACA28-AB90-4CA0-42CB-F127795388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4AA34A9-4C77-2B32-F6F0-05EA8C5169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54DD22-F151-40D6-9AD8-786976F8AC7C}" type="datetimeFigureOut">
              <a:rPr lang="en-NL" smtClean="0"/>
              <a:t>09/09/2026</a:t>
            </a:fld>
            <a:endParaRPr lang="en-NL"/>
          </a:p>
        </p:txBody>
      </p:sp>
      <p:sp>
        <p:nvSpPr>
          <p:cNvPr id="5" name="Footer Placeholder 4">
            <a:extLst>
              <a:ext uri="{FF2B5EF4-FFF2-40B4-BE49-F238E27FC236}">
                <a16:creationId xmlns:a16="http://schemas.microsoft.com/office/drawing/2014/main" id="{8A2BA78F-1FCF-55D0-A03D-4BDA1279E1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AD212C76-7F49-C395-ED69-13946065F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D2329E-155A-4DCA-87DA-68A8102D8B36}" type="slidenum">
              <a:rPr lang="en-NL" smtClean="0"/>
              <a:t>‹#›</a:t>
            </a:fld>
            <a:endParaRPr lang="en-NL"/>
          </a:p>
        </p:txBody>
      </p:sp>
    </p:spTree>
    <p:extLst>
      <p:ext uri="{BB962C8B-B14F-4D97-AF65-F5344CB8AC3E}">
        <p14:creationId xmlns:p14="http://schemas.microsoft.com/office/powerpoint/2010/main" val="47809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13AF-1A12-ED80-DE59-4C5616720E68}"/>
              </a:ext>
            </a:extLst>
          </p:cNvPr>
          <p:cNvSpPr>
            <a:spLocks noGrp="1"/>
          </p:cNvSpPr>
          <p:nvPr>
            <p:ph type="title"/>
          </p:nvPr>
        </p:nvSpPr>
        <p:spPr/>
        <p:txBody>
          <a:bodyPr/>
          <a:lstStyle/>
          <a:p>
            <a:r>
              <a:rPr lang="en-US" dirty="0"/>
              <a:t>Meeting Outline</a:t>
            </a:r>
            <a:endParaRPr lang="en-NL" dirty="0"/>
          </a:p>
        </p:txBody>
      </p:sp>
      <p:sp>
        <p:nvSpPr>
          <p:cNvPr id="3" name="Content Placeholder 2">
            <a:extLst>
              <a:ext uri="{FF2B5EF4-FFF2-40B4-BE49-F238E27FC236}">
                <a16:creationId xmlns:a16="http://schemas.microsoft.com/office/drawing/2014/main" id="{A397E29C-EA55-3CD2-9E0C-4507D5578F3D}"/>
              </a:ext>
            </a:extLst>
          </p:cNvPr>
          <p:cNvSpPr>
            <a:spLocks noGrp="1"/>
          </p:cNvSpPr>
          <p:nvPr>
            <p:ph idx="1"/>
          </p:nvPr>
        </p:nvSpPr>
        <p:spPr/>
        <p:txBody>
          <a:bodyPr>
            <a:normAutofit fontScale="92500" lnSpcReduction="20000"/>
          </a:bodyPr>
          <a:lstStyle/>
          <a:p>
            <a:r>
              <a:rPr lang="en-US" dirty="0"/>
              <a:t>Asked for extension of 4 weeks</a:t>
            </a:r>
          </a:p>
          <a:p>
            <a:pPr lvl="1"/>
            <a:r>
              <a:rPr lang="en-US" dirty="0"/>
              <a:t>Got accepted new deadline 25 Oktober</a:t>
            </a:r>
          </a:p>
          <a:p>
            <a:r>
              <a:rPr lang="en-US" dirty="0"/>
              <a:t>Closed-loop training</a:t>
            </a:r>
          </a:p>
          <a:p>
            <a:pPr lvl="1"/>
            <a:r>
              <a:rPr lang="en-US" dirty="0"/>
              <a:t>Main issue was not a big enough error between system and baseline for the additional states</a:t>
            </a:r>
          </a:p>
          <a:p>
            <a:pPr lvl="2"/>
            <a:r>
              <a:rPr lang="en-US" dirty="0"/>
              <a:t>Additional states learning</a:t>
            </a:r>
          </a:p>
          <a:p>
            <a:r>
              <a:rPr lang="en-US" dirty="0"/>
              <a:t>GPU implementation</a:t>
            </a:r>
          </a:p>
          <a:p>
            <a:pPr lvl="1"/>
            <a:r>
              <a:rPr lang="en-US" dirty="0"/>
              <a:t>Earlier attempt no speedup</a:t>
            </a:r>
          </a:p>
          <a:p>
            <a:r>
              <a:rPr lang="en-US" dirty="0"/>
              <a:t>Longer training runs</a:t>
            </a:r>
          </a:p>
          <a:p>
            <a:pPr lvl="1"/>
            <a:r>
              <a:rPr lang="en-US" dirty="0"/>
              <a:t>More complex neural network and more additional states </a:t>
            </a:r>
            <a:r>
              <a:rPr lang="en-US" dirty="0">
                <a:sym typeface="Wingdings" panose="05000000000000000000" pitchFamily="2" charset="2"/>
              </a:rPr>
              <a:t> no real benefit</a:t>
            </a:r>
          </a:p>
          <a:p>
            <a:r>
              <a:rPr lang="en-US" dirty="0">
                <a:sym typeface="Wingdings" panose="05000000000000000000" pitchFamily="2" charset="2"/>
              </a:rPr>
              <a:t>L-BFGS</a:t>
            </a:r>
          </a:p>
          <a:p>
            <a:r>
              <a:rPr lang="en-US" dirty="0">
                <a:sym typeface="Wingdings" panose="05000000000000000000" pitchFamily="2" charset="2"/>
              </a:rPr>
              <a:t>Transient issue</a:t>
            </a:r>
            <a:endParaRPr lang="en-US" dirty="0"/>
          </a:p>
          <a:p>
            <a:pPr lvl="1"/>
            <a:endParaRPr lang="en-US" dirty="0"/>
          </a:p>
          <a:p>
            <a:pPr lvl="1"/>
            <a:endParaRPr lang="en-US" dirty="0"/>
          </a:p>
          <a:p>
            <a:pPr lvl="1"/>
            <a:endParaRPr lang="en-NL" dirty="0"/>
          </a:p>
        </p:txBody>
      </p:sp>
    </p:spTree>
    <p:extLst>
      <p:ext uri="{BB962C8B-B14F-4D97-AF65-F5344CB8AC3E}">
        <p14:creationId xmlns:p14="http://schemas.microsoft.com/office/powerpoint/2010/main" val="110290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8A5D-1141-7FE0-083A-3A21CF72AD28}"/>
              </a:ext>
            </a:extLst>
          </p:cNvPr>
          <p:cNvSpPr>
            <a:spLocks noGrp="1"/>
          </p:cNvSpPr>
          <p:nvPr>
            <p:ph type="title"/>
          </p:nvPr>
        </p:nvSpPr>
        <p:spPr/>
        <p:txBody>
          <a:bodyPr/>
          <a:lstStyle/>
          <a:p>
            <a:r>
              <a:rPr lang="en-US" dirty="0"/>
              <a:t>System Error not big enough?</a:t>
            </a:r>
            <a:endParaRPr lang="en-NL" dirty="0"/>
          </a:p>
        </p:txBody>
      </p:sp>
      <p:sp>
        <p:nvSpPr>
          <p:cNvPr id="3" name="Content Placeholder 2">
            <a:extLst>
              <a:ext uri="{FF2B5EF4-FFF2-40B4-BE49-F238E27FC236}">
                <a16:creationId xmlns:a16="http://schemas.microsoft.com/office/drawing/2014/main" id="{1F3C35F5-A756-841B-47F2-5D6764F32A04}"/>
              </a:ext>
            </a:extLst>
          </p:cNvPr>
          <p:cNvSpPr>
            <a:spLocks noGrp="1"/>
          </p:cNvSpPr>
          <p:nvPr>
            <p:ph idx="1"/>
          </p:nvPr>
        </p:nvSpPr>
        <p:spPr/>
        <p:txBody>
          <a:bodyPr/>
          <a:lstStyle/>
          <a:p>
            <a:r>
              <a:rPr lang="en-US" dirty="0"/>
              <a:t>MSD payload mass previously: 10% and 90% respectively</a:t>
            </a:r>
          </a:p>
          <a:p>
            <a:r>
              <a:rPr lang="en-US" dirty="0"/>
              <a:t>For the following images 50%-50% split, and the excitation amplitude scaled 5x, taking the input force from 4.4e+01 N to 2.2e+02 N RMS on X1/X2 and 3.6e+01 N to 1.4e+02 N on Y.</a:t>
            </a:r>
            <a:endParaRPr lang="en-NL" dirty="0"/>
          </a:p>
        </p:txBody>
      </p:sp>
    </p:spTree>
    <p:extLst>
      <p:ext uri="{BB962C8B-B14F-4D97-AF65-F5344CB8AC3E}">
        <p14:creationId xmlns:p14="http://schemas.microsoft.com/office/powerpoint/2010/main" val="436403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3D615-DEA8-966B-0A06-532F6EBB5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D96536F-2195-6372-C3A4-E654B63AA2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B1149AE-2BD5-52FE-AE5E-4AFC3327B4BE}"/>
              </a:ext>
            </a:extLst>
          </p:cNvPr>
          <p:cNvPicPr>
            <a:picLocks noChangeAspect="1"/>
          </p:cNvPicPr>
          <p:nvPr/>
        </p:nvPicPr>
        <p:blipFill>
          <a:blip r:embed="rId2"/>
          <a:stretch>
            <a:fillRect/>
          </a:stretch>
        </p:blipFill>
        <p:spPr>
          <a:xfrm>
            <a:off x="747473" y="0"/>
            <a:ext cx="10697054" cy="6858000"/>
          </a:xfrm>
          <a:prstGeom prst="rect">
            <a:avLst/>
          </a:prstGeom>
        </p:spPr>
      </p:pic>
    </p:spTree>
    <p:extLst>
      <p:ext uri="{BB962C8B-B14F-4D97-AF65-F5344CB8AC3E}">
        <p14:creationId xmlns:p14="http://schemas.microsoft.com/office/powerpoint/2010/main" val="1764723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3B1B-826D-26B8-A895-3A33768896D5}"/>
              </a:ext>
            </a:extLst>
          </p:cNvPr>
          <p:cNvSpPr>
            <a:spLocks noGrp="1"/>
          </p:cNvSpPr>
          <p:nvPr>
            <p:ph type="title"/>
          </p:nvPr>
        </p:nvSpPr>
        <p:spPr/>
        <p:txBody>
          <a:bodyPr/>
          <a:lstStyle/>
          <a:p>
            <a:r>
              <a:rPr lang="en-US" dirty="0"/>
              <a:t>New setup – Dynamics moved</a:t>
            </a:r>
            <a:endParaRPr lang="en-NL" dirty="0"/>
          </a:p>
        </p:txBody>
      </p:sp>
      <p:sp>
        <p:nvSpPr>
          <p:cNvPr id="3" name="Content Placeholder 2">
            <a:extLst>
              <a:ext uri="{FF2B5EF4-FFF2-40B4-BE49-F238E27FC236}">
                <a16:creationId xmlns:a16="http://schemas.microsoft.com/office/drawing/2014/main" id="{4D721D95-0BED-2CDE-39DE-0C63305D2DC3}"/>
              </a:ext>
            </a:extLst>
          </p:cNvPr>
          <p:cNvSpPr>
            <a:spLocks noGrp="1"/>
          </p:cNvSpPr>
          <p:nvPr>
            <p:ph idx="1"/>
          </p:nvPr>
        </p:nvSpPr>
        <p:spPr/>
        <p:txBody>
          <a:bodyPr/>
          <a:lstStyle/>
          <a:p>
            <a:r>
              <a:rPr lang="en-US" dirty="0"/>
              <a:t>With the 50-50 split the resonance moved</a:t>
            </a:r>
          </a:p>
          <a:p>
            <a:r>
              <a:rPr lang="en-US" dirty="0"/>
              <a:t>New </a:t>
            </a:r>
            <a:r>
              <a:rPr lang="en-US" dirty="0" err="1"/>
              <a:t>multisine</a:t>
            </a:r>
            <a:r>
              <a:rPr lang="en-US" dirty="0"/>
              <a:t> band now spans:</a:t>
            </a:r>
          </a:p>
          <a:p>
            <a:pPr lvl="1"/>
            <a:r>
              <a:rPr lang="en-US" dirty="0"/>
              <a:t>140 to 230 Hz</a:t>
            </a:r>
            <a:endParaRPr lang="en-NL" dirty="0"/>
          </a:p>
        </p:txBody>
      </p:sp>
    </p:spTree>
    <p:extLst>
      <p:ext uri="{BB962C8B-B14F-4D97-AF65-F5344CB8AC3E}">
        <p14:creationId xmlns:p14="http://schemas.microsoft.com/office/powerpoint/2010/main" val="2193077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F8C8-3747-D258-97FA-261714D510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423195B-43C4-AAAA-B03C-5C1EE6DFE56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EEFC814-5605-0781-8CD4-4C9619F49B4C}"/>
              </a:ext>
            </a:extLst>
          </p:cNvPr>
          <p:cNvPicPr>
            <a:picLocks noChangeAspect="1"/>
          </p:cNvPicPr>
          <p:nvPr/>
        </p:nvPicPr>
        <p:blipFill>
          <a:blip r:embed="rId2"/>
          <a:stretch>
            <a:fillRect/>
          </a:stretch>
        </p:blipFill>
        <p:spPr>
          <a:xfrm>
            <a:off x="1638300" y="0"/>
            <a:ext cx="8915400" cy="6858000"/>
          </a:xfrm>
          <a:prstGeom prst="rect">
            <a:avLst/>
          </a:prstGeom>
        </p:spPr>
      </p:pic>
    </p:spTree>
    <p:extLst>
      <p:ext uri="{BB962C8B-B14F-4D97-AF65-F5344CB8AC3E}">
        <p14:creationId xmlns:p14="http://schemas.microsoft.com/office/powerpoint/2010/main" val="2216163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EA71E-CCC1-4BA0-22E5-5BAF9FD077A1}"/>
              </a:ext>
            </a:extLst>
          </p:cNvPr>
          <p:cNvSpPr>
            <a:spLocks noGrp="1"/>
          </p:cNvSpPr>
          <p:nvPr>
            <p:ph type="title"/>
          </p:nvPr>
        </p:nvSpPr>
        <p:spPr/>
        <p:txBody>
          <a:bodyPr/>
          <a:lstStyle/>
          <a:p>
            <a:r>
              <a:rPr lang="en-US" dirty="0"/>
              <a:t>GPU training</a:t>
            </a:r>
            <a:endParaRPr lang="en-NL" dirty="0"/>
          </a:p>
        </p:txBody>
      </p:sp>
      <p:sp>
        <p:nvSpPr>
          <p:cNvPr id="3" name="Content Placeholder 2">
            <a:extLst>
              <a:ext uri="{FF2B5EF4-FFF2-40B4-BE49-F238E27FC236}">
                <a16:creationId xmlns:a16="http://schemas.microsoft.com/office/drawing/2014/main" id="{A4104697-84F7-EDF0-8013-8FE32AE5A8F2}"/>
              </a:ext>
            </a:extLst>
          </p:cNvPr>
          <p:cNvSpPr>
            <a:spLocks noGrp="1"/>
          </p:cNvSpPr>
          <p:nvPr>
            <p:ph idx="1"/>
          </p:nvPr>
        </p:nvSpPr>
        <p:spPr/>
        <p:txBody>
          <a:bodyPr>
            <a:normAutofit fontScale="85000" lnSpcReduction="20000"/>
          </a:bodyPr>
          <a:lstStyle/>
          <a:p>
            <a:r>
              <a:rPr lang="en-US" dirty="0"/>
              <a:t>Why the GPU did not help before</a:t>
            </a:r>
          </a:p>
          <a:p>
            <a:pPr lvl="1"/>
            <a:r>
              <a:rPr lang="en-US" dirty="0"/>
              <a:t>The model does thousands of tiny operations, almost no real computation</a:t>
            </a:r>
          </a:p>
          <a:p>
            <a:pPr lvl="1"/>
            <a:r>
              <a:rPr lang="en-US" dirty="0"/>
              <a:t>Cost is dominated by sending work to the GPU, not by doing it</a:t>
            </a:r>
          </a:p>
          <a:p>
            <a:pPr lvl="1"/>
            <a:r>
              <a:rPr lang="en-US" dirty="0"/>
              <a:t>A stronger GPU changes nothing: two cards with 4.5x different power gave the same speed</a:t>
            </a:r>
          </a:p>
          <a:p>
            <a:r>
              <a:rPr lang="en-US" dirty="0"/>
              <a:t>What changed</a:t>
            </a:r>
          </a:p>
          <a:p>
            <a:pPr lvl="1"/>
            <a:r>
              <a:rPr lang="en-US" dirty="0"/>
              <a:t>Compiling the model merges those tiny operations and replays them as one block</a:t>
            </a:r>
          </a:p>
          <a:p>
            <a:pPr lvl="1"/>
            <a:r>
              <a:rPr lang="en-US" dirty="0"/>
              <a:t>This was blocked by a single line in the framework; fixing it left the model unchanged</a:t>
            </a:r>
          </a:p>
          <a:p>
            <a:pPr lvl="1"/>
            <a:r>
              <a:rPr lang="en-US" dirty="0"/>
              <a:t>Once cost is per operation, a larger batch is nearly free</a:t>
            </a:r>
          </a:p>
          <a:p>
            <a:r>
              <a:rPr lang="en-US" dirty="0"/>
              <a:t>Result</a:t>
            </a:r>
          </a:p>
          <a:p>
            <a:pPr lvl="1"/>
            <a:r>
              <a:rPr lang="en-US" dirty="0"/>
              <a:t>~10x faster per update, ~20x more data per second</a:t>
            </a:r>
          </a:p>
          <a:p>
            <a:pPr lvl="1"/>
            <a:r>
              <a:rPr lang="en-US" dirty="0"/>
              <a:t>18 epochs → ~350 epochs in the same wall time</a:t>
            </a:r>
          </a:p>
          <a:p>
            <a:r>
              <a:rPr lang="en-US" dirty="0"/>
              <a:t>Takeaway</a:t>
            </a:r>
          </a:p>
          <a:p>
            <a:pPr lvl="1"/>
            <a:r>
              <a:rPr lang="en-US" dirty="0"/>
              <a:t>The GPU was not computing too slowly, it was being fed too slowly</a:t>
            </a:r>
            <a:endParaRPr lang="en-NL" dirty="0"/>
          </a:p>
        </p:txBody>
      </p:sp>
    </p:spTree>
    <p:extLst>
      <p:ext uri="{BB962C8B-B14F-4D97-AF65-F5344CB8AC3E}">
        <p14:creationId xmlns:p14="http://schemas.microsoft.com/office/powerpoint/2010/main" val="3625026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0730-F633-C631-6E10-92877ACFF0B6}"/>
              </a:ext>
            </a:extLst>
          </p:cNvPr>
          <p:cNvSpPr>
            <a:spLocks noGrp="1"/>
          </p:cNvSpPr>
          <p:nvPr>
            <p:ph type="title"/>
          </p:nvPr>
        </p:nvSpPr>
        <p:spPr/>
        <p:txBody>
          <a:bodyPr/>
          <a:lstStyle/>
          <a:p>
            <a:r>
              <a:rPr lang="en-US" dirty="0"/>
              <a:t>Capturing missing dynamics</a:t>
            </a:r>
            <a:br>
              <a:rPr lang="en-US" dirty="0"/>
            </a:br>
            <a:r>
              <a:rPr lang="en-US" dirty="0"/>
              <a:t>2 vs 8 additional states</a:t>
            </a:r>
            <a:endParaRPr lang="en-NL" dirty="0"/>
          </a:p>
        </p:txBody>
      </p:sp>
      <p:sp>
        <p:nvSpPr>
          <p:cNvPr id="3" name="Content Placeholder 2">
            <a:extLst>
              <a:ext uri="{FF2B5EF4-FFF2-40B4-BE49-F238E27FC236}">
                <a16:creationId xmlns:a16="http://schemas.microsoft.com/office/drawing/2014/main" id="{F180A25D-7F36-87B9-4594-D77D40F6C6B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B994C70D-1EF5-D2F8-326A-817C07D0FE55}"/>
              </a:ext>
            </a:extLst>
          </p:cNvPr>
          <p:cNvPicPr>
            <a:picLocks noChangeAspect="1"/>
          </p:cNvPicPr>
          <p:nvPr/>
        </p:nvPicPr>
        <p:blipFill>
          <a:blip r:embed="rId2"/>
          <a:stretch>
            <a:fillRect/>
          </a:stretch>
        </p:blipFill>
        <p:spPr>
          <a:xfrm>
            <a:off x="0" y="1825625"/>
            <a:ext cx="12192000" cy="4963747"/>
          </a:xfrm>
          <a:prstGeom prst="rect">
            <a:avLst/>
          </a:prstGeom>
        </p:spPr>
      </p:pic>
    </p:spTree>
    <p:extLst>
      <p:ext uri="{BB962C8B-B14F-4D97-AF65-F5344CB8AC3E}">
        <p14:creationId xmlns:p14="http://schemas.microsoft.com/office/powerpoint/2010/main" val="332545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F0A2-0052-25EF-EFD0-6185586D55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611149A-C597-34B1-9309-8809ACD9578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2401886-6B4C-6D30-273E-FC7A9D56325D}"/>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3076958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46256-0F1A-15B5-A461-337B06A3A06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CC0ABD-27BC-6E08-EE33-1BB25D146DD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8FB50BB-1DD3-222E-90FD-B08A9E8F4B3D}"/>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2534888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CEF2-58F3-96D7-1D94-EC6FCAE9A8B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A5D81E-62F6-597D-BF7E-60A147F12B0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DBE479F-EBAE-94EC-37D1-1F474CDE08CD}"/>
              </a:ext>
            </a:extLst>
          </p:cNvPr>
          <p:cNvPicPr>
            <a:picLocks noChangeAspect="1"/>
          </p:cNvPicPr>
          <p:nvPr/>
        </p:nvPicPr>
        <p:blipFill>
          <a:blip r:embed="rId2"/>
          <a:stretch>
            <a:fillRect/>
          </a:stretch>
        </p:blipFill>
        <p:spPr>
          <a:xfrm>
            <a:off x="724206" y="0"/>
            <a:ext cx="10743587" cy="6858000"/>
          </a:xfrm>
          <a:prstGeom prst="rect">
            <a:avLst/>
          </a:prstGeom>
        </p:spPr>
      </p:pic>
    </p:spTree>
    <p:extLst>
      <p:ext uri="{BB962C8B-B14F-4D97-AF65-F5344CB8AC3E}">
        <p14:creationId xmlns:p14="http://schemas.microsoft.com/office/powerpoint/2010/main" val="1122669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61A3-52A1-0E08-7114-67AF4AD8416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09823C-F90B-02E6-68A7-0D634B1A558D}"/>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32A9120-666A-3506-B9AC-60FB3E0D99F2}"/>
              </a:ext>
            </a:extLst>
          </p:cNvPr>
          <p:cNvPicPr>
            <a:picLocks noChangeAspect="1"/>
          </p:cNvPicPr>
          <p:nvPr/>
        </p:nvPicPr>
        <p:blipFill>
          <a:blip r:embed="rId2"/>
          <a:stretch>
            <a:fillRect/>
          </a:stretch>
        </p:blipFill>
        <p:spPr>
          <a:xfrm>
            <a:off x="0" y="209419"/>
            <a:ext cx="12192000" cy="6439162"/>
          </a:xfrm>
          <a:prstGeom prst="rect">
            <a:avLst/>
          </a:prstGeom>
        </p:spPr>
      </p:pic>
    </p:spTree>
    <p:extLst>
      <p:ext uri="{BB962C8B-B14F-4D97-AF65-F5344CB8AC3E}">
        <p14:creationId xmlns:p14="http://schemas.microsoft.com/office/powerpoint/2010/main" val="1290086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856E7-BD60-FA15-44E5-1CB600D01C9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9C786B3-CC4D-6A5D-F00C-480723AACAA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B4E954B-8AEE-2A6F-74A2-B1C8C1C4648B}"/>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822476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95EAF-FEB4-420C-9906-57A615454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7CF537-0811-D3AC-27DB-59DEF8AC53F1}"/>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70D27ABF-27E3-8940-6DC3-3AE59E13B4D9}"/>
              </a:ext>
            </a:extLst>
          </p:cNvPr>
          <p:cNvPicPr>
            <a:picLocks noChangeAspect="1"/>
          </p:cNvPicPr>
          <p:nvPr/>
        </p:nvPicPr>
        <p:blipFill>
          <a:blip r:embed="rId2"/>
          <a:stretch>
            <a:fillRect/>
          </a:stretch>
        </p:blipFill>
        <p:spPr>
          <a:xfrm>
            <a:off x="0" y="235725"/>
            <a:ext cx="12192000" cy="6386549"/>
          </a:xfrm>
          <a:prstGeom prst="rect">
            <a:avLst/>
          </a:prstGeom>
        </p:spPr>
      </p:pic>
    </p:spTree>
    <p:extLst>
      <p:ext uri="{BB962C8B-B14F-4D97-AF65-F5344CB8AC3E}">
        <p14:creationId xmlns:p14="http://schemas.microsoft.com/office/powerpoint/2010/main" val="4157036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0C1D0-E53B-2B88-3722-67CB38258CF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89F854A-D356-1E01-3A1F-E517DA2C19D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845411A-F534-75D0-D7B7-6A1B31F8C628}"/>
              </a:ext>
            </a:extLst>
          </p:cNvPr>
          <p:cNvPicPr>
            <a:picLocks noChangeAspect="1"/>
          </p:cNvPicPr>
          <p:nvPr/>
        </p:nvPicPr>
        <p:blipFill>
          <a:blip r:embed="rId2"/>
          <a:stretch>
            <a:fillRect/>
          </a:stretch>
        </p:blipFill>
        <p:spPr>
          <a:xfrm>
            <a:off x="653726" y="0"/>
            <a:ext cx="10884547" cy="6858000"/>
          </a:xfrm>
          <a:prstGeom prst="rect">
            <a:avLst/>
          </a:prstGeom>
        </p:spPr>
      </p:pic>
    </p:spTree>
    <p:extLst>
      <p:ext uri="{BB962C8B-B14F-4D97-AF65-F5344CB8AC3E}">
        <p14:creationId xmlns:p14="http://schemas.microsoft.com/office/powerpoint/2010/main" val="194777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3401-6C53-60AC-EE18-4F3B403818F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7C2F29-C497-3BE1-4E4B-AAC52CDD49E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88F929F7-9DA0-D6A9-0442-58626C139ACF}"/>
              </a:ext>
            </a:extLst>
          </p:cNvPr>
          <p:cNvPicPr>
            <a:picLocks noChangeAspect="1"/>
          </p:cNvPicPr>
          <p:nvPr/>
        </p:nvPicPr>
        <p:blipFill>
          <a:blip r:embed="rId2"/>
          <a:stretch>
            <a:fillRect/>
          </a:stretch>
        </p:blipFill>
        <p:spPr>
          <a:xfrm>
            <a:off x="0" y="152435"/>
            <a:ext cx="12192000" cy="6553129"/>
          </a:xfrm>
          <a:prstGeom prst="rect">
            <a:avLst/>
          </a:prstGeom>
        </p:spPr>
      </p:pic>
    </p:spTree>
    <p:extLst>
      <p:ext uri="{BB962C8B-B14F-4D97-AF65-F5344CB8AC3E}">
        <p14:creationId xmlns:p14="http://schemas.microsoft.com/office/powerpoint/2010/main" val="3327187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2328B-D22C-5717-3AC7-8F2F6D01AE2A}"/>
              </a:ext>
            </a:extLst>
          </p:cNvPr>
          <p:cNvSpPr>
            <a:spLocks noGrp="1"/>
          </p:cNvSpPr>
          <p:nvPr>
            <p:ph type="title"/>
          </p:nvPr>
        </p:nvSpPr>
        <p:spPr>
          <a:xfrm>
            <a:off x="134815" y="118941"/>
            <a:ext cx="4472354" cy="1325563"/>
          </a:xfrm>
        </p:spPr>
        <p:txBody>
          <a:bodyPr/>
          <a:lstStyle/>
          <a:p>
            <a:r>
              <a:rPr lang="en-US" dirty="0"/>
              <a:t>Model</a:t>
            </a:r>
            <a:endParaRPr lang="en-NL" dirty="0"/>
          </a:p>
        </p:txBody>
      </p:sp>
      <p:sp>
        <p:nvSpPr>
          <p:cNvPr id="3" name="Content Placeholder 2">
            <a:extLst>
              <a:ext uri="{FF2B5EF4-FFF2-40B4-BE49-F238E27FC236}">
                <a16:creationId xmlns:a16="http://schemas.microsoft.com/office/drawing/2014/main" id="{B49A0704-FC9E-2A7F-791C-BF47DBE25CD1}"/>
              </a:ext>
            </a:extLst>
          </p:cNvPr>
          <p:cNvSpPr>
            <a:spLocks noGrp="1"/>
          </p:cNvSpPr>
          <p:nvPr>
            <p:ph idx="1"/>
          </p:nvPr>
        </p:nvSpPr>
        <p:spPr>
          <a:xfrm>
            <a:off x="134815" y="1356702"/>
            <a:ext cx="4331677" cy="4351338"/>
          </a:xfrm>
        </p:spPr>
        <p:txBody>
          <a:bodyPr/>
          <a:lstStyle/>
          <a:p>
            <a:r>
              <a:rPr lang="en-US" dirty="0"/>
              <a:t>Currently only </a:t>
            </a:r>
            <a:r>
              <a:rPr lang="en-US" dirty="0" err="1"/>
              <a:t>multisine</a:t>
            </a:r>
            <a:r>
              <a:rPr lang="en-US" dirty="0"/>
              <a:t> excitation around the resonance from the absorber excited </a:t>
            </a:r>
            <a:endParaRPr lang="en-NL" dirty="0"/>
          </a:p>
        </p:txBody>
      </p:sp>
      <p:pic>
        <p:nvPicPr>
          <p:cNvPr id="5" name="Picture 4">
            <a:extLst>
              <a:ext uri="{FF2B5EF4-FFF2-40B4-BE49-F238E27FC236}">
                <a16:creationId xmlns:a16="http://schemas.microsoft.com/office/drawing/2014/main" id="{C4F11C59-2CD5-1541-87EA-19DECFC327C6}"/>
              </a:ext>
            </a:extLst>
          </p:cNvPr>
          <p:cNvPicPr>
            <a:picLocks noChangeAspect="1"/>
          </p:cNvPicPr>
          <p:nvPr/>
        </p:nvPicPr>
        <p:blipFill>
          <a:blip r:embed="rId2"/>
          <a:stretch>
            <a:fillRect/>
          </a:stretch>
        </p:blipFill>
        <p:spPr>
          <a:xfrm>
            <a:off x="4775160" y="0"/>
            <a:ext cx="7416840" cy="6858000"/>
          </a:xfrm>
          <a:prstGeom prst="rect">
            <a:avLst/>
          </a:prstGeom>
        </p:spPr>
      </p:pic>
    </p:spTree>
    <p:extLst>
      <p:ext uri="{BB962C8B-B14F-4D97-AF65-F5344CB8AC3E}">
        <p14:creationId xmlns:p14="http://schemas.microsoft.com/office/powerpoint/2010/main" val="2831078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A707-BFFB-07BB-AA31-B5AF7403FD1B}"/>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C167DA1A-EE1A-31F8-67E3-0D1BD1CF07B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E98BD9D2-AC02-889C-CF49-BA8373398869}"/>
              </a:ext>
            </a:extLst>
          </p:cNvPr>
          <p:cNvPicPr>
            <a:picLocks noChangeAspect="1"/>
          </p:cNvPicPr>
          <p:nvPr/>
        </p:nvPicPr>
        <p:blipFill>
          <a:blip r:embed="rId2"/>
          <a:stretch>
            <a:fillRect/>
          </a:stretch>
        </p:blipFill>
        <p:spPr>
          <a:xfrm>
            <a:off x="4823991" y="0"/>
            <a:ext cx="7368009" cy="6858000"/>
          </a:xfrm>
          <a:prstGeom prst="rect">
            <a:avLst/>
          </a:prstGeom>
        </p:spPr>
      </p:pic>
    </p:spTree>
    <p:extLst>
      <p:ext uri="{BB962C8B-B14F-4D97-AF65-F5344CB8AC3E}">
        <p14:creationId xmlns:p14="http://schemas.microsoft.com/office/powerpoint/2010/main" val="3546975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4A1C-4E19-7045-51EB-826040C7B686}"/>
              </a:ext>
            </a:extLst>
          </p:cNvPr>
          <p:cNvSpPr>
            <a:spLocks noGrp="1"/>
          </p:cNvSpPr>
          <p:nvPr>
            <p:ph type="title"/>
          </p:nvPr>
        </p:nvSpPr>
        <p:spPr>
          <a:xfrm>
            <a:off x="0" y="18255"/>
            <a:ext cx="10515600" cy="1325563"/>
          </a:xfrm>
        </p:spPr>
        <p:txBody>
          <a:bodyPr/>
          <a:lstStyle/>
          <a:p>
            <a:r>
              <a:rPr lang="en-US" dirty="0"/>
              <a:t>Additional states learning</a:t>
            </a:r>
            <a:endParaRPr lang="en-NL" dirty="0"/>
          </a:p>
        </p:txBody>
      </p:sp>
      <p:sp>
        <p:nvSpPr>
          <p:cNvPr id="3" name="Content Placeholder 2">
            <a:extLst>
              <a:ext uri="{FF2B5EF4-FFF2-40B4-BE49-F238E27FC236}">
                <a16:creationId xmlns:a16="http://schemas.microsoft.com/office/drawing/2014/main" id="{548BA695-1D9D-650D-B21F-B53594BCC029}"/>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584EA244-ABD4-A08D-9A20-47511CA22AA0}"/>
              </a:ext>
            </a:extLst>
          </p:cNvPr>
          <p:cNvPicPr>
            <a:picLocks noChangeAspect="1"/>
          </p:cNvPicPr>
          <p:nvPr/>
        </p:nvPicPr>
        <p:blipFill>
          <a:blip r:embed="rId2"/>
          <a:stretch>
            <a:fillRect/>
          </a:stretch>
        </p:blipFill>
        <p:spPr>
          <a:xfrm>
            <a:off x="0" y="1073793"/>
            <a:ext cx="12192000" cy="5855001"/>
          </a:xfrm>
          <a:prstGeom prst="rect">
            <a:avLst/>
          </a:prstGeom>
        </p:spPr>
      </p:pic>
    </p:spTree>
    <p:extLst>
      <p:ext uri="{BB962C8B-B14F-4D97-AF65-F5344CB8AC3E}">
        <p14:creationId xmlns:p14="http://schemas.microsoft.com/office/powerpoint/2010/main" val="3462204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198E-4D99-8240-1698-14E9A03E9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E8710B5-5508-02B8-84B1-14ED68085583}"/>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B500F17-BA26-DB74-717A-9BBE0402DA8A}"/>
              </a:ext>
            </a:extLst>
          </p:cNvPr>
          <p:cNvPicPr>
            <a:picLocks noChangeAspect="1"/>
          </p:cNvPicPr>
          <p:nvPr/>
        </p:nvPicPr>
        <p:blipFill>
          <a:blip r:embed="rId2"/>
          <a:stretch>
            <a:fillRect/>
          </a:stretch>
        </p:blipFill>
        <p:spPr>
          <a:xfrm>
            <a:off x="0" y="501499"/>
            <a:ext cx="12192000" cy="5855001"/>
          </a:xfrm>
          <a:prstGeom prst="rect">
            <a:avLst/>
          </a:prstGeom>
        </p:spPr>
      </p:pic>
    </p:spTree>
    <p:extLst>
      <p:ext uri="{BB962C8B-B14F-4D97-AF65-F5344CB8AC3E}">
        <p14:creationId xmlns:p14="http://schemas.microsoft.com/office/powerpoint/2010/main" val="2440223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1EE19-7710-C64F-AB30-C0A0211C59E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AC736AC-9238-6FEE-2310-7409BC13876D}"/>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CB22B771-EDE4-9F19-7FA5-4F3436695609}"/>
              </a:ext>
            </a:extLst>
          </p:cNvPr>
          <p:cNvPicPr>
            <a:picLocks noChangeAspect="1"/>
          </p:cNvPicPr>
          <p:nvPr/>
        </p:nvPicPr>
        <p:blipFill>
          <a:blip r:embed="rId2"/>
          <a:stretch>
            <a:fillRect/>
          </a:stretch>
        </p:blipFill>
        <p:spPr>
          <a:xfrm>
            <a:off x="0" y="1121941"/>
            <a:ext cx="12192000" cy="4614118"/>
          </a:xfrm>
          <a:prstGeom prst="rect">
            <a:avLst/>
          </a:prstGeom>
        </p:spPr>
      </p:pic>
    </p:spTree>
    <p:extLst>
      <p:ext uri="{BB962C8B-B14F-4D97-AF65-F5344CB8AC3E}">
        <p14:creationId xmlns:p14="http://schemas.microsoft.com/office/powerpoint/2010/main" val="52134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307A-D320-9472-DF0C-F613CE6FE3A3}"/>
              </a:ext>
            </a:extLst>
          </p:cNvPr>
          <p:cNvSpPr>
            <a:spLocks noGrp="1"/>
          </p:cNvSpPr>
          <p:nvPr>
            <p:ph type="title"/>
          </p:nvPr>
        </p:nvSpPr>
        <p:spPr/>
        <p:txBody>
          <a:bodyPr/>
          <a:lstStyle/>
          <a:p>
            <a:r>
              <a:rPr lang="en-US" dirty="0"/>
              <a:t>Quasi-newton</a:t>
            </a:r>
            <a:br>
              <a:rPr lang="en-US" dirty="0"/>
            </a:br>
            <a:r>
              <a:rPr lang="en-US" dirty="0"/>
              <a:t>L-BFGS</a:t>
            </a:r>
            <a:endParaRPr lang="en-NL" dirty="0"/>
          </a:p>
        </p:txBody>
      </p:sp>
      <p:sp>
        <p:nvSpPr>
          <p:cNvPr id="3" name="Content Placeholder 2">
            <a:extLst>
              <a:ext uri="{FF2B5EF4-FFF2-40B4-BE49-F238E27FC236}">
                <a16:creationId xmlns:a16="http://schemas.microsoft.com/office/drawing/2014/main" id="{7802E01D-790A-0B0B-4182-F22D0E92F116}"/>
              </a:ext>
            </a:extLst>
          </p:cNvPr>
          <p:cNvSpPr>
            <a:spLocks noGrp="1"/>
          </p:cNvSpPr>
          <p:nvPr>
            <p:ph idx="1"/>
          </p:nvPr>
        </p:nvSpPr>
        <p:spPr/>
        <p:txBody>
          <a:bodyPr>
            <a:normAutofit/>
          </a:bodyPr>
          <a:lstStyle/>
          <a:p>
            <a:r>
              <a:rPr lang="en-US" dirty="0"/>
              <a:t>Run after </a:t>
            </a:r>
            <a:r>
              <a:rPr lang="en-US" dirty="0" err="1"/>
              <a:t>adam</a:t>
            </a:r>
            <a:r>
              <a:rPr lang="en-US" dirty="0"/>
              <a:t> optimizer</a:t>
            </a:r>
          </a:p>
          <a:p>
            <a:r>
              <a:rPr lang="en-US" dirty="0"/>
              <a:t>L-BFGS is useful to get the last percentages</a:t>
            </a:r>
          </a:p>
          <a:p>
            <a:r>
              <a:rPr lang="en-US" dirty="0"/>
              <a:t>Adam takes small fixed-size steps and doesn't know the shape of the valley it's in</a:t>
            </a:r>
          </a:p>
          <a:p>
            <a:r>
              <a:rPr lang="en-US" dirty="0"/>
              <a:t>L-BFGS estimates that shape from the last x gradients, so it knows which way is downhill and how far to go</a:t>
            </a:r>
          </a:p>
          <a:p>
            <a:r>
              <a:rPr lang="en-US" dirty="0"/>
              <a:t>That's useless far from the optimum, and very effective near it</a:t>
            </a:r>
          </a:p>
          <a:p>
            <a:pPr lvl="1"/>
            <a:r>
              <a:rPr lang="en-US" dirty="0"/>
              <a:t>Making it good at squeezing out the last few percentages</a:t>
            </a:r>
            <a:endParaRPr lang="en-NL" dirty="0"/>
          </a:p>
        </p:txBody>
      </p:sp>
    </p:spTree>
    <p:extLst>
      <p:ext uri="{BB962C8B-B14F-4D97-AF65-F5344CB8AC3E}">
        <p14:creationId xmlns:p14="http://schemas.microsoft.com/office/powerpoint/2010/main" val="3204310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1C2118-0282-A8B4-B516-24F12CA58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376A4-0BF5-879B-AF07-3C29353FE230}"/>
              </a:ext>
            </a:extLst>
          </p:cNvPr>
          <p:cNvSpPr>
            <a:spLocks noGrp="1"/>
          </p:cNvSpPr>
          <p:nvPr>
            <p:ph type="title"/>
          </p:nvPr>
        </p:nvSpPr>
        <p:spPr/>
        <p:txBody>
          <a:bodyPr/>
          <a:lstStyle/>
          <a:p>
            <a:r>
              <a:rPr lang="en-US" dirty="0"/>
              <a:t>Quasi-newton</a:t>
            </a:r>
            <a:br>
              <a:rPr lang="en-US" dirty="0"/>
            </a:br>
            <a:r>
              <a:rPr lang="en-US" dirty="0"/>
              <a:t>LBFGS</a:t>
            </a:r>
            <a:endParaRPr lang="en-NL" dirty="0"/>
          </a:p>
        </p:txBody>
      </p:sp>
      <p:sp>
        <p:nvSpPr>
          <p:cNvPr id="3" name="Content Placeholder 2">
            <a:extLst>
              <a:ext uri="{FF2B5EF4-FFF2-40B4-BE49-F238E27FC236}">
                <a16:creationId xmlns:a16="http://schemas.microsoft.com/office/drawing/2014/main" id="{C9DC7201-302D-0E98-5F10-78337D3B48A4}"/>
              </a:ext>
            </a:extLst>
          </p:cNvPr>
          <p:cNvSpPr>
            <a:spLocks noGrp="1"/>
          </p:cNvSpPr>
          <p:nvPr>
            <p:ph idx="1"/>
          </p:nvPr>
        </p:nvSpPr>
        <p:spPr/>
        <p:txBody>
          <a:bodyPr/>
          <a:lstStyle/>
          <a:p>
            <a:r>
              <a:rPr lang="en-US" dirty="0"/>
              <a:t>Performs at: </a:t>
            </a:r>
          </a:p>
          <a:p>
            <a:endParaRPr lang="en-US" dirty="0"/>
          </a:p>
          <a:p>
            <a:r>
              <a:rPr lang="en-US" dirty="0"/>
              <a:t>After </a:t>
            </a:r>
            <a:r>
              <a:rPr lang="en-US" dirty="0" err="1"/>
              <a:t>adam</a:t>
            </a:r>
            <a:r>
              <a:rPr lang="en-US" dirty="0"/>
              <a:t> optimizer</a:t>
            </a:r>
          </a:p>
          <a:p>
            <a:r>
              <a:rPr lang="en-US" dirty="0"/>
              <a:t>Useful to get the last percentages</a:t>
            </a:r>
          </a:p>
          <a:p>
            <a:r>
              <a:rPr lang="en-US" dirty="0"/>
              <a:t>Freeze encoder</a:t>
            </a:r>
          </a:p>
          <a:p>
            <a:r>
              <a:rPr lang="en-US" dirty="0" err="1"/>
              <a:t>Volledige</a:t>
            </a:r>
            <a:r>
              <a:rPr lang="en-US" dirty="0"/>
              <a:t> Float64 run </a:t>
            </a:r>
            <a:r>
              <a:rPr lang="en-US" dirty="0" err="1"/>
              <a:t>dus</a:t>
            </a:r>
            <a:r>
              <a:rPr lang="en-US" dirty="0"/>
              <a:t> </a:t>
            </a:r>
            <a:r>
              <a:rPr lang="en-US" dirty="0" err="1"/>
              <a:t>ook</a:t>
            </a:r>
            <a:r>
              <a:rPr lang="en-US" dirty="0"/>
              <a:t> in </a:t>
            </a:r>
            <a:r>
              <a:rPr lang="en-US" dirty="0" err="1"/>
              <a:t>adam</a:t>
            </a:r>
            <a:endParaRPr lang="en-US" dirty="0"/>
          </a:p>
          <a:p>
            <a:r>
              <a:rPr lang="en-US" dirty="0"/>
              <a:t>Met </a:t>
            </a:r>
            <a:r>
              <a:rPr lang="en-US" dirty="0" err="1"/>
              <a:t>en</a:t>
            </a:r>
            <a:r>
              <a:rPr lang="en-US" dirty="0"/>
              <a:t> </a:t>
            </a:r>
            <a:r>
              <a:rPr lang="en-US" dirty="0" err="1"/>
              <a:t>zonder</a:t>
            </a:r>
            <a:r>
              <a:rPr lang="en-US" dirty="0"/>
              <a:t> encoder frozen</a:t>
            </a:r>
          </a:p>
          <a:p>
            <a:endParaRPr lang="en-NL" dirty="0"/>
          </a:p>
        </p:txBody>
      </p:sp>
    </p:spTree>
    <p:extLst>
      <p:ext uri="{BB962C8B-B14F-4D97-AF65-F5344CB8AC3E}">
        <p14:creationId xmlns:p14="http://schemas.microsoft.com/office/powerpoint/2010/main" val="848913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1B4B0-37FB-14C2-15B5-2FCDDD6B9D2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25440468-1274-6F33-C0C5-EBE99A11A465}"/>
              </a:ext>
            </a:extLst>
          </p:cNvPr>
          <p:cNvPicPr>
            <a:picLocks noChangeAspect="1"/>
          </p:cNvPicPr>
          <p:nvPr/>
        </p:nvPicPr>
        <p:blipFill>
          <a:blip r:embed="rId2"/>
          <a:stretch>
            <a:fillRect/>
          </a:stretch>
        </p:blipFill>
        <p:spPr>
          <a:xfrm>
            <a:off x="2770803" y="0"/>
            <a:ext cx="9421197" cy="6858000"/>
          </a:xfrm>
          <a:prstGeom prst="rect">
            <a:avLst/>
          </a:prstGeom>
        </p:spPr>
      </p:pic>
      <p:sp>
        <p:nvSpPr>
          <p:cNvPr id="2" name="Title 1">
            <a:extLst>
              <a:ext uri="{FF2B5EF4-FFF2-40B4-BE49-F238E27FC236}">
                <a16:creationId xmlns:a16="http://schemas.microsoft.com/office/drawing/2014/main" id="{23167126-4AB5-C3F0-B1E2-9728EDA621BE}"/>
              </a:ext>
            </a:extLst>
          </p:cNvPr>
          <p:cNvSpPr>
            <a:spLocks noGrp="1"/>
          </p:cNvSpPr>
          <p:nvPr>
            <p:ph type="title"/>
          </p:nvPr>
        </p:nvSpPr>
        <p:spPr>
          <a:xfrm>
            <a:off x="0" y="18255"/>
            <a:ext cx="10515600" cy="1325563"/>
          </a:xfrm>
        </p:spPr>
        <p:txBody>
          <a:bodyPr/>
          <a:lstStyle/>
          <a:p>
            <a:r>
              <a:rPr lang="en-US" dirty="0"/>
              <a:t>Transient error</a:t>
            </a:r>
            <a:endParaRPr lang="en-NL" dirty="0"/>
          </a:p>
        </p:txBody>
      </p:sp>
    </p:spTree>
    <p:extLst>
      <p:ext uri="{BB962C8B-B14F-4D97-AF65-F5344CB8AC3E}">
        <p14:creationId xmlns:p14="http://schemas.microsoft.com/office/powerpoint/2010/main" val="1887859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BDCA-A2E5-8479-8DC2-DD1A4E285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6295C-66AD-0F21-441D-A07F2682444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F0447FD-7F35-7D80-93F9-FDB65278EA90}"/>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6B745E1C-F365-A744-DE6E-84782B77819D}"/>
              </a:ext>
            </a:extLst>
          </p:cNvPr>
          <p:cNvPicPr>
            <a:picLocks noChangeAspect="1"/>
          </p:cNvPicPr>
          <p:nvPr/>
        </p:nvPicPr>
        <p:blipFill>
          <a:blip r:embed="rId2"/>
          <a:stretch>
            <a:fillRect/>
          </a:stretch>
        </p:blipFill>
        <p:spPr>
          <a:xfrm>
            <a:off x="1385401" y="0"/>
            <a:ext cx="9421197" cy="6858000"/>
          </a:xfrm>
          <a:prstGeom prst="rect">
            <a:avLst/>
          </a:prstGeom>
        </p:spPr>
      </p:pic>
      <p:pic>
        <p:nvPicPr>
          <p:cNvPr id="7" name="Picture 6">
            <a:extLst>
              <a:ext uri="{FF2B5EF4-FFF2-40B4-BE49-F238E27FC236}">
                <a16:creationId xmlns:a16="http://schemas.microsoft.com/office/drawing/2014/main" id="{33E45E3E-A0DF-45C7-ED64-52A38BAF8E36}"/>
              </a:ext>
            </a:extLst>
          </p:cNvPr>
          <p:cNvPicPr>
            <a:picLocks noChangeAspect="1"/>
          </p:cNvPicPr>
          <p:nvPr/>
        </p:nvPicPr>
        <p:blipFill>
          <a:blip r:embed="rId2"/>
          <a:srcRect l="27353" t="96148" r="24549"/>
          <a:stretch>
            <a:fillRect/>
          </a:stretch>
        </p:blipFill>
        <p:spPr>
          <a:xfrm>
            <a:off x="287290" y="6145878"/>
            <a:ext cx="11904710" cy="693994"/>
          </a:xfrm>
          <a:prstGeom prst="rect">
            <a:avLst/>
          </a:prstGeom>
        </p:spPr>
      </p:pic>
    </p:spTree>
    <p:extLst>
      <p:ext uri="{BB962C8B-B14F-4D97-AF65-F5344CB8AC3E}">
        <p14:creationId xmlns:p14="http://schemas.microsoft.com/office/powerpoint/2010/main" val="3299491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DE85-C584-4769-0D2A-35908C7B42F6}"/>
              </a:ext>
            </a:extLst>
          </p:cNvPr>
          <p:cNvSpPr>
            <a:spLocks noGrp="1"/>
          </p:cNvSpPr>
          <p:nvPr>
            <p:ph type="title"/>
          </p:nvPr>
        </p:nvSpPr>
        <p:spPr/>
        <p:txBody>
          <a:bodyPr/>
          <a:lstStyle/>
          <a:p>
            <a:r>
              <a:rPr lang="en-US" dirty="0"/>
              <a:t>Transient: Error is focused in the first samples</a:t>
            </a:r>
            <a:br>
              <a:rPr lang="en-US" dirty="0"/>
            </a:br>
            <a:r>
              <a:rPr lang="en-US" dirty="0"/>
              <a:t>Encoder biased?</a:t>
            </a:r>
            <a:endParaRPr lang="en-NL" dirty="0"/>
          </a:p>
        </p:txBody>
      </p:sp>
      <p:sp>
        <p:nvSpPr>
          <p:cNvPr id="3" name="Content Placeholder 2">
            <a:extLst>
              <a:ext uri="{FF2B5EF4-FFF2-40B4-BE49-F238E27FC236}">
                <a16:creationId xmlns:a16="http://schemas.microsoft.com/office/drawing/2014/main" id="{142BEC6D-096F-F7B9-B68C-0E89CD15FB92}"/>
              </a:ext>
            </a:extLst>
          </p:cNvPr>
          <p:cNvSpPr>
            <a:spLocks noGrp="1"/>
          </p:cNvSpPr>
          <p:nvPr>
            <p:ph idx="1"/>
          </p:nvPr>
        </p:nvSpPr>
        <p:spPr/>
        <p:txBody>
          <a:bodyPr/>
          <a:lstStyle/>
          <a:p>
            <a:r>
              <a:rPr lang="en-US" dirty="0"/>
              <a:t>Does training prioritize the encoder initialization and due to the loss prevents us from learning the missing dynamics?</a:t>
            </a:r>
          </a:p>
          <a:p>
            <a:r>
              <a:rPr lang="en-US" dirty="0"/>
              <a:t>Mismatch between 12s validation and the 0.1s windows: validation only one encoder initialization over 12s</a:t>
            </a:r>
          </a:p>
          <a:p>
            <a:pPr lvl="1"/>
            <a:r>
              <a:rPr lang="en-US" dirty="0">
                <a:sym typeface="Wingdings" panose="05000000000000000000" pitchFamily="2" charset="2"/>
              </a:rPr>
              <a:t> Initial state becomes less important</a:t>
            </a:r>
          </a:p>
          <a:p>
            <a:r>
              <a:rPr lang="en-US" dirty="0">
                <a:sym typeface="Wingdings" panose="05000000000000000000" pitchFamily="2" charset="2"/>
              </a:rPr>
              <a:t>Proposed “burn in”  don’t include the first x amount of samples in the loss</a:t>
            </a:r>
          </a:p>
          <a:p>
            <a:pPr marL="0" indent="0">
              <a:buNone/>
            </a:pPr>
            <a:endParaRPr lang="en-NL" dirty="0"/>
          </a:p>
        </p:txBody>
      </p:sp>
    </p:spTree>
    <p:extLst>
      <p:ext uri="{BB962C8B-B14F-4D97-AF65-F5344CB8AC3E}">
        <p14:creationId xmlns:p14="http://schemas.microsoft.com/office/powerpoint/2010/main" val="78729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EF0A-1414-12AD-B11A-38C002090E5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01E32E-8BDA-8234-8DBE-47F5F64DAEBE}"/>
              </a:ext>
            </a:extLst>
          </p:cNvPr>
          <p:cNvSpPr>
            <a:spLocks noGrp="1"/>
          </p:cNvSpPr>
          <p:nvPr>
            <p:ph idx="1"/>
          </p:nvPr>
        </p:nvSpPr>
        <p:spPr/>
        <p:txBody>
          <a:bodyPr/>
          <a:lstStyle/>
          <a:p>
            <a:endParaRPr lang="en-NL" dirty="0"/>
          </a:p>
        </p:txBody>
      </p:sp>
      <p:pic>
        <p:nvPicPr>
          <p:cNvPr id="11" name="Picture 10">
            <a:extLst>
              <a:ext uri="{FF2B5EF4-FFF2-40B4-BE49-F238E27FC236}">
                <a16:creationId xmlns:a16="http://schemas.microsoft.com/office/drawing/2014/main" id="{18F26918-4D78-2787-179E-DF7AF1C8D58D}"/>
              </a:ext>
            </a:extLst>
          </p:cNvPr>
          <p:cNvPicPr>
            <a:picLocks noChangeAspect="1"/>
          </p:cNvPicPr>
          <p:nvPr/>
        </p:nvPicPr>
        <p:blipFill>
          <a:blip r:embed="rId3"/>
          <a:stretch>
            <a:fillRect/>
          </a:stretch>
        </p:blipFill>
        <p:spPr>
          <a:xfrm>
            <a:off x="0" y="777802"/>
            <a:ext cx="12192000" cy="5302396"/>
          </a:xfrm>
          <a:prstGeom prst="rect">
            <a:avLst/>
          </a:prstGeom>
        </p:spPr>
      </p:pic>
    </p:spTree>
    <p:extLst>
      <p:ext uri="{BB962C8B-B14F-4D97-AF65-F5344CB8AC3E}">
        <p14:creationId xmlns:p14="http://schemas.microsoft.com/office/powerpoint/2010/main" val="3188215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43269-650C-1F90-0D06-3EDC194CDA6F}"/>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6A2194B3-634E-5F34-551C-2997BA94F51A}"/>
              </a:ext>
            </a:extLst>
          </p:cNvPr>
          <p:cNvSpPr>
            <a:spLocks noGrp="1"/>
          </p:cNvSpPr>
          <p:nvPr>
            <p:ph idx="1"/>
          </p:nvPr>
        </p:nvSpPr>
        <p:spPr/>
        <p:txBody>
          <a:bodyPr/>
          <a:lstStyle/>
          <a:p>
            <a:r>
              <a:rPr lang="en-US" dirty="0"/>
              <a:t>Maybe just outline main objective / what are the gaps from </a:t>
            </a:r>
            <a:r>
              <a:rPr lang="en-US" dirty="0" err="1"/>
              <a:t>gyorok</a:t>
            </a:r>
            <a:r>
              <a:rPr lang="en-US" dirty="0"/>
              <a:t> to ours</a:t>
            </a:r>
          </a:p>
          <a:p>
            <a:r>
              <a:rPr lang="en-US" dirty="0"/>
              <a:t>Can I already say how I want to solve it??</a:t>
            </a:r>
            <a:endParaRPr lang="en-NL" dirty="0"/>
          </a:p>
        </p:txBody>
      </p:sp>
    </p:spTree>
    <p:extLst>
      <p:ext uri="{BB962C8B-B14F-4D97-AF65-F5344CB8AC3E}">
        <p14:creationId xmlns:p14="http://schemas.microsoft.com/office/powerpoint/2010/main" val="1822060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004D6-28BF-5459-D1C4-DA9BC6EE3A7E}"/>
              </a:ext>
            </a:extLst>
          </p:cNvPr>
          <p:cNvSpPr>
            <a:spLocks noGrp="1"/>
          </p:cNvSpPr>
          <p:nvPr>
            <p:ph type="title"/>
          </p:nvPr>
        </p:nvSpPr>
        <p:spPr/>
        <p:txBody>
          <a:bodyPr/>
          <a:lstStyle/>
          <a:p>
            <a:r>
              <a:rPr lang="en-US" dirty="0"/>
              <a:t>Question</a:t>
            </a:r>
            <a:br>
              <a:rPr lang="en-US" dirty="0"/>
            </a:br>
            <a:r>
              <a:rPr lang="en-US" dirty="0"/>
              <a:t>Not realistic simulation data</a:t>
            </a:r>
            <a:endParaRPr lang="en-NL" dirty="0"/>
          </a:p>
        </p:txBody>
      </p:sp>
      <p:sp>
        <p:nvSpPr>
          <p:cNvPr id="3" name="Content Placeholder 2">
            <a:extLst>
              <a:ext uri="{FF2B5EF4-FFF2-40B4-BE49-F238E27FC236}">
                <a16:creationId xmlns:a16="http://schemas.microsoft.com/office/drawing/2014/main" id="{31CD8AA8-B6EE-8469-FAD8-94899402BACD}"/>
              </a:ext>
            </a:extLst>
          </p:cNvPr>
          <p:cNvSpPr>
            <a:spLocks noGrp="1"/>
          </p:cNvSpPr>
          <p:nvPr>
            <p:ph idx="1"/>
          </p:nvPr>
        </p:nvSpPr>
        <p:spPr/>
        <p:txBody>
          <a:bodyPr/>
          <a:lstStyle/>
          <a:p>
            <a:r>
              <a:rPr lang="en-US" dirty="0"/>
              <a:t>For if I don’t get to work on the real data due to time limit I should make the current setup more difficult besides noise.</a:t>
            </a:r>
          </a:p>
          <a:p>
            <a:r>
              <a:rPr lang="en-US" dirty="0"/>
              <a:t>Nonlinear </a:t>
            </a:r>
            <a:r>
              <a:rPr lang="en-US" dirty="0">
                <a:sym typeface="Wingdings" panose="05000000000000000000" pitchFamily="2" charset="2"/>
              </a:rPr>
              <a:t> Add cubic spring</a:t>
            </a:r>
            <a:endParaRPr lang="en-US" dirty="0"/>
          </a:p>
          <a:p>
            <a:r>
              <a:rPr lang="en-US" dirty="0"/>
              <a:t>Would adding friction only in the simulation be a good idea?</a:t>
            </a:r>
          </a:p>
          <a:p>
            <a:r>
              <a:rPr lang="en-US" dirty="0"/>
              <a:t>The 50-50 mass split is not realistic perse, but I need a “big enough” error if I want the additional states to learn</a:t>
            </a:r>
          </a:p>
          <a:p>
            <a:pPr lvl="1"/>
            <a:r>
              <a:rPr lang="en-US" dirty="0"/>
              <a:t>(Not the ANN correction to the existing physical states)</a:t>
            </a:r>
            <a:endParaRPr lang="en-NL" dirty="0"/>
          </a:p>
        </p:txBody>
      </p:sp>
    </p:spTree>
    <p:extLst>
      <p:ext uri="{BB962C8B-B14F-4D97-AF65-F5344CB8AC3E}">
        <p14:creationId xmlns:p14="http://schemas.microsoft.com/office/powerpoint/2010/main" val="2478246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EEC24-4660-150A-6786-A6ECEFB27D9D}"/>
              </a:ext>
            </a:extLst>
          </p:cNvPr>
          <p:cNvSpPr>
            <a:spLocks noGrp="1"/>
          </p:cNvSpPr>
          <p:nvPr>
            <p:ph type="title"/>
          </p:nvPr>
        </p:nvSpPr>
        <p:spPr/>
        <p:txBody>
          <a:bodyPr/>
          <a:lstStyle/>
          <a:p>
            <a:r>
              <a:rPr lang="en-US" dirty="0"/>
              <a:t>Planning</a:t>
            </a:r>
            <a:endParaRPr lang="en-NL" dirty="0"/>
          </a:p>
        </p:txBody>
      </p:sp>
      <p:sp>
        <p:nvSpPr>
          <p:cNvPr id="3" name="Content Placeholder 2">
            <a:extLst>
              <a:ext uri="{FF2B5EF4-FFF2-40B4-BE49-F238E27FC236}">
                <a16:creationId xmlns:a16="http://schemas.microsoft.com/office/drawing/2014/main" id="{7966B1E0-5017-D35E-0D38-BBCC3B090A00}"/>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2331047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5579-49CA-007A-0ED4-915F3C8A421D}"/>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8869E43-EC7A-9842-1B92-AA0A7B9DF5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4894" y="0"/>
            <a:ext cx="10897867" cy="6858000"/>
          </a:xfrm>
          <a:prstGeom prst="rect">
            <a:avLst/>
          </a:prstGeom>
        </p:spPr>
      </p:pic>
    </p:spTree>
    <p:extLst>
      <p:ext uri="{BB962C8B-B14F-4D97-AF65-F5344CB8AC3E}">
        <p14:creationId xmlns:p14="http://schemas.microsoft.com/office/powerpoint/2010/main" val="491292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42B96-6159-271C-FA54-4F06251AD3D7}"/>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C219B3B1-6053-D0FD-FFA0-DBBBC8D60C6D}"/>
              </a:ext>
            </a:extLst>
          </p:cNvPr>
          <p:cNvSpPr>
            <a:spLocks noGrp="1"/>
          </p:cNvSpPr>
          <p:nvPr>
            <p:ph idx="1"/>
          </p:nvPr>
        </p:nvSpPr>
        <p:spPr/>
        <p:txBody>
          <a:bodyPr/>
          <a:lstStyle/>
          <a:p>
            <a:r>
              <a:rPr lang="en-US" dirty="0"/>
              <a:t>Expand orthogonality </a:t>
            </a:r>
            <a:r>
              <a:rPr lang="en-US"/>
              <a:t>for additional states</a:t>
            </a:r>
          </a:p>
          <a:p>
            <a:r>
              <a:rPr lang="en-US" dirty="0"/>
              <a:t>BLA + Full </a:t>
            </a:r>
            <a:r>
              <a:rPr lang="en-US" dirty="0" err="1"/>
              <a:t>blackbox</a:t>
            </a:r>
            <a:r>
              <a:rPr lang="en-US" dirty="0"/>
              <a:t> </a:t>
            </a:r>
            <a:r>
              <a:rPr lang="en-US" dirty="0">
                <a:sym typeface="Wingdings" panose="05000000000000000000" pitchFamily="2" charset="2"/>
              </a:rPr>
              <a:t> comparison</a:t>
            </a:r>
            <a:endParaRPr lang="en-US" dirty="0"/>
          </a:p>
          <a:p>
            <a:endParaRPr lang="en-US" dirty="0"/>
          </a:p>
        </p:txBody>
      </p:sp>
    </p:spTree>
    <p:extLst>
      <p:ext uri="{BB962C8B-B14F-4D97-AF65-F5344CB8AC3E}">
        <p14:creationId xmlns:p14="http://schemas.microsoft.com/office/powerpoint/2010/main" val="127795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049D-9D15-8E3D-E293-D7266D31D3E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47BD537-61DA-B5A0-9889-EC46B785E84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1327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6020-5532-96BD-3444-C93CF3BB078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A62DE6D-DC02-8383-66E3-6830164D473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375AFA0-CC10-F1CB-3046-3ECC4943D51A}"/>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2588143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038-8089-FCE1-3A2D-F5AB09A566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7DF6B34-78D6-0AA0-CCA7-1D7223D83F7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7A2D961-115D-FB8A-9D48-DAD813336C48}"/>
              </a:ext>
            </a:extLst>
          </p:cNvPr>
          <p:cNvPicPr>
            <a:picLocks noChangeAspect="1"/>
          </p:cNvPicPr>
          <p:nvPr/>
        </p:nvPicPr>
        <p:blipFill>
          <a:blip r:embed="rId3"/>
          <a:stretch>
            <a:fillRect/>
          </a:stretch>
        </p:blipFill>
        <p:spPr>
          <a:xfrm>
            <a:off x="0" y="-1"/>
            <a:ext cx="12192000" cy="6861299"/>
          </a:xfrm>
          <a:prstGeom prst="rect">
            <a:avLst/>
          </a:prstGeom>
        </p:spPr>
      </p:pic>
    </p:spTree>
    <p:extLst>
      <p:ext uri="{BB962C8B-B14F-4D97-AF65-F5344CB8AC3E}">
        <p14:creationId xmlns:p14="http://schemas.microsoft.com/office/powerpoint/2010/main" val="3080546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a:xfrm>
            <a:off x="0" y="-230188"/>
            <a:ext cx="10515600" cy="1325563"/>
          </a:xfrm>
        </p:spPr>
        <p:txBody>
          <a:bodyPr/>
          <a:lstStyle/>
          <a:p>
            <a:r>
              <a:rPr lang="en-US" dirty="0"/>
              <a:t>Baseline model</a:t>
            </a:r>
            <a:endParaRPr lang="en-NL" dirty="0"/>
          </a:p>
        </p:txBody>
      </p:sp>
    </p:spTree>
    <p:extLst>
      <p:ext uri="{BB962C8B-B14F-4D97-AF65-F5344CB8AC3E}">
        <p14:creationId xmlns:p14="http://schemas.microsoft.com/office/powerpoint/2010/main" val="2864597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
        <p:nvSpPr>
          <p:cNvPr id="7" name="Title 1">
            <a:extLst>
              <a:ext uri="{FF2B5EF4-FFF2-40B4-BE49-F238E27FC236}">
                <a16:creationId xmlns:a16="http://schemas.microsoft.com/office/drawing/2014/main" id="{87DC70C6-F08D-306D-6E22-0884C371A4BA}"/>
              </a:ext>
            </a:extLst>
          </p:cNvPr>
          <p:cNvSpPr txBox="1">
            <a:spLocks/>
          </p:cNvSpPr>
          <p:nvPr/>
        </p:nvSpPr>
        <p:spPr>
          <a:xfrm>
            <a:off x="0" y="-23018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System for data generation</a:t>
            </a:r>
            <a:endParaRPr lang="en-NL" dirty="0"/>
          </a:p>
        </p:txBody>
      </p:sp>
    </p:spTree>
    <p:extLst>
      <p:ext uri="{BB962C8B-B14F-4D97-AF65-F5344CB8AC3E}">
        <p14:creationId xmlns:p14="http://schemas.microsoft.com/office/powerpoint/2010/main" val="3223135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17BA-333B-CF7E-9C61-BC1AC07512B7}"/>
              </a:ext>
            </a:extLst>
          </p:cNvPr>
          <p:cNvSpPr>
            <a:spLocks noGrp="1"/>
          </p:cNvSpPr>
          <p:nvPr>
            <p:ph type="title"/>
          </p:nvPr>
        </p:nvSpPr>
        <p:spPr>
          <a:xfrm>
            <a:off x="104374" y="18255"/>
            <a:ext cx="10515600" cy="1325563"/>
          </a:xfrm>
        </p:spPr>
        <p:txBody>
          <a:bodyPr/>
          <a:lstStyle/>
          <a:p>
            <a:r>
              <a:rPr lang="en-US" dirty="0"/>
              <a:t>Augmentation</a:t>
            </a:r>
            <a:br>
              <a:rPr lang="en-US" dirty="0"/>
            </a:br>
            <a:r>
              <a:rPr lang="en-US" dirty="0"/>
              <a:t>Overview</a:t>
            </a:r>
            <a:endParaRPr lang="en-NL" dirty="0"/>
          </a:p>
        </p:txBody>
      </p:sp>
      <p:sp>
        <p:nvSpPr>
          <p:cNvPr id="3" name="Content Placeholder 2">
            <a:extLst>
              <a:ext uri="{FF2B5EF4-FFF2-40B4-BE49-F238E27FC236}">
                <a16:creationId xmlns:a16="http://schemas.microsoft.com/office/drawing/2014/main" id="{7E2A4774-155F-CBC9-B73D-903FB490CE42}"/>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DDBF2FB-7752-EB77-2931-2A8D6437CCAC}"/>
              </a:ext>
            </a:extLst>
          </p:cNvPr>
          <p:cNvPicPr>
            <a:picLocks noChangeAspect="1"/>
          </p:cNvPicPr>
          <p:nvPr/>
        </p:nvPicPr>
        <p:blipFill>
          <a:blip r:embed="rId3"/>
          <a:stretch>
            <a:fillRect/>
          </a:stretch>
        </p:blipFill>
        <p:spPr>
          <a:xfrm>
            <a:off x="3704823" y="0"/>
            <a:ext cx="8382803" cy="6858000"/>
          </a:xfrm>
          <a:prstGeom prst="rect">
            <a:avLst/>
          </a:prstGeom>
        </p:spPr>
      </p:pic>
    </p:spTree>
    <p:extLst>
      <p:ext uri="{BB962C8B-B14F-4D97-AF65-F5344CB8AC3E}">
        <p14:creationId xmlns:p14="http://schemas.microsoft.com/office/powerpoint/2010/main" val="4585600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16B8-AD6A-0D8A-9F78-CA382584C66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76680DF-20AE-E6D2-E1A4-C7135627A9DC}"/>
              </a:ext>
            </a:extLst>
          </p:cNvPr>
          <p:cNvSpPr>
            <a:spLocks noGrp="1"/>
          </p:cNvSpPr>
          <p:nvPr>
            <p:ph idx="1"/>
          </p:nvPr>
        </p:nvSpPr>
        <p:spPr>
          <a:xfrm>
            <a:off x="0" y="1798638"/>
            <a:ext cx="10515600" cy="4351338"/>
          </a:xfrm>
        </p:spPr>
        <p:txBody>
          <a:bodyPr/>
          <a:lstStyle/>
          <a:p>
            <a:endParaRPr lang="en-NL" dirty="0"/>
          </a:p>
        </p:txBody>
      </p:sp>
      <p:pic>
        <p:nvPicPr>
          <p:cNvPr id="5" name="Picture 4">
            <a:extLst>
              <a:ext uri="{FF2B5EF4-FFF2-40B4-BE49-F238E27FC236}">
                <a16:creationId xmlns:a16="http://schemas.microsoft.com/office/drawing/2014/main" id="{490260BC-49DF-CF91-BE1F-FB436B303431}"/>
              </a:ext>
            </a:extLst>
          </p:cNvPr>
          <p:cNvPicPr>
            <a:picLocks noChangeAspect="1"/>
          </p:cNvPicPr>
          <p:nvPr/>
        </p:nvPicPr>
        <p:blipFill>
          <a:blip r:embed="rId3"/>
          <a:stretch>
            <a:fillRect/>
          </a:stretch>
        </p:blipFill>
        <p:spPr>
          <a:xfrm>
            <a:off x="1223962" y="257175"/>
            <a:ext cx="9744075" cy="6343650"/>
          </a:xfrm>
          <a:prstGeom prst="rect">
            <a:avLst/>
          </a:prstGeom>
        </p:spPr>
      </p:pic>
      <p:sp>
        <p:nvSpPr>
          <p:cNvPr id="4" name="TextBox 3">
            <a:extLst>
              <a:ext uri="{FF2B5EF4-FFF2-40B4-BE49-F238E27FC236}">
                <a16:creationId xmlns:a16="http://schemas.microsoft.com/office/drawing/2014/main" id="{3C7288B5-1024-0E73-3A05-D47920E71FD1}"/>
              </a:ext>
            </a:extLst>
          </p:cNvPr>
          <p:cNvSpPr txBox="1"/>
          <p:nvPr/>
        </p:nvSpPr>
        <p:spPr>
          <a:xfrm>
            <a:off x="8906668" y="5834102"/>
            <a:ext cx="2421731" cy="369332"/>
          </a:xfrm>
          <a:prstGeom prst="rect">
            <a:avLst/>
          </a:prstGeom>
          <a:solidFill>
            <a:schemeClr val="bg1"/>
          </a:solidFill>
        </p:spPr>
        <p:txBody>
          <a:bodyPr wrap="square" rtlCol="0">
            <a:spAutoFit/>
          </a:bodyPr>
          <a:lstStyle/>
          <a:p>
            <a:r>
              <a:rPr lang="en-US" dirty="0">
                <a:solidFill>
                  <a:schemeClr val="bg1">
                    <a:lumMod val="50000"/>
                  </a:schemeClr>
                </a:solidFill>
              </a:rPr>
              <a:t>Model = System</a:t>
            </a:r>
            <a:endParaRPr lang="en-NL" dirty="0">
              <a:solidFill>
                <a:schemeClr val="bg1">
                  <a:lumMod val="50000"/>
                </a:schemeClr>
              </a:solidFill>
            </a:endParaRPr>
          </a:p>
        </p:txBody>
      </p:sp>
    </p:spTree>
    <p:extLst>
      <p:ext uri="{BB962C8B-B14F-4D97-AF65-F5344CB8AC3E}">
        <p14:creationId xmlns:p14="http://schemas.microsoft.com/office/powerpoint/2010/main" val="1292336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E3FC5-7E64-EF5A-DD02-A90FDBD8F33F}"/>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B28435CB-C32A-0EA2-592B-0505400314AB}"/>
              </a:ext>
            </a:extLst>
          </p:cNvPr>
          <p:cNvSpPr>
            <a:spLocks noGrp="1"/>
          </p:cNvSpPr>
          <p:nvPr>
            <p:ph idx="1"/>
          </p:nvPr>
        </p:nvSpPr>
        <p:spPr/>
        <p:txBody>
          <a:bodyPr/>
          <a:lstStyle/>
          <a:p>
            <a:r>
              <a:rPr lang="en-US" dirty="0"/>
              <a:t>1. encoder-</a:t>
            </a:r>
            <a:r>
              <a:rPr lang="en-US" dirty="0" err="1"/>
              <a:t>initialised</a:t>
            </a:r>
            <a:r>
              <a:rPr lang="en-US" dirty="0"/>
              <a:t> — what training actually does2. true-x0 </a:t>
            </a:r>
            <a:r>
              <a:rPr lang="en-US" dirty="0" err="1"/>
              <a:t>initialised</a:t>
            </a:r>
            <a:r>
              <a:rPr lang="en-US" dirty="0"/>
              <a:t> — removes the encoder's estimation error3. ANN silenced, encoder-</a:t>
            </a:r>
            <a:r>
              <a:rPr lang="en-US" dirty="0" err="1"/>
              <a:t>initialised</a:t>
            </a:r>
            <a:r>
              <a:rPr lang="en-US" dirty="0"/>
              <a:t> — is the shape anything to do with the augmentation</a:t>
            </a:r>
            <a:endParaRPr lang="en-NL" dirty="0"/>
          </a:p>
        </p:txBody>
      </p:sp>
    </p:spTree>
    <p:extLst>
      <p:ext uri="{BB962C8B-B14F-4D97-AF65-F5344CB8AC3E}">
        <p14:creationId xmlns:p14="http://schemas.microsoft.com/office/powerpoint/2010/main" val="869181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BFC99-3348-D576-BF32-A800F495F88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9424B9-247F-216E-E4A6-4E7107438F43}"/>
              </a:ext>
            </a:extLst>
          </p:cNvPr>
          <p:cNvSpPr>
            <a:spLocks noGrp="1"/>
          </p:cNvSpPr>
          <p:nvPr>
            <p:ph idx="1"/>
          </p:nvPr>
        </p:nvSpPr>
        <p:spPr/>
        <p:txBody>
          <a:bodyPr/>
          <a:lstStyle/>
          <a:p>
            <a:r>
              <a:rPr lang="en-US" dirty="0" err="1"/>
              <a:t>Plannen</a:t>
            </a:r>
            <a:r>
              <a:rPr lang="en-US" dirty="0"/>
              <a:t> presentative…</a:t>
            </a:r>
            <a:endParaRPr lang="en-NL" dirty="0"/>
          </a:p>
        </p:txBody>
      </p:sp>
    </p:spTree>
    <p:extLst>
      <p:ext uri="{BB962C8B-B14F-4D97-AF65-F5344CB8AC3E}">
        <p14:creationId xmlns:p14="http://schemas.microsoft.com/office/powerpoint/2010/main" val="37036749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D158-25D1-569D-E6F6-235B23ED4F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81C2FB2-37B7-53CF-4BE0-81FF08407477}"/>
              </a:ext>
            </a:extLst>
          </p:cNvPr>
          <p:cNvSpPr>
            <a:spLocks noGrp="1"/>
          </p:cNvSpPr>
          <p:nvPr>
            <p:ph idx="1"/>
          </p:nvPr>
        </p:nvSpPr>
        <p:spPr/>
        <p:txBody>
          <a:bodyPr/>
          <a:lstStyle/>
          <a:p>
            <a:r>
              <a:rPr lang="en-US" dirty="0"/>
              <a:t>States zero </a:t>
            </a:r>
            <a:r>
              <a:rPr lang="en-US" dirty="0" err="1"/>
              <a:t>zetten</a:t>
            </a:r>
            <a:r>
              <a:rPr lang="en-US" dirty="0"/>
              <a:t> laten </a:t>
            </a:r>
            <a:r>
              <a:rPr lang="en-US" dirty="0" err="1"/>
              <a:t>zien</a:t>
            </a:r>
            <a:r>
              <a:rPr lang="en-US" dirty="0"/>
              <a:t> </a:t>
            </a:r>
            <a:r>
              <a:rPr lang="en-US" dirty="0" err="1"/>
              <a:t>dat</a:t>
            </a:r>
            <a:r>
              <a:rPr lang="en-US" dirty="0"/>
              <a:t> het </a:t>
            </a:r>
            <a:r>
              <a:rPr lang="en-US" dirty="0" err="1"/>
              <a:t>werkt</a:t>
            </a:r>
            <a:endParaRPr lang="en-NL" dirty="0"/>
          </a:p>
        </p:txBody>
      </p:sp>
    </p:spTree>
    <p:extLst>
      <p:ext uri="{BB962C8B-B14F-4D97-AF65-F5344CB8AC3E}">
        <p14:creationId xmlns:p14="http://schemas.microsoft.com/office/powerpoint/2010/main" val="1009901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4D07-60EA-D4AD-E8B4-95D0CA35DDB0}"/>
              </a:ext>
            </a:extLst>
          </p:cNvPr>
          <p:cNvSpPr>
            <a:spLocks noGrp="1"/>
          </p:cNvSpPr>
          <p:nvPr>
            <p:ph type="title"/>
          </p:nvPr>
        </p:nvSpPr>
        <p:spPr/>
        <p:txBody>
          <a:bodyPr/>
          <a:lstStyle/>
          <a:p>
            <a:r>
              <a:rPr lang="en-US" dirty="0"/>
              <a:t>BLA + Full Black-Box</a:t>
            </a:r>
            <a:endParaRPr lang="en-NL" dirty="0"/>
          </a:p>
        </p:txBody>
      </p:sp>
      <p:sp>
        <p:nvSpPr>
          <p:cNvPr id="3" name="Content Placeholder 2">
            <a:extLst>
              <a:ext uri="{FF2B5EF4-FFF2-40B4-BE49-F238E27FC236}">
                <a16:creationId xmlns:a16="http://schemas.microsoft.com/office/drawing/2014/main" id="{03594EF7-6394-DB1A-C4D2-C76900407676}"/>
              </a:ext>
            </a:extLst>
          </p:cNvPr>
          <p:cNvSpPr>
            <a:spLocks noGrp="1"/>
          </p:cNvSpPr>
          <p:nvPr>
            <p:ph idx="1"/>
          </p:nvPr>
        </p:nvSpPr>
        <p:spPr/>
        <p:txBody>
          <a:bodyPr/>
          <a:lstStyle/>
          <a:p>
            <a:r>
              <a:rPr lang="en-US" dirty="0"/>
              <a:t>ANN folder</a:t>
            </a:r>
            <a:endParaRPr lang="en-NL" dirty="0"/>
          </a:p>
        </p:txBody>
      </p:sp>
    </p:spTree>
    <p:extLst>
      <p:ext uri="{BB962C8B-B14F-4D97-AF65-F5344CB8AC3E}">
        <p14:creationId xmlns:p14="http://schemas.microsoft.com/office/powerpoint/2010/main" val="3324568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1FC39-E9E7-6F41-CD8C-A42706E062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CD4037-2449-49C9-5D8A-73D34FA35102}"/>
              </a:ext>
            </a:extLst>
          </p:cNvPr>
          <p:cNvSpPr>
            <a:spLocks noGrp="1"/>
          </p:cNvSpPr>
          <p:nvPr>
            <p:ph idx="1"/>
          </p:nvPr>
        </p:nvSpPr>
        <p:spPr/>
        <p:txBody>
          <a:bodyPr/>
          <a:lstStyle/>
          <a:p>
            <a:r>
              <a:rPr lang="en-US" dirty="0"/>
              <a:t>The trained model does it Extrapolates it to …</a:t>
            </a:r>
            <a:endParaRPr lang="en-NL" dirty="0"/>
          </a:p>
        </p:txBody>
      </p:sp>
    </p:spTree>
    <p:extLst>
      <p:ext uri="{BB962C8B-B14F-4D97-AF65-F5344CB8AC3E}">
        <p14:creationId xmlns:p14="http://schemas.microsoft.com/office/powerpoint/2010/main" val="2150763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7AD4-CA56-3B9F-E27D-50165602D57F}"/>
              </a:ext>
            </a:extLst>
          </p:cNvPr>
          <p:cNvSpPr>
            <a:spLocks noGrp="1"/>
          </p:cNvSpPr>
          <p:nvPr>
            <p:ph type="title"/>
          </p:nvPr>
        </p:nvSpPr>
        <p:spPr/>
        <p:txBody>
          <a:bodyPr/>
          <a:lstStyle/>
          <a:p>
            <a:r>
              <a:rPr lang="en-US" dirty="0"/>
              <a:t>Multi rate horizon is now possible</a:t>
            </a:r>
            <a:endParaRPr lang="en-NL" dirty="0"/>
          </a:p>
        </p:txBody>
      </p:sp>
      <p:sp>
        <p:nvSpPr>
          <p:cNvPr id="3" name="Content Placeholder 2">
            <a:extLst>
              <a:ext uri="{FF2B5EF4-FFF2-40B4-BE49-F238E27FC236}">
                <a16:creationId xmlns:a16="http://schemas.microsoft.com/office/drawing/2014/main" id="{46697A85-57CB-A1F5-7987-D98B1CB8652F}"/>
              </a:ext>
            </a:extLst>
          </p:cNvPr>
          <p:cNvSpPr>
            <a:spLocks noGrp="1"/>
          </p:cNvSpPr>
          <p:nvPr>
            <p:ph idx="1"/>
          </p:nvPr>
        </p:nvSpPr>
        <p:spPr/>
        <p:txBody>
          <a:bodyPr/>
          <a:lstStyle/>
          <a:p>
            <a:r>
              <a:rPr lang="en-US" dirty="0"/>
              <a:t>Could use this to get the last percentages out?</a:t>
            </a:r>
          </a:p>
          <a:p>
            <a:r>
              <a:rPr lang="en-US" dirty="0"/>
              <a:t>But focus on </a:t>
            </a:r>
            <a:r>
              <a:rPr lang="en-US" dirty="0" err="1"/>
              <a:t>orthogonalty</a:t>
            </a:r>
            <a:endParaRPr lang="en-NL" dirty="0"/>
          </a:p>
        </p:txBody>
      </p:sp>
    </p:spTree>
    <p:extLst>
      <p:ext uri="{BB962C8B-B14F-4D97-AF65-F5344CB8AC3E}">
        <p14:creationId xmlns:p14="http://schemas.microsoft.com/office/powerpoint/2010/main" val="366057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00CA5-6337-08E3-2C52-0F29FA048B71}"/>
              </a:ext>
            </a:extLst>
          </p:cNvPr>
          <p:cNvSpPr>
            <a:spLocks noGrp="1"/>
          </p:cNvSpPr>
          <p:nvPr>
            <p:ph type="title"/>
          </p:nvPr>
        </p:nvSpPr>
        <p:spPr/>
        <p:txBody>
          <a:bodyPr/>
          <a:lstStyle/>
          <a:p>
            <a:r>
              <a:rPr lang="en-US" dirty="0"/>
              <a:t>Encoder is the issue?</a:t>
            </a:r>
            <a:endParaRPr lang="en-NL" dirty="0"/>
          </a:p>
        </p:txBody>
      </p:sp>
      <p:sp>
        <p:nvSpPr>
          <p:cNvPr id="3" name="Content Placeholder 2">
            <a:extLst>
              <a:ext uri="{FF2B5EF4-FFF2-40B4-BE49-F238E27FC236}">
                <a16:creationId xmlns:a16="http://schemas.microsoft.com/office/drawing/2014/main" id="{CF4229DB-7336-A7C8-D906-CFF9F55FA024}"/>
              </a:ext>
            </a:extLst>
          </p:cNvPr>
          <p:cNvSpPr>
            <a:spLocks noGrp="1"/>
          </p:cNvSpPr>
          <p:nvPr>
            <p:ph idx="1"/>
          </p:nvPr>
        </p:nvSpPr>
        <p:spPr/>
        <p:txBody>
          <a:bodyPr/>
          <a:lstStyle/>
          <a:p>
            <a:r>
              <a:rPr lang="en-US" dirty="0"/>
              <a:t>Objective dominated by startup transient</a:t>
            </a:r>
          </a:p>
          <a:p>
            <a:r>
              <a:rPr lang="en-US" dirty="0"/>
              <a:t>This: at </a:t>
            </a:r>
            <a:r>
              <a:rPr lang="en-US" dirty="0" err="1"/>
              <a:t>nf</a:t>
            </a:r>
            <a:r>
              <a:rPr lang="en-US" dirty="0"/>
              <a:t>=400 the objective is dominated by the startup transient, so the cheapest loss reduction available to any optimizer is refining x₀ — and the encoder is the thing that sets x₀, and it holds 81% of the parameters. That is why the effort lands there. The signature is in every run: grow between 0.46 and 0.81, meaning the error at the last step of a window is smaller than at the first.</a:t>
            </a:r>
            <a:endParaRPr lang="en-NL" dirty="0"/>
          </a:p>
        </p:txBody>
      </p:sp>
      <p:pic>
        <p:nvPicPr>
          <p:cNvPr id="5" name="Picture 4">
            <a:extLst>
              <a:ext uri="{FF2B5EF4-FFF2-40B4-BE49-F238E27FC236}">
                <a16:creationId xmlns:a16="http://schemas.microsoft.com/office/drawing/2014/main" id="{6D7A6478-F00E-F0E8-2CCD-8227011AF457}"/>
              </a:ext>
            </a:extLst>
          </p:cNvPr>
          <p:cNvPicPr>
            <a:picLocks noChangeAspect="1"/>
          </p:cNvPicPr>
          <p:nvPr/>
        </p:nvPicPr>
        <p:blipFill>
          <a:blip r:embed="rId2"/>
          <a:stretch>
            <a:fillRect/>
          </a:stretch>
        </p:blipFill>
        <p:spPr>
          <a:xfrm>
            <a:off x="9503059" y="3716861"/>
            <a:ext cx="5668166" cy="4372585"/>
          </a:xfrm>
          <a:prstGeom prst="rect">
            <a:avLst/>
          </a:prstGeom>
        </p:spPr>
      </p:pic>
    </p:spTree>
    <p:extLst>
      <p:ext uri="{BB962C8B-B14F-4D97-AF65-F5344CB8AC3E}">
        <p14:creationId xmlns:p14="http://schemas.microsoft.com/office/powerpoint/2010/main" val="132955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C8F51-C49C-A97E-D270-A4984BC2648A}"/>
              </a:ext>
            </a:extLst>
          </p:cNvPr>
          <p:cNvSpPr>
            <a:spLocks noGrp="1"/>
          </p:cNvSpPr>
          <p:nvPr>
            <p:ph type="title"/>
          </p:nvPr>
        </p:nvSpPr>
        <p:spPr/>
        <p:txBody>
          <a:bodyPr/>
          <a:lstStyle/>
          <a:p>
            <a:r>
              <a:rPr lang="en-US" dirty="0"/>
              <a:t>Transient issue or decoupled?</a:t>
            </a:r>
            <a:endParaRPr lang="en-NL" dirty="0"/>
          </a:p>
        </p:txBody>
      </p:sp>
      <p:sp>
        <p:nvSpPr>
          <p:cNvPr id="3" name="Content Placeholder 2">
            <a:extLst>
              <a:ext uri="{FF2B5EF4-FFF2-40B4-BE49-F238E27FC236}">
                <a16:creationId xmlns:a16="http://schemas.microsoft.com/office/drawing/2014/main" id="{7299B234-F75A-37F4-EF3E-C578A0CBD53C}"/>
              </a:ext>
            </a:extLst>
          </p:cNvPr>
          <p:cNvSpPr>
            <a:spLocks noGrp="1"/>
          </p:cNvSpPr>
          <p:nvPr>
            <p:ph idx="1"/>
          </p:nvPr>
        </p:nvSpPr>
        <p:spPr/>
        <p:txBody>
          <a:bodyPr/>
          <a:lstStyle/>
          <a:p>
            <a:r>
              <a:rPr lang="en-US" dirty="0"/>
              <a:t>The one finding I do think is worth showing is not about the </a:t>
            </a:r>
            <a:r>
              <a:rPr lang="en-US" dirty="0" err="1"/>
              <a:t>optimiser</a:t>
            </a:r>
            <a:r>
              <a:rPr lang="en-US" dirty="0"/>
              <a:t> at all: L-BFGS cut the training loss by 5.54% and moved the closed-loop validation by 0.032%. A 5.5% improvement in the quantity being </a:t>
            </a:r>
            <a:r>
              <a:rPr lang="en-US" dirty="0" err="1"/>
              <a:t>minimised</a:t>
            </a:r>
            <a:r>
              <a:rPr lang="en-US" dirty="0"/>
              <a:t> buys 0.03% of the quantity being selected on. That is direct evidence the objective and the selector are weakly coupled — the same conclusion figure 4 reaches from the transient, by a completely independent route. That is a real result and it strengthens next week's "the work is the objective" argument.</a:t>
            </a:r>
            <a:endParaRPr lang="en-NL" dirty="0"/>
          </a:p>
        </p:txBody>
      </p:sp>
    </p:spTree>
    <p:extLst>
      <p:ext uri="{BB962C8B-B14F-4D97-AF65-F5344CB8AC3E}">
        <p14:creationId xmlns:p14="http://schemas.microsoft.com/office/powerpoint/2010/main" val="773265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5F55-E466-0C78-465B-63C52DA08F82}"/>
              </a:ext>
            </a:extLst>
          </p:cNvPr>
          <p:cNvSpPr>
            <a:spLocks noGrp="1"/>
          </p:cNvSpPr>
          <p:nvPr>
            <p:ph type="title"/>
          </p:nvPr>
        </p:nvSpPr>
        <p:spPr/>
        <p:txBody>
          <a:bodyPr/>
          <a:lstStyle/>
          <a:p>
            <a:r>
              <a:rPr lang="en-US" dirty="0"/>
              <a:t>Orthogonality implementation</a:t>
            </a:r>
            <a:endParaRPr lang="en-NL" dirty="0"/>
          </a:p>
        </p:txBody>
      </p:sp>
      <p:sp>
        <p:nvSpPr>
          <p:cNvPr id="3" name="Content Placeholder 2">
            <a:extLst>
              <a:ext uri="{FF2B5EF4-FFF2-40B4-BE49-F238E27FC236}">
                <a16:creationId xmlns:a16="http://schemas.microsoft.com/office/drawing/2014/main" id="{14168DE1-1BD7-81FB-2CD1-B800FA9F51D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6184894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EB04-5672-7F09-D283-1DAC317DA11E}"/>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3BBA8CF-C577-F666-BC6B-55A28F640C80}"/>
              </a:ext>
            </a:extLst>
          </p:cNvPr>
          <p:cNvSpPr>
            <a:spLocks noGrp="1"/>
          </p:cNvSpPr>
          <p:nvPr>
            <p:ph idx="1"/>
          </p:nvPr>
        </p:nvSpPr>
        <p:spPr/>
        <p:txBody>
          <a:bodyPr/>
          <a:lstStyle/>
          <a:p>
            <a:r>
              <a:rPr lang="en-US" dirty="0"/>
              <a:t>The problem is that the constraint is not enforced everywhere. It is enforced on a chosen finite set of evaluation points, and in our implementation that set pins x̄ = 0. So </a:t>
            </a:r>
            <a:r>
              <a:rPr lang="en-US" dirty="0" err="1"/>
              <a:t>f_aug</a:t>
            </a:r>
            <a:r>
              <a:rPr lang="en-US" dirty="0"/>
              <a:t> is constrained on one slice and free off it.</a:t>
            </a:r>
            <a:endParaRPr lang="en-NL" dirty="0"/>
          </a:p>
        </p:txBody>
      </p:sp>
    </p:spTree>
    <p:extLst>
      <p:ext uri="{BB962C8B-B14F-4D97-AF65-F5344CB8AC3E}">
        <p14:creationId xmlns:p14="http://schemas.microsoft.com/office/powerpoint/2010/main" val="3826887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0DC5-60EE-21DC-0C68-4013374DBE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AEE19BAD-4B0A-2C26-1AB3-CBBD23B3AFEB}"/>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F8EE4AB-DD99-693A-D90D-D12CED2B668F}"/>
              </a:ext>
            </a:extLst>
          </p:cNvPr>
          <p:cNvPicPr>
            <a:picLocks noChangeAspect="1"/>
          </p:cNvPicPr>
          <p:nvPr/>
        </p:nvPicPr>
        <p:blipFill>
          <a:blip r:embed="rId2"/>
          <a:stretch>
            <a:fillRect/>
          </a:stretch>
        </p:blipFill>
        <p:spPr>
          <a:xfrm>
            <a:off x="2190205" y="1290339"/>
            <a:ext cx="7811590" cy="4277322"/>
          </a:xfrm>
          <a:prstGeom prst="rect">
            <a:avLst/>
          </a:prstGeom>
        </p:spPr>
      </p:pic>
    </p:spTree>
    <p:extLst>
      <p:ext uri="{BB962C8B-B14F-4D97-AF65-F5344CB8AC3E}">
        <p14:creationId xmlns:p14="http://schemas.microsoft.com/office/powerpoint/2010/main" val="14912520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ED71-2674-023C-8CE7-236A6FC0210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A7869CF-FD0D-DBC5-595D-32283D450865}"/>
              </a:ext>
            </a:extLst>
          </p:cNvPr>
          <p:cNvSpPr>
            <a:spLocks noGrp="1"/>
          </p:cNvSpPr>
          <p:nvPr>
            <p:ph idx="1"/>
          </p:nvPr>
        </p:nvSpPr>
        <p:spPr/>
        <p:txBody>
          <a:bodyPr/>
          <a:lstStyle/>
          <a:p>
            <a:r>
              <a:rPr lang="en-NL" dirty="0"/>
              <a:t>The theoretical gap you identified is </a:t>
            </a:r>
            <a:r>
              <a:rPr lang="en-NL" b="1" dirty="0"/>
              <a:t>the mathematical discrepancy between pointwise (instantaneous) orthogonality and trajectory-level (propagated) orthogonality over a multi-step rollout window</a:t>
            </a:r>
            <a:endParaRPr lang="en-NL" dirty="0"/>
          </a:p>
        </p:txBody>
      </p:sp>
    </p:spTree>
    <p:extLst>
      <p:ext uri="{BB962C8B-B14F-4D97-AF65-F5344CB8AC3E}">
        <p14:creationId xmlns:p14="http://schemas.microsoft.com/office/powerpoint/2010/main" val="33018332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41803-AB00-CAA3-CD91-083AD87C6C47}"/>
              </a:ext>
            </a:extLst>
          </p:cNvPr>
          <p:cNvSpPr>
            <a:spLocks noGrp="1"/>
          </p:cNvSpPr>
          <p:nvPr>
            <p:ph type="title"/>
          </p:nvPr>
        </p:nvSpPr>
        <p:spPr/>
        <p:txBody>
          <a:bodyPr/>
          <a:lstStyle/>
          <a:p>
            <a:r>
              <a:rPr lang="en-US" dirty="0"/>
              <a:t>Loopholes with our implementation</a:t>
            </a:r>
            <a:endParaRPr lang="en-NL" dirty="0"/>
          </a:p>
        </p:txBody>
      </p:sp>
      <p:sp>
        <p:nvSpPr>
          <p:cNvPr id="3" name="Content Placeholder 2">
            <a:extLst>
              <a:ext uri="{FF2B5EF4-FFF2-40B4-BE49-F238E27FC236}">
                <a16:creationId xmlns:a16="http://schemas.microsoft.com/office/drawing/2014/main" id="{378F3FBB-5E35-C841-81E4-A46659DD71D3}"/>
              </a:ext>
            </a:extLst>
          </p:cNvPr>
          <p:cNvSpPr>
            <a:spLocks noGrp="1"/>
          </p:cNvSpPr>
          <p:nvPr>
            <p:ph idx="1"/>
          </p:nvPr>
        </p:nvSpPr>
        <p:spPr/>
        <p:txBody>
          <a:bodyPr/>
          <a:lstStyle/>
          <a:p>
            <a:r>
              <a:rPr lang="en-NL" dirty="0"/>
              <a:t>The reason you are seeing a 4% "leakage" into that forbidden subspace is not because your understanding of the theory is wrong, but because </a:t>
            </a:r>
            <a:r>
              <a:rPr lang="en-NL" b="1" dirty="0"/>
              <a:t>your stateful setup has introduced two distinct loopholes</a:t>
            </a:r>
            <a:r>
              <a:rPr lang="en-NL" dirty="0"/>
              <a:t> that allow the network to bypass this constraint during rollouts.</a:t>
            </a:r>
          </a:p>
        </p:txBody>
      </p:sp>
      <p:pic>
        <p:nvPicPr>
          <p:cNvPr id="5" name="Picture 4">
            <a:extLst>
              <a:ext uri="{FF2B5EF4-FFF2-40B4-BE49-F238E27FC236}">
                <a16:creationId xmlns:a16="http://schemas.microsoft.com/office/drawing/2014/main" id="{1B516313-C1E1-63AF-1EA0-5EA8CEB91D46}"/>
              </a:ext>
            </a:extLst>
          </p:cNvPr>
          <p:cNvPicPr>
            <a:picLocks noChangeAspect="1"/>
          </p:cNvPicPr>
          <p:nvPr/>
        </p:nvPicPr>
        <p:blipFill>
          <a:blip r:embed="rId2"/>
          <a:stretch>
            <a:fillRect/>
          </a:stretch>
        </p:blipFill>
        <p:spPr>
          <a:xfrm>
            <a:off x="-3848754" y="1147389"/>
            <a:ext cx="9373908" cy="5544324"/>
          </a:xfrm>
          <a:prstGeom prst="rect">
            <a:avLst/>
          </a:prstGeom>
        </p:spPr>
      </p:pic>
      <p:pic>
        <p:nvPicPr>
          <p:cNvPr id="7" name="Picture 6">
            <a:extLst>
              <a:ext uri="{FF2B5EF4-FFF2-40B4-BE49-F238E27FC236}">
                <a16:creationId xmlns:a16="http://schemas.microsoft.com/office/drawing/2014/main" id="{E30142BD-5A92-9D52-0094-3000830A2A8F}"/>
              </a:ext>
            </a:extLst>
          </p:cNvPr>
          <p:cNvPicPr>
            <a:picLocks noChangeAspect="1"/>
          </p:cNvPicPr>
          <p:nvPr/>
        </p:nvPicPr>
        <p:blipFill>
          <a:blip r:embed="rId3"/>
          <a:stretch>
            <a:fillRect/>
          </a:stretch>
        </p:blipFill>
        <p:spPr>
          <a:xfrm>
            <a:off x="5405486" y="1047362"/>
            <a:ext cx="9050013" cy="5744377"/>
          </a:xfrm>
          <a:prstGeom prst="rect">
            <a:avLst/>
          </a:prstGeom>
        </p:spPr>
      </p:pic>
    </p:spTree>
    <p:extLst>
      <p:ext uri="{BB962C8B-B14F-4D97-AF65-F5344CB8AC3E}">
        <p14:creationId xmlns:p14="http://schemas.microsoft.com/office/powerpoint/2010/main" val="1074941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098CD-0D5F-5359-1459-BC19DA7954D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62AA2C5-5E54-E9E4-7D27-F7846ECC4C8C}"/>
              </a:ext>
            </a:extLst>
          </p:cNvPr>
          <p:cNvSpPr>
            <a:spLocks noGrp="1"/>
          </p:cNvSpPr>
          <p:nvPr>
            <p:ph idx="1"/>
          </p:nvPr>
        </p:nvSpPr>
        <p:spPr/>
        <p:txBody>
          <a:bodyPr/>
          <a:lstStyle/>
          <a:p>
            <a:r>
              <a:rPr lang="en-US" dirty="0" err="1"/>
              <a:t>Kijken</a:t>
            </a:r>
            <a:r>
              <a:rPr lang="en-US" dirty="0"/>
              <a:t> voor </a:t>
            </a:r>
            <a:r>
              <a:rPr lang="en-US" dirty="0" err="1"/>
              <a:t>wanneer</a:t>
            </a:r>
            <a:r>
              <a:rPr lang="en-US" dirty="0"/>
              <a:t> </a:t>
            </a:r>
            <a:r>
              <a:rPr lang="en-US" dirty="0" err="1"/>
              <a:t>presentatie</a:t>
            </a:r>
            <a:r>
              <a:rPr lang="en-US" dirty="0"/>
              <a:t> </a:t>
            </a:r>
            <a:r>
              <a:rPr lang="en-US" dirty="0">
                <a:sym typeface="Wingdings" panose="05000000000000000000" pitchFamily="2" charset="2"/>
              </a:rPr>
              <a:t> Quinten</a:t>
            </a:r>
            <a:endParaRPr lang="en-NL" dirty="0"/>
          </a:p>
        </p:txBody>
      </p:sp>
    </p:spTree>
    <p:extLst>
      <p:ext uri="{BB962C8B-B14F-4D97-AF65-F5344CB8AC3E}">
        <p14:creationId xmlns:p14="http://schemas.microsoft.com/office/powerpoint/2010/main" val="19282993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9558-75D9-C84E-8915-031B40239E1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7B6FCE6-EA9F-9917-35DC-B91C97008986}"/>
              </a:ext>
            </a:extLst>
          </p:cNvPr>
          <p:cNvSpPr>
            <a:spLocks noGrp="1"/>
          </p:cNvSpPr>
          <p:nvPr>
            <p:ph idx="1"/>
          </p:nvPr>
        </p:nvSpPr>
        <p:spPr/>
        <p:txBody>
          <a:bodyPr>
            <a:normAutofit fontScale="85000" lnSpcReduction="20000"/>
          </a:bodyPr>
          <a:lstStyle/>
          <a:p>
            <a:r>
              <a:rPr lang="en-US" dirty="0"/>
              <a:t>What blocks getting a number at </a:t>
            </a:r>
            <a:r>
              <a:rPr lang="en-US" dirty="0" err="1"/>
              <a:t>allFour</a:t>
            </a:r>
            <a:r>
              <a:rPr lang="en-US" dirty="0"/>
              <a:t> items, all engineering, all with known fixes, none needing </a:t>
            </a:r>
            <a:r>
              <a:rPr lang="en-US" dirty="0" err="1"/>
              <a:t>literature.θ</a:t>
            </a:r>
            <a:r>
              <a:rPr lang="en-US" dirty="0"/>
              <a:t> has to actually move. This was the campaign's headline problem, and Phase 1 diagnosed it: Adam's eps, not the learning rate, was attenuating the stiffness and damping parameters, with a 7520x spread across parameters. </a:t>
            </a:r>
            <a:r>
              <a:rPr lang="en-US" dirty="0" err="1"/>
              <a:t>lr_theta</a:t>
            </a:r>
            <a:r>
              <a:rPr lang="en-US" dirty="0"/>
              <a:t> and </a:t>
            </a:r>
            <a:r>
              <a:rPr lang="en-US" dirty="0" err="1"/>
              <a:t>eps_theta</a:t>
            </a:r>
            <a:r>
              <a:rPr lang="en-US" dirty="0"/>
              <a:t> = 1e-16 are implemented and verified to fix the attenuation. But no full run has been done since. So the fix is proven on a probe and unproven on a training run.β has to actually act. In-loss under Adam it saturates into a β-independent plateau. Either implement the proximal form or accept that the coefficient is doing nothing above the plateau and say so.β has to transfer. The penalty is undivided per batch, so its value moves with stride, routing and batch count. The fix is a per-point </a:t>
            </a:r>
            <a:r>
              <a:rPr lang="en-US" dirty="0" err="1"/>
              <a:t>normalisation</a:t>
            </a:r>
            <a:r>
              <a:rPr lang="en-US" dirty="0"/>
              <a:t> and it is a few </a:t>
            </a:r>
            <a:r>
              <a:rPr lang="en-US" dirty="0" err="1"/>
              <a:t>lines.The</a:t>
            </a:r>
            <a:r>
              <a:rPr lang="en-US" dirty="0"/>
              <a:t> velocity channel. Forward difference where central is 12x better on </a:t>
            </a:r>
            <a:r>
              <a:rPr lang="en-US" dirty="0" err="1"/>
              <a:t>dΘ</a:t>
            </a:r>
            <a:r>
              <a:rPr lang="en-US" dirty="0"/>
              <a:t>, which is the channel the damping columns depend on. One </a:t>
            </a:r>
            <a:r>
              <a:rPr lang="en-US" dirty="0" err="1"/>
              <a:t>line.Do</a:t>
            </a:r>
            <a:r>
              <a:rPr lang="en-US" dirty="0"/>
              <a:t> those four and you can run the arms and get a parameter-recovery number.</a:t>
            </a:r>
            <a:endParaRPr lang="en-NL" dirty="0"/>
          </a:p>
        </p:txBody>
      </p:sp>
    </p:spTree>
    <p:extLst>
      <p:ext uri="{BB962C8B-B14F-4D97-AF65-F5344CB8AC3E}">
        <p14:creationId xmlns:p14="http://schemas.microsoft.com/office/powerpoint/2010/main" val="833360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37F8C-9FD4-0DE2-288D-79605345914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0F9A0AB-2774-5E85-AA2E-EB71A0C31B0D}"/>
              </a:ext>
            </a:extLst>
          </p:cNvPr>
          <p:cNvSpPr>
            <a:spLocks noGrp="1"/>
          </p:cNvSpPr>
          <p:nvPr>
            <p:ph idx="1"/>
          </p:nvPr>
        </p:nvSpPr>
        <p:spPr/>
        <p:txBody>
          <a:bodyPr/>
          <a:lstStyle/>
          <a:p>
            <a:r>
              <a:rPr lang="en-US" dirty="0"/>
              <a:t>The added states are the contribution. The mechanism is that the penalty checks the network on a slice the network can leave. Whether that is a live leak or a theoretical one is unmeasured, and one run measures it. The trajectory-propagation issue is a separate problem that applies to </a:t>
            </a:r>
            <a:r>
              <a:rPr lang="en-US" dirty="0" err="1"/>
              <a:t>Gyorok</a:t>
            </a:r>
            <a:r>
              <a:rPr lang="en-US" dirty="0"/>
              <a:t> too and should not lead.</a:t>
            </a:r>
            <a:endParaRPr lang="en-NL" dirty="0"/>
          </a:p>
        </p:txBody>
      </p:sp>
    </p:spTree>
    <p:extLst>
      <p:ext uri="{BB962C8B-B14F-4D97-AF65-F5344CB8AC3E}">
        <p14:creationId xmlns:p14="http://schemas.microsoft.com/office/powerpoint/2010/main" val="4063184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E0C3-E296-157F-5BA3-E7C17D8944CD}"/>
              </a:ext>
            </a:extLst>
          </p:cNvPr>
          <p:cNvSpPr>
            <a:spLocks noGrp="1"/>
          </p:cNvSpPr>
          <p:nvPr>
            <p:ph type="title"/>
          </p:nvPr>
        </p:nvSpPr>
        <p:spPr/>
        <p:txBody>
          <a:bodyPr>
            <a:normAutofit fontScale="90000"/>
          </a:bodyPr>
          <a:lstStyle/>
          <a:p>
            <a:r>
              <a:rPr lang="en-US" dirty="0"/>
              <a:t>Objective: does another field already have a construction that constrains an added learned term's cumulative effect over a window, rather than sample by sample?</a:t>
            </a:r>
            <a:endParaRPr lang="en-NL" dirty="0"/>
          </a:p>
        </p:txBody>
      </p:sp>
      <p:sp>
        <p:nvSpPr>
          <p:cNvPr id="3" name="Content Placeholder 2">
            <a:extLst>
              <a:ext uri="{FF2B5EF4-FFF2-40B4-BE49-F238E27FC236}">
                <a16:creationId xmlns:a16="http://schemas.microsoft.com/office/drawing/2014/main" id="{4EF15EBD-1E8C-EEBA-8250-C9C078D37AB4}"/>
              </a:ext>
            </a:extLst>
          </p:cNvPr>
          <p:cNvSpPr>
            <a:spLocks noGrp="1"/>
          </p:cNvSpPr>
          <p:nvPr>
            <p:ph idx="1"/>
          </p:nvPr>
        </p:nvSpPr>
        <p:spPr/>
        <p:txBody>
          <a:bodyPr/>
          <a:lstStyle/>
          <a:p>
            <a:r>
              <a:rPr lang="en-US" dirty="0"/>
              <a:t>Extend orthogonal-projection </a:t>
            </a:r>
            <a:r>
              <a:rPr lang="en-US" dirty="0" err="1"/>
              <a:t>regularisation</a:t>
            </a:r>
            <a:r>
              <a:rPr lang="en-US" dirty="0"/>
              <a:t> so it still protects physical-parameter interpretability when the augmentation has its own states — which Györök's does not, and which is why his pointwise penalty leaves 90% of our correction unconstrained.</a:t>
            </a:r>
            <a:endParaRPr lang="en-NL" dirty="0"/>
          </a:p>
        </p:txBody>
      </p:sp>
    </p:spTree>
    <p:extLst>
      <p:ext uri="{BB962C8B-B14F-4D97-AF65-F5344CB8AC3E}">
        <p14:creationId xmlns:p14="http://schemas.microsoft.com/office/powerpoint/2010/main" val="4165505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E5E9-9BF2-13A0-CE01-DDBAA633B9EA}"/>
              </a:ext>
            </a:extLst>
          </p:cNvPr>
          <p:cNvSpPr>
            <a:spLocks noGrp="1"/>
          </p:cNvSpPr>
          <p:nvPr>
            <p:ph type="title"/>
          </p:nvPr>
        </p:nvSpPr>
        <p:spPr/>
        <p:txBody>
          <a:bodyPr/>
          <a:lstStyle/>
          <a:p>
            <a:r>
              <a:rPr lang="en-US" dirty="0"/>
              <a:t>Beta decision</a:t>
            </a:r>
            <a:endParaRPr lang="en-NL" dirty="0"/>
          </a:p>
        </p:txBody>
      </p:sp>
      <p:sp>
        <p:nvSpPr>
          <p:cNvPr id="3" name="Content Placeholder 2">
            <a:extLst>
              <a:ext uri="{FF2B5EF4-FFF2-40B4-BE49-F238E27FC236}">
                <a16:creationId xmlns:a16="http://schemas.microsoft.com/office/drawing/2014/main" id="{4F7043E2-B308-C518-22D7-5CDF16E47EAF}"/>
              </a:ext>
            </a:extLst>
          </p:cNvPr>
          <p:cNvSpPr>
            <a:spLocks noGrp="1"/>
          </p:cNvSpPr>
          <p:nvPr>
            <p:ph idx="1"/>
          </p:nvPr>
        </p:nvSpPr>
        <p:spPr/>
        <p:txBody>
          <a:bodyPr/>
          <a:lstStyle/>
          <a:p>
            <a:r>
              <a:rPr lang="en-US" dirty="0" err="1"/>
              <a:t>Bolderman</a:t>
            </a:r>
            <a:r>
              <a:rPr lang="en-US" dirty="0"/>
              <a:t> answers how to set the drift-preventing weight without using test error, which is exactly what P1c needs.</a:t>
            </a:r>
          </a:p>
          <a:p>
            <a:r>
              <a:rPr lang="en-US" dirty="0"/>
              <a:t>Paper </a:t>
            </a:r>
            <a:r>
              <a:rPr lang="en-US" dirty="0" err="1"/>
              <a:t>maarten</a:t>
            </a:r>
            <a:r>
              <a:rPr lang="en-US" dirty="0"/>
              <a:t> critique op beta</a:t>
            </a:r>
            <a:endParaRPr lang="en-NL" dirty="0"/>
          </a:p>
        </p:txBody>
      </p:sp>
      <p:pic>
        <p:nvPicPr>
          <p:cNvPr id="5" name="Picture 4">
            <a:extLst>
              <a:ext uri="{FF2B5EF4-FFF2-40B4-BE49-F238E27FC236}">
                <a16:creationId xmlns:a16="http://schemas.microsoft.com/office/drawing/2014/main" id="{9CAEDF08-7917-424B-371A-224BB2D0A910}"/>
              </a:ext>
            </a:extLst>
          </p:cNvPr>
          <p:cNvPicPr>
            <a:picLocks noChangeAspect="1"/>
          </p:cNvPicPr>
          <p:nvPr/>
        </p:nvPicPr>
        <p:blipFill>
          <a:blip r:embed="rId2"/>
          <a:stretch>
            <a:fillRect/>
          </a:stretch>
        </p:blipFill>
        <p:spPr>
          <a:xfrm>
            <a:off x="1923736" y="5151898"/>
            <a:ext cx="7763958" cy="3143689"/>
          </a:xfrm>
          <a:prstGeom prst="rect">
            <a:avLst/>
          </a:prstGeom>
        </p:spPr>
      </p:pic>
    </p:spTree>
    <p:extLst>
      <p:ext uri="{BB962C8B-B14F-4D97-AF65-F5344CB8AC3E}">
        <p14:creationId xmlns:p14="http://schemas.microsoft.com/office/powerpoint/2010/main" val="37881966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71A2C-55AC-B93D-86A8-CB4E40BB2065}"/>
              </a:ext>
            </a:extLst>
          </p:cNvPr>
          <p:cNvSpPr>
            <a:spLocks noGrp="1"/>
          </p:cNvSpPr>
          <p:nvPr>
            <p:ph type="title"/>
          </p:nvPr>
        </p:nvSpPr>
        <p:spPr/>
        <p:txBody>
          <a:bodyPr/>
          <a:lstStyle/>
          <a:p>
            <a:r>
              <a:rPr lang="en-US" dirty="0"/>
              <a:t>Proof with </a:t>
            </a:r>
            <a:r>
              <a:rPr lang="en-US" dirty="0" err="1"/>
              <a:t>sympy</a:t>
            </a:r>
            <a:endParaRPr lang="en-NL" dirty="0"/>
          </a:p>
        </p:txBody>
      </p:sp>
      <p:sp>
        <p:nvSpPr>
          <p:cNvPr id="3" name="Content Placeholder 2">
            <a:extLst>
              <a:ext uri="{FF2B5EF4-FFF2-40B4-BE49-F238E27FC236}">
                <a16:creationId xmlns:a16="http://schemas.microsoft.com/office/drawing/2014/main" id="{A51FE982-F3BB-F4C5-B63E-A784A0925CB4}"/>
              </a:ext>
            </a:extLst>
          </p:cNvPr>
          <p:cNvSpPr>
            <a:spLocks noGrp="1"/>
          </p:cNvSpPr>
          <p:nvPr>
            <p:ph idx="1"/>
          </p:nvPr>
        </p:nvSpPr>
        <p:spPr/>
        <p:txBody>
          <a:bodyPr>
            <a:normAutofit fontScale="70000" lnSpcReduction="20000"/>
          </a:bodyPr>
          <a:lstStyle/>
          <a:p>
            <a:r>
              <a:rPr lang="en-US" dirty="0"/>
              <a:t>could we use </a:t>
            </a:r>
            <a:r>
              <a:rPr lang="en-US" dirty="0" err="1"/>
              <a:t>sympy</a:t>
            </a:r>
            <a:r>
              <a:rPr lang="en-US" dirty="0"/>
              <a:t> to proof that a derivation works for the additional </a:t>
            </a:r>
            <a:r>
              <a:rPr lang="en-US" dirty="0" err="1"/>
              <a:t>state?Yes</a:t>
            </a:r>
            <a:r>
              <a:rPr lang="en-US" dirty="0"/>
              <a:t>, and there is a specific setup that makes it exact rather than </a:t>
            </a:r>
            <a:r>
              <a:rPr lang="en-US" dirty="0" err="1"/>
              <a:t>approximate.Make</a:t>
            </a:r>
            <a:r>
              <a:rPr lang="en-US" dirty="0"/>
              <a:t> the network affine and the window short. Take a one-layer affine φ, a window of T = 2 or 3, and symbolic θ. Then the whole rollout is closed-form: x̄_{k+1} = </a:t>
            </a:r>
            <a:r>
              <a:rPr lang="en-US" dirty="0" err="1"/>
              <a:t>g_aug</a:t>
            </a:r>
            <a:r>
              <a:rPr lang="en-US" dirty="0"/>
              <a:t> is affine in the previous state, the composition over the window is a finite product, and every quantity is a rational function of finitely many symbols. </a:t>
            </a:r>
            <a:r>
              <a:rPr lang="en-US" dirty="0" err="1"/>
              <a:t>Sympy</a:t>
            </a:r>
            <a:r>
              <a:rPr lang="en-US" dirty="0"/>
              <a:t> decides that class </a:t>
            </a:r>
            <a:r>
              <a:rPr lang="en-US" dirty="0" err="1"/>
              <a:t>exactly.For</a:t>
            </a:r>
            <a:r>
              <a:rPr lang="en-US" dirty="0"/>
              <a:t> the negative, this proves it outright. Construct explicit </a:t>
            </a:r>
            <a:r>
              <a:rPr lang="en-US" dirty="0" err="1"/>
              <a:t>f_aug</a:t>
            </a:r>
            <a:r>
              <a:rPr lang="en-US" dirty="0"/>
              <a:t>, </a:t>
            </a:r>
            <a:r>
              <a:rPr lang="en-US" dirty="0" err="1"/>
              <a:t>g_aug</a:t>
            </a:r>
            <a:r>
              <a:rPr lang="en-US" dirty="0"/>
              <a:t> that satisfy the pointwise condition at every evaluated point, then compute the cumulative contribution to the physical rows over the window and show it has a nonzero component in span(Ψ_T). That is an existence claim, so one witness settles it, and an affine witness is the strongest possible form: if even the simplest network can do it, a general one certainly can. </a:t>
            </a:r>
            <a:r>
              <a:rPr lang="en-US" dirty="0" err="1"/>
              <a:t>Sympy</a:t>
            </a:r>
            <a:r>
              <a:rPr lang="en-US" dirty="0"/>
              <a:t> verifies both halves, and the same instance runs numerically as a cross-</a:t>
            </a:r>
            <a:r>
              <a:rPr lang="en-US" dirty="0" err="1"/>
              <a:t>check.For</a:t>
            </a:r>
            <a:r>
              <a:rPr lang="en-US" dirty="0"/>
              <a:t> the positive, it gives base cases rather than a theorem. You can prove the extended condition bounds the cumulative contribution at T = 2, 3, 4 symbolically, see the pattern, and then the induction to general T is a short human argument that </a:t>
            </a:r>
            <a:r>
              <a:rPr lang="en-US" dirty="0" err="1"/>
              <a:t>sympy</a:t>
            </a:r>
            <a:r>
              <a:rPr lang="en-US" dirty="0"/>
              <a:t> checks the step of but cannot state. That is a normal division of </a:t>
            </a:r>
            <a:r>
              <a:rPr lang="en-US" dirty="0" err="1"/>
              <a:t>labour</a:t>
            </a:r>
            <a:r>
              <a:rPr lang="en-US" dirty="0"/>
              <a:t>, and it is honest to write it that </a:t>
            </a:r>
            <a:r>
              <a:rPr lang="en-US" dirty="0" err="1"/>
              <a:t>way.What</a:t>
            </a:r>
            <a:r>
              <a:rPr lang="en-US" dirty="0"/>
              <a:t> it still cannot reach: any statement quantified over all networks or all trajectories. Cho's ceiling is </a:t>
            </a:r>
            <a:r>
              <a:rPr lang="en-US" dirty="0" err="1"/>
              <a:t>unaffected.This</a:t>
            </a:r>
            <a:r>
              <a:rPr lang="en-US" dirty="0"/>
              <a:t> is well-defined enough to start. The first piece would be the affine counterexample at T = 2, which is a day at most and would give you the mathematical core of the contribution in a form a machine certifies.</a:t>
            </a:r>
            <a:endParaRPr lang="en-NL" dirty="0"/>
          </a:p>
        </p:txBody>
      </p:sp>
    </p:spTree>
    <p:extLst>
      <p:ext uri="{BB962C8B-B14F-4D97-AF65-F5344CB8AC3E}">
        <p14:creationId xmlns:p14="http://schemas.microsoft.com/office/powerpoint/2010/main" val="10532285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A97B-3793-E094-98B0-3453A9C11E9C}"/>
              </a:ext>
            </a:extLst>
          </p:cNvPr>
          <p:cNvSpPr>
            <a:spLocks noGrp="1"/>
          </p:cNvSpPr>
          <p:nvPr>
            <p:ph type="title"/>
          </p:nvPr>
        </p:nvSpPr>
        <p:spPr/>
        <p:txBody>
          <a:bodyPr/>
          <a:lstStyle/>
          <a:p>
            <a:r>
              <a:rPr lang="en-US" dirty="0"/>
              <a:t>How useful are </a:t>
            </a:r>
            <a:r>
              <a:rPr lang="en-US" dirty="0" err="1"/>
              <a:t>Gramians</a:t>
            </a:r>
            <a:r>
              <a:rPr lang="en-US" dirty="0"/>
              <a:t>?</a:t>
            </a:r>
            <a:endParaRPr lang="en-NL" dirty="0"/>
          </a:p>
        </p:txBody>
      </p:sp>
      <p:sp>
        <p:nvSpPr>
          <p:cNvPr id="3" name="Content Placeholder 2">
            <a:extLst>
              <a:ext uri="{FF2B5EF4-FFF2-40B4-BE49-F238E27FC236}">
                <a16:creationId xmlns:a16="http://schemas.microsoft.com/office/drawing/2014/main" id="{E12CFA2C-828E-E384-9D06-C8CE86DE05B1}"/>
              </a:ext>
            </a:extLst>
          </p:cNvPr>
          <p:cNvSpPr>
            <a:spLocks noGrp="1"/>
          </p:cNvSpPr>
          <p:nvPr>
            <p:ph idx="1"/>
          </p:nvPr>
        </p:nvSpPr>
        <p:spPr/>
        <p:txBody>
          <a:bodyPr/>
          <a:lstStyle/>
          <a:p>
            <a:r>
              <a:rPr lang="en-US" dirty="0"/>
              <a:t>Hankel singular values of the learned augmented subsystem</a:t>
            </a:r>
          </a:p>
          <a:p>
            <a:r>
              <a:rPr lang="en-US" dirty="0"/>
              <a:t>We can use </a:t>
            </a:r>
            <a:r>
              <a:rPr lang="en-US" dirty="0" err="1"/>
              <a:t>gramians</a:t>
            </a:r>
            <a:r>
              <a:rPr lang="en-US" dirty="0"/>
              <a:t> to determine “how much signal” is in a state.</a:t>
            </a:r>
          </a:p>
          <a:p>
            <a:r>
              <a:rPr lang="en-US" dirty="0"/>
              <a:t> your x̄ block is nonlinear and LPV</a:t>
            </a:r>
            <a:endParaRPr lang="en-NL" dirty="0"/>
          </a:p>
        </p:txBody>
      </p:sp>
    </p:spTree>
    <p:extLst>
      <p:ext uri="{BB962C8B-B14F-4D97-AF65-F5344CB8AC3E}">
        <p14:creationId xmlns:p14="http://schemas.microsoft.com/office/powerpoint/2010/main" val="3113235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9284-AB59-2519-0E75-ACD97A02C41C}"/>
              </a:ext>
            </a:extLst>
          </p:cNvPr>
          <p:cNvSpPr>
            <a:spLocks noGrp="1"/>
          </p:cNvSpPr>
          <p:nvPr>
            <p:ph type="title"/>
          </p:nvPr>
        </p:nvSpPr>
        <p:spPr/>
        <p:txBody>
          <a:bodyPr/>
          <a:lstStyle/>
          <a:p>
            <a:r>
              <a:rPr lang="en-US" dirty="0"/>
              <a:t>If I don’t get to real data nothing really showing nonlinear capabilities</a:t>
            </a:r>
            <a:endParaRPr lang="en-NL" dirty="0"/>
          </a:p>
        </p:txBody>
      </p:sp>
      <p:sp>
        <p:nvSpPr>
          <p:cNvPr id="3" name="Content Placeholder 2">
            <a:extLst>
              <a:ext uri="{FF2B5EF4-FFF2-40B4-BE49-F238E27FC236}">
                <a16:creationId xmlns:a16="http://schemas.microsoft.com/office/drawing/2014/main" id="{7001AEDB-66DB-47B2-05D9-D6D7C92BB3E1}"/>
              </a:ext>
            </a:extLst>
          </p:cNvPr>
          <p:cNvSpPr>
            <a:spLocks noGrp="1"/>
          </p:cNvSpPr>
          <p:nvPr>
            <p:ph idx="1"/>
          </p:nvPr>
        </p:nvSpPr>
        <p:spPr/>
        <p:txBody>
          <a:bodyPr/>
          <a:lstStyle/>
          <a:p>
            <a:r>
              <a:rPr lang="en-US" dirty="0"/>
              <a:t>Adding cubic spring instead?</a:t>
            </a:r>
          </a:p>
          <a:p>
            <a:r>
              <a:rPr lang="en-US" dirty="0"/>
              <a:t>Adding friction? Friction is nonlinear? To the system only?</a:t>
            </a:r>
            <a:endParaRPr lang="en-NL" dirty="0"/>
          </a:p>
        </p:txBody>
      </p:sp>
    </p:spTree>
    <p:extLst>
      <p:ext uri="{BB962C8B-B14F-4D97-AF65-F5344CB8AC3E}">
        <p14:creationId xmlns:p14="http://schemas.microsoft.com/office/powerpoint/2010/main" val="4248596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E382-0A87-D532-3C8E-1FFFB2C2B967}"/>
              </a:ext>
            </a:extLst>
          </p:cNvPr>
          <p:cNvSpPr>
            <a:spLocks noGrp="1"/>
          </p:cNvSpPr>
          <p:nvPr>
            <p:ph type="title"/>
          </p:nvPr>
        </p:nvSpPr>
        <p:spPr/>
        <p:txBody>
          <a:bodyPr/>
          <a:lstStyle/>
          <a:p>
            <a:r>
              <a:rPr lang="en-US" dirty="0"/>
              <a:t>Updated planning</a:t>
            </a:r>
            <a:endParaRPr lang="en-NL" dirty="0"/>
          </a:p>
        </p:txBody>
      </p:sp>
      <p:sp>
        <p:nvSpPr>
          <p:cNvPr id="3" name="Content Placeholder 2">
            <a:extLst>
              <a:ext uri="{FF2B5EF4-FFF2-40B4-BE49-F238E27FC236}">
                <a16:creationId xmlns:a16="http://schemas.microsoft.com/office/drawing/2014/main" id="{1DC0139B-CDAB-36EB-6F77-3DEE9AC8DE89}"/>
              </a:ext>
            </a:extLst>
          </p:cNvPr>
          <p:cNvSpPr>
            <a:spLocks noGrp="1"/>
          </p:cNvSpPr>
          <p:nvPr>
            <p:ph idx="1"/>
          </p:nvPr>
        </p:nvSpPr>
        <p:spPr/>
        <p:txBody>
          <a:bodyPr/>
          <a:lstStyle/>
          <a:p>
            <a:r>
              <a:rPr lang="en-US" dirty="0"/>
              <a:t>Ook </a:t>
            </a:r>
            <a:r>
              <a:rPr lang="en-US" dirty="0" err="1"/>
              <a:t>mailen</a:t>
            </a:r>
            <a:r>
              <a:rPr lang="en-US" dirty="0"/>
              <a:t>!</a:t>
            </a:r>
            <a:endParaRPr lang="en-NL" dirty="0"/>
          </a:p>
        </p:txBody>
      </p:sp>
    </p:spTree>
    <p:extLst>
      <p:ext uri="{BB962C8B-B14F-4D97-AF65-F5344CB8AC3E}">
        <p14:creationId xmlns:p14="http://schemas.microsoft.com/office/powerpoint/2010/main" val="4727305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D8598-0AA7-768B-EFFD-1FDF549D0B0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4FB9E7E-5DFA-A6B6-CA0F-0BD5CE65E10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393089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AB7D4-71BB-3F10-9412-B36FEC1008D6}"/>
              </a:ext>
            </a:extLst>
          </p:cNvPr>
          <p:cNvSpPr>
            <a:spLocks noGrp="1"/>
          </p:cNvSpPr>
          <p:nvPr>
            <p:ph type="title"/>
          </p:nvPr>
        </p:nvSpPr>
        <p:spPr/>
        <p:txBody>
          <a:bodyPr/>
          <a:lstStyle/>
          <a:p>
            <a:r>
              <a:rPr lang="en-US" dirty="0"/>
              <a:t>Additional “proofs”</a:t>
            </a:r>
            <a:endParaRPr lang="en-NL" dirty="0"/>
          </a:p>
        </p:txBody>
      </p:sp>
      <p:sp>
        <p:nvSpPr>
          <p:cNvPr id="3" name="Content Placeholder 2">
            <a:extLst>
              <a:ext uri="{FF2B5EF4-FFF2-40B4-BE49-F238E27FC236}">
                <a16:creationId xmlns:a16="http://schemas.microsoft.com/office/drawing/2014/main" id="{BE3E6EB2-685E-0379-C14E-79CCAE1A6C95}"/>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427813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2A89B-234B-309C-E194-DB6FEF87F8C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48D0427-4ADE-EC55-601B-D1B122A9FEC5}"/>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DA6E4DBA-1DDB-2089-43CE-85F05655B241}"/>
              </a:ext>
            </a:extLst>
          </p:cNvPr>
          <p:cNvSpPr txBox="1"/>
          <p:nvPr/>
        </p:nvSpPr>
        <p:spPr>
          <a:xfrm>
            <a:off x="3048000" y="-3538511"/>
            <a:ext cx="6096000" cy="13942278"/>
          </a:xfrm>
          <a:prstGeom prst="rect">
            <a:avLst/>
          </a:prstGeom>
          <a:noFill/>
        </p:spPr>
        <p:txBody>
          <a:bodyPr wrap="square">
            <a:spAutoFit/>
          </a:bodyPr>
          <a:lstStyle/>
          <a:p>
            <a:r>
              <a:rPr lang="en-NL" dirty="0"/>
              <a:t>then what area of mathematics should we focus on to extend to additional states and the fact we have "memory" in our states. and is it possible to PROOF this? to is an actual proof and not only for our use </a:t>
            </a:r>
            <a:r>
              <a:rPr lang="en-NL" dirty="0" err="1"/>
              <a:t>case?Yes</a:t>
            </a:r>
            <a:r>
              <a:rPr lang="en-NL" dirty="0"/>
              <a:t>, and there is a specific answer rather than a vague </a:t>
            </a:r>
            <a:r>
              <a:rPr lang="en-NL" dirty="0" err="1"/>
              <a:t>one.The</a:t>
            </a:r>
            <a:r>
              <a:rPr lang="en-NL" dirty="0"/>
              <a:t> </a:t>
            </a:r>
            <a:r>
              <a:rPr lang="en-NL" dirty="0" err="1"/>
              <a:t>areaInner</a:t>
            </a:r>
            <a:r>
              <a:rPr lang="en-NL" dirty="0"/>
              <a:t> products on systems, not on vectors. The reason memory breaks Györök is that his </a:t>
            </a:r>
            <a:r>
              <a:rPr lang="en-NL" dirty="0" err="1"/>
              <a:t>Qᵀf</a:t>
            </a:r>
            <a:r>
              <a:rPr lang="en-NL" dirty="0"/>
              <a:t> = 0 is a Euclidean inner product in R^{</a:t>
            </a:r>
            <a:r>
              <a:rPr lang="en-NL" dirty="0" err="1"/>
              <a:t>n_x</a:t>
            </a:r>
            <a:r>
              <a:rPr lang="en-NL" dirty="0"/>
              <a:t>}, which has no notion of a signal arriving later. The object that does is the H₂ inner product on transfer functions:⟨G₁, G₂⟩ = (1/2π) ∫ trace( G₁(e^{</a:t>
            </a:r>
            <a:r>
              <a:rPr lang="en-NL" dirty="0" err="1"/>
              <a:t>jω</a:t>
            </a:r>
            <a:r>
              <a:rPr lang="en-NL" dirty="0"/>
              <a:t>})* G₂(e^{</a:t>
            </a:r>
            <a:r>
              <a:rPr lang="en-NL" dirty="0" err="1"/>
              <a:t>jω</a:t>
            </a:r>
            <a:r>
              <a:rPr lang="en-NL" dirty="0"/>
              <a:t>}) ) </a:t>
            </a:r>
            <a:r>
              <a:rPr lang="en-NL" dirty="0" err="1"/>
              <a:t>dωThis</a:t>
            </a:r>
            <a:r>
              <a:rPr lang="en-NL" dirty="0"/>
              <a:t> is a genuine inner product on dynamic operators, so "orthogonal" is well defined for systems with memory. And the parameter sensitivity is itself a system: ∂G/∂θᵢ is a transfer function, the sensitivity system. So the extension of Györök reads:⟨ ∂G/∂θᵢ , </a:t>
            </a:r>
            <a:r>
              <a:rPr lang="en-NL" dirty="0" err="1"/>
              <a:t>G_aug</a:t>
            </a:r>
            <a:r>
              <a:rPr lang="en-NL" dirty="0"/>
              <a:t> ⟩ = 0   for all </a:t>
            </a:r>
            <a:r>
              <a:rPr lang="en-NL" dirty="0" err="1"/>
              <a:t>iMemoryless</a:t>
            </a:r>
            <a:r>
              <a:rPr lang="en-NL" dirty="0"/>
              <a:t> is the special case where this collapses back to his pointwise condition. That is the generalisation you want, stated in one </a:t>
            </a:r>
            <a:r>
              <a:rPr lang="en-NL" dirty="0" err="1"/>
              <a:t>line.The</a:t>
            </a:r>
            <a:r>
              <a:rPr lang="en-NL" dirty="0"/>
              <a:t> part that ties your loose ends </a:t>
            </a:r>
            <a:r>
              <a:rPr lang="en-NL" dirty="0" err="1"/>
              <a:t>together⟨G</a:t>
            </a:r>
            <a:r>
              <a:rPr lang="en-NL" dirty="0"/>
              <a:t>₁, G₂⟩ is computed by solving a Stein equation A₁ X A₂ᵀ − X + B₁B₂ᵀ = 0, whose solution is Σₖ A₁^k B₁B₂ᵀ (A₂ᵀ)^k. Compare that with what came out of the affine </a:t>
            </a:r>
            <a:r>
              <a:rPr lang="en-NL" dirty="0" err="1"/>
              <a:t>derivation:Λ_T</a:t>
            </a:r>
            <a:r>
              <a:rPr lang="en-NL" dirty="0"/>
              <a:t>(</a:t>
            </a:r>
            <a:r>
              <a:rPr lang="en-NL" dirty="0" err="1"/>
              <a:t>i</a:t>
            </a:r>
            <a:r>
              <a:rPr lang="en-NL" dirty="0"/>
              <a:t>) = Σⱼ A^{T-1-j} K G^{j-1-i}Same object, truncated at horizon T. So Λ_T is not an ad-hoc formula, it is a finite-horizon Stein/</a:t>
            </a:r>
            <a:r>
              <a:rPr lang="en-NL" dirty="0" err="1"/>
              <a:t>Gramian</a:t>
            </a:r>
            <a:r>
              <a:rPr lang="en-NL" dirty="0"/>
              <a:t>, and this is where your model-reduction course genuinely enters: cross-</a:t>
            </a:r>
            <a:r>
              <a:rPr lang="en-NL" dirty="0" err="1"/>
              <a:t>Gramians</a:t>
            </a:r>
            <a:r>
              <a:rPr lang="en-NL" dirty="0"/>
              <a:t> are the machinery that computes the inner product between two systems, not merely a weighting I suggested </a:t>
            </a:r>
            <a:r>
              <a:rPr lang="en-NL" dirty="0" err="1"/>
              <a:t>earlier.Can</a:t>
            </a:r>
            <a:r>
              <a:rPr lang="en-NL" dirty="0"/>
              <a:t> it be proved in </a:t>
            </a:r>
            <a:r>
              <a:rPr lang="en-NL" dirty="0" err="1"/>
              <a:t>generalYes</a:t>
            </a:r>
            <a:r>
              <a:rPr lang="en-NL" dirty="0"/>
              <a:t>, for LTI, and this is the theorem shape:▎ Let </a:t>
            </a:r>
            <a:r>
              <a:rPr lang="en-NL" dirty="0" err="1"/>
              <a:t>G_θ</a:t>
            </a:r>
            <a:r>
              <a:rPr lang="en-NL" dirty="0"/>
              <a:t> be a parameterised model and Δ an unmodelled dynamic term. The first-order bias in θ̂ from fitting </a:t>
            </a:r>
            <a:r>
              <a:rPr lang="en-NL" dirty="0" err="1"/>
              <a:t>G_θ</a:t>
            </a:r>
            <a:r>
              <a:rPr lang="en-NL" dirty="0"/>
              <a:t> to data generated by </a:t>
            </a:r>
            <a:r>
              <a:rPr lang="en-NL" dirty="0" err="1"/>
              <a:t>G_θ</a:t>
            </a:r>
            <a:r>
              <a:rPr lang="en-NL" dirty="0"/>
              <a:t>* + Δ is determined by ⟨∂G/∂θᵢ, Δ⟩, and vanishes for every </a:t>
            </a:r>
            <a:r>
              <a:rPr lang="en-NL" dirty="0" err="1"/>
              <a:t>i</a:t>
            </a:r>
            <a:r>
              <a:rPr lang="en-NL" dirty="0"/>
              <a:t> exactly when Δ ⊥ span{∂G/∂θᵢ} in </a:t>
            </a:r>
            <a:r>
              <a:rPr lang="en-NL" dirty="0" err="1"/>
              <a:t>H₂.That</a:t>
            </a:r>
            <a:r>
              <a:rPr lang="en-NL" dirty="0"/>
              <a:t> is a real theorem, provable, and it is not about your gantry: it holds for any parameterised LTI model with any dynamic augmentation. Your </a:t>
            </a:r>
            <a:r>
              <a:rPr lang="en-NL" dirty="0" err="1"/>
              <a:t>θ_err</a:t>
            </a:r>
            <a:r>
              <a:rPr lang="en-NL" dirty="0"/>
              <a:t> = (ΦᵀΦ)^{-1}ΦᵀΔ bias relation is its memoryless shadow, so the two are already </a:t>
            </a:r>
            <a:r>
              <a:rPr lang="en-NL" dirty="0" err="1"/>
              <a:t>consistent.Honest</a:t>
            </a:r>
            <a:r>
              <a:rPr lang="en-NL" dirty="0"/>
              <a:t> caveats, all of which must be stated in the theorem, not hidden: LTI, first-order in the perturbation, quadratic loss, open loop. Your system is LPV and closed loop, so deployment needs either frozen-parameter/local versions or the LPV H₂ machinery (which exists, via </a:t>
            </a:r>
            <a:r>
              <a:rPr lang="en-NL" dirty="0" err="1"/>
              <a:t>LMIs</a:t>
            </a:r>
            <a:r>
              <a:rPr lang="en-NL" dirty="0"/>
              <a:t>, and is where it gets hard). The general theorem is the contribution; the LPV instance is the </a:t>
            </a:r>
            <a:r>
              <a:rPr lang="en-NL" dirty="0" err="1"/>
              <a:t>application.One</a:t>
            </a:r>
            <a:r>
              <a:rPr lang="en-NL" dirty="0"/>
              <a:t> thing before building it: I do not know whether this is already published. H₂-orthogonality between a sensitivity system and a residual is close enough to classical identifiability and to model-structure-selection work that it may exist under another name. That check is a deep-research run, one query, and it should happen before any derivation, because if it exists you cite it and inherit the proof instead of redoing it.</a:t>
            </a:r>
          </a:p>
        </p:txBody>
      </p:sp>
    </p:spTree>
    <p:extLst>
      <p:ext uri="{BB962C8B-B14F-4D97-AF65-F5344CB8AC3E}">
        <p14:creationId xmlns:p14="http://schemas.microsoft.com/office/powerpoint/2010/main" val="26047448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B5470-0300-A216-86E1-1C2777532653}"/>
              </a:ext>
            </a:extLst>
          </p:cNvPr>
          <p:cNvSpPr>
            <a:spLocks noGrp="1"/>
          </p:cNvSpPr>
          <p:nvPr>
            <p:ph type="title"/>
          </p:nvPr>
        </p:nvSpPr>
        <p:spPr/>
        <p:txBody>
          <a:bodyPr>
            <a:normAutofit fontScale="90000"/>
          </a:bodyPr>
          <a:lstStyle/>
          <a:p>
            <a:r>
              <a:rPr lang="en-US" dirty="0"/>
              <a:t> Algorithm for the nonlinear/quasi-LPV case. The finite-horizon LTV version along </a:t>
            </a:r>
            <a:r>
              <a:rPr lang="en-US" dirty="0" err="1"/>
              <a:t>realised</a:t>
            </a:r>
            <a:r>
              <a:rPr lang="en-US" dirty="0"/>
              <a:t> trajectories, which is what you deploy. It reduces to the theorem when the system happens to be LTI and the horizon goes to infinity.</a:t>
            </a:r>
            <a:endParaRPr lang="en-NL" dirty="0"/>
          </a:p>
        </p:txBody>
      </p:sp>
      <p:sp>
        <p:nvSpPr>
          <p:cNvPr id="3" name="Content Placeholder 2">
            <a:extLst>
              <a:ext uri="{FF2B5EF4-FFF2-40B4-BE49-F238E27FC236}">
                <a16:creationId xmlns:a16="http://schemas.microsoft.com/office/drawing/2014/main" id="{558CEB97-5276-E53B-4068-E2E92C9C68C0}"/>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506955D-5371-2C1B-BEFA-4FD988D5892B}"/>
              </a:ext>
            </a:extLst>
          </p:cNvPr>
          <p:cNvPicPr>
            <a:picLocks noChangeAspect="1"/>
          </p:cNvPicPr>
          <p:nvPr/>
        </p:nvPicPr>
        <p:blipFill>
          <a:blip r:embed="rId2"/>
          <a:stretch>
            <a:fillRect/>
          </a:stretch>
        </p:blipFill>
        <p:spPr>
          <a:xfrm>
            <a:off x="1937575" y="3302107"/>
            <a:ext cx="7678222" cy="1705213"/>
          </a:xfrm>
          <a:prstGeom prst="rect">
            <a:avLst/>
          </a:prstGeom>
        </p:spPr>
      </p:pic>
    </p:spTree>
    <p:extLst>
      <p:ext uri="{BB962C8B-B14F-4D97-AF65-F5344CB8AC3E}">
        <p14:creationId xmlns:p14="http://schemas.microsoft.com/office/powerpoint/2010/main" val="2620506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6223</TotalTime>
  <Words>3384</Words>
  <Application>Microsoft Office PowerPoint</Application>
  <PresentationFormat>Widescreen</PresentationFormat>
  <Paragraphs>172</Paragraphs>
  <Slides>64</Slides>
  <Notes>11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Aptos</vt:lpstr>
      <vt:lpstr>Aptos Display</vt:lpstr>
      <vt:lpstr>Arial</vt:lpstr>
      <vt:lpstr>Wingdings</vt:lpstr>
      <vt:lpstr>Office Theme</vt:lpstr>
      <vt:lpstr>Meeting Outline</vt:lpstr>
      <vt:lpstr>System Error not big enough?</vt:lpstr>
      <vt:lpstr>PowerPoint Presentation</vt:lpstr>
      <vt:lpstr>New setup – Dynamics moved</vt:lpstr>
      <vt:lpstr>PowerPoint Presentation</vt:lpstr>
      <vt:lpstr>GPU training</vt:lpstr>
      <vt:lpstr>Capturing missing dynamics 2 vs 8 additional states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vt:lpstr>
      <vt:lpstr>PowerPoint Presentation</vt:lpstr>
      <vt:lpstr>Additional states learning</vt:lpstr>
      <vt:lpstr>PowerPoint Presentation</vt:lpstr>
      <vt:lpstr>PowerPoint Presentation</vt:lpstr>
      <vt:lpstr>Quasi-newton L-BFGS</vt:lpstr>
      <vt:lpstr>Quasi-newton LBFGS</vt:lpstr>
      <vt:lpstr>Transient error</vt:lpstr>
      <vt:lpstr>PowerPoint Presentation</vt:lpstr>
      <vt:lpstr>Transient: Error is focused in the first samples Encoder biased?</vt:lpstr>
      <vt:lpstr>PowerPoint Presentation</vt:lpstr>
      <vt:lpstr>Orthogonality</vt:lpstr>
      <vt:lpstr>Question Not realistic simulation data</vt:lpstr>
      <vt:lpstr>Planning</vt:lpstr>
      <vt:lpstr>PowerPoint Presentation</vt:lpstr>
      <vt:lpstr>To do</vt:lpstr>
      <vt:lpstr>PowerPoint Presentation</vt:lpstr>
      <vt:lpstr>PowerPoint Presentation</vt:lpstr>
      <vt:lpstr>PowerPoint Presentation</vt:lpstr>
      <vt:lpstr>Baseline model</vt:lpstr>
      <vt:lpstr>PowerPoint Presentation</vt:lpstr>
      <vt:lpstr>Augmentation Overview</vt:lpstr>
      <vt:lpstr>PowerPoint Presentation</vt:lpstr>
      <vt:lpstr>To do</vt:lpstr>
      <vt:lpstr>PowerPoint Presentation</vt:lpstr>
      <vt:lpstr>PowerPoint Presentation</vt:lpstr>
      <vt:lpstr>BLA + Full Black-Box</vt:lpstr>
      <vt:lpstr>PowerPoint Presentation</vt:lpstr>
      <vt:lpstr>Multi rate horizon is now possible</vt:lpstr>
      <vt:lpstr>Encoder is the issue?</vt:lpstr>
      <vt:lpstr>Transient issue or decoupled?</vt:lpstr>
      <vt:lpstr>Orthogonality implementation</vt:lpstr>
      <vt:lpstr>PowerPoint Presentation</vt:lpstr>
      <vt:lpstr>PowerPoint Presentation</vt:lpstr>
      <vt:lpstr>PowerPoint Presentation</vt:lpstr>
      <vt:lpstr>Loopholes with our implementation</vt:lpstr>
      <vt:lpstr>PowerPoint Presentation</vt:lpstr>
      <vt:lpstr>PowerPoint Presentation</vt:lpstr>
      <vt:lpstr>PowerPoint Presentation</vt:lpstr>
      <vt:lpstr>Objective: does another field already have a construction that constrains an added learned term's cumulative effect over a window, rather than sample by sample?</vt:lpstr>
      <vt:lpstr>Beta decision</vt:lpstr>
      <vt:lpstr>Proof with sympy</vt:lpstr>
      <vt:lpstr>How useful are Gramians?</vt:lpstr>
      <vt:lpstr>If I don’t get to real data nothing really showing nonlinear capabilities</vt:lpstr>
      <vt:lpstr>Updated planning</vt:lpstr>
      <vt:lpstr>PowerPoint Presentation</vt:lpstr>
      <vt:lpstr>Additional “proofs”</vt:lpstr>
      <vt:lpstr>PowerPoint Presentation</vt:lpstr>
      <vt:lpstr> Algorithm for the nonlinear/quasi-LPV case. The finite-horizon LTV version along realised trajectories, which is what you deploy. It reduces to the theorem when the system happens to be LTI and the horizon goes to infinity.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2026-09-04T11:04:34Z</dcterms:created>
  <dcterms:modified xsi:type="dcterms:W3CDTF">2026-09-10T19:27:44Z</dcterms:modified>
</cp:coreProperties>
</file>