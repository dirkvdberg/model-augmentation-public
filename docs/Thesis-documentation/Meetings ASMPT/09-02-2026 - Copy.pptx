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</p:sldMasterIdLst>
  <p:notesMasterIdLst>
    <p:notesMasterId r:id="rId16"/>
  </p:notesMasterIdLst>
  <p:sldIdLst>
    <p:sldId id="274" r:id="rId2"/>
    <p:sldId id="264" r:id="rId3"/>
    <p:sldId id="266" r:id="rId4"/>
    <p:sldId id="267" r:id="rId5"/>
    <p:sldId id="265" r:id="rId6"/>
    <p:sldId id="272" r:id="rId7"/>
    <p:sldId id="273" r:id="rId8"/>
    <p:sldId id="259" r:id="rId9"/>
    <p:sldId id="260" r:id="rId10"/>
    <p:sldId id="269" r:id="rId11"/>
    <p:sldId id="271" r:id="rId12"/>
    <p:sldId id="270" r:id="rId13"/>
    <p:sldId id="261" r:id="rId14"/>
    <p:sldId id="262" r:id="rId15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43340D-3257-47F4-8731-8099DB00E14B}" v="3" dt="2026-02-02T15:28:20.6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7" autoAdjust="0"/>
    <p:restoredTop sz="86441" autoAdjust="0"/>
  </p:normalViewPr>
  <p:slideViewPr>
    <p:cSldViewPr snapToGrid="0">
      <p:cViewPr varScale="1">
        <p:scale>
          <a:sx n="95" d="100"/>
          <a:sy n="95" d="100"/>
        </p:scale>
        <p:origin x="396" y="96"/>
      </p:cViewPr>
      <p:guideLst/>
    </p:cSldViewPr>
  </p:slideViewPr>
  <p:outlineViewPr>
    <p:cViewPr>
      <p:scale>
        <a:sx n="33" d="100"/>
        <a:sy n="33" d="100"/>
      </p:scale>
      <p:origin x="0" y="-16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ekstra, Jan" userId="5d496fe4-0c87-4596-89e4-7951f4c87ccb" providerId="ADAL" clId="{97D91625-A293-482C-B427-66C0286D47AF}"/>
    <pc:docChg chg="undo custSel addSld modSld">
      <pc:chgData name="Hoekstra, Jan" userId="5d496fe4-0c87-4596-89e4-7951f4c87ccb" providerId="ADAL" clId="{97D91625-A293-482C-B427-66C0286D47AF}" dt="2026-02-02T15:29:04.079" v="1141" actId="114"/>
      <pc:docMkLst>
        <pc:docMk/>
      </pc:docMkLst>
      <pc:sldChg chg="addSp modSp mod">
        <pc:chgData name="Hoekstra, Jan" userId="5d496fe4-0c87-4596-89e4-7951f4c87ccb" providerId="ADAL" clId="{97D91625-A293-482C-B427-66C0286D47AF}" dt="2026-02-02T15:29:04.079" v="1141" actId="114"/>
        <pc:sldMkLst>
          <pc:docMk/>
          <pc:sldMk cId="2679595137" sldId="257"/>
        </pc:sldMkLst>
        <pc:spChg chg="mod">
          <ac:chgData name="Hoekstra, Jan" userId="5d496fe4-0c87-4596-89e4-7951f4c87ccb" providerId="ADAL" clId="{97D91625-A293-482C-B427-66C0286D47AF}" dt="2026-02-02T15:25:52.790" v="826" actId="20577"/>
          <ac:spMkLst>
            <pc:docMk/>
            <pc:sldMk cId="2679595137" sldId="257"/>
            <ac:spMk id="3" creationId="{DAAEF679-3C39-E36C-B710-9B50CBAE487E}"/>
          </ac:spMkLst>
        </pc:spChg>
        <pc:spChg chg="add mod">
          <ac:chgData name="Hoekstra, Jan" userId="5d496fe4-0c87-4596-89e4-7951f4c87ccb" providerId="ADAL" clId="{97D91625-A293-482C-B427-66C0286D47AF}" dt="2026-02-02T15:29:04.079" v="1141" actId="114"/>
          <ac:spMkLst>
            <pc:docMk/>
            <pc:sldMk cId="2679595137" sldId="257"/>
            <ac:spMk id="4" creationId="{465EFC2D-66CC-A333-8AD7-17BCBCDB18BB}"/>
          </ac:spMkLst>
        </pc:spChg>
      </pc:sldChg>
      <pc:sldChg chg="addSp modSp new mod">
        <pc:chgData name="Hoekstra, Jan" userId="5d496fe4-0c87-4596-89e4-7951f4c87ccb" providerId="ADAL" clId="{97D91625-A293-482C-B427-66C0286D47AF}" dt="2026-02-02T15:27:13.239" v="1012" actId="20577"/>
        <pc:sldMkLst>
          <pc:docMk/>
          <pc:sldMk cId="2138626586" sldId="259"/>
        </pc:sldMkLst>
        <pc:spChg chg="mod">
          <ac:chgData name="Hoekstra, Jan" userId="5d496fe4-0c87-4596-89e4-7951f4c87ccb" providerId="ADAL" clId="{97D91625-A293-482C-B427-66C0286D47AF}" dt="2026-02-02T15:21:38.324" v="75" actId="20577"/>
          <ac:spMkLst>
            <pc:docMk/>
            <pc:sldMk cId="2138626586" sldId="259"/>
            <ac:spMk id="2" creationId="{1241CBB4-4332-CC27-31DC-1118749DC9EE}"/>
          </ac:spMkLst>
        </pc:spChg>
        <pc:spChg chg="mod">
          <ac:chgData name="Hoekstra, Jan" userId="5d496fe4-0c87-4596-89e4-7951f4c87ccb" providerId="ADAL" clId="{97D91625-A293-482C-B427-66C0286D47AF}" dt="2026-02-02T15:22:56.417" v="251" actId="20577"/>
          <ac:spMkLst>
            <pc:docMk/>
            <pc:sldMk cId="2138626586" sldId="259"/>
            <ac:spMk id="3" creationId="{EF5F3971-08E2-AD39-C334-D1FA58F77EB2}"/>
          </ac:spMkLst>
        </pc:spChg>
        <pc:spChg chg="add mod">
          <ac:chgData name="Hoekstra, Jan" userId="5d496fe4-0c87-4596-89e4-7951f4c87ccb" providerId="ADAL" clId="{97D91625-A293-482C-B427-66C0286D47AF}" dt="2026-02-02T15:27:13.239" v="1012" actId="20577"/>
          <ac:spMkLst>
            <pc:docMk/>
            <pc:sldMk cId="2138626586" sldId="259"/>
            <ac:spMk id="4" creationId="{B119E904-9495-8CB1-E838-D562CF8BB5D9}"/>
          </ac:spMkLst>
        </pc:spChg>
      </pc:sldChg>
      <pc:sldChg chg="addSp modSp new mod">
        <pc:chgData name="Hoekstra, Jan" userId="5d496fe4-0c87-4596-89e4-7951f4c87ccb" providerId="ADAL" clId="{97D91625-A293-482C-B427-66C0286D47AF}" dt="2026-02-02T15:24:23.914" v="615"/>
        <pc:sldMkLst>
          <pc:docMk/>
          <pc:sldMk cId="2175299465" sldId="260"/>
        </pc:sldMkLst>
        <pc:spChg chg="mod">
          <ac:chgData name="Hoekstra, Jan" userId="5d496fe4-0c87-4596-89e4-7951f4c87ccb" providerId="ADAL" clId="{97D91625-A293-482C-B427-66C0286D47AF}" dt="2026-02-02T15:23:06.129" v="262" actId="20577"/>
          <ac:spMkLst>
            <pc:docMk/>
            <pc:sldMk cId="2175299465" sldId="260"/>
            <ac:spMk id="2" creationId="{8275DA82-033F-A5A9-8242-2D5896D94857}"/>
          </ac:spMkLst>
        </pc:spChg>
        <pc:spChg chg="mod">
          <ac:chgData name="Hoekstra, Jan" userId="5d496fe4-0c87-4596-89e4-7951f4c87ccb" providerId="ADAL" clId="{97D91625-A293-482C-B427-66C0286D47AF}" dt="2026-02-02T15:24:18.480" v="614" actId="20577"/>
          <ac:spMkLst>
            <pc:docMk/>
            <pc:sldMk cId="2175299465" sldId="260"/>
            <ac:spMk id="3" creationId="{07C68050-ABAC-21A7-30BB-2C997CD155E6}"/>
          </ac:spMkLst>
        </pc:spChg>
        <pc:spChg chg="add mod">
          <ac:chgData name="Hoekstra, Jan" userId="5d496fe4-0c87-4596-89e4-7951f4c87ccb" providerId="ADAL" clId="{97D91625-A293-482C-B427-66C0286D47AF}" dt="2026-02-02T15:24:23.914" v="615"/>
          <ac:spMkLst>
            <pc:docMk/>
            <pc:sldMk cId="2175299465" sldId="260"/>
            <ac:spMk id="4" creationId="{C22B2196-272F-FC1F-4220-C87739CBF73F}"/>
          </ac:spMkLst>
        </pc:spChg>
      </pc:sldChg>
      <pc:sldChg chg="modSp new mod">
        <pc:chgData name="Hoekstra, Jan" userId="5d496fe4-0c87-4596-89e4-7951f4c87ccb" providerId="ADAL" clId="{97D91625-A293-482C-B427-66C0286D47AF}" dt="2026-02-02T15:26:33.865" v="951" actId="20577"/>
        <pc:sldMkLst>
          <pc:docMk/>
          <pc:sldMk cId="4133975854" sldId="261"/>
        </pc:sldMkLst>
        <pc:spChg chg="mod">
          <ac:chgData name="Hoekstra, Jan" userId="5d496fe4-0c87-4596-89e4-7951f4c87ccb" providerId="ADAL" clId="{97D91625-A293-482C-B427-66C0286D47AF}" dt="2026-02-02T15:24:51.240" v="639" actId="20577"/>
          <ac:spMkLst>
            <pc:docMk/>
            <pc:sldMk cId="4133975854" sldId="261"/>
            <ac:spMk id="2" creationId="{CE8922FA-98D7-2929-D27F-810CECE6E8CA}"/>
          </ac:spMkLst>
        </pc:spChg>
        <pc:spChg chg="mod">
          <ac:chgData name="Hoekstra, Jan" userId="5d496fe4-0c87-4596-89e4-7951f4c87ccb" providerId="ADAL" clId="{97D91625-A293-482C-B427-66C0286D47AF}" dt="2026-02-02T15:26:33.865" v="951" actId="20577"/>
          <ac:spMkLst>
            <pc:docMk/>
            <pc:sldMk cId="4133975854" sldId="261"/>
            <ac:spMk id="3" creationId="{78179DB8-2509-8E4F-14E4-B0B6B2FE756A}"/>
          </ac:spMkLst>
        </pc:spChg>
      </pc:sldChg>
      <pc:sldChg chg="modSp new mod">
        <pc:chgData name="Hoekstra, Jan" userId="5d496fe4-0c87-4596-89e4-7951f4c87ccb" providerId="ADAL" clId="{97D91625-A293-482C-B427-66C0286D47AF}" dt="2026-02-02T15:25:37.756" v="806" actId="20577"/>
        <pc:sldMkLst>
          <pc:docMk/>
          <pc:sldMk cId="3503897311" sldId="262"/>
        </pc:sldMkLst>
        <pc:spChg chg="mod">
          <ac:chgData name="Hoekstra, Jan" userId="5d496fe4-0c87-4596-89e4-7951f4c87ccb" providerId="ADAL" clId="{97D91625-A293-482C-B427-66C0286D47AF}" dt="2026-02-02T15:25:25.271" v="748" actId="20577"/>
          <ac:spMkLst>
            <pc:docMk/>
            <pc:sldMk cId="3503897311" sldId="262"/>
            <ac:spMk id="2" creationId="{E87AE796-708B-909C-F9F8-D1C4E09DB0F7}"/>
          </ac:spMkLst>
        </pc:spChg>
        <pc:spChg chg="mod">
          <ac:chgData name="Hoekstra, Jan" userId="5d496fe4-0c87-4596-89e4-7951f4c87ccb" providerId="ADAL" clId="{97D91625-A293-482C-B427-66C0286D47AF}" dt="2026-02-02T15:25:37.756" v="806" actId="20577"/>
          <ac:spMkLst>
            <pc:docMk/>
            <pc:sldMk cId="3503897311" sldId="262"/>
            <ac:spMk id="3" creationId="{322F13D6-AF08-9392-A25C-ED43A705A9E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E318F7-3750-4973-A5AE-E2A68BC15B5C}" type="datetimeFigureOut">
              <a:rPr lang="en-NL" smtClean="0"/>
              <a:t>09/02/2026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0D07A3-9D2C-473A-ACAD-8714898AA54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4138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scanned over </a:t>
            </a:r>
            <a:r>
              <a:rPr lang="en-US" dirty="0" err="1"/>
              <a:t>Kessels</a:t>
            </a:r>
            <a:r>
              <a:rPr lang="en-US" dirty="0"/>
              <a:t> for some potential useful concepts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0D07A3-9D2C-473A-ACAD-8714898AA542}" type="slidenum">
              <a:rPr lang="en-NL" smtClean="0"/>
              <a:t>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141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0D07A3-9D2C-473A-ACAD-8714898AA542}" type="slidenum">
              <a:rPr lang="en-NL" smtClean="0"/>
              <a:t>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08071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A9B0A-21A9-11D8-6AC0-0853C7FE8D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E18FFD-A4E2-0D4E-7BCD-58E1748D8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B645C-4A53-6DC7-25C3-9688B7178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314D-8566-407C-8138-35BC3B95AB82}" type="datetimeFigureOut">
              <a:rPr lang="en-NL" smtClean="0"/>
              <a:t>09/02/2026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82621-D3E9-86E1-A821-537728272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1C98C-0F73-A8F2-02F4-2AB4973CD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18716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0BA0-583D-0185-EE69-28099DAEC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8891D-C30A-9834-578C-76F335D9C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86B7C-AB90-7DAA-F0EA-C7122F775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09/02/2026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BD878-B8D5-9BF6-B119-CB8E2FBA6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A9D23-71DC-CC7B-17C0-5E08C967D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3801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55E79-0500-A1A2-6D30-0F0DFDD60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6914D-49A9-E97D-2C4E-18FAAF726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DA4EA-60CD-56E7-0DAD-21A6159BC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09/02/2026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721A8-BB79-306A-08AB-EFFF7B85E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46C38-EEEE-5592-0604-AA374F8CC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59230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65D4E-F716-266C-EB44-F320FF044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A0776-C324-EFAB-A946-10C85364B9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F9D3D4-7D3D-D1F4-CD2A-A518E5469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693131-FB94-2B88-8093-B6F21E860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09/02/2026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21B79-6DB2-349F-C356-71774F673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CBD36-D0DC-8F43-ACFD-1E9E357E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67830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3BC18-D101-9213-B897-8851FE7C3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E5057-8AB1-D931-F79F-0D54E845E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2EF1A-2434-D230-33B4-D17316B77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0C9925-AAE9-B6AC-9461-0917219EAC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4E5211-4325-D275-EE19-9984E66A82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7FEE0D-2772-4FE7-99AD-4C1D3AC62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09/02/2026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3169B9-CD5B-369C-DBC2-925297EB2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0BA7D5-A78A-09BB-A363-994BD9A02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69802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9777B-F5E7-C08C-590D-ACFBE4C45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CC399-4A6B-4593-9E74-B6F8CA3DC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09/02/2026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EE88BE-564F-9BC9-D256-883FCC299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97D54D-0C50-C773-E94C-9E2D30D93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45265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994506-3D43-84EA-E881-39D633077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09/02/2026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1C55CA-8DBE-9019-86DA-AEBED897E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9772A-9555-52DB-D4E9-75AF3C15D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74220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D3A6E-DBBE-812E-85F2-A38B5249B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B2DEC-7E11-7FE1-3C8F-AB40257CC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67515C-82D6-C8CD-79FD-0E6A1C9B19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8F352-32B7-00FA-4DA5-12E23612C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09/02/2026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78EF5-AAF6-9556-0DA1-762E1477F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3A06DC-6CC1-26FA-41F2-FA573F7A3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7678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5C77B-CBEF-A395-D0FA-1C65A9CE2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E17272-008C-028F-3164-75FD0D3FA4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CEFC27-BE0A-B312-4CAE-0D22A173EF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841F1B-BF0C-E7EE-C200-6ACDD52E8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09/02/2026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DBEA7-5C08-D5DF-326D-402497EEC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AB07C-EC9D-1E6E-88BF-08CF4DC29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13419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C2113-B4D5-3AA6-7F42-D0DF7E554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7AC1B1-B636-EC3C-8268-7CF0D78B63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08ECA-F03E-2322-8AB9-FF1B3570A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09/02/2026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60E39-73E9-DBC5-E7A0-57B509463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BA569-67AF-6D26-BB44-6C9DA6C33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15785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80FA20-7E26-5811-0F8E-E937CD7F6C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C0AB59-9859-7F7C-9F9C-9BFEA1EF0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83E10-4C21-18B0-80CE-477CC9350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09/02/2026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B85F3-CF9A-29D5-DEA3-31B619337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22B00-4173-AFD9-EDBF-57D15872F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18455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4814AA-CC4F-26EF-0940-42AD31BA4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EE76C-C9DD-829C-0E04-FD727D936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92AA8-31FA-1538-0020-A6770000A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B07CE9-C8DF-41DF-BDBB-830B84D62F5B}" type="datetimeFigureOut">
              <a:rPr lang="en-NL" smtClean="0"/>
              <a:t>09/02/2026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936D0-EF18-388D-6CDB-4886CBEB0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0218A-4CD5-B355-2F90-F63E2428D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08427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1249D-DEDA-87A3-309B-F959A8E08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8772D-386B-F858-27B1-A3C077489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Meeting Week 2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D0952-F7C1-ED81-D564-778C5A1FB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week overview</a:t>
            </a:r>
          </a:p>
          <a:p>
            <a:pPr lvl="1"/>
            <a:r>
              <a:rPr lang="en-US" dirty="0"/>
              <a:t>Readings papers for model augmentation</a:t>
            </a:r>
          </a:p>
          <a:p>
            <a:pPr lvl="2"/>
            <a:r>
              <a:rPr lang="en-US" dirty="0"/>
              <a:t>Mainly about orthonormality</a:t>
            </a:r>
          </a:p>
          <a:p>
            <a:r>
              <a:rPr lang="en-US" dirty="0"/>
              <a:t>This meeting:</a:t>
            </a:r>
          </a:p>
          <a:p>
            <a:pPr lvl="1"/>
            <a:r>
              <a:rPr lang="en-US" dirty="0"/>
              <a:t>Are there any concepts from </a:t>
            </a:r>
            <a:r>
              <a:rPr lang="en-US" dirty="0" err="1"/>
              <a:t>Kessels</a:t>
            </a:r>
            <a:r>
              <a:rPr lang="en-US" dirty="0"/>
              <a:t> that are useful for dual-gantry?</a:t>
            </a:r>
          </a:p>
          <a:p>
            <a:pPr lvl="1"/>
            <a:r>
              <a:rPr lang="en-US" dirty="0"/>
              <a:t>How can the orthogonality methods be used to overcome mentioned limitations in </a:t>
            </a:r>
            <a:r>
              <a:rPr lang="en-US" dirty="0" err="1"/>
              <a:t>Kessels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(Additional paper dual-gantry methods)</a:t>
            </a:r>
          </a:p>
        </p:txBody>
      </p:sp>
    </p:spTree>
    <p:extLst>
      <p:ext uri="{BB962C8B-B14F-4D97-AF65-F5344CB8AC3E}">
        <p14:creationId xmlns:p14="http://schemas.microsoft.com/office/powerpoint/2010/main" val="1712367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714D9-773A-68D7-18CE-3F56A2541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Kessels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61FD7-E22C-EA89-9A43-2F62F7F4F5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Inverse Mapping Parameter Updating (IMPU)</a:t>
            </a:r>
          </a:p>
          <a:p>
            <a:pPr lvl="1"/>
            <a:r>
              <a:rPr lang="en-US" dirty="0"/>
              <a:t>Online phase keeps updating in real time </a:t>
            </a:r>
            <a:r>
              <a:rPr lang="en-US" dirty="0">
                <a:sym typeface="Wingdings" panose="05000000000000000000" pitchFamily="2" charset="2"/>
              </a:rPr>
              <a:t> might cause an issue / conflicting with augmented approach.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Calculating the subspace to avoid is expensive (uses SVD)</a:t>
            </a:r>
          </a:p>
          <a:p>
            <a:pPr lvl="1"/>
            <a:r>
              <a:rPr lang="en-US" dirty="0"/>
              <a:t>Offline training – simulation environment</a:t>
            </a:r>
          </a:p>
          <a:p>
            <a:pPr lvl="2"/>
            <a:r>
              <a:rPr lang="en-US" dirty="0"/>
              <a:t>Generate training dataset by randomizing Telica datasheet parameter ranges? Instead </a:t>
            </a:r>
            <a:r>
              <a:rPr lang="en-US"/>
              <a:t>of collecting data first?</a:t>
            </a:r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Inverse Mapping Parameter Updating (IMPU)</a:t>
            </a:r>
            <a:r>
              <a:rPr lang="en-US" dirty="0"/>
              <a:t> method (Thesis Part II) is designed to update physically interpretable parameters in real-time. </a:t>
            </a:r>
          </a:p>
          <a:p>
            <a:pPr lvl="1"/>
            <a:r>
              <a:rPr lang="en-US" dirty="0"/>
              <a:t>Offline Training: Create a simulation environment using the lumped parameter model (Eq. 11 in the gantry paper). Generate a training dataset by randomizing these 14 parameters within the tolerance ranges specified in the Telica datasheet (e.g., mass variations due to cabling or payload).</a:t>
            </a:r>
          </a:p>
          <a:p>
            <a:pPr lvl="1"/>
            <a:r>
              <a:rPr lang="en-US" dirty="0"/>
              <a:t> Excitation: Use the standard "pick and place" cycle defined in the Telica datasheet (acceleration 30-75 m/s², wait times 50-100ms) as the standardized experiment.</a:t>
            </a:r>
          </a:p>
          <a:p>
            <a:pPr lvl="1"/>
            <a:r>
              <a:rPr lang="en-US" dirty="0"/>
              <a:t>Online Inference: Train the Artificial Neural Network (ANN) to map features extracted from the gantry’s tracking error</a:t>
            </a:r>
          </a:p>
          <a:p>
            <a:pPr lvl="1"/>
            <a:r>
              <a:rPr lang="en-US" b="1" dirty="0"/>
              <a:t>Benefit:</a:t>
            </a:r>
            <a:r>
              <a:rPr lang="en-US" dirty="0"/>
              <a:t> This allows the system to detect </a:t>
            </a:r>
            <a:r>
              <a:rPr lang="en-US" b="1" dirty="0"/>
              <a:t>unbalanced friction</a:t>
            </a:r>
            <a:endParaRPr lang="en-US" dirty="0"/>
          </a:p>
          <a:p>
            <a:r>
              <a:rPr lang="en-US" dirty="0"/>
              <a:t>Feature Selection for Synchronization</a:t>
            </a:r>
          </a:p>
          <a:p>
            <a:pPr lvl="1"/>
            <a:r>
              <a:rPr lang="en-US" dirty="0"/>
              <a:t>The gantry system has a unique performance metric: </a:t>
            </a:r>
            <a:r>
              <a:rPr lang="en-US" b="1" dirty="0"/>
              <a:t>synchronization error; </a:t>
            </a:r>
            <a:r>
              <a:rPr lang="en-US" dirty="0" err="1"/>
              <a:t>Kessels</a:t>
            </a:r>
            <a:r>
              <a:rPr lang="en-US" dirty="0"/>
              <a:t>' </a:t>
            </a:r>
            <a:r>
              <a:rPr lang="en-US" b="1" dirty="0"/>
              <a:t>Feature Selection (FS)</a:t>
            </a:r>
            <a:r>
              <a:rPr lang="en-US" dirty="0"/>
              <a:t> strategies (Chapter 3), specifically </a:t>
            </a:r>
            <a:r>
              <a:rPr lang="en-US" b="1" dirty="0"/>
              <a:t>Joint Mutual Information (JMI)</a:t>
            </a:r>
            <a:r>
              <a:rPr lang="en-US" dirty="0"/>
              <a:t>, can be used to identify which specific transient signal characteristics best predict this error.</a:t>
            </a:r>
          </a:p>
          <a:p>
            <a:pPr lvl="2"/>
            <a:r>
              <a:rPr lang="en-US" b="1" dirty="0"/>
              <a:t>Implementation:</a:t>
            </a:r>
            <a:r>
              <a:rPr lang="en-US" dirty="0"/>
              <a:t> instead of using raw time data, extract </a:t>
            </a:r>
            <a:r>
              <a:rPr lang="en-US" b="1" dirty="0"/>
              <a:t>Time Extremum (TE)</a:t>
            </a:r>
            <a:r>
              <a:rPr lang="en-US" dirty="0"/>
              <a:t> features (peaks in the error signal during acceleration phases) and </a:t>
            </a:r>
            <a:r>
              <a:rPr lang="en-US" b="1" dirty="0"/>
              <a:t>Frequency (RI/MP)</a:t>
            </a:r>
            <a:r>
              <a:rPr lang="en-US" dirty="0"/>
              <a:t> features from the error signals.</a:t>
            </a:r>
          </a:p>
          <a:p>
            <a:pPr lvl="2"/>
            <a:r>
              <a:rPr lang="en-US" dirty="0"/>
              <a:t> Insight: The gantry paper notes that synchronization error is driven by the payload (Y-axis) acceleration torque. JMI would likely select features correlated with the Y-axis motion profile to accurately update the cross-arm parameters </a:t>
            </a:r>
          </a:p>
          <a:p>
            <a:r>
              <a:rPr lang="en-US" dirty="0"/>
              <a:t>Extension and Augmentation (EA) for Unmodeled Dynamics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2033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54371-9CC1-C74E-E45B-82040F000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Augmentation - </a:t>
            </a:r>
            <a:r>
              <a:rPr lang="en-US" dirty="0" err="1"/>
              <a:t>Kessels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763DC-FE79-513D-9AEE-5F2F385DC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Augmentation (Correcting Force Equations):</a:t>
            </a:r>
            <a:endParaRPr lang="en-US" dirty="0"/>
          </a:p>
          <a:p>
            <a:pPr lvl="1"/>
            <a:r>
              <a:rPr lang="en-US" i="1" dirty="0"/>
              <a:t>Problem:</a:t>
            </a:r>
            <a:r>
              <a:rPr lang="en-US" dirty="0"/>
              <a:t> The gantry paper ignores </a:t>
            </a:r>
            <a:r>
              <a:rPr lang="en-US" b="1" dirty="0"/>
              <a:t>"detent forces"</a:t>
            </a:r>
            <a:r>
              <a:rPr lang="en-US" dirty="0"/>
              <a:t> (cogging forces from the linear motors) and assumes simple Coulomb/Viscous friction</a:t>
            </a:r>
          </a:p>
          <a:p>
            <a:pPr lvl="1"/>
            <a:r>
              <a:rPr lang="en-US" i="1" dirty="0"/>
              <a:t>Solution:</a:t>
            </a:r>
            <a:r>
              <a:rPr lang="en-US" dirty="0"/>
              <a:t> Use </a:t>
            </a:r>
            <a:r>
              <a:rPr lang="en-US" dirty="0" err="1"/>
              <a:t>Kessels</a:t>
            </a:r>
            <a:r>
              <a:rPr lang="en-US" dirty="0"/>
              <a:t>' augmentation strategy to add a Recurrent Neural Network (RNN) term to the force equations (</a:t>
            </a:r>
            <a:r>
              <a:rPr lang="en-US" i="1" dirty="0" err="1"/>
              <a:t>fS</a:t>
            </a:r>
            <a:r>
              <a:rPr lang="en-US" dirty="0"/>
              <a:t>​ in Eq. 15 of the gantry paper). This RNN would learn the nonlinear, position-dependent detent forces and cable drag that the analytical model misses.</a:t>
            </a:r>
          </a:p>
          <a:p>
            <a:pPr lvl="1"/>
            <a:r>
              <a:rPr lang="en-US" dirty="0"/>
              <a:t>(</a:t>
            </a:r>
            <a:r>
              <a:rPr lang="en-US" b="1" dirty="0"/>
              <a:t>Link to Orthonormality paper Maarten and Roland)</a:t>
            </a:r>
          </a:p>
          <a:p>
            <a:r>
              <a:rPr lang="en-US" b="1" dirty="0"/>
              <a:t>Extension (Adding Missing States):</a:t>
            </a:r>
          </a:p>
          <a:p>
            <a:pPr lvl="1"/>
            <a:r>
              <a:rPr lang="en-US" dirty="0"/>
              <a:t>Dual-gantry 37.7 Hz: jerk rate </a:t>
            </a:r>
            <a:r>
              <a:rPr lang="en-US" dirty="0">
                <a:sym typeface="Wingdings" panose="05000000000000000000" pitchFamily="2" charset="2"/>
              </a:rPr>
              <a:t> Instead use </a:t>
            </a:r>
            <a:r>
              <a:rPr lang="en-US" dirty="0" err="1">
                <a:sym typeface="Wingdings" panose="05000000000000000000" pitchFamily="2" charset="2"/>
              </a:rPr>
              <a:t>Kessels</a:t>
            </a:r>
            <a:r>
              <a:rPr lang="en-US" dirty="0">
                <a:sym typeface="Wingdings" panose="05000000000000000000" pitchFamily="2" charset="2"/>
              </a:rPr>
              <a:t>’ </a:t>
            </a:r>
            <a:r>
              <a:rPr lang="en-US" b="1" dirty="0">
                <a:sym typeface="Wingdings" panose="05000000000000000000" pitchFamily="2" charset="2"/>
              </a:rPr>
              <a:t>Subspace Encoder </a:t>
            </a:r>
            <a:r>
              <a:rPr lang="en-US" dirty="0">
                <a:sym typeface="Wingdings" panose="05000000000000000000" pitchFamily="2" charset="2"/>
              </a:rPr>
              <a:t>to introduce new states (</a:t>
            </a:r>
            <a:r>
              <a:rPr lang="en-US" dirty="0" err="1">
                <a:sym typeface="Wingdings" panose="05000000000000000000" pitchFamily="2" charset="2"/>
              </a:rPr>
              <a:t>x_excitation</a:t>
            </a:r>
            <a:r>
              <a:rPr lang="en-US" dirty="0">
                <a:sym typeface="Wingdings" panose="05000000000000000000" pitchFamily="2" charset="2"/>
              </a:rPr>
              <a:t>) to the state-space model  allows feedforward to compensate </a:t>
            </a:r>
            <a:r>
              <a:rPr lang="en-US" dirty="0" err="1">
                <a:sym typeface="Wingdings" panose="05000000000000000000" pitchFamily="2" charset="2"/>
              </a:rPr>
              <a:t>fr</a:t>
            </a:r>
            <a:r>
              <a:rPr lang="en-US" dirty="0">
                <a:sym typeface="Wingdings" panose="05000000000000000000" pitchFamily="2" charset="2"/>
              </a:rPr>
              <a:t> base vibrations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Also allows to capture flexible modes</a:t>
            </a:r>
            <a:endParaRPr lang="en-US" dirty="0"/>
          </a:p>
          <a:p>
            <a:pPr lvl="1"/>
            <a:r>
              <a:rPr lang="en-US" dirty="0"/>
              <a:t>(</a:t>
            </a:r>
            <a:r>
              <a:rPr lang="en-US" b="1" dirty="0"/>
              <a:t>Papers Jan also have a solution for this)</a:t>
            </a:r>
            <a:endParaRPr lang="en-US" dirty="0"/>
          </a:p>
          <a:p>
            <a:r>
              <a:rPr lang="en-US" dirty="0"/>
              <a:t>Uncertainty Quantification (UQ) for High-Reliability Control:</a:t>
            </a:r>
          </a:p>
          <a:p>
            <a:pPr lvl="1"/>
            <a:r>
              <a:rPr lang="en-US" dirty="0"/>
              <a:t>Telica system operates at 7,500 UPH (Units Per Hour)</a:t>
            </a:r>
          </a:p>
          <a:p>
            <a:pPr lvl="2"/>
            <a:r>
              <a:rPr lang="en-US" dirty="0" err="1"/>
              <a:t>Kessels</a:t>
            </a:r>
            <a:r>
              <a:rPr lang="en-US" dirty="0"/>
              <a:t>' </a:t>
            </a:r>
            <a:r>
              <a:rPr lang="en-US" b="1" dirty="0"/>
              <a:t>Probabilistic Bayesian Neural Networks (PBNN)</a:t>
            </a:r>
            <a:r>
              <a:rPr lang="en-US" dirty="0"/>
              <a:t> (Chapter 4) can be applied to the parameter updating process.</a:t>
            </a:r>
          </a:p>
          <a:p>
            <a:pPr lvl="2"/>
            <a:r>
              <a:rPr lang="en-US" dirty="0" err="1"/>
              <a:t>Insteadof</a:t>
            </a:r>
            <a:r>
              <a:rPr lang="en-US" dirty="0"/>
              <a:t> a single value for the payload mass, the system </a:t>
            </a:r>
            <a:r>
              <a:rPr lang="en-US" dirty="0" err="1"/>
              <a:t>outpus</a:t>
            </a:r>
            <a:r>
              <a:rPr lang="en-US" dirty="0"/>
              <a:t> a probability distribution.</a:t>
            </a:r>
          </a:p>
          <a:p>
            <a:pPr lvl="3"/>
            <a:r>
              <a:rPr lang="en-US" dirty="0"/>
              <a:t>Benefit: If the gantry performs a move that doesn't excite the system enough to identify friction (high uncertainty), the PBNN will report a wide confidence interval. The control system can then decide not to update the feedforward gains based on this uncertain data, preventing instability</a:t>
            </a:r>
            <a:br>
              <a:rPr lang="en-US" dirty="0"/>
            </a:br>
            <a:endParaRPr lang="en-US" dirty="0"/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619313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ADDB4E-CB8C-3363-F4FC-C299084533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9518" b="328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791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1288A-84B7-FA2B-9E13-CB6853867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Augmentation - Orthonormality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07655-5CB0-075E-4091-242F239B2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Kessels</a:t>
            </a:r>
            <a:r>
              <a:rPr lang="en-US" dirty="0"/>
              <a:t> mention limitation</a:t>
            </a:r>
          </a:p>
          <a:p>
            <a:r>
              <a:rPr lang="en-US" dirty="0"/>
              <a:t>How to combine physics based model </a:t>
            </a:r>
            <a:r>
              <a:rPr lang="en-US" dirty="0">
                <a:sym typeface="Wingdings" panose="05000000000000000000" pitchFamily="2" charset="2"/>
              </a:rPr>
              <a:t> model augmentation</a:t>
            </a:r>
            <a:endParaRPr lang="en-US" dirty="0"/>
          </a:p>
          <a:p>
            <a:r>
              <a:rPr lang="en-US" dirty="0"/>
              <a:t>Data experiments</a:t>
            </a:r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8227F1-69B1-EF00-E673-4DBC221DD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766" y="3193083"/>
            <a:ext cx="7154273" cy="325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256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777B8-AC71-4B71-9B8F-879DF9D35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8F299-B5B5-29AE-86D2-36CBBDDBF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DB35DE-6CDD-D5D0-2A67-E9A20493A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284" y="833075"/>
            <a:ext cx="7573432" cy="519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980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2F850-9F6B-E8A3-D463-A9E2B6879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17CCD-EC82-A787-15EF-43BAD41647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CDE875-8984-9C76-6455-63268C612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889" y="1161733"/>
            <a:ext cx="8040222" cy="453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092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1CBB4-4332-CC27-31DC-1118749DC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 point 1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F3971-08E2-AD39-C334-D1FA58F77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should have a Gantt-chart or some other planning with what should be the next steps in the research.</a:t>
            </a:r>
          </a:p>
          <a:p>
            <a:r>
              <a:rPr lang="en-US" dirty="0"/>
              <a:t>Questions can also be put here</a:t>
            </a:r>
            <a:endParaRPr lang="en-N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19E904-9495-8CB1-E838-D562CF8BB5D9}"/>
              </a:ext>
            </a:extLst>
          </p:cNvPr>
          <p:cNvSpPr/>
          <p:nvPr/>
        </p:nvSpPr>
        <p:spPr>
          <a:xfrm>
            <a:off x="6985686" y="3273553"/>
            <a:ext cx="4827373" cy="30383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Some figure showing the result achieved like a plot or some theory.</a:t>
            </a:r>
          </a:p>
          <a:p>
            <a:pPr algn="ctr"/>
            <a:r>
              <a:rPr lang="en-US" dirty="0"/>
              <a:t>When applicable, the same as will go in final report. Otherwise just take screenshots from relevant papers.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138626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5DA82-033F-A5A9-8242-2D5896D94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68050-ABAC-21A7-30BB-2C997CD15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a question needs to be answered. Make clear here what the problem/question is that needs to be answered. Questions can always be asked outside the meeting, but we may say prepare to explain what you really mean.</a:t>
            </a:r>
            <a:endParaRPr lang="en-N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2B2196-272F-FC1F-4220-C87739CBF73F}"/>
              </a:ext>
            </a:extLst>
          </p:cNvPr>
          <p:cNvSpPr/>
          <p:nvPr/>
        </p:nvSpPr>
        <p:spPr>
          <a:xfrm>
            <a:off x="6985686" y="3273553"/>
            <a:ext cx="4827373" cy="30383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Some figure explaining the concept</a:t>
            </a:r>
          </a:p>
          <a:p>
            <a:pPr algn="ctr"/>
            <a:r>
              <a:rPr lang="en-US" dirty="0"/>
              <a:t>When applicable, the same as will go in final report. Otherwise just take screenshots from relevant papers.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175299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E2B5D-AD51-44F3-6531-434C1A88A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Advanced Synchronization Control of a Dual-Linear-Motor-Driven Gantry With Rotational Dynamics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0FAF2-B974-6826-23B1-4C24A08D6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Detailed Modeling of Bearing Stiffness</a:t>
            </a:r>
          </a:p>
          <a:p>
            <a:pPr lvl="1"/>
            <a:r>
              <a:rPr lang="en-US" dirty="0"/>
              <a:t>While García-Herreros models the flexible joints simply as lumped springs (</a:t>
            </a:r>
            <a:r>
              <a:rPr lang="en-US" i="1" dirty="0"/>
              <a:t>kb</a:t>
            </a:r>
            <a:r>
              <a:rPr lang="en-US" dirty="0"/>
              <a:t>1​), Li et al. provide a more detailed physical derivation of where this stiffness comes from.</a:t>
            </a:r>
          </a:p>
          <a:p>
            <a:pPr lvl="1"/>
            <a:r>
              <a:rPr lang="en-US" b="1" dirty="0"/>
              <a:t>The Insight:</a:t>
            </a:r>
            <a:r>
              <a:rPr lang="en-US" dirty="0"/>
              <a:t> They model the </a:t>
            </a:r>
            <a:r>
              <a:rPr lang="en-US" b="1" dirty="0"/>
              <a:t>linear guide rails</a:t>
            </a:r>
            <a:r>
              <a:rPr lang="en-US" dirty="0"/>
              <a:t> as distributed horizontal springs. They derive an "equivalent rotational stiffness" (</a:t>
            </a:r>
            <a:r>
              <a:rPr lang="en-US" i="1" dirty="0"/>
              <a:t>Kα</a:t>
            </a:r>
            <a:r>
              <a:rPr lang="en-US" dirty="0"/>
              <a:t>​) by integrating the stiffness of the bearing balls over the length of the carriage block</a:t>
            </a:r>
          </a:p>
          <a:p>
            <a:r>
              <a:rPr lang="en-US" dirty="0"/>
              <a:t>Rotational Friction Modeling</a:t>
            </a:r>
          </a:p>
          <a:p>
            <a:pPr lvl="1"/>
            <a:r>
              <a:rPr lang="en-US" dirty="0"/>
              <a:t>The García-Herreros paper explicitly ignored the torque associated with friction to simplify their decoupling control. Li et al., however, demonstrate that friction is critical in the rotational dynamics.</a:t>
            </a:r>
          </a:p>
          <a:p>
            <a:pPr lvl="1"/>
            <a:r>
              <a:rPr lang="en-US" b="1" dirty="0"/>
              <a:t>The Insight:</a:t>
            </a:r>
            <a:r>
              <a:rPr lang="en-US" dirty="0"/>
              <a:t> They include a term </a:t>
            </a:r>
            <a:r>
              <a:rPr lang="en-US" i="1" dirty="0"/>
              <a:t>Fri</a:t>
            </a:r>
            <a:r>
              <a:rPr lang="en-US" dirty="0"/>
              <a:t>​ (combined viscous and Coulomb friction) directly in the rotational dynamics equation: They show that differences in friction between rail 1 and rail 2 (</a:t>
            </a:r>
            <a:r>
              <a:rPr lang="en-US" i="1" dirty="0"/>
              <a:t>B</a:t>
            </a:r>
            <a:r>
              <a:rPr lang="en-US" dirty="0"/>
              <a:t>1​=</a:t>
            </a:r>
            <a:r>
              <a:rPr lang="en-US" i="1" dirty="0"/>
              <a:t>B</a:t>
            </a:r>
            <a:r>
              <a:rPr lang="en-US" dirty="0"/>
              <a:t>2​) contribute to the synchronization error.</a:t>
            </a:r>
          </a:p>
          <a:p>
            <a:pPr lvl="2"/>
            <a:r>
              <a:rPr lang="en-US" b="1" dirty="0"/>
              <a:t>Relevance:</a:t>
            </a:r>
            <a:r>
              <a:rPr lang="en-US" dirty="0"/>
              <a:t> If your "Physics-Informed" neural network is trying to learn missing dynamics, explicitly including this friction asymmetry in your baseline physics model (which García-Herreros omitted) will reduce the burden on the neural network, preventing it from having to "learn" basic friction physics that could have been modeled analytically.</a:t>
            </a:r>
          </a:p>
          <a:p>
            <a:r>
              <a:rPr lang="en-US" dirty="0"/>
              <a:t>Internal Force Regulation </a:t>
            </a:r>
          </a:p>
          <a:p>
            <a:r>
              <a:rPr lang="en-US" dirty="0"/>
              <a:t>introducing </a:t>
            </a:r>
            <a:r>
              <a:rPr lang="en-US" b="1" dirty="0"/>
              <a:t>Adaptive Robust Control (ARC)</a:t>
            </a:r>
            <a:r>
              <a:rPr lang="en-US" dirty="0"/>
              <a:t>, which actively learns and compensates for the errors that the decoupling method neglects.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845803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5190D-7DE7-688B-261A-E8F7CE29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can Adaptive Robust Control enhance gantry synchronization?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7588C-A06E-28DD-2C34-7B34E54DF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Online Parameter Adaptation </a:t>
            </a:r>
            <a:r>
              <a:rPr lang="en-US" dirty="0"/>
              <a:t>(how useful is Online Parameter Adaptation, if we add an augmented model on top? wont this just interfere?)</a:t>
            </a:r>
          </a:p>
          <a:p>
            <a:r>
              <a:rPr lang="en-US" b="1" dirty="0"/>
              <a:t>Advice:</a:t>
            </a:r>
            <a:r>
              <a:rPr lang="en-US" dirty="0"/>
              <a:t> Follow </a:t>
            </a:r>
            <a:r>
              <a:rPr lang="en-US" dirty="0" err="1"/>
              <a:t>Kessels</a:t>
            </a:r>
            <a:r>
              <a:rPr lang="en-US" dirty="0"/>
              <a:t>' recommendation to </a:t>
            </a:r>
            <a:r>
              <a:rPr lang="en-US" b="1" dirty="0"/>
              <a:t>update the model structure offline first</a:t>
            </a:r>
            <a:r>
              <a:rPr lang="en-US" dirty="0"/>
              <a:t> (fixing the missing physics), and then </a:t>
            </a:r>
            <a:r>
              <a:rPr lang="en-US" b="1" dirty="0"/>
              <a:t>update the parameters online</a:t>
            </a:r>
            <a:r>
              <a:rPr lang="en-US" dirty="0"/>
              <a:t> using that enhanced structure.</a:t>
            </a:r>
          </a:p>
          <a:p>
            <a:r>
              <a:rPr lang="en-US" dirty="0"/>
              <a:t>Does this fix the issue?:</a:t>
            </a:r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FBDFC7-6A36-94E1-DD0B-1CF927777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0604" y="4959418"/>
            <a:ext cx="7973538" cy="109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823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5560E-09A5-7A1A-23DD-9ED57398C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3838E7-743D-E6C8-0CFD-B042CC0D9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8007" y="599498"/>
            <a:ext cx="7468642" cy="4791744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5337A4-5BC5-3E5B-D888-300F0FFDFD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75208" y="599498"/>
            <a:ext cx="555925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995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922FA-98D7-2929-D27F-810CECE6E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next week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79DB8-2509-8E4F-14E4-B0B6B2FE7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next on the planning and how is that going to be solved</a:t>
            </a:r>
          </a:p>
          <a:p>
            <a:r>
              <a:rPr lang="en-US" dirty="0"/>
              <a:t>This is also where new action points are formulated. What are you going to do next week.</a:t>
            </a:r>
          </a:p>
        </p:txBody>
      </p:sp>
    </p:spTree>
    <p:extLst>
      <p:ext uri="{BB962C8B-B14F-4D97-AF65-F5344CB8AC3E}">
        <p14:creationId xmlns:p14="http://schemas.microsoft.com/office/powerpoint/2010/main" val="4133975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AE796-708B-909C-F9F8-D1C4E09DB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Gantt-chart or Planning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F13D6-AF08-9392-A25C-ED43A705A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keep an overview of what the progress overall is.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503897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1243</TotalTime>
  <Words>1176</Words>
  <Application>Microsoft Office PowerPoint</Application>
  <PresentationFormat>Widescreen</PresentationFormat>
  <Paragraphs>73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Wingdings</vt:lpstr>
      <vt:lpstr>Office Theme</vt:lpstr>
      <vt:lpstr>Meeting Week 2</vt:lpstr>
      <vt:lpstr>Kessels</vt:lpstr>
      <vt:lpstr>Augmentation - Kessels</vt:lpstr>
      <vt:lpstr>PowerPoint Presentation</vt:lpstr>
      <vt:lpstr>Augmentation - Orthonormality</vt:lpstr>
      <vt:lpstr>PowerPoint Presentation</vt:lpstr>
      <vt:lpstr>PowerPoint Presentation</vt:lpstr>
      <vt:lpstr>Action point 1</vt:lpstr>
      <vt:lpstr>Question 1</vt:lpstr>
      <vt:lpstr>Advanced Synchronization Control of a Dual-Linear-Motor-Driven Gantry With Rotational Dynamics</vt:lpstr>
      <vt:lpstr>How can Adaptive Robust Control enhance gantry synchronization?</vt:lpstr>
      <vt:lpstr>PowerPoint Presentation</vt:lpstr>
      <vt:lpstr>Outline next week</vt:lpstr>
      <vt:lpstr>Possible Gantt-chart or Planning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Hoekstra, Jan</dc:creator>
  <cp:lastModifiedBy>Berg, Dirk van den</cp:lastModifiedBy>
  <cp:revision>70</cp:revision>
  <dcterms:created xsi:type="dcterms:W3CDTF">2026-02-02T15:14:22Z</dcterms:created>
  <dcterms:modified xsi:type="dcterms:W3CDTF">2026-02-09T09:15:17Z</dcterms:modified>
</cp:coreProperties>
</file>