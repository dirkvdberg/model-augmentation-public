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5" r:id="rId20"/>
    <p:sldId id="274" r:id="rId21"/>
    <p:sldId id="276" r:id="rId22"/>
    <p:sldId id="277" r:id="rId23"/>
    <p:sldId id="278" r:id="rId24"/>
    <p:sldId id="279" r:id="rId25"/>
    <p:sldId id="280" r:id="rId26"/>
    <p:sldId id="281" r:id="rId27"/>
    <p:sldId id="282" r:id="rId28"/>
    <p:sldId id="283" r:id="rId29"/>
    <p:sldId id="286" r:id="rId30"/>
    <p:sldId id="284" r:id="rId31"/>
    <p:sldId id="285" r:id="rId32"/>
    <p:sldId id="287" r:id="rId33"/>
    <p:sldId id="288" r:id="rId34"/>
    <p:sldId id="289" r:id="rId35"/>
    <p:sldId id="290" r:id="rId36"/>
    <p:sldId id="291" r:id="rId37"/>
    <p:sldId id="292" r:id="rId38"/>
    <p:sldId id="293" r:id="rId39"/>
    <p:sldId id="295" r:id="rId40"/>
    <p:sldId id="294" r:id="rId41"/>
    <p:sldId id="296" r:id="rId4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6C223-CD89-4E91-8D91-409BDCD47802}" v="27" dt="2026-08-30T17:43:59.4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31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modSld sldOrd">
      <pc:chgData name="Berg, Dirk van den" userId="035ecb32-01d9-4b47-a105-eacf059a4647" providerId="ADAL" clId="{F7FF961E-CF96-44AC-93C2-93612F62D46D}" dt="2026-08-31T08:11:40.314" v="2874" actId="1076"/>
      <pc:docMkLst>
        <pc:docMk/>
      </pc:docMkLst>
      <pc:sldChg chg="modSp mod">
        <pc:chgData name="Berg, Dirk van den" userId="035ecb32-01d9-4b47-a105-eacf059a4647" providerId="ADAL" clId="{F7FF961E-CF96-44AC-93C2-93612F62D46D}" dt="2026-08-31T08:11:40.314" v="2874" actId="1076"/>
        <pc:sldMkLst>
          <pc:docMk/>
          <pc:sldMk cId="1795987171" sldId="257"/>
        </pc:sldMkLst>
        <pc:picChg chg="mod">
          <ac:chgData name="Berg, Dirk van den" userId="035ecb32-01d9-4b47-a105-eacf059a4647" providerId="ADAL" clId="{F7FF961E-CF96-44AC-93C2-93612F62D46D}" dt="2026-08-31T08:11:40.314" v="2874" actId="1076"/>
          <ac:picMkLst>
            <pc:docMk/>
            <pc:sldMk cId="1795987171" sldId="257"/>
            <ac:picMk id="5" creationId="{210B7E07-E0AD-4F33-4087-A61F80408FE5}"/>
          </ac:picMkLst>
        </pc:picChg>
      </pc:sldChg>
      <pc:sldChg chg="modSp new mod">
        <pc:chgData name="Berg, Dirk van den" userId="035ecb32-01d9-4b47-a105-eacf059a4647" providerId="ADAL" clId="{F7FF961E-CF96-44AC-93C2-93612F62D46D}" dt="2026-08-27T11:37:53.433" v="17" actId="20577"/>
        <pc:sldMkLst>
          <pc:docMk/>
          <pc:sldMk cId="502203838" sldId="262"/>
        </pc:sldMkLst>
        <pc:spChg chg="mod">
          <ac:chgData name="Berg, Dirk van den" userId="035ecb32-01d9-4b47-a105-eacf059a4647" providerId="ADAL" clId="{F7FF961E-CF96-44AC-93C2-93612F62D46D}" dt="2026-08-27T11:37:53.433" v="17" actId="20577"/>
          <ac:spMkLst>
            <pc:docMk/>
            <pc:sldMk cId="502203838" sldId="262"/>
            <ac:spMk id="2" creationId="{BF6FF0C5-F0E2-2D28-37EA-BEB0A2588359}"/>
          </ac:spMkLst>
        </pc:spChg>
        <pc:spChg chg="mod">
          <ac:chgData name="Berg, Dirk van den" userId="035ecb32-01d9-4b47-a105-eacf059a4647" providerId="ADAL" clId="{F7FF961E-CF96-44AC-93C2-93612F62D46D}" dt="2026-08-27T11:37:48.947" v="1"/>
          <ac:spMkLst>
            <pc:docMk/>
            <pc:sldMk cId="502203838" sldId="262"/>
            <ac:spMk id="3" creationId="{7D857584-7C5C-8D1B-CB5B-6533F35D68C4}"/>
          </ac:spMkLst>
        </pc:spChg>
      </pc:sldChg>
      <pc:sldChg chg="modSp new">
        <pc:chgData name="Berg, Dirk van den" userId="035ecb32-01d9-4b47-a105-eacf059a4647" providerId="ADAL" clId="{F7FF961E-CF96-44AC-93C2-93612F62D46D}" dt="2026-08-27T12:44:05.221" v="19"/>
        <pc:sldMkLst>
          <pc:docMk/>
          <pc:sldMk cId="4137176336" sldId="263"/>
        </pc:sldMkLst>
        <pc:spChg chg="mod">
          <ac:chgData name="Berg, Dirk van den" userId="035ecb32-01d9-4b47-a105-eacf059a4647" providerId="ADAL" clId="{F7FF961E-CF96-44AC-93C2-93612F62D46D}" dt="2026-08-27T12:44:05.221" v="19"/>
          <ac:spMkLst>
            <pc:docMk/>
            <pc:sldMk cId="4137176336" sldId="263"/>
            <ac:spMk id="3" creationId="{051E14D7-B098-9238-B3A9-6E62F6306FF6}"/>
          </ac:spMkLst>
        </pc:spChg>
      </pc:sldChg>
      <pc:sldChg chg="modSp new mod">
        <pc:chgData name="Berg, Dirk van den" userId="035ecb32-01d9-4b47-a105-eacf059a4647" providerId="ADAL" clId="{F7FF961E-CF96-44AC-93C2-93612F62D46D}" dt="2026-08-27T13:58:14.702" v="40" actId="20577"/>
        <pc:sldMkLst>
          <pc:docMk/>
          <pc:sldMk cId="1188849428" sldId="264"/>
        </pc:sldMkLst>
        <pc:spChg chg="mod">
          <ac:chgData name="Berg, Dirk van den" userId="035ecb32-01d9-4b47-a105-eacf059a4647" providerId="ADAL" clId="{F7FF961E-CF96-44AC-93C2-93612F62D46D}" dt="2026-08-27T13:58:14.702" v="40" actId="20577"/>
          <ac:spMkLst>
            <pc:docMk/>
            <pc:sldMk cId="1188849428" sldId="264"/>
            <ac:spMk id="2" creationId="{9A36111C-866F-C7CF-CCAF-C935D1287E22}"/>
          </ac:spMkLst>
        </pc:spChg>
      </pc:sldChg>
      <pc:sldChg chg="modSp new mod">
        <pc:chgData name="Berg, Dirk van den" userId="035ecb32-01d9-4b47-a105-eacf059a4647" providerId="ADAL" clId="{F7FF961E-CF96-44AC-93C2-93612F62D46D}" dt="2026-08-27T14:21:15.546" v="59" actId="20577"/>
        <pc:sldMkLst>
          <pc:docMk/>
          <pc:sldMk cId="2247670807" sldId="265"/>
        </pc:sldMkLst>
        <pc:spChg chg="mod">
          <ac:chgData name="Berg, Dirk van den" userId="035ecb32-01d9-4b47-a105-eacf059a4647" providerId="ADAL" clId="{F7FF961E-CF96-44AC-93C2-93612F62D46D}" dt="2026-08-27T14:21:15.546" v="59" actId="20577"/>
          <ac:spMkLst>
            <pc:docMk/>
            <pc:sldMk cId="2247670807" sldId="265"/>
            <ac:spMk id="2" creationId="{40A8396C-6BEA-F7FC-F1C8-80A3FC40D533}"/>
          </ac:spMkLst>
        </pc:spChg>
        <pc:spChg chg="mod">
          <ac:chgData name="Berg, Dirk van den" userId="035ecb32-01d9-4b47-a105-eacf059a4647" providerId="ADAL" clId="{F7FF961E-CF96-44AC-93C2-93612F62D46D}" dt="2026-08-27T14:21:07.842" v="41"/>
          <ac:spMkLst>
            <pc:docMk/>
            <pc:sldMk cId="2247670807" sldId="265"/>
            <ac:spMk id="3" creationId="{BF8BC48D-6D87-4EB5-07E8-C334FF69079F}"/>
          </ac:spMkLst>
        </pc:spChg>
      </pc:sldChg>
      <pc:sldChg chg="modSp new mod">
        <pc:chgData name="Berg, Dirk van den" userId="035ecb32-01d9-4b47-a105-eacf059a4647" providerId="ADAL" clId="{F7FF961E-CF96-44AC-93C2-93612F62D46D}" dt="2026-08-28T07:27:51.187" v="84" actId="20577"/>
        <pc:sldMkLst>
          <pc:docMk/>
          <pc:sldMk cId="1894717315" sldId="266"/>
        </pc:sldMkLst>
        <pc:spChg chg="mod">
          <ac:chgData name="Berg, Dirk van den" userId="035ecb32-01d9-4b47-a105-eacf059a4647" providerId="ADAL" clId="{F7FF961E-CF96-44AC-93C2-93612F62D46D}" dt="2026-08-28T07:27:51.187" v="84" actId="20577"/>
          <ac:spMkLst>
            <pc:docMk/>
            <pc:sldMk cId="1894717315" sldId="266"/>
            <ac:spMk id="2" creationId="{556170C3-1023-2E99-4F4D-44DED9A4E996}"/>
          </ac:spMkLst>
        </pc:spChg>
        <pc:spChg chg="mod">
          <ac:chgData name="Berg, Dirk van den" userId="035ecb32-01d9-4b47-a105-eacf059a4647" providerId="ADAL" clId="{F7FF961E-CF96-44AC-93C2-93612F62D46D}" dt="2026-08-28T07:27:45.729" v="61" actId="27636"/>
          <ac:spMkLst>
            <pc:docMk/>
            <pc:sldMk cId="1894717315" sldId="266"/>
            <ac:spMk id="3" creationId="{5168E3F1-D1EC-A23E-FCB4-83F54D7BC75C}"/>
          </ac:spMkLst>
        </pc:spChg>
      </pc:sldChg>
      <pc:sldChg chg="modSp new mod ord">
        <pc:chgData name="Berg, Dirk van den" userId="035ecb32-01d9-4b47-a105-eacf059a4647" providerId="ADAL" clId="{F7FF961E-CF96-44AC-93C2-93612F62D46D}" dt="2026-08-28T18:49:44.833" v="1336" actId="20577"/>
        <pc:sldMkLst>
          <pc:docMk/>
          <pc:sldMk cId="4159469913" sldId="267"/>
        </pc:sldMkLst>
        <pc:spChg chg="mod">
          <ac:chgData name="Berg, Dirk van den" userId="035ecb32-01d9-4b47-a105-eacf059a4647" providerId="ADAL" clId="{F7FF961E-CF96-44AC-93C2-93612F62D46D}" dt="2026-08-28T08:10:30.221" v="91" actId="20577"/>
          <ac:spMkLst>
            <pc:docMk/>
            <pc:sldMk cId="4159469913" sldId="267"/>
            <ac:spMk id="2" creationId="{02D0A90A-888A-9E9A-C0DB-089ECF67F249}"/>
          </ac:spMkLst>
        </pc:spChg>
        <pc:spChg chg="mod">
          <ac:chgData name="Berg, Dirk van den" userId="035ecb32-01d9-4b47-a105-eacf059a4647" providerId="ADAL" clId="{F7FF961E-CF96-44AC-93C2-93612F62D46D}" dt="2026-08-28T18:49:44.833" v="1336" actId="20577"/>
          <ac:spMkLst>
            <pc:docMk/>
            <pc:sldMk cId="4159469913" sldId="267"/>
            <ac:spMk id="3" creationId="{C9848E4D-4D96-C29E-04CC-64B10569AAB9}"/>
          </ac:spMkLst>
        </pc:spChg>
      </pc:sldChg>
      <pc:sldChg chg="modSp new mod ord">
        <pc:chgData name="Berg, Dirk van den" userId="035ecb32-01d9-4b47-a105-eacf059a4647" providerId="ADAL" clId="{F7FF961E-CF96-44AC-93C2-93612F62D46D}" dt="2026-08-28T08:18:01.802" v="357" actId="27636"/>
        <pc:sldMkLst>
          <pc:docMk/>
          <pc:sldMk cId="3268964408" sldId="268"/>
        </pc:sldMkLst>
        <pc:spChg chg="mod">
          <ac:chgData name="Berg, Dirk van den" userId="035ecb32-01d9-4b47-a105-eacf059a4647" providerId="ADAL" clId="{F7FF961E-CF96-44AC-93C2-93612F62D46D}" dt="2026-08-28T08:17:32.164" v="179" actId="20577"/>
          <ac:spMkLst>
            <pc:docMk/>
            <pc:sldMk cId="3268964408" sldId="268"/>
            <ac:spMk id="2" creationId="{F42B1AAD-2D30-6F04-1676-DDD2E3A6BDCF}"/>
          </ac:spMkLst>
        </pc:spChg>
        <pc:spChg chg="mod">
          <ac:chgData name="Berg, Dirk van den" userId="035ecb32-01d9-4b47-a105-eacf059a4647" providerId="ADAL" clId="{F7FF961E-CF96-44AC-93C2-93612F62D46D}" dt="2026-08-28T08:18:01.802" v="357" actId="27636"/>
          <ac:spMkLst>
            <pc:docMk/>
            <pc:sldMk cId="3268964408" sldId="268"/>
            <ac:spMk id="3" creationId="{F05C10A4-636A-55A9-B539-BE11D1A58E86}"/>
          </ac:spMkLst>
        </pc:spChg>
      </pc:sldChg>
      <pc:sldChg chg="addSp modSp new mod">
        <pc:chgData name="Berg, Dirk van den" userId="035ecb32-01d9-4b47-a105-eacf059a4647" providerId="ADAL" clId="{F7FF961E-CF96-44AC-93C2-93612F62D46D}" dt="2026-08-28T08:38:54.328" v="501" actId="20577"/>
        <pc:sldMkLst>
          <pc:docMk/>
          <pc:sldMk cId="544774612" sldId="269"/>
        </pc:sldMkLst>
        <pc:spChg chg="mod">
          <ac:chgData name="Berg, Dirk van den" userId="035ecb32-01d9-4b47-a105-eacf059a4647" providerId="ADAL" clId="{F7FF961E-CF96-44AC-93C2-93612F62D46D}" dt="2026-08-28T08:38:54.328" v="501" actId="20577"/>
          <ac:spMkLst>
            <pc:docMk/>
            <pc:sldMk cId="544774612" sldId="269"/>
            <ac:spMk id="2" creationId="{EB2AD232-B39A-3AF8-0B45-D83282D94EB5}"/>
          </ac:spMkLst>
        </pc:spChg>
        <pc:picChg chg="add mod">
          <ac:chgData name="Berg, Dirk van den" userId="035ecb32-01d9-4b47-a105-eacf059a4647" providerId="ADAL" clId="{F7FF961E-CF96-44AC-93C2-93612F62D46D}" dt="2026-08-28T08:38:40.280" v="425" actId="1076"/>
          <ac:picMkLst>
            <pc:docMk/>
            <pc:sldMk cId="544774612" sldId="269"/>
            <ac:picMk id="5" creationId="{F14B580F-6806-0C27-3CB0-31EFC539F6C3}"/>
          </ac:picMkLst>
        </pc:picChg>
      </pc:sldChg>
      <pc:sldChg chg="modSp new">
        <pc:chgData name="Berg, Dirk van den" userId="035ecb32-01d9-4b47-a105-eacf059a4647" providerId="ADAL" clId="{F7FF961E-CF96-44AC-93C2-93612F62D46D}" dt="2026-08-28T13:34:09.103" v="949"/>
        <pc:sldMkLst>
          <pc:docMk/>
          <pc:sldMk cId="1191979249" sldId="270"/>
        </pc:sldMkLst>
        <pc:spChg chg="mod">
          <ac:chgData name="Berg, Dirk van den" userId="035ecb32-01d9-4b47-a105-eacf059a4647" providerId="ADAL" clId="{F7FF961E-CF96-44AC-93C2-93612F62D46D}" dt="2026-08-28T13:34:09.103" v="949"/>
          <ac:spMkLst>
            <pc:docMk/>
            <pc:sldMk cId="1191979249" sldId="270"/>
            <ac:spMk id="3" creationId="{2E4BE7BF-2381-D93F-ADCD-A89043CDA273}"/>
          </ac:spMkLst>
        </pc:spChg>
      </pc:sldChg>
      <pc:sldChg chg="modSp new mod">
        <pc:chgData name="Berg, Dirk van den" userId="035ecb32-01d9-4b47-a105-eacf059a4647" providerId="ADAL" clId="{F7FF961E-CF96-44AC-93C2-93612F62D46D}" dt="2026-08-28T16:24:26.098" v="952" actId="27636"/>
        <pc:sldMkLst>
          <pc:docMk/>
          <pc:sldMk cId="4237765567" sldId="271"/>
        </pc:sldMkLst>
        <pc:spChg chg="mod">
          <ac:chgData name="Berg, Dirk van den" userId="035ecb32-01d9-4b47-a105-eacf059a4647" providerId="ADAL" clId="{F7FF961E-CF96-44AC-93C2-93612F62D46D}" dt="2026-08-28T16:24:26.098" v="952" actId="27636"/>
          <ac:spMkLst>
            <pc:docMk/>
            <pc:sldMk cId="4237765567" sldId="271"/>
            <ac:spMk id="3" creationId="{7ABBF221-2440-6142-E4E1-9B9DC6B9B5B8}"/>
          </ac:spMkLst>
        </pc:spChg>
      </pc:sldChg>
      <pc:sldChg chg="addSp new mod">
        <pc:chgData name="Berg, Dirk van den" userId="035ecb32-01d9-4b47-a105-eacf059a4647" providerId="ADAL" clId="{F7FF961E-CF96-44AC-93C2-93612F62D46D}" dt="2026-08-28T16:27:44.828" v="954" actId="22"/>
        <pc:sldMkLst>
          <pc:docMk/>
          <pc:sldMk cId="2495340280" sldId="272"/>
        </pc:sldMkLst>
        <pc:spChg chg="add">
          <ac:chgData name="Berg, Dirk van den" userId="035ecb32-01d9-4b47-a105-eacf059a4647" providerId="ADAL" clId="{F7FF961E-CF96-44AC-93C2-93612F62D46D}" dt="2026-08-28T16:27:44.828" v="954" actId="22"/>
          <ac:spMkLst>
            <pc:docMk/>
            <pc:sldMk cId="2495340280" sldId="272"/>
            <ac:spMk id="5" creationId="{C02B7A8C-7A12-6D9B-2E8C-C7D2629C07ED}"/>
          </ac:spMkLst>
        </pc:spChg>
      </pc:sldChg>
      <pc:sldChg chg="modSp new mod">
        <pc:chgData name="Berg, Dirk van den" userId="035ecb32-01d9-4b47-a105-eacf059a4647" providerId="ADAL" clId="{F7FF961E-CF96-44AC-93C2-93612F62D46D}" dt="2026-08-28T19:21:54.213" v="1453" actId="20577"/>
        <pc:sldMkLst>
          <pc:docMk/>
          <pc:sldMk cId="1413132531" sldId="273"/>
        </pc:sldMkLst>
        <pc:spChg chg="mod">
          <ac:chgData name="Berg, Dirk van den" userId="035ecb32-01d9-4b47-a105-eacf059a4647" providerId="ADAL" clId="{F7FF961E-CF96-44AC-93C2-93612F62D46D}" dt="2026-08-28T19:21:54.213" v="1453" actId="20577"/>
          <ac:spMkLst>
            <pc:docMk/>
            <pc:sldMk cId="1413132531" sldId="273"/>
            <ac:spMk id="2" creationId="{179DC686-C522-4257-8188-BAD9D57F4B94}"/>
          </ac:spMkLst>
        </pc:spChg>
        <pc:spChg chg="mod">
          <ac:chgData name="Berg, Dirk van den" userId="035ecb32-01d9-4b47-a105-eacf059a4647" providerId="ADAL" clId="{F7FF961E-CF96-44AC-93C2-93612F62D46D}" dt="2026-08-28T19:18:04.373" v="1338"/>
          <ac:spMkLst>
            <pc:docMk/>
            <pc:sldMk cId="1413132531" sldId="273"/>
            <ac:spMk id="3" creationId="{E1006B6E-410F-0F74-653B-7757BC15A727}"/>
          </ac:spMkLst>
        </pc:spChg>
      </pc:sldChg>
      <pc:sldChg chg="addSp modSp new mod">
        <pc:chgData name="Berg, Dirk van den" userId="035ecb32-01d9-4b47-a105-eacf059a4647" providerId="ADAL" clId="{F7FF961E-CF96-44AC-93C2-93612F62D46D}" dt="2026-08-28T20:47:42.400" v="2070" actId="1076"/>
        <pc:sldMkLst>
          <pc:docMk/>
          <pc:sldMk cId="2524130875" sldId="274"/>
        </pc:sldMkLst>
        <pc:spChg chg="mod">
          <ac:chgData name="Berg, Dirk van den" userId="035ecb32-01d9-4b47-a105-eacf059a4647" providerId="ADAL" clId="{F7FF961E-CF96-44AC-93C2-93612F62D46D}" dt="2026-08-28T20:44:06.480" v="2064" actId="20577"/>
          <ac:spMkLst>
            <pc:docMk/>
            <pc:sldMk cId="2524130875" sldId="274"/>
            <ac:spMk id="3" creationId="{33771291-C8FF-683D-8605-9F0042A50EA0}"/>
          </ac:spMkLst>
        </pc:spChg>
        <pc:picChg chg="add mod">
          <ac:chgData name="Berg, Dirk van den" userId="035ecb32-01d9-4b47-a105-eacf059a4647" providerId="ADAL" clId="{F7FF961E-CF96-44AC-93C2-93612F62D46D}" dt="2026-08-28T20:45:08.264" v="2067" actId="1076"/>
          <ac:picMkLst>
            <pc:docMk/>
            <pc:sldMk cId="2524130875" sldId="274"/>
            <ac:picMk id="5" creationId="{26799E9E-7485-4EFF-0BBA-BCB1BDBD1895}"/>
          </ac:picMkLst>
        </pc:picChg>
        <pc:picChg chg="add mod">
          <ac:chgData name="Berg, Dirk van den" userId="035ecb32-01d9-4b47-a105-eacf059a4647" providerId="ADAL" clId="{F7FF961E-CF96-44AC-93C2-93612F62D46D}" dt="2026-08-28T20:47:42.400" v="2070" actId="1076"/>
          <ac:picMkLst>
            <pc:docMk/>
            <pc:sldMk cId="2524130875" sldId="274"/>
            <ac:picMk id="7" creationId="{9328F9C2-7EFF-A222-E50A-EA191C341780}"/>
          </ac:picMkLst>
        </pc:picChg>
      </pc:sldChg>
      <pc:sldChg chg="new">
        <pc:chgData name="Berg, Dirk van den" userId="035ecb32-01d9-4b47-a105-eacf059a4647" providerId="ADAL" clId="{F7FF961E-CF96-44AC-93C2-93612F62D46D}" dt="2026-08-28T20:43:54.225" v="2011" actId="680"/>
        <pc:sldMkLst>
          <pc:docMk/>
          <pc:sldMk cId="3736150451" sldId="275"/>
        </pc:sldMkLst>
      </pc:sldChg>
      <pc:sldChg chg="modSp new">
        <pc:chgData name="Berg, Dirk van den" userId="035ecb32-01d9-4b47-a105-eacf059a4647" providerId="ADAL" clId="{F7FF961E-CF96-44AC-93C2-93612F62D46D}" dt="2026-08-29T11:07:20.095" v="2073"/>
        <pc:sldMkLst>
          <pc:docMk/>
          <pc:sldMk cId="1194990099" sldId="276"/>
        </pc:sldMkLst>
        <pc:spChg chg="mod">
          <ac:chgData name="Berg, Dirk van den" userId="035ecb32-01d9-4b47-a105-eacf059a4647" providerId="ADAL" clId="{F7FF961E-CF96-44AC-93C2-93612F62D46D}" dt="2026-08-29T11:07:20.095" v="2073"/>
          <ac:spMkLst>
            <pc:docMk/>
            <pc:sldMk cId="1194990099" sldId="276"/>
            <ac:spMk id="2" creationId="{AC3BC241-8681-EEBD-BCB0-FC73ADA09BD7}"/>
          </ac:spMkLst>
        </pc:spChg>
        <pc:spChg chg="mod">
          <ac:chgData name="Berg, Dirk van den" userId="035ecb32-01d9-4b47-a105-eacf059a4647" providerId="ADAL" clId="{F7FF961E-CF96-44AC-93C2-93612F62D46D}" dt="2026-08-29T11:07:14.372" v="2072"/>
          <ac:spMkLst>
            <pc:docMk/>
            <pc:sldMk cId="1194990099" sldId="276"/>
            <ac:spMk id="3" creationId="{D9D4114C-7B76-5F43-3D92-78402B082E9D}"/>
          </ac:spMkLst>
        </pc:spChg>
      </pc:sldChg>
      <pc:sldChg chg="modSp new mod">
        <pc:chgData name="Berg, Dirk van den" userId="035ecb32-01d9-4b47-a105-eacf059a4647" providerId="ADAL" clId="{F7FF961E-CF96-44AC-93C2-93612F62D46D}" dt="2026-08-29T11:44:50.808" v="2138"/>
        <pc:sldMkLst>
          <pc:docMk/>
          <pc:sldMk cId="2454807757" sldId="277"/>
        </pc:sldMkLst>
        <pc:spChg chg="mod">
          <ac:chgData name="Berg, Dirk van den" userId="035ecb32-01d9-4b47-a105-eacf059a4647" providerId="ADAL" clId="{F7FF961E-CF96-44AC-93C2-93612F62D46D}" dt="2026-08-29T11:37:11.657" v="2137" actId="20577"/>
          <ac:spMkLst>
            <pc:docMk/>
            <pc:sldMk cId="2454807757" sldId="277"/>
            <ac:spMk id="2" creationId="{25D42917-5CA6-7A04-7335-6855FCE8DDED}"/>
          </ac:spMkLst>
        </pc:spChg>
        <pc:spChg chg="mod">
          <ac:chgData name="Berg, Dirk van den" userId="035ecb32-01d9-4b47-a105-eacf059a4647" providerId="ADAL" clId="{F7FF961E-CF96-44AC-93C2-93612F62D46D}" dt="2026-08-29T11:44:50.808" v="2138"/>
          <ac:spMkLst>
            <pc:docMk/>
            <pc:sldMk cId="2454807757" sldId="277"/>
            <ac:spMk id="3" creationId="{832BED2C-96A6-EE00-B6F9-7779C2A1FC50}"/>
          </ac:spMkLst>
        </pc:spChg>
      </pc:sldChg>
      <pc:sldChg chg="addSp modSp new mod">
        <pc:chgData name="Berg, Dirk van den" userId="035ecb32-01d9-4b47-a105-eacf059a4647" providerId="ADAL" clId="{F7FF961E-CF96-44AC-93C2-93612F62D46D}" dt="2026-08-29T12:08:17.409" v="2184" actId="20577"/>
        <pc:sldMkLst>
          <pc:docMk/>
          <pc:sldMk cId="1372976212" sldId="278"/>
        </pc:sldMkLst>
        <pc:spChg chg="mod">
          <ac:chgData name="Berg, Dirk van den" userId="035ecb32-01d9-4b47-a105-eacf059a4647" providerId="ADAL" clId="{F7FF961E-CF96-44AC-93C2-93612F62D46D}" dt="2026-08-29T12:08:17.409" v="2184" actId="20577"/>
          <ac:spMkLst>
            <pc:docMk/>
            <pc:sldMk cId="1372976212" sldId="278"/>
            <ac:spMk id="2" creationId="{DD9BD030-BF0D-880D-44DF-66878E2FAD5D}"/>
          </ac:spMkLst>
        </pc:spChg>
        <pc:picChg chg="add mod">
          <ac:chgData name="Berg, Dirk van den" userId="035ecb32-01d9-4b47-a105-eacf059a4647" providerId="ADAL" clId="{F7FF961E-CF96-44AC-93C2-93612F62D46D}" dt="2026-08-29T12:08:07.565" v="2141" actId="1076"/>
          <ac:picMkLst>
            <pc:docMk/>
            <pc:sldMk cId="1372976212" sldId="278"/>
            <ac:picMk id="5" creationId="{5DE91E8E-0D73-9E94-0E58-B43452EDD383}"/>
          </ac:picMkLst>
        </pc:picChg>
      </pc:sldChg>
      <pc:sldChg chg="addSp modSp new mod">
        <pc:chgData name="Berg, Dirk van den" userId="035ecb32-01d9-4b47-a105-eacf059a4647" providerId="ADAL" clId="{F7FF961E-CF96-44AC-93C2-93612F62D46D}" dt="2026-08-29T12:12:21.211" v="2199"/>
        <pc:sldMkLst>
          <pc:docMk/>
          <pc:sldMk cId="740024012" sldId="279"/>
        </pc:sldMkLst>
        <pc:spChg chg="mod">
          <ac:chgData name="Berg, Dirk van den" userId="035ecb32-01d9-4b47-a105-eacf059a4647" providerId="ADAL" clId="{F7FF961E-CF96-44AC-93C2-93612F62D46D}" dt="2026-08-29T12:12:18.920" v="2197" actId="20577"/>
          <ac:spMkLst>
            <pc:docMk/>
            <pc:sldMk cId="740024012" sldId="279"/>
            <ac:spMk id="2" creationId="{1729AF31-068C-B0F2-4482-F1EAA72A17CB}"/>
          </ac:spMkLst>
        </pc:spChg>
        <pc:spChg chg="add">
          <ac:chgData name="Berg, Dirk van den" userId="035ecb32-01d9-4b47-a105-eacf059a4647" providerId="ADAL" clId="{F7FF961E-CF96-44AC-93C2-93612F62D46D}" dt="2026-08-29T12:12:21.211" v="2199"/>
          <ac:spMkLst>
            <pc:docMk/>
            <pc:sldMk cId="740024012" sldId="279"/>
            <ac:spMk id="5" creationId="{E720AAF7-F332-2C73-C99A-CF2E5D7CB7D9}"/>
          </ac:spMkLst>
        </pc:spChg>
      </pc:sldChg>
      <pc:sldChg chg="addSp delSp modSp new mod">
        <pc:chgData name="Berg, Dirk van den" userId="035ecb32-01d9-4b47-a105-eacf059a4647" providerId="ADAL" clId="{F7FF961E-CF96-44AC-93C2-93612F62D46D}" dt="2026-08-30T14:13:44.805" v="2342" actId="1076"/>
        <pc:sldMkLst>
          <pc:docMk/>
          <pc:sldMk cId="1279740269" sldId="280"/>
        </pc:sldMkLst>
        <pc:spChg chg="add mod">
          <ac:chgData name="Berg, Dirk van den" userId="035ecb32-01d9-4b47-a105-eacf059a4647" providerId="ADAL" clId="{F7FF961E-CF96-44AC-93C2-93612F62D46D}" dt="2026-08-30T14:13:44.805" v="2342" actId="1076"/>
          <ac:spMkLst>
            <pc:docMk/>
            <pc:sldMk cId="1279740269" sldId="280"/>
            <ac:spMk id="6" creationId="{1E6312A9-43F0-984A-0CD4-10E0B5810359}"/>
          </ac:spMkLst>
        </pc:spChg>
        <pc:graphicFrameChg chg="add mod">
          <ac:chgData name="Berg, Dirk van den" userId="035ecb32-01d9-4b47-a105-eacf059a4647" providerId="ADAL" clId="{F7FF961E-CF96-44AC-93C2-93612F62D46D}" dt="2026-08-29T13:58:25.928" v="2202"/>
          <ac:graphicFrameMkLst>
            <pc:docMk/>
            <pc:sldMk cId="1279740269" sldId="280"/>
            <ac:graphicFrameMk id="4" creationId="{85A96744-112D-930F-41B6-C0A46A391308}"/>
          </ac:graphicFrameMkLst>
        </pc:graphicFrameChg>
      </pc:sldChg>
      <pc:sldChg chg="modSp new mod">
        <pc:chgData name="Berg, Dirk van den" userId="035ecb32-01d9-4b47-a105-eacf059a4647" providerId="ADAL" clId="{F7FF961E-CF96-44AC-93C2-93612F62D46D}" dt="2026-08-29T14:23:35.949" v="2208"/>
        <pc:sldMkLst>
          <pc:docMk/>
          <pc:sldMk cId="3538428969" sldId="281"/>
        </pc:sldMkLst>
        <pc:spChg chg="mod">
          <ac:chgData name="Berg, Dirk van den" userId="035ecb32-01d9-4b47-a105-eacf059a4647" providerId="ADAL" clId="{F7FF961E-CF96-44AC-93C2-93612F62D46D}" dt="2026-08-29T14:10:26.572" v="2207" actId="27636"/>
          <ac:spMkLst>
            <pc:docMk/>
            <pc:sldMk cId="3538428969" sldId="281"/>
            <ac:spMk id="2" creationId="{34D855A4-D4AC-DBC4-0CAD-CD522B47F814}"/>
          </ac:spMkLst>
        </pc:spChg>
        <pc:spChg chg="mod">
          <ac:chgData name="Berg, Dirk van den" userId="035ecb32-01d9-4b47-a105-eacf059a4647" providerId="ADAL" clId="{F7FF961E-CF96-44AC-93C2-93612F62D46D}" dt="2026-08-29T14:23:35.949" v="2208"/>
          <ac:spMkLst>
            <pc:docMk/>
            <pc:sldMk cId="3538428969" sldId="281"/>
            <ac:spMk id="3" creationId="{FCCD325A-3912-A8C0-0A46-0D0FB05AFDDF}"/>
          </ac:spMkLst>
        </pc:spChg>
      </pc:sldChg>
      <pc:sldChg chg="addSp modSp new mod">
        <pc:chgData name="Berg, Dirk van den" userId="035ecb32-01d9-4b47-a105-eacf059a4647" providerId="ADAL" clId="{F7FF961E-CF96-44AC-93C2-93612F62D46D}" dt="2026-08-29T18:09:45.965" v="2248" actId="1076"/>
        <pc:sldMkLst>
          <pc:docMk/>
          <pc:sldMk cId="540375559" sldId="282"/>
        </pc:sldMkLst>
        <pc:spChg chg="mod">
          <ac:chgData name="Berg, Dirk van den" userId="035ecb32-01d9-4b47-a105-eacf059a4647" providerId="ADAL" clId="{F7FF961E-CF96-44AC-93C2-93612F62D46D}" dt="2026-08-29T18:08:35.154" v="2246" actId="20577"/>
          <ac:spMkLst>
            <pc:docMk/>
            <pc:sldMk cId="540375559" sldId="282"/>
            <ac:spMk id="2" creationId="{2D077CF7-35C4-5385-E16F-CB24137C14DE}"/>
          </ac:spMkLst>
        </pc:spChg>
        <pc:picChg chg="add mod">
          <ac:chgData name="Berg, Dirk van den" userId="035ecb32-01d9-4b47-a105-eacf059a4647" providerId="ADAL" clId="{F7FF961E-CF96-44AC-93C2-93612F62D46D}" dt="2026-08-29T18:09:45.965" v="2248" actId="1076"/>
          <ac:picMkLst>
            <pc:docMk/>
            <pc:sldMk cId="540375559" sldId="282"/>
            <ac:picMk id="5" creationId="{236B90C1-F3AB-4CB1-445A-ADE78539437D}"/>
          </ac:picMkLst>
        </pc:picChg>
      </pc:sldChg>
      <pc:sldChg chg="new">
        <pc:chgData name="Berg, Dirk van den" userId="035ecb32-01d9-4b47-a105-eacf059a4647" providerId="ADAL" clId="{F7FF961E-CF96-44AC-93C2-93612F62D46D}" dt="2026-08-30T10:19:54.358" v="2249" actId="680"/>
        <pc:sldMkLst>
          <pc:docMk/>
          <pc:sldMk cId="1120967562" sldId="283"/>
        </pc:sldMkLst>
      </pc:sldChg>
      <pc:sldChg chg="modSp new">
        <pc:chgData name="Berg, Dirk van den" userId="035ecb32-01d9-4b47-a105-eacf059a4647" providerId="ADAL" clId="{F7FF961E-CF96-44AC-93C2-93612F62D46D}" dt="2026-08-30T10:19:55.861" v="2251"/>
        <pc:sldMkLst>
          <pc:docMk/>
          <pc:sldMk cId="4042621240" sldId="284"/>
        </pc:sldMkLst>
        <pc:spChg chg="mod">
          <ac:chgData name="Berg, Dirk van den" userId="035ecb32-01d9-4b47-a105-eacf059a4647" providerId="ADAL" clId="{F7FF961E-CF96-44AC-93C2-93612F62D46D}" dt="2026-08-30T10:19:55.861" v="2251"/>
          <ac:spMkLst>
            <pc:docMk/>
            <pc:sldMk cId="4042621240" sldId="284"/>
            <ac:spMk id="3" creationId="{8DA4F383-C5DD-BD26-6518-067EA77428B0}"/>
          </ac:spMkLst>
        </pc:spChg>
      </pc:sldChg>
      <pc:sldChg chg="modSp new">
        <pc:chgData name="Berg, Dirk van den" userId="035ecb32-01d9-4b47-a105-eacf059a4647" providerId="ADAL" clId="{F7FF961E-CF96-44AC-93C2-93612F62D46D}" dt="2026-08-30T10:26:28.240" v="2253"/>
        <pc:sldMkLst>
          <pc:docMk/>
          <pc:sldMk cId="1197157959" sldId="285"/>
        </pc:sldMkLst>
        <pc:spChg chg="mod">
          <ac:chgData name="Berg, Dirk van den" userId="035ecb32-01d9-4b47-a105-eacf059a4647" providerId="ADAL" clId="{F7FF961E-CF96-44AC-93C2-93612F62D46D}" dt="2026-08-30T10:26:28.240" v="2253"/>
          <ac:spMkLst>
            <pc:docMk/>
            <pc:sldMk cId="1197157959" sldId="285"/>
            <ac:spMk id="3" creationId="{F878AE71-4B20-77CA-31A2-9A665B9548B4}"/>
          </ac:spMkLst>
        </pc:spChg>
      </pc:sldChg>
      <pc:sldChg chg="modSp new mod">
        <pc:chgData name="Berg, Dirk van den" userId="035ecb32-01d9-4b47-a105-eacf059a4647" providerId="ADAL" clId="{F7FF961E-CF96-44AC-93C2-93612F62D46D}" dt="2026-08-30T10:26:38.504" v="2298" actId="20577"/>
        <pc:sldMkLst>
          <pc:docMk/>
          <pc:sldMk cId="4022697226" sldId="286"/>
        </pc:sldMkLst>
        <pc:spChg chg="mod">
          <ac:chgData name="Berg, Dirk van den" userId="035ecb32-01d9-4b47-a105-eacf059a4647" providerId="ADAL" clId="{F7FF961E-CF96-44AC-93C2-93612F62D46D}" dt="2026-08-30T10:26:38.504" v="2298" actId="20577"/>
          <ac:spMkLst>
            <pc:docMk/>
            <pc:sldMk cId="4022697226" sldId="286"/>
            <ac:spMk id="2" creationId="{692A11F8-2F46-683C-E728-5E812CD57033}"/>
          </ac:spMkLst>
        </pc:spChg>
      </pc:sldChg>
      <pc:sldChg chg="modSp new">
        <pc:chgData name="Berg, Dirk van den" userId="035ecb32-01d9-4b47-a105-eacf059a4647" providerId="ADAL" clId="{F7FF961E-CF96-44AC-93C2-93612F62D46D}" dt="2026-08-30T11:27:10.322" v="2300"/>
        <pc:sldMkLst>
          <pc:docMk/>
          <pc:sldMk cId="1000329483" sldId="287"/>
        </pc:sldMkLst>
        <pc:spChg chg="mod">
          <ac:chgData name="Berg, Dirk van den" userId="035ecb32-01d9-4b47-a105-eacf059a4647" providerId="ADAL" clId="{F7FF961E-CF96-44AC-93C2-93612F62D46D}" dt="2026-08-30T11:27:10.322" v="2300"/>
          <ac:spMkLst>
            <pc:docMk/>
            <pc:sldMk cId="1000329483" sldId="287"/>
            <ac:spMk id="3" creationId="{6CF17BF1-3D58-9617-7EAB-06072232687D}"/>
          </ac:spMkLst>
        </pc:spChg>
      </pc:sldChg>
      <pc:sldChg chg="addSp modSp new mod">
        <pc:chgData name="Berg, Dirk van den" userId="035ecb32-01d9-4b47-a105-eacf059a4647" providerId="ADAL" clId="{F7FF961E-CF96-44AC-93C2-93612F62D46D}" dt="2026-08-30T11:46:04.968" v="2330" actId="1076"/>
        <pc:sldMkLst>
          <pc:docMk/>
          <pc:sldMk cId="1975642127" sldId="288"/>
        </pc:sldMkLst>
        <pc:spChg chg="mod">
          <ac:chgData name="Berg, Dirk van den" userId="035ecb32-01d9-4b47-a105-eacf059a4647" providerId="ADAL" clId="{F7FF961E-CF96-44AC-93C2-93612F62D46D}" dt="2026-08-30T11:45:25.873" v="2328" actId="20577"/>
          <ac:spMkLst>
            <pc:docMk/>
            <pc:sldMk cId="1975642127" sldId="288"/>
            <ac:spMk id="2" creationId="{1EA095B2-F6A3-ECB5-D605-C01EB2954CCE}"/>
          </ac:spMkLst>
        </pc:spChg>
        <pc:spChg chg="mod">
          <ac:chgData name="Berg, Dirk van den" userId="035ecb32-01d9-4b47-a105-eacf059a4647" providerId="ADAL" clId="{F7FF961E-CF96-44AC-93C2-93612F62D46D}" dt="2026-08-30T11:45:05.006" v="2304" actId="20577"/>
          <ac:spMkLst>
            <pc:docMk/>
            <pc:sldMk cId="1975642127" sldId="288"/>
            <ac:spMk id="3" creationId="{28DE4665-DCB3-DD05-79F8-9BE3468A4720}"/>
          </ac:spMkLst>
        </pc:spChg>
        <pc:spChg chg="add mod">
          <ac:chgData name="Berg, Dirk van den" userId="035ecb32-01d9-4b47-a105-eacf059a4647" providerId="ADAL" clId="{F7FF961E-CF96-44AC-93C2-93612F62D46D}" dt="2026-08-30T11:45:18.989" v="2306" actId="1076"/>
          <ac:spMkLst>
            <pc:docMk/>
            <pc:sldMk cId="1975642127" sldId="288"/>
            <ac:spMk id="5" creationId="{3D81AAFF-6C4E-2BFF-9815-09AEDFF4A9C6}"/>
          </ac:spMkLst>
        </pc:spChg>
        <pc:spChg chg="add mod">
          <ac:chgData name="Berg, Dirk van den" userId="035ecb32-01d9-4b47-a105-eacf059a4647" providerId="ADAL" clId="{F7FF961E-CF96-44AC-93C2-93612F62D46D}" dt="2026-08-30T11:46:04.968" v="2330" actId="1076"/>
          <ac:spMkLst>
            <pc:docMk/>
            <pc:sldMk cId="1975642127" sldId="288"/>
            <ac:spMk id="7" creationId="{59D75DE2-8D9C-0C74-2531-2C9AB9BFB2DC}"/>
          </ac:spMkLst>
        </pc:spChg>
      </pc:sldChg>
      <pc:sldChg chg="addSp new mod">
        <pc:chgData name="Berg, Dirk van den" userId="035ecb32-01d9-4b47-a105-eacf059a4647" providerId="ADAL" clId="{F7FF961E-CF96-44AC-93C2-93612F62D46D}" dt="2026-08-30T11:47:53.220" v="2332" actId="22"/>
        <pc:sldMkLst>
          <pc:docMk/>
          <pc:sldMk cId="1803220405" sldId="289"/>
        </pc:sldMkLst>
        <pc:picChg chg="add">
          <ac:chgData name="Berg, Dirk van den" userId="035ecb32-01d9-4b47-a105-eacf059a4647" providerId="ADAL" clId="{F7FF961E-CF96-44AC-93C2-93612F62D46D}" dt="2026-08-30T11:47:53.220" v="2332" actId="22"/>
          <ac:picMkLst>
            <pc:docMk/>
            <pc:sldMk cId="1803220405" sldId="289"/>
            <ac:picMk id="5" creationId="{74E7619B-3F9E-38AF-E351-AF5F5721A214}"/>
          </ac:picMkLst>
        </pc:picChg>
      </pc:sldChg>
      <pc:sldChg chg="modSp new mod">
        <pc:chgData name="Berg, Dirk van den" userId="035ecb32-01d9-4b47-a105-eacf059a4647" providerId="ADAL" clId="{F7FF961E-CF96-44AC-93C2-93612F62D46D}" dt="2026-08-30T12:19:11.968" v="2336" actId="27636"/>
        <pc:sldMkLst>
          <pc:docMk/>
          <pc:sldMk cId="511478664" sldId="290"/>
        </pc:sldMkLst>
        <pc:spChg chg="mod">
          <ac:chgData name="Berg, Dirk van den" userId="035ecb32-01d9-4b47-a105-eacf059a4647" providerId="ADAL" clId="{F7FF961E-CF96-44AC-93C2-93612F62D46D}" dt="2026-08-30T12:19:07.148" v="2334"/>
          <ac:spMkLst>
            <pc:docMk/>
            <pc:sldMk cId="511478664" sldId="290"/>
            <ac:spMk id="2" creationId="{F3ACE6C9-F595-69C5-0757-F8D011ECC859}"/>
          </ac:spMkLst>
        </pc:spChg>
        <pc:spChg chg="mod">
          <ac:chgData name="Berg, Dirk van den" userId="035ecb32-01d9-4b47-a105-eacf059a4647" providerId="ADAL" clId="{F7FF961E-CF96-44AC-93C2-93612F62D46D}" dt="2026-08-30T12:19:11.968" v="2336" actId="27636"/>
          <ac:spMkLst>
            <pc:docMk/>
            <pc:sldMk cId="511478664" sldId="290"/>
            <ac:spMk id="3" creationId="{79FB8D8E-EEBF-1018-BFB1-D683D9978007}"/>
          </ac:spMkLst>
        </pc:spChg>
      </pc:sldChg>
      <pc:sldChg chg="modSp new mod">
        <pc:chgData name="Berg, Dirk van den" userId="035ecb32-01d9-4b47-a105-eacf059a4647" providerId="ADAL" clId="{F7FF961E-CF96-44AC-93C2-93612F62D46D}" dt="2026-08-30T12:49:42.352" v="2339" actId="27636"/>
        <pc:sldMkLst>
          <pc:docMk/>
          <pc:sldMk cId="2074952368" sldId="291"/>
        </pc:sldMkLst>
        <pc:spChg chg="mod">
          <ac:chgData name="Berg, Dirk van den" userId="035ecb32-01d9-4b47-a105-eacf059a4647" providerId="ADAL" clId="{F7FF961E-CF96-44AC-93C2-93612F62D46D}" dt="2026-08-30T12:49:42.352" v="2339" actId="27636"/>
          <ac:spMkLst>
            <pc:docMk/>
            <pc:sldMk cId="2074952368" sldId="291"/>
            <ac:spMk id="3" creationId="{ACD8EA0A-6CCC-2640-7F46-53B5AD3E9D13}"/>
          </ac:spMkLst>
        </pc:spChg>
      </pc:sldChg>
      <pc:sldChg chg="addSp new mod">
        <pc:chgData name="Berg, Dirk van den" userId="035ecb32-01d9-4b47-a105-eacf059a4647" providerId="ADAL" clId="{F7FF961E-CF96-44AC-93C2-93612F62D46D}" dt="2026-08-30T13:23:25.770" v="2341" actId="22"/>
        <pc:sldMkLst>
          <pc:docMk/>
          <pc:sldMk cId="100681300" sldId="292"/>
        </pc:sldMkLst>
        <pc:picChg chg="add">
          <ac:chgData name="Berg, Dirk van den" userId="035ecb32-01d9-4b47-a105-eacf059a4647" providerId="ADAL" clId="{F7FF961E-CF96-44AC-93C2-93612F62D46D}" dt="2026-08-30T13:23:25.770" v="2341" actId="22"/>
          <ac:picMkLst>
            <pc:docMk/>
            <pc:sldMk cId="100681300" sldId="292"/>
            <ac:picMk id="5" creationId="{4F5DAC9F-CA61-FC3C-B020-B625CC794087}"/>
          </ac:picMkLst>
        </pc:picChg>
      </pc:sldChg>
      <pc:sldChg chg="addSp modSp new mod">
        <pc:chgData name="Berg, Dirk van den" userId="035ecb32-01d9-4b47-a105-eacf059a4647" providerId="ADAL" clId="{F7FF961E-CF96-44AC-93C2-93612F62D46D}" dt="2026-08-30T15:49:04.065" v="2483" actId="20577"/>
        <pc:sldMkLst>
          <pc:docMk/>
          <pc:sldMk cId="1242674972" sldId="293"/>
        </pc:sldMkLst>
        <pc:spChg chg="mod">
          <ac:chgData name="Berg, Dirk van den" userId="035ecb32-01d9-4b47-a105-eacf059a4647" providerId="ADAL" clId="{F7FF961E-CF96-44AC-93C2-93612F62D46D}" dt="2026-08-30T14:20:03.920" v="2357" actId="20577"/>
          <ac:spMkLst>
            <pc:docMk/>
            <pc:sldMk cId="1242674972" sldId="293"/>
            <ac:spMk id="2" creationId="{2C85E068-AAFF-420E-8DCA-987A8DB37780}"/>
          </ac:spMkLst>
        </pc:spChg>
        <pc:spChg chg="add mod">
          <ac:chgData name="Berg, Dirk van den" userId="035ecb32-01d9-4b47-a105-eacf059a4647" providerId="ADAL" clId="{F7FF961E-CF96-44AC-93C2-93612F62D46D}" dt="2026-08-30T15:49:04.065" v="2483" actId="20577"/>
          <ac:spMkLst>
            <pc:docMk/>
            <pc:sldMk cId="1242674972" sldId="293"/>
            <ac:spMk id="5" creationId="{958580AE-FB6E-FCFC-7B6D-4CF5160118C4}"/>
          </ac:spMkLst>
        </pc:spChg>
      </pc:sldChg>
      <pc:sldChg chg="modSp new mod">
        <pc:chgData name="Berg, Dirk van den" userId="035ecb32-01d9-4b47-a105-eacf059a4647" providerId="ADAL" clId="{F7FF961E-CF96-44AC-93C2-93612F62D46D}" dt="2026-08-30T15:27:32.234" v="2371" actId="1076"/>
        <pc:sldMkLst>
          <pc:docMk/>
          <pc:sldMk cId="650303503" sldId="294"/>
        </pc:sldMkLst>
        <pc:spChg chg="mod">
          <ac:chgData name="Berg, Dirk van den" userId="035ecb32-01d9-4b47-a105-eacf059a4647" providerId="ADAL" clId="{F7FF961E-CF96-44AC-93C2-93612F62D46D}" dt="2026-08-30T14:23:46.317" v="2368" actId="20577"/>
          <ac:spMkLst>
            <pc:docMk/>
            <pc:sldMk cId="650303503" sldId="294"/>
            <ac:spMk id="2" creationId="{542B4E83-88C7-2414-4D80-A1F6C16B8C5B}"/>
          </ac:spMkLst>
        </pc:spChg>
        <pc:spChg chg="mod">
          <ac:chgData name="Berg, Dirk van den" userId="035ecb32-01d9-4b47-a105-eacf059a4647" providerId="ADAL" clId="{F7FF961E-CF96-44AC-93C2-93612F62D46D}" dt="2026-08-30T15:27:32.234" v="2371" actId="1076"/>
          <ac:spMkLst>
            <pc:docMk/>
            <pc:sldMk cId="650303503" sldId="294"/>
            <ac:spMk id="3" creationId="{83B9699E-91EC-9F6E-BE97-BE2D1EC66452}"/>
          </ac:spMkLst>
        </pc:spChg>
      </pc:sldChg>
      <pc:sldChg chg="modSp new mod">
        <pc:chgData name="Berg, Dirk van den" userId="035ecb32-01d9-4b47-a105-eacf059a4647" providerId="ADAL" clId="{F7FF961E-CF96-44AC-93C2-93612F62D46D}" dt="2026-08-30T16:40:37.849" v="2486" actId="27636"/>
        <pc:sldMkLst>
          <pc:docMk/>
          <pc:sldMk cId="1543063527" sldId="295"/>
        </pc:sldMkLst>
        <pc:spChg chg="mod">
          <ac:chgData name="Berg, Dirk van den" userId="035ecb32-01d9-4b47-a105-eacf059a4647" providerId="ADAL" clId="{F7FF961E-CF96-44AC-93C2-93612F62D46D}" dt="2026-08-30T16:40:37.849" v="2486" actId="27636"/>
          <ac:spMkLst>
            <pc:docMk/>
            <pc:sldMk cId="1543063527" sldId="295"/>
            <ac:spMk id="3" creationId="{61C1FC60-A22B-CAAD-B517-59A6DA0C8BAB}"/>
          </ac:spMkLst>
        </pc:spChg>
      </pc:sldChg>
      <pc:sldChg chg="modSp new mod">
        <pc:chgData name="Berg, Dirk van den" userId="035ecb32-01d9-4b47-a105-eacf059a4647" providerId="ADAL" clId="{F7FF961E-CF96-44AC-93C2-93612F62D46D}" dt="2026-08-30T17:45:32.731" v="2873" actId="20577"/>
        <pc:sldMkLst>
          <pc:docMk/>
          <pc:sldMk cId="4182726292" sldId="296"/>
        </pc:sldMkLst>
        <pc:spChg chg="mod">
          <ac:chgData name="Berg, Dirk van den" userId="035ecb32-01d9-4b47-a105-eacf059a4647" providerId="ADAL" clId="{F7FF961E-CF96-44AC-93C2-93612F62D46D}" dt="2026-08-30T17:06:25.044" v="2493" actId="20577"/>
          <ac:spMkLst>
            <pc:docMk/>
            <pc:sldMk cId="4182726292" sldId="296"/>
            <ac:spMk id="2" creationId="{9A8E7206-0921-5ECE-4625-1F06CB54CC17}"/>
          </ac:spMkLst>
        </pc:spChg>
        <pc:spChg chg="mod">
          <ac:chgData name="Berg, Dirk van den" userId="035ecb32-01d9-4b47-a105-eacf059a4647" providerId="ADAL" clId="{F7FF961E-CF96-44AC-93C2-93612F62D46D}" dt="2026-08-30T17:45:32.731" v="2873" actId="20577"/>
          <ac:spMkLst>
            <pc:docMk/>
            <pc:sldMk cId="4182726292" sldId="296"/>
            <ac:spMk id="3" creationId="{8C3DD058-DEA6-4FBB-85D1-0F0C5286689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5CA74-D9D2-EC34-6358-962505179A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F79E8678-0913-C5C9-E2F0-7FAD1C4118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6C53FD9F-7E5E-A85A-90E8-9FED7888A766}"/>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5" name="Footer Placeholder 4">
            <a:extLst>
              <a:ext uri="{FF2B5EF4-FFF2-40B4-BE49-F238E27FC236}">
                <a16:creationId xmlns:a16="http://schemas.microsoft.com/office/drawing/2014/main" id="{FCF92957-1ADD-8D32-F3E3-D151D7D85D0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E331485-2FA9-FAC5-8B20-831E96A7748F}"/>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2282431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1D853-38EC-0701-BA85-F4D671877E82}"/>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4CA7170-2B6B-6955-3AAA-8689D281A3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8ADDBCC7-F488-7847-970E-B0FD31EC8AEA}"/>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5" name="Footer Placeholder 4">
            <a:extLst>
              <a:ext uri="{FF2B5EF4-FFF2-40B4-BE49-F238E27FC236}">
                <a16:creationId xmlns:a16="http://schemas.microsoft.com/office/drawing/2014/main" id="{A4D6F758-8525-62FA-20A8-88D4030D532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67C77BD-B709-6153-311D-CEFB3D207272}"/>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883129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77CB5-8CC6-8AEF-BEBC-CCFDF0C324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FE2E4942-A6A9-8B89-24DA-439F39F3C5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018E00-689F-4087-778D-B543D9E85A60}"/>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5" name="Footer Placeholder 4">
            <a:extLst>
              <a:ext uri="{FF2B5EF4-FFF2-40B4-BE49-F238E27FC236}">
                <a16:creationId xmlns:a16="http://schemas.microsoft.com/office/drawing/2014/main" id="{08BCD494-E245-D99F-FDF6-5888794E774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57F686B-FD7C-C00F-9CA2-52F5179C2461}"/>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3384865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FA55-6E2B-3C87-4313-876E63FDA0EF}"/>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096C3B01-F523-0955-2415-601F58DA39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752068C7-2C33-D70C-7C5B-C6DD89D16A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340CF9D7-B665-3EA2-0B49-1A048051E935}"/>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6" name="Footer Placeholder 5">
            <a:extLst>
              <a:ext uri="{FF2B5EF4-FFF2-40B4-BE49-F238E27FC236}">
                <a16:creationId xmlns:a16="http://schemas.microsoft.com/office/drawing/2014/main" id="{1B6D960E-A3B8-5F44-49B0-B31C2E87292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BF19416-DBE1-50D9-FA68-4AD494A1046E}"/>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2823764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ACABA-999D-EA4D-53BA-117E21E8DDF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AF4F296E-4988-FBE2-C147-AB6E429278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0D62FD-4581-2506-6E73-174F0395C1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F76B957E-3EA7-B125-281A-A21E696045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B5D43F-80A2-7303-7B6B-21204E730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AC5F4722-AEB5-C321-875D-32D019BB9382}"/>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8" name="Footer Placeholder 7">
            <a:extLst>
              <a:ext uri="{FF2B5EF4-FFF2-40B4-BE49-F238E27FC236}">
                <a16:creationId xmlns:a16="http://schemas.microsoft.com/office/drawing/2014/main" id="{1CF594F5-709C-A48D-0A70-06A61D4A3B15}"/>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94DD8F3D-C52A-802E-1909-207DFE07012D}"/>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3483737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BABF8-0D69-0CBA-FF77-C956EA0768E5}"/>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1B55C410-4262-F7F9-CBC2-870D1320DAAD}"/>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4" name="Footer Placeholder 3">
            <a:extLst>
              <a:ext uri="{FF2B5EF4-FFF2-40B4-BE49-F238E27FC236}">
                <a16:creationId xmlns:a16="http://schemas.microsoft.com/office/drawing/2014/main" id="{5005D616-9729-A7BD-4361-6B401F5BF16B}"/>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713EF3FC-7005-49D1-C60B-2C8814C381DD}"/>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86290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A4BD9F-C60C-2653-1052-D30F9D57FEA2}"/>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3" name="Footer Placeholder 2">
            <a:extLst>
              <a:ext uri="{FF2B5EF4-FFF2-40B4-BE49-F238E27FC236}">
                <a16:creationId xmlns:a16="http://schemas.microsoft.com/office/drawing/2014/main" id="{4DC66D97-5690-FE5E-44A0-52428E5ED21B}"/>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07F54B36-9A1B-D9C4-A421-8755C53AE8E4}"/>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2178317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D127E-BE82-9F8D-2186-8FC833E1A9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96F259A4-154A-96C6-093D-43AFC737C6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15FEBB6D-1838-7918-BB01-172B037524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21514D-4ED1-0B89-760F-C94A31197EA2}"/>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6" name="Footer Placeholder 5">
            <a:extLst>
              <a:ext uri="{FF2B5EF4-FFF2-40B4-BE49-F238E27FC236}">
                <a16:creationId xmlns:a16="http://schemas.microsoft.com/office/drawing/2014/main" id="{1AE7F767-DA1F-43F8-DFD6-4DCC87742AC8}"/>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A7594931-9C5B-8842-EACF-009512AF6375}"/>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4070905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E4175-363D-7A91-1BBD-2CF465A3E9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64700F6F-3289-9E55-9EDC-8A303D3B9E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2ABD1BF0-2AB0-CEBA-75AF-4721112363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B5181-7A51-8387-161C-7282BFF370B8}"/>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6" name="Footer Placeholder 5">
            <a:extLst>
              <a:ext uri="{FF2B5EF4-FFF2-40B4-BE49-F238E27FC236}">
                <a16:creationId xmlns:a16="http://schemas.microsoft.com/office/drawing/2014/main" id="{EB7BCE0F-480C-4044-0FF5-94249EEDDFF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A2A713AF-A2F4-D4AC-8EED-C43827842821}"/>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1065695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B76CF-2884-C855-7D05-3E5213E00249}"/>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00C27820-828F-B6BE-B019-18E9D448D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6F1B16A-31F6-F229-D22F-004D0E8F9A1A}"/>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5" name="Footer Placeholder 4">
            <a:extLst>
              <a:ext uri="{FF2B5EF4-FFF2-40B4-BE49-F238E27FC236}">
                <a16:creationId xmlns:a16="http://schemas.microsoft.com/office/drawing/2014/main" id="{5D987F93-55F6-472A-638A-30AFC21CC377}"/>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8D16DA0-F3F1-279F-D529-132ECB5093FC}"/>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2400244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88012F-C69F-B447-FF3C-EABBDDB579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5925C59F-F493-DE6C-5FD6-7A0E7AFB6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76C0A6C2-5B11-EFC8-91C3-B4131BA91237}"/>
              </a:ext>
            </a:extLst>
          </p:cNvPr>
          <p:cNvSpPr>
            <a:spLocks noGrp="1"/>
          </p:cNvSpPr>
          <p:nvPr>
            <p:ph type="dt" sz="half" idx="10"/>
          </p:nvPr>
        </p:nvSpPr>
        <p:spPr/>
        <p:txBody>
          <a:bodyPr/>
          <a:lstStyle/>
          <a:p>
            <a:fld id="{335D2FCE-6C0E-454F-B622-573D22386B67}" type="datetimeFigureOut">
              <a:rPr lang="en-NL" smtClean="0"/>
              <a:t>28/08/2026</a:t>
            </a:fld>
            <a:endParaRPr lang="en-NL"/>
          </a:p>
        </p:txBody>
      </p:sp>
      <p:sp>
        <p:nvSpPr>
          <p:cNvPr id="5" name="Footer Placeholder 4">
            <a:extLst>
              <a:ext uri="{FF2B5EF4-FFF2-40B4-BE49-F238E27FC236}">
                <a16:creationId xmlns:a16="http://schemas.microsoft.com/office/drawing/2014/main" id="{3C6DDCA4-8162-5A85-A8D4-B37D3F20E7C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D8E9131-FA08-026D-4FE8-67C85A8EA637}"/>
              </a:ext>
            </a:extLst>
          </p:cNvPr>
          <p:cNvSpPr>
            <a:spLocks noGrp="1"/>
          </p:cNvSpPr>
          <p:nvPr>
            <p:ph type="sldNum" sz="quarter" idx="12"/>
          </p:nvPr>
        </p:nvSpPr>
        <p:spPr/>
        <p:txBody>
          <a:bodyPr/>
          <a:lstStyle/>
          <a:p>
            <a:fld id="{86F30155-F458-43BE-91F3-9CF6385B545B}" type="slidenum">
              <a:rPr lang="en-NL" smtClean="0"/>
              <a:t>‹#›</a:t>
            </a:fld>
            <a:endParaRPr lang="en-NL"/>
          </a:p>
        </p:txBody>
      </p:sp>
    </p:spTree>
    <p:extLst>
      <p:ext uri="{BB962C8B-B14F-4D97-AF65-F5344CB8AC3E}">
        <p14:creationId xmlns:p14="http://schemas.microsoft.com/office/powerpoint/2010/main" val="320885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8CB35E-0FBA-AA34-6711-C1DA390DBE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5A34FA79-12C0-D12C-5A07-B2796BEA16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D1615366-AB26-3DED-80E9-59BA24926F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5D2FCE-6C0E-454F-B622-573D22386B67}" type="datetimeFigureOut">
              <a:rPr lang="en-NL" smtClean="0"/>
              <a:t>28/08/2026</a:t>
            </a:fld>
            <a:endParaRPr lang="en-NL"/>
          </a:p>
        </p:txBody>
      </p:sp>
      <p:sp>
        <p:nvSpPr>
          <p:cNvPr id="5" name="Footer Placeholder 4">
            <a:extLst>
              <a:ext uri="{FF2B5EF4-FFF2-40B4-BE49-F238E27FC236}">
                <a16:creationId xmlns:a16="http://schemas.microsoft.com/office/drawing/2014/main" id="{81F0D7A2-C05E-A520-F2D2-DD3A154383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FC8705A1-4696-E622-8B59-5D4FF95BE0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F30155-F458-43BE-91F3-9CF6385B545B}" type="slidenum">
              <a:rPr lang="en-NL" smtClean="0"/>
              <a:t>‹#›</a:t>
            </a:fld>
            <a:endParaRPr lang="en-NL"/>
          </a:p>
        </p:txBody>
      </p:sp>
    </p:spTree>
    <p:extLst>
      <p:ext uri="{BB962C8B-B14F-4D97-AF65-F5344CB8AC3E}">
        <p14:creationId xmlns:p14="http://schemas.microsoft.com/office/powerpoint/2010/main" val="3367949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4A6FB-02F5-F4BC-9113-6335137E5C3A}"/>
              </a:ext>
            </a:extLst>
          </p:cNvPr>
          <p:cNvSpPr>
            <a:spLocks noGrp="1"/>
          </p:cNvSpPr>
          <p:nvPr>
            <p:ph type="ctrTitle"/>
          </p:nvPr>
        </p:nvSpPr>
        <p:spPr/>
        <p:txBody>
          <a:bodyPr/>
          <a:lstStyle/>
          <a:p>
            <a:endParaRPr lang="en-NL"/>
          </a:p>
        </p:txBody>
      </p:sp>
      <p:sp>
        <p:nvSpPr>
          <p:cNvPr id="3" name="Subtitle 2">
            <a:extLst>
              <a:ext uri="{FF2B5EF4-FFF2-40B4-BE49-F238E27FC236}">
                <a16:creationId xmlns:a16="http://schemas.microsoft.com/office/drawing/2014/main" id="{499B7BD4-B2AA-759E-422C-64C064E8BB87}"/>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197792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0A90A-888A-9E9A-C0DB-089ECF67F249}"/>
              </a:ext>
            </a:extLst>
          </p:cNvPr>
          <p:cNvSpPr>
            <a:spLocks noGrp="1"/>
          </p:cNvSpPr>
          <p:nvPr>
            <p:ph type="title"/>
          </p:nvPr>
        </p:nvSpPr>
        <p:spPr/>
        <p:txBody>
          <a:bodyPr/>
          <a:lstStyle/>
          <a:p>
            <a:r>
              <a:rPr lang="en-US" dirty="0"/>
              <a:t>Issues</a:t>
            </a:r>
            <a:endParaRPr lang="en-NL" dirty="0"/>
          </a:p>
        </p:txBody>
      </p:sp>
      <p:sp>
        <p:nvSpPr>
          <p:cNvPr id="3" name="Content Placeholder 2">
            <a:extLst>
              <a:ext uri="{FF2B5EF4-FFF2-40B4-BE49-F238E27FC236}">
                <a16:creationId xmlns:a16="http://schemas.microsoft.com/office/drawing/2014/main" id="{C9848E4D-4D96-C29E-04CC-64B10569AAB9}"/>
              </a:ext>
            </a:extLst>
          </p:cNvPr>
          <p:cNvSpPr>
            <a:spLocks noGrp="1"/>
          </p:cNvSpPr>
          <p:nvPr>
            <p:ph idx="1"/>
          </p:nvPr>
        </p:nvSpPr>
        <p:spPr/>
        <p:txBody>
          <a:bodyPr>
            <a:normAutofit fontScale="55000" lnSpcReduction="20000"/>
          </a:bodyPr>
          <a:lstStyle/>
          <a:p>
            <a:r>
              <a:rPr lang="en-US" dirty="0"/>
              <a:t>Training window mismatch validation</a:t>
            </a:r>
          </a:p>
          <a:p>
            <a:r>
              <a:rPr lang="en-US" dirty="0"/>
              <a:t>Data size issue?</a:t>
            </a:r>
          </a:p>
          <a:p>
            <a:r>
              <a:rPr lang="en-US" dirty="0"/>
              <a:t>Current system to learn linear </a:t>
            </a:r>
            <a:r>
              <a:rPr lang="en-US" dirty="0">
                <a:sym typeface="Wingdings" panose="05000000000000000000" pitchFamily="2" charset="2"/>
              </a:rPr>
              <a:t> add </a:t>
            </a:r>
            <a:r>
              <a:rPr lang="en-US" dirty="0"/>
              <a:t>Cubic spring</a:t>
            </a:r>
          </a:p>
          <a:p>
            <a:r>
              <a:rPr lang="en-US" dirty="0"/>
              <a:t>Code issues:</a:t>
            </a:r>
          </a:p>
          <a:p>
            <a:pPr lvl="1"/>
            <a:r>
              <a:rPr lang="en-US" dirty="0" err="1"/>
              <a:t>Nf</a:t>
            </a:r>
            <a:r>
              <a:rPr lang="en-US" dirty="0"/>
              <a:t>-rms open-loop one training trajectory. Also say which trajectory this is.</a:t>
            </a:r>
          </a:p>
          <a:p>
            <a:pPr lvl="1"/>
            <a:r>
              <a:rPr lang="en-US" dirty="0"/>
              <a:t>Orth false doesn’t disable it??</a:t>
            </a:r>
          </a:p>
          <a:p>
            <a:pPr lvl="1"/>
            <a:r>
              <a:rPr lang="en-US" dirty="0"/>
              <a:t>Closed loop in core</a:t>
            </a:r>
          </a:p>
          <a:p>
            <a:pPr lvl="1"/>
            <a:r>
              <a:rPr lang="en-US" dirty="0"/>
              <a:t>❯ this might be the issue for a lot of current parameters: Not the naming. It is that a run never tells you whether </a:t>
            </a:r>
            <a:r>
              <a:rPr lang="en-US" dirty="0" err="1"/>
              <a:t>orth</a:t>
            </a:r>
            <a:r>
              <a:rPr lang="en-US" dirty="0"/>
              <a:t> is on. </a:t>
            </a:r>
          </a:p>
          <a:p>
            <a:r>
              <a:rPr lang="en-US" dirty="0"/>
              <a:t>Multi rate horizon</a:t>
            </a:r>
          </a:p>
          <a:p>
            <a:pPr lvl="1"/>
            <a:r>
              <a:rPr lang="en-US" dirty="0"/>
              <a:t>Should this not be good for my 157 </a:t>
            </a:r>
            <a:r>
              <a:rPr lang="en-US" dirty="0" err="1"/>
              <a:t>hz</a:t>
            </a:r>
            <a:r>
              <a:rPr lang="en-US" dirty="0"/>
              <a:t> dynamics??</a:t>
            </a:r>
          </a:p>
          <a:p>
            <a:pPr lvl="1"/>
            <a:r>
              <a:rPr lang="en-US" dirty="0"/>
              <a:t>Important integers with this for </a:t>
            </a:r>
            <a:r>
              <a:rPr lang="en-US" dirty="0" err="1"/>
              <a:t>downsampling</a:t>
            </a:r>
            <a:r>
              <a:rPr lang="en-US" dirty="0"/>
              <a:t> Roland said</a:t>
            </a:r>
          </a:p>
          <a:p>
            <a:pPr lvl="1"/>
            <a:r>
              <a:rPr lang="en-US" dirty="0"/>
              <a:t>What about the controller here..?</a:t>
            </a:r>
          </a:p>
          <a:p>
            <a:pPr lvl="1"/>
            <a:r>
              <a:rPr lang="en-US" dirty="0"/>
              <a:t>How to weight? First the large </a:t>
            </a:r>
            <a:r>
              <a:rPr lang="en-US" dirty="0" err="1"/>
              <a:t>hz</a:t>
            </a:r>
            <a:r>
              <a:rPr lang="en-US" dirty="0"/>
              <a:t> or first low </a:t>
            </a:r>
            <a:r>
              <a:rPr lang="en-US" dirty="0" err="1"/>
              <a:t>hz</a:t>
            </a:r>
            <a:r>
              <a:rPr lang="en-US" dirty="0"/>
              <a:t>? Need to look at </a:t>
            </a:r>
            <a:r>
              <a:rPr lang="en-US" dirty="0" err="1"/>
              <a:t>downsampling</a:t>
            </a:r>
            <a:r>
              <a:rPr lang="en-US" dirty="0"/>
              <a:t>. Need to update ann. Indexing was important, to match </a:t>
            </a:r>
            <a:r>
              <a:rPr lang="en-US" dirty="0" err="1"/>
              <a:t>roland</a:t>
            </a:r>
            <a:r>
              <a:rPr lang="en-US" dirty="0"/>
              <a:t> said.</a:t>
            </a:r>
          </a:p>
          <a:p>
            <a:r>
              <a:rPr lang="en-US" dirty="0"/>
              <a:t>36 improvement all we can get in noise?? At least additional augmented states learn.</a:t>
            </a:r>
          </a:p>
          <a:p>
            <a:r>
              <a:rPr lang="en-US" dirty="0"/>
              <a:t>Closed-loop issue affecting training / plant training itself</a:t>
            </a:r>
          </a:p>
          <a:p>
            <a:r>
              <a:rPr lang="en-US" dirty="0"/>
              <a:t>With a perfect model 1:1 no drift / offset right?</a:t>
            </a:r>
          </a:p>
          <a:p>
            <a:pPr lvl="1"/>
            <a:r>
              <a:rPr lang="en-US" dirty="0">
                <a:sym typeface="Wingdings" panose="05000000000000000000" pitchFamily="2" charset="2"/>
              </a:rPr>
              <a:t> controller making less important during training.</a:t>
            </a:r>
            <a:endParaRPr lang="en-NL" dirty="0"/>
          </a:p>
        </p:txBody>
      </p:sp>
    </p:spTree>
    <p:extLst>
      <p:ext uri="{BB962C8B-B14F-4D97-AF65-F5344CB8AC3E}">
        <p14:creationId xmlns:p14="http://schemas.microsoft.com/office/powerpoint/2010/main" val="4159469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3F9BB-32D6-EB39-3E57-B144FDA61B53}"/>
              </a:ext>
            </a:extLst>
          </p:cNvPr>
          <p:cNvSpPr>
            <a:spLocks noGrp="1"/>
          </p:cNvSpPr>
          <p:nvPr>
            <p:ph type="title"/>
          </p:nvPr>
        </p:nvSpPr>
        <p:spPr/>
        <p:txBody>
          <a:bodyPr>
            <a:normAutofit fontScale="90000"/>
          </a:bodyPr>
          <a:lstStyle/>
          <a:p>
            <a:r>
              <a:rPr lang="en-US" dirty="0"/>
              <a:t>Reference </a:t>
            </a:r>
            <a:br>
              <a:rPr lang="en-US" dirty="0"/>
            </a:br>
            <a:r>
              <a:rPr lang="en-NL" dirty="0"/>
              <a:t>Thus the residual driving your controller is the difference between the model’s and system’s reference-tracking errors.</a:t>
            </a:r>
          </a:p>
        </p:txBody>
      </p:sp>
      <p:sp>
        <p:nvSpPr>
          <p:cNvPr id="3" name="Content Placeholder 2">
            <a:extLst>
              <a:ext uri="{FF2B5EF4-FFF2-40B4-BE49-F238E27FC236}">
                <a16:creationId xmlns:a16="http://schemas.microsoft.com/office/drawing/2014/main" id="{296814BC-27F0-51C7-F41F-436752B6EF2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10B7E07-E0AD-4F33-4087-A61F80408FE5}"/>
              </a:ext>
            </a:extLst>
          </p:cNvPr>
          <p:cNvPicPr>
            <a:picLocks noChangeAspect="1"/>
          </p:cNvPicPr>
          <p:nvPr/>
        </p:nvPicPr>
        <p:blipFill>
          <a:blip r:embed="rId2"/>
          <a:stretch>
            <a:fillRect/>
          </a:stretch>
        </p:blipFill>
        <p:spPr>
          <a:xfrm>
            <a:off x="1424535" y="2383934"/>
            <a:ext cx="9342930" cy="5182049"/>
          </a:xfrm>
          <a:prstGeom prst="rect">
            <a:avLst/>
          </a:prstGeom>
        </p:spPr>
      </p:pic>
    </p:spTree>
    <p:extLst>
      <p:ext uri="{BB962C8B-B14F-4D97-AF65-F5344CB8AC3E}">
        <p14:creationId xmlns:p14="http://schemas.microsoft.com/office/powerpoint/2010/main" val="1795987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C1575-0F20-9847-A538-4F3AAA8E0A9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C0132E7-1AE6-37BB-AB5A-191BF6F8BD5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2A44E85-AD67-D431-7838-8E11EC87D1D6}"/>
              </a:ext>
            </a:extLst>
          </p:cNvPr>
          <p:cNvPicPr>
            <a:picLocks noChangeAspect="1"/>
          </p:cNvPicPr>
          <p:nvPr/>
        </p:nvPicPr>
        <p:blipFill>
          <a:blip r:embed="rId2"/>
          <a:stretch>
            <a:fillRect/>
          </a:stretch>
        </p:blipFill>
        <p:spPr>
          <a:xfrm>
            <a:off x="1363570" y="799872"/>
            <a:ext cx="9464860" cy="5258256"/>
          </a:xfrm>
          <a:prstGeom prst="rect">
            <a:avLst/>
          </a:prstGeom>
        </p:spPr>
      </p:pic>
      <p:sp>
        <p:nvSpPr>
          <p:cNvPr id="7" name="TextBox 6">
            <a:extLst>
              <a:ext uri="{FF2B5EF4-FFF2-40B4-BE49-F238E27FC236}">
                <a16:creationId xmlns:a16="http://schemas.microsoft.com/office/drawing/2014/main" id="{073B2388-0127-84A9-BCDD-0B0FF9CBB143}"/>
              </a:ext>
            </a:extLst>
          </p:cNvPr>
          <p:cNvSpPr txBox="1"/>
          <p:nvPr/>
        </p:nvSpPr>
        <p:spPr>
          <a:xfrm>
            <a:off x="2251587" y="6311900"/>
            <a:ext cx="6096000" cy="646331"/>
          </a:xfrm>
          <a:prstGeom prst="rect">
            <a:avLst/>
          </a:prstGeom>
          <a:noFill/>
        </p:spPr>
        <p:txBody>
          <a:bodyPr wrap="square">
            <a:spAutoFit/>
          </a:bodyPr>
          <a:lstStyle/>
          <a:p>
            <a:r>
              <a:rPr lang="en-NL" dirty="0"/>
              <a:t>however, sensitivity-weight the identification error, so plant-domain validation remains necessary.</a:t>
            </a:r>
          </a:p>
        </p:txBody>
      </p:sp>
    </p:spTree>
    <p:extLst>
      <p:ext uri="{BB962C8B-B14F-4D97-AF65-F5344CB8AC3E}">
        <p14:creationId xmlns:p14="http://schemas.microsoft.com/office/powerpoint/2010/main" val="2472719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0B464-4C8D-DB93-6D41-3EB0A050AF39}"/>
              </a:ext>
            </a:extLst>
          </p:cNvPr>
          <p:cNvSpPr>
            <a:spLocks noGrp="1"/>
          </p:cNvSpPr>
          <p:nvPr>
            <p:ph type="title"/>
          </p:nvPr>
        </p:nvSpPr>
        <p:spPr/>
        <p:txBody>
          <a:bodyPr/>
          <a:lstStyle/>
          <a:p>
            <a:r>
              <a:rPr lang="en-US" dirty="0" err="1"/>
              <a:t>Downsampling</a:t>
            </a:r>
            <a:r>
              <a:rPr lang="en-US" dirty="0"/>
              <a:t> controller</a:t>
            </a:r>
            <a:endParaRPr lang="en-NL" dirty="0"/>
          </a:p>
        </p:txBody>
      </p:sp>
      <p:sp>
        <p:nvSpPr>
          <p:cNvPr id="3" name="Content Placeholder 2">
            <a:extLst>
              <a:ext uri="{FF2B5EF4-FFF2-40B4-BE49-F238E27FC236}">
                <a16:creationId xmlns:a16="http://schemas.microsoft.com/office/drawing/2014/main" id="{2015B015-B8C3-906D-CDE0-711BC79C6C03}"/>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43F0ACEC-ADD5-6B19-F6F1-77246EC41E50}"/>
              </a:ext>
            </a:extLst>
          </p:cNvPr>
          <p:cNvSpPr txBox="1"/>
          <p:nvPr/>
        </p:nvSpPr>
        <p:spPr>
          <a:xfrm>
            <a:off x="838200" y="2169227"/>
            <a:ext cx="6096000" cy="1477328"/>
          </a:xfrm>
          <a:prstGeom prst="rect">
            <a:avLst/>
          </a:prstGeom>
          <a:noFill/>
        </p:spPr>
        <p:txBody>
          <a:bodyPr wrap="square">
            <a:spAutoFit/>
          </a:bodyPr>
          <a:lstStyle/>
          <a:p>
            <a:r>
              <a:rPr lang="en-NL" dirty="0"/>
              <a:t>I don't think you need it, and the reason is the residual form above. What you need is not "the same controller", it is "a loop whose sensitivity shaping over the band you care about is close to the 20 kHz one". That is a testable claim, and the test is already written.</a:t>
            </a:r>
          </a:p>
        </p:txBody>
      </p:sp>
      <p:pic>
        <p:nvPicPr>
          <p:cNvPr id="7" name="Picture 6">
            <a:extLst>
              <a:ext uri="{FF2B5EF4-FFF2-40B4-BE49-F238E27FC236}">
                <a16:creationId xmlns:a16="http://schemas.microsoft.com/office/drawing/2014/main" id="{65D8028D-30A3-3754-4787-605DC01B8323}"/>
              </a:ext>
            </a:extLst>
          </p:cNvPr>
          <p:cNvPicPr>
            <a:picLocks noChangeAspect="1"/>
          </p:cNvPicPr>
          <p:nvPr/>
        </p:nvPicPr>
        <p:blipFill>
          <a:blip r:embed="rId2"/>
          <a:stretch>
            <a:fillRect/>
          </a:stretch>
        </p:blipFill>
        <p:spPr>
          <a:xfrm>
            <a:off x="7029435" y="1480988"/>
            <a:ext cx="4868677" cy="4890315"/>
          </a:xfrm>
          <a:prstGeom prst="rect">
            <a:avLst/>
          </a:prstGeom>
        </p:spPr>
      </p:pic>
    </p:spTree>
    <p:extLst>
      <p:ext uri="{BB962C8B-B14F-4D97-AF65-F5344CB8AC3E}">
        <p14:creationId xmlns:p14="http://schemas.microsoft.com/office/powerpoint/2010/main" val="4151024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D17EE-FA85-FDB5-CD92-1B0535CE92A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375199E-A62F-8B02-286F-A501B542E9AC}"/>
              </a:ext>
            </a:extLst>
          </p:cNvPr>
          <p:cNvSpPr>
            <a:spLocks noGrp="1"/>
          </p:cNvSpPr>
          <p:nvPr>
            <p:ph idx="1"/>
          </p:nvPr>
        </p:nvSpPr>
        <p:spPr/>
        <p:txBody>
          <a:bodyPr/>
          <a:lstStyle/>
          <a:p>
            <a:r>
              <a:rPr lang="en-US" dirty="0"/>
              <a:t>Second, and this is the binding one: open loop costs you the metric. D-142 measured the baseline-to-oracle headroom at 77-79x closed loop against 2.35x on Y open loop, and the reason is exactly the </a:t>
            </a:r>
            <a:r>
              <a:rPr lang="en-US" dirty="0" err="1"/>
              <a:t>σ_max</a:t>
            </a:r>
            <a:r>
              <a:rPr lang="en-US" dirty="0"/>
              <a:t>(So) ≈ 2.07 at 130-180 Hz that the rate table has been flagging. The waterbed that makes low rates unacceptable is the same waterbed that makes the augmentation visible. So "</a:t>
            </a:r>
            <a:r>
              <a:rPr lang="en-US" dirty="0" err="1"/>
              <a:t>downsample</a:t>
            </a:r>
            <a:r>
              <a:rPr lang="en-US" dirty="0"/>
              <a:t> further with no controller" is not a 5x speedup, it is a 5x speedup bought with a 33x reduction in the separation your selection metric can see.</a:t>
            </a:r>
            <a:endParaRPr lang="en-NL" dirty="0"/>
          </a:p>
        </p:txBody>
      </p:sp>
      <p:sp>
        <p:nvSpPr>
          <p:cNvPr id="5" name="TextBox 4">
            <a:extLst>
              <a:ext uri="{FF2B5EF4-FFF2-40B4-BE49-F238E27FC236}">
                <a16:creationId xmlns:a16="http://schemas.microsoft.com/office/drawing/2014/main" id="{93CF8D1E-8D27-A959-A77F-41DAE4647A19}"/>
              </a:ext>
            </a:extLst>
          </p:cNvPr>
          <p:cNvSpPr txBox="1"/>
          <p:nvPr/>
        </p:nvSpPr>
        <p:spPr>
          <a:xfrm>
            <a:off x="6096000" y="5958443"/>
            <a:ext cx="6096000" cy="2585323"/>
          </a:xfrm>
          <a:prstGeom prst="rect">
            <a:avLst/>
          </a:prstGeom>
          <a:noFill/>
        </p:spPr>
        <p:txBody>
          <a:bodyPr wrap="square">
            <a:spAutoFit/>
          </a:bodyPr>
          <a:lstStyle/>
          <a:p>
            <a:r>
              <a:rPr lang="en-NL" dirty="0"/>
              <a:t>Keep the closed-loop training path at 4 kHz and stop treating the sample rate as the speed lever, on both this answer and D-166. If you want a cheap low-rate arm, scope it as an open-loop pre-training or diagnostic stage at 800 Hz with the D-137 precedent attached, and say up front that its numbers are not comparable to any closed-loop </a:t>
            </a:r>
            <a:r>
              <a:rPr lang="en-NL" dirty="0" err="1"/>
              <a:t>bestfit</a:t>
            </a:r>
            <a:r>
              <a:rPr lang="en-NL" dirty="0"/>
              <a:t>. Before that is worth building, let me price stride, </a:t>
            </a:r>
            <a:r>
              <a:rPr lang="en-NL" dirty="0" err="1"/>
              <a:t>n_seg</a:t>
            </a:r>
            <a:r>
              <a:rPr lang="en-NL" dirty="0"/>
              <a:t> and the </a:t>
            </a:r>
            <a:r>
              <a:rPr lang="en-NL" dirty="0" err="1"/>
              <a:t>n_seg</a:t>
            </a:r>
            <a:r>
              <a:rPr lang="en-NL" dirty="0"/>
              <a:t> &gt; 1 closed-loop block, since that is where a 4x is likely to exist without giving up the metric.</a:t>
            </a:r>
          </a:p>
        </p:txBody>
      </p:sp>
      <p:sp>
        <p:nvSpPr>
          <p:cNvPr id="7" name="TextBox 6">
            <a:extLst>
              <a:ext uri="{FF2B5EF4-FFF2-40B4-BE49-F238E27FC236}">
                <a16:creationId xmlns:a16="http://schemas.microsoft.com/office/drawing/2014/main" id="{2281635B-8475-79AA-B8AD-BE69F60253C1}"/>
              </a:ext>
            </a:extLst>
          </p:cNvPr>
          <p:cNvSpPr txBox="1"/>
          <p:nvPr/>
        </p:nvSpPr>
        <p:spPr>
          <a:xfrm>
            <a:off x="3070185" y="-16376803"/>
            <a:ext cx="6140368" cy="41365170"/>
          </a:xfrm>
          <a:prstGeom prst="rect">
            <a:avLst/>
          </a:prstGeom>
          <a:noFill/>
        </p:spPr>
        <p:txBody>
          <a:bodyPr wrap="square">
            <a:spAutoFit/>
          </a:bodyPr>
          <a:lstStyle/>
          <a:p>
            <a:pPr>
              <a:buNone/>
            </a:pPr>
            <a:r>
              <a:rPr lang="en-NL" dirty="0"/>
              <a:t>what do you think of this, is it false?:</a:t>
            </a:r>
          </a:p>
          <a:p>
            <a:pPr>
              <a:buNone/>
            </a:pPr>
            <a:r>
              <a:rPr lang="en-NL" dirty="0"/>
              <a:t>The one-line version</a:t>
            </a:r>
          </a:p>
          <a:p>
            <a:pPr>
              <a:buNone/>
            </a:pPr>
            <a:r>
              <a:rPr lang="en-NL" dirty="0"/>
              <a:t>The controller was never the cost driver. Every failure is about the model's rate. </a:t>
            </a:r>
            <a:r>
              <a:rPr lang="en-NL" dirty="0" err="1"/>
              <a:t>Downsampling</a:t>
            </a:r>
            <a:r>
              <a:rPr lang="en-NL" dirty="0"/>
              <a:t> the controller does almost nothing, good or bad; </a:t>
            </a:r>
            <a:r>
              <a:rPr lang="en-NL" dirty="0" err="1"/>
              <a:t>downsampling</a:t>
            </a:r>
            <a:r>
              <a:rPr lang="en-NL" dirty="0"/>
              <a:t> the model costs you phase margin in closed loop and metric resolution in open loop.</a:t>
            </a:r>
          </a:p>
          <a:p>
            <a:pPr>
              <a:buNone/>
            </a:pPr>
            <a:r>
              <a:rPr lang="en-NL" dirty="0"/>
              <a:t>Axis 1: the controller rate</a:t>
            </a:r>
          </a:p>
          <a:p>
            <a:pPr>
              <a:buNone/>
            </a:pPr>
            <a:r>
              <a:rPr lang="en-NL" dirty="0"/>
              <a:t>Not a lever in either direction.</a:t>
            </a:r>
          </a:p>
          <a:p>
            <a:pPr>
              <a:buNone/>
            </a:pPr>
            <a:r>
              <a:rPr lang="en-NL" dirty="0"/>
              <a:t>┌────────────────┬───────────────────────┬─────────────────────┐</a:t>
            </a:r>
          </a:p>
          <a:p>
            <a:pPr>
              <a:buNone/>
            </a:pPr>
            <a:r>
              <a:rPr lang="en-NL" dirty="0"/>
              <a:t>│ controller │ </a:t>
            </a:r>
            <a:r>
              <a:rPr lang="en-NL" dirty="0" err="1"/>
              <a:t>Cnorm</a:t>
            </a:r>
            <a:r>
              <a:rPr lang="en-NL" dirty="0"/>
              <a:t> phase at │ Dc factor │</a:t>
            </a:r>
          </a:p>
          <a:p>
            <a:pPr>
              <a:buNone/>
            </a:pPr>
            <a:r>
              <a:rPr lang="en-NL" dirty="0"/>
              <a:t>│ rate │ crossover │ </a:t>
            </a:r>
            <a:r>
              <a:rPr lang="en-NL" dirty="0" err="1"/>
              <a:t>Cnorm</a:t>
            </a:r>
            <a:r>
              <a:rPr lang="en-NL" dirty="0"/>
              <a:t>(2/</a:t>
            </a:r>
            <a:r>
              <a:rPr lang="en-NL" dirty="0" err="1"/>
              <a:t>ts</a:t>
            </a:r>
            <a:r>
              <a:rPr lang="en-NL" dirty="0"/>
              <a:t>) │</a:t>
            </a:r>
          </a:p>
          <a:p>
            <a:pPr>
              <a:buNone/>
            </a:pPr>
            <a:r>
              <a:rPr lang="en-NL" dirty="0"/>
              <a:t>├────────────────┼───────────────────────┼─────────────────────┤</a:t>
            </a:r>
          </a:p>
          <a:p>
            <a:pPr>
              <a:buNone/>
            </a:pPr>
            <a:r>
              <a:rPr lang="en-NL" dirty="0"/>
              <a:t>│ 20 kHz │ 37.97° │ 0.1307 │</a:t>
            </a:r>
          </a:p>
          <a:p>
            <a:pPr>
              <a:buNone/>
            </a:pPr>
            <a:r>
              <a:rPr lang="en-NL" dirty="0"/>
              <a:t>├────────────────┼───────────────────────┼─────────────────────┤</a:t>
            </a:r>
          </a:p>
          <a:p>
            <a:pPr>
              <a:buNone/>
            </a:pPr>
            <a:r>
              <a:rPr lang="en-NL" dirty="0"/>
              <a:t>│ 4 kHz │ 37.98° │ 0.3701 │</a:t>
            </a:r>
          </a:p>
          <a:p>
            <a:pPr>
              <a:buNone/>
            </a:pPr>
            <a:r>
              <a:rPr lang="en-NL" dirty="0"/>
              <a:t>├────────────────┼───────────────────────┼─────────────────────┤</a:t>
            </a:r>
          </a:p>
          <a:p>
            <a:pPr>
              <a:buNone/>
            </a:pPr>
            <a:r>
              <a:rPr lang="en-NL" dirty="0"/>
              <a:t>│ 1 kHz │ 38.06° │ 0.454 │</a:t>
            </a:r>
          </a:p>
          <a:p>
            <a:pPr>
              <a:buNone/>
            </a:pPr>
            <a:r>
              <a:rPr lang="en-NL" dirty="0"/>
              <a:t>└────────────────┴───────────────────────┴─────────────────────┘</a:t>
            </a:r>
          </a:p>
          <a:p>
            <a:pPr>
              <a:buNone/>
            </a:pPr>
            <a:r>
              <a:rPr lang="en-NL" dirty="0" err="1"/>
              <a:t>Cfb</a:t>
            </a:r>
            <a:r>
              <a:rPr lang="en-NL" dirty="0"/>
              <a:t> is Tustin, and Tustin is phase-accurate well below Nyquist. Between 20 kHz and 4 kHz the phase at crossover moves 0.006°. Even at 1 kHz it is 0.09°, against 17.1° from the model's hold. So the controller rate cannot buy or lose you margin.</a:t>
            </a:r>
          </a:p>
          <a:p>
            <a:pPr>
              <a:buNone/>
            </a:pPr>
            <a:r>
              <a:rPr lang="en-NL" dirty="0"/>
              <a:t>It does move Dc by 2.83x, which is a feedthrough effect and shows up in the </a:t>
            </a:r>
            <a:r>
              <a:rPr lang="en-NL" dirty="0" err="1"/>
              <a:t>σ_max</a:t>
            </a:r>
            <a:r>
              <a:rPr lang="en-NL" dirty="0"/>
              <a:t>(So) column, not in phase.</a:t>
            </a:r>
          </a:p>
          <a:p>
            <a:pPr>
              <a:buNone/>
            </a:pPr>
            <a:r>
              <a:rPr lang="en-NL" dirty="0"/>
              <a:t>Raising it instead (</a:t>
            </a:r>
            <a:r>
              <a:rPr lang="en-NL" dirty="0" err="1"/>
              <a:t>multirate</a:t>
            </a:r>
            <a:r>
              <a:rPr lang="en-NL" dirty="0"/>
              <a:t>, controller fast, model slow) fails for a different reason: a 20 kHz controller needs </a:t>
            </a:r>
            <a:r>
              <a:rPr lang="en-NL" dirty="0" err="1"/>
              <a:t>y_data</a:t>
            </a:r>
            <a:r>
              <a:rPr lang="en-NL" dirty="0"/>
              <a:t>[k] - </a:t>
            </a:r>
            <a:r>
              <a:rPr lang="en-NL" dirty="0" err="1"/>
              <a:t>y_model</a:t>
            </a:r>
            <a:r>
              <a:rPr lang="en-NL" dirty="0"/>
              <a:t>[k] at 20 kHz, and </a:t>
            </a:r>
            <a:r>
              <a:rPr lang="en-NL" dirty="0" err="1"/>
              <a:t>y_model</a:t>
            </a:r>
            <a:r>
              <a:rPr lang="en-NL" dirty="0"/>
              <a:t> does not exist between model samples. Half the loop cannot be </a:t>
            </a:r>
            <a:r>
              <a:rPr lang="en-NL" dirty="0" err="1"/>
              <a:t>upsampled</a:t>
            </a:r>
            <a:r>
              <a:rPr lang="en-NL" dirty="0"/>
              <a:t>. You would interpolate it, which either leaves the residual piecewise constant at the model rate anyway or fabricates content that was never there. </a:t>
            </a:r>
            <a:r>
              <a:rPr lang="en-NL" dirty="0" err="1"/>
              <a:t>up_sample</a:t>
            </a:r>
            <a:r>
              <a:rPr lang="en-NL" dirty="0"/>
              <a:t> does not rescue this either: blocks.py:564-570 sub-steps RK4 with u held constant, so it buys integration accuracy inside the interval, not a finer input.</a:t>
            </a:r>
          </a:p>
          <a:p>
            <a:pPr>
              <a:buNone/>
            </a:pPr>
            <a:r>
              <a:rPr lang="en-NL" dirty="0"/>
              <a:t>Axis 2: the model, closed loop</a:t>
            </a:r>
          </a:p>
          <a:p>
            <a:pPr>
              <a:buNone/>
            </a:pPr>
            <a:r>
              <a:rPr lang="en-NL" dirty="0"/>
              <a:t>This is where it actually breaks. Two independent reasons.</a:t>
            </a:r>
          </a:p>
          <a:p>
            <a:pPr>
              <a:buNone/>
            </a:pPr>
            <a:r>
              <a:rPr lang="en-NL" dirty="0"/>
              <a:t>Reason 1, phase margin from the input hold. Measured against 20 kHz, gate is 5°:</a:t>
            </a:r>
          </a:p>
          <a:p>
            <a:pPr>
              <a:buNone/>
            </a:pPr>
            <a:r>
              <a:rPr lang="en-NL" dirty="0"/>
              <a:t>┌──────┬──────────────────┬────────┬───────────────────┬──────┐</a:t>
            </a:r>
          </a:p>
          <a:p>
            <a:pPr>
              <a:buNone/>
            </a:pPr>
            <a:r>
              <a:rPr lang="en-NL" dirty="0"/>
              <a:t>│ rate │ PM (X1, X2, Y) │ shift │ 180·fc/fs │ gate │</a:t>
            </a:r>
          </a:p>
          <a:p>
            <a:pPr>
              <a:buNone/>
            </a:pPr>
            <a:r>
              <a:rPr lang="en-NL" dirty="0"/>
              <a:t>│ │ │ │ prediction │ │</a:t>
            </a:r>
          </a:p>
          <a:p>
            <a:pPr>
              <a:buNone/>
            </a:pPr>
            <a:r>
              <a:rPr lang="en-NL" dirty="0"/>
              <a:t>├──────┼──────────────────┼────────┼───────────────────┼──────┤</a:t>
            </a:r>
          </a:p>
          <a:p>
            <a:pPr>
              <a:buNone/>
            </a:pPr>
            <a:r>
              <a:rPr lang="en-NL" dirty="0"/>
              <a:t>│ 4 │ 33.83 / 33.82 / │ 3.59° │ 3.6° │ ok │</a:t>
            </a:r>
          </a:p>
          <a:p>
            <a:pPr>
              <a:buNone/>
            </a:pPr>
            <a:r>
              <a:rPr lang="en-NL" dirty="0"/>
              <a:t>│ kHz │ 33.57 │ │ │ │</a:t>
            </a:r>
          </a:p>
          <a:p>
            <a:pPr>
              <a:buNone/>
            </a:pPr>
            <a:r>
              <a:rPr lang="en-NL" dirty="0"/>
              <a:t>├──────┼──────────────────┼────────┼───────────────────┼──────┤</a:t>
            </a:r>
          </a:p>
          <a:p>
            <a:pPr>
              <a:buNone/>
            </a:pPr>
            <a:r>
              <a:rPr lang="en-NL" dirty="0"/>
              <a:t>│ 2 │ 29.35 / 29.34 / │ 8.08° │ 8.1° │ fail │</a:t>
            </a:r>
          </a:p>
          <a:p>
            <a:pPr>
              <a:buNone/>
            </a:pPr>
            <a:r>
              <a:rPr lang="en-NL" dirty="0"/>
              <a:t>│ kHz │ 29.08 │ │ │ │</a:t>
            </a:r>
          </a:p>
          <a:p>
            <a:pPr>
              <a:buNone/>
            </a:pPr>
            <a:r>
              <a:rPr lang="en-NL" dirty="0"/>
              <a:t>├──────┼──────────────────┼────────┼───────────────────┼──────┤</a:t>
            </a:r>
          </a:p>
          <a:p>
            <a:pPr>
              <a:buNone/>
            </a:pPr>
            <a:r>
              <a:rPr lang="en-NL" dirty="0"/>
              <a:t>│ 1 │ 20.31 / 20.30 / │ 17.12° │ 17.1° │ fail │</a:t>
            </a:r>
          </a:p>
          <a:p>
            <a:pPr>
              <a:buNone/>
            </a:pPr>
            <a:r>
              <a:rPr lang="en-NL" dirty="0"/>
              <a:t>│ kHz │ 20.05 │ │ │ │</a:t>
            </a:r>
          </a:p>
          <a:p>
            <a:pPr>
              <a:buNone/>
            </a:pPr>
            <a:r>
              <a:rPr lang="en-NL" dirty="0"/>
              <a:t>└──────┴──────────────────┴────────┴───────────────────┴──────┘</a:t>
            </a:r>
          </a:p>
          <a:p>
            <a:pPr>
              <a:buNone/>
            </a:pPr>
            <a:r>
              <a:rPr lang="en-NL" dirty="0"/>
              <a:t>The match to the ZOH half-sample lag is what makes this decisive. It is not a Tustin artefact at the 10ω = 1000 Hz roll-off pole (whose image walks +0.729 → +0.120 → -0.222 → -0.517 across the rates). It is pure delay from holding u across the model step, so no discretisation method, anti-alias filter, or faster controller recovers it. At fc = 100 Hz a 5° budget floors the model rate at roughly 3.5 kHz.</a:t>
            </a:r>
          </a:p>
          <a:p>
            <a:pPr>
              <a:buNone/>
            </a:pPr>
            <a:r>
              <a:rPr lang="en-NL" dirty="0"/>
              <a:t>Reason 2, the sensitivity peak lands on the target. </a:t>
            </a:r>
            <a:r>
              <a:rPr lang="en-NL" dirty="0" err="1"/>
              <a:t>σ_max</a:t>
            </a:r>
            <a:r>
              <a:rPr lang="en-NL" dirty="0"/>
              <a:t>(So) at 150 Hz, which is </a:t>
            </a:r>
            <a:r>
              <a:rPr lang="en-NL" dirty="0" err="1"/>
              <a:t>cfg.fa</a:t>
            </a:r>
            <a:r>
              <a:rPr lang="en-NL" dirty="0"/>
              <a:t>, the hidden MSD frequency:</a:t>
            </a:r>
          </a:p>
          <a:p>
            <a:pPr>
              <a:buNone/>
            </a:pPr>
            <a:r>
              <a:rPr lang="en-NL" dirty="0"/>
              <a:t>1.798 (20 kHz) → 2.074 (4 kHz) → 2.587 (2 kHz) → 4.940 (1 kHz)</a:t>
            </a:r>
          </a:p>
          <a:p>
            <a:pPr>
              <a:buNone/>
            </a:pPr>
            <a:r>
              <a:rPr lang="en-NL" dirty="0"/>
              <a:t>A 2.75x change in how heavily the objective weights the exact mode the augmentation exists to learn. Note this gate flags at 4 kHz too (+15.3 %), and D-141 accepted that as a stated bias, so it is a bias reporter rather than a pass/fail. The phase-margin gate is the one 4 kHz passed and the low rates fail.</a:t>
            </a:r>
          </a:p>
          <a:p>
            <a:pPr>
              <a:buNone/>
            </a:pPr>
            <a:r>
              <a:rPr lang="en-NL" dirty="0"/>
              <a:t>Untested but real, and only moot because the above already decided it: aliasing. The naive decimation (y[::D], block mean on u, data.py:78-104) is justified by a </a:t>
            </a:r>
            <a:r>
              <a:rPr lang="en-NL" dirty="0" err="1"/>
              <a:t>frac_above</a:t>
            </a:r>
            <a:r>
              <a:rPr lang="en-NL" dirty="0"/>
              <a:t> measured at the 2 kHz Nyquist. That does not transfer to 500 Hz, and the truth sim has Coulomb friction, which is broadband.</a:t>
            </a:r>
          </a:p>
          <a:p>
            <a:pPr>
              <a:buNone/>
            </a:pPr>
            <a:r>
              <a:rPr lang="en-NL" dirty="0"/>
              <a:t>Axis 3: the model, open loop</a:t>
            </a:r>
          </a:p>
          <a:p>
            <a:pPr>
              <a:buNone/>
            </a:pPr>
            <a:r>
              <a:rPr lang="en-NL" dirty="0"/>
              <a:t>This one does not fail technically. 800 Hz is precedented: D-136 floored the sweep there and excluded 400 Hz (Nyquist 200 Hz against a 180 Hz band top), D-137 ran the standalone ANN at 800 Hz on the finding that rate is information-neutral.</a:t>
            </a:r>
          </a:p>
          <a:p>
            <a:pPr>
              <a:buNone/>
            </a:pPr>
            <a:r>
              <a:rPr lang="en-NL" dirty="0"/>
              <a:t>It fails economically, on the metric.</a:t>
            </a:r>
          </a:p>
          <a:p>
            <a:pPr>
              <a:buNone/>
            </a:pPr>
            <a:r>
              <a:rPr lang="en-NL" dirty="0"/>
              <a:t>┌───────────────┬───────────────┬───────────────┬────────────┐</a:t>
            </a:r>
          </a:p>
          <a:p>
            <a:pPr>
              <a:buNone/>
            </a:pPr>
            <a:r>
              <a:rPr lang="en-NL" dirty="0"/>
              <a:t>│ │ baseline │ oracle │ headroom │</a:t>
            </a:r>
          </a:p>
          <a:p>
            <a:pPr>
              <a:buNone/>
            </a:pPr>
            <a:r>
              <a:rPr lang="en-NL" dirty="0"/>
              <a:t>│ │ (deriv6) │ (deriv8) │ │</a:t>
            </a:r>
          </a:p>
          <a:p>
            <a:pPr>
              <a:buNone/>
            </a:pPr>
            <a:r>
              <a:rPr lang="en-NL" dirty="0"/>
              <a:t>├───────────────┼───────────────┼───────────────┼────────────┤</a:t>
            </a:r>
          </a:p>
          <a:p>
            <a:pPr>
              <a:buNone/>
            </a:pPr>
            <a:r>
              <a:rPr lang="en-NL" dirty="0"/>
              <a:t>│ closed loop, │ 2.185e-06 to │ 2.780e-08 to │ 76.9 to │</a:t>
            </a:r>
          </a:p>
          <a:p>
            <a:pPr>
              <a:buNone/>
            </a:pPr>
            <a:r>
              <a:rPr lang="en-NL" dirty="0"/>
              <a:t>│ aggregate │ 2.198e-06 │ 2.842e-08 │ 79.0 │</a:t>
            </a:r>
          </a:p>
          <a:p>
            <a:pPr>
              <a:buNone/>
            </a:pPr>
            <a:r>
              <a:rPr lang="en-NL" dirty="0"/>
              <a:t>├───────────────┼───────────────┼───────────────┼────────────┤</a:t>
            </a:r>
          </a:p>
          <a:p>
            <a:pPr>
              <a:buNone/>
            </a:pPr>
            <a:r>
              <a:rPr lang="en-NL" dirty="0"/>
              <a:t>│ closed loop, │ │ │ 107.4 to │</a:t>
            </a:r>
          </a:p>
          <a:p>
            <a:pPr>
              <a:buNone/>
            </a:pPr>
            <a:r>
              <a:rPr lang="en-NL" dirty="0"/>
              <a:t>│ Y │ │ │ 108.4 │</a:t>
            </a:r>
          </a:p>
          <a:p>
            <a:pPr>
              <a:buNone/>
            </a:pPr>
            <a:r>
              <a:rPr lang="en-NL" dirty="0"/>
              <a:t>├───────────────┼───────────────┼───────────────┼────────────┤</a:t>
            </a:r>
          </a:p>
          <a:p>
            <a:pPr>
              <a:buNone/>
            </a:pPr>
            <a:r>
              <a:rPr lang="en-NL" dirty="0"/>
              <a:t>│ open loop, Y │ │ │ 2.35 │</a:t>
            </a:r>
          </a:p>
          <a:p>
            <a:pPr>
              <a:buNone/>
            </a:pPr>
            <a:r>
              <a:rPr lang="en-NL" dirty="0"/>
              <a:t>└───────────────┴───────────────┴───────────────┴────────────┘</a:t>
            </a:r>
          </a:p>
          <a:p>
            <a:pPr>
              <a:buNone/>
            </a:pPr>
            <a:r>
              <a:rPr lang="en-NL" dirty="0"/>
              <a:t>Like for like on Y that is a 46x loss of resolving power. Mechanism, two-sided:</a:t>
            </a:r>
          </a:p>
          <a:p>
            <a:pPr>
              <a:buNone/>
            </a:pPr>
            <a:r>
              <a:rPr lang="en-NL" dirty="0"/>
              <a:t>- Denominator, the big part. Open loop the K=0 axes integrate initial-state and low-frequency error. Both models do this, so it is common-mode and does not discriminate. The loop annihilates it: </a:t>
            </a:r>
            <a:r>
              <a:rPr lang="en-NL" dirty="0" err="1"/>
              <a:t>σ_max</a:t>
            </a:r>
            <a:r>
              <a:rPr lang="en-NL" dirty="0"/>
              <a:t>(So) is 0.0004 at 1 Hz, and D-142 measured encoder-</a:t>
            </a:r>
            <a:r>
              <a:rPr lang="en-NL" dirty="0" err="1"/>
              <a:t>init</a:t>
            </a:r>
            <a:r>
              <a:rPr lang="en-NL" dirty="0"/>
              <a:t> versus true-x0 spread at 0.003-0.005 %, a 393x to 371,000x reduction against open loop. The oracle falls to its numerical floor instead of carrying drift it shares with the baseline.</a:t>
            </a:r>
          </a:p>
          <a:p>
            <a:pPr>
              <a:buNone/>
            </a:pPr>
            <a:r>
              <a:rPr lang="en-NL" dirty="0"/>
              <a:t>- Numerator, the smaller part. The absorber mismatch at 150 Hz reaches the output multiplied by |So| ≈ 2.</a:t>
            </a:r>
          </a:p>
          <a:p>
            <a:pPr>
              <a:buNone/>
            </a:pPr>
            <a:r>
              <a:rPr lang="en-NL" dirty="0"/>
              <a:t>Plus a cautionary precedent: D-137's own title is "sampling rate is information-neutral, the horizon is the binding constraint". It went to 800 Hz and then needed </a:t>
            </a:r>
            <a:r>
              <a:rPr lang="en-NL" dirty="0" err="1"/>
              <a:t>nf</a:t>
            </a:r>
            <a:r>
              <a:rPr lang="en-NL" dirty="0"/>
              <a:t> = 3700, a 4.6 s horizon. The saving was spent on horizon, not banked.</a:t>
            </a:r>
          </a:p>
          <a:p>
            <a:pPr>
              <a:buNone/>
            </a:pPr>
            <a:r>
              <a:rPr lang="en-NL" dirty="0"/>
              <a:t>What </a:t>
            </a:r>
            <a:r>
              <a:rPr lang="en-NL" dirty="0" err="1"/>
              <a:t>downsampling</a:t>
            </a:r>
            <a:r>
              <a:rPr lang="en-NL" dirty="0"/>
              <a:t> would actually improve</a:t>
            </a:r>
          </a:p>
          <a:p>
            <a:pPr>
              <a:buNone/>
            </a:pPr>
            <a:r>
              <a:rPr lang="en-NL" dirty="0"/>
              <a:t>Worth stating so this reads as a trade and not a verdict:</a:t>
            </a:r>
          </a:p>
          <a:p>
            <a:pPr>
              <a:buNone/>
            </a:pPr>
            <a:r>
              <a:rPr lang="en-NL" dirty="0"/>
              <a:t>- The encoder window gets better. </a:t>
            </a:r>
            <a:r>
              <a:rPr lang="en-NL" dirty="0" err="1"/>
              <a:t>na_nb</a:t>
            </a:r>
            <a:r>
              <a:rPr lang="en-NL" dirty="0"/>
              <a:t> = (6+2)·2+1 = 17 samples regardless of rate. At 4 kHz that is 4.25 </a:t>
            </a:r>
            <a:r>
              <a:rPr lang="en-NL" dirty="0" err="1"/>
              <a:t>ms</a:t>
            </a:r>
            <a:r>
              <a:rPr lang="en-NL" dirty="0"/>
              <a:t>, or 0.64 of a period of the 150 Hz mode it must reconstruct the state of. At 800 Hz it is 21 </a:t>
            </a:r>
            <a:r>
              <a:rPr lang="en-NL" dirty="0" err="1"/>
              <a:t>ms</a:t>
            </a:r>
            <a:r>
              <a:rPr lang="en-NL" dirty="0"/>
              <a:t>, or 3.2 periods. On that argument 4 kHz is arguably too high.</a:t>
            </a:r>
          </a:p>
          <a:p>
            <a:pPr>
              <a:buNone/>
            </a:pPr>
            <a:r>
              <a:rPr lang="en-NL" dirty="0"/>
              <a:t>- The gradient path shortens. </a:t>
            </a:r>
            <a:r>
              <a:rPr lang="en-NL" dirty="0" err="1"/>
              <a:t>nf</a:t>
            </a:r>
            <a:r>
              <a:rPr lang="en-NL" dirty="0"/>
              <a:t> = </a:t>
            </a:r>
            <a:r>
              <a:rPr lang="en-NL" dirty="0" err="1"/>
              <a:t>nf_seconds</a:t>
            </a:r>
            <a:r>
              <a:rPr lang="en-NL" dirty="0"/>
              <a:t>/</a:t>
            </a:r>
            <a:r>
              <a:rPr lang="en-NL" dirty="0" err="1"/>
              <a:t>ts_new</a:t>
            </a:r>
            <a:r>
              <a:rPr lang="en-NL" dirty="0"/>
              <a:t>, so 400 steps at 4 kHz against 80 at 800 Hz. This is the prize you were after.</a:t>
            </a:r>
          </a:p>
          <a:p>
            <a:pPr>
              <a:buNone/>
            </a:pPr>
            <a:r>
              <a:rPr lang="en-NL" dirty="0"/>
              <a:t>Where I could still be wrong</a:t>
            </a:r>
          </a:p>
          <a:p>
            <a:pPr>
              <a:buNone/>
            </a:pPr>
            <a:r>
              <a:rPr lang="en-NL" dirty="0"/>
              <a:t>p2_rate_compare.py models the plant as plain ZOH, but the pipeline uses a per-hold block mean of u (data.py:78-91). A block mean represents the input at the interval centre while being applied across it, so the real pipeline's lag may be smaller than the half-sample figure and 17.1° may overstate it. That is checkable, and it is the one thing that could soften Reason 1. It does not touch Reason 2 or the open-loop metric argument.</a:t>
            </a:r>
          </a:p>
          <a:p>
            <a:pPr>
              <a:buNone/>
            </a:pPr>
            <a:r>
              <a:rPr lang="en-NL" dirty="0"/>
              <a:t>Also unknown: whether D-141's zero-ANN replay gate at both rates was ever run. That is the measurement that would price the 4 kHz So bias off actual signals rather than off </a:t>
            </a:r>
            <a:r>
              <a:rPr lang="en-NL" dirty="0" err="1"/>
              <a:t>σ_max</a:t>
            </a:r>
            <a:r>
              <a:rPr lang="en-NL" dirty="0"/>
              <a:t>(So).</a:t>
            </a:r>
          </a:p>
          <a:p>
            <a:pPr>
              <a:buNone/>
            </a:pPr>
            <a:r>
              <a:rPr lang="en-NL" dirty="0"/>
              <a:t>Logged as D-166 in docs/decisions.md:22. Say the word if you want this overview appended there too, or if you want me to chase either open question.</a:t>
            </a:r>
          </a:p>
        </p:txBody>
      </p:sp>
    </p:spTree>
    <p:extLst>
      <p:ext uri="{BB962C8B-B14F-4D97-AF65-F5344CB8AC3E}">
        <p14:creationId xmlns:p14="http://schemas.microsoft.com/office/powerpoint/2010/main" val="3377129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A2534-9934-B37D-4EAC-4AEFAF08BDA8}"/>
              </a:ext>
            </a:extLst>
          </p:cNvPr>
          <p:cNvSpPr>
            <a:spLocks noGrp="1"/>
          </p:cNvSpPr>
          <p:nvPr>
            <p:ph type="title"/>
          </p:nvPr>
        </p:nvSpPr>
        <p:spPr/>
        <p:txBody>
          <a:bodyPr/>
          <a:lstStyle/>
          <a:p>
            <a:r>
              <a:rPr lang="en-US" dirty="0"/>
              <a:t>How similar to </a:t>
            </a:r>
            <a:r>
              <a:rPr lang="en-US" dirty="0" err="1"/>
              <a:t>kessels</a:t>
            </a:r>
            <a:r>
              <a:rPr lang="en-US" dirty="0"/>
              <a:t> is </a:t>
            </a:r>
            <a:r>
              <a:rPr lang="en-US"/>
              <a:t>my controller method?</a:t>
            </a:r>
            <a:endParaRPr lang="en-NL"/>
          </a:p>
        </p:txBody>
      </p:sp>
      <p:sp>
        <p:nvSpPr>
          <p:cNvPr id="3" name="Content Placeholder 2">
            <a:extLst>
              <a:ext uri="{FF2B5EF4-FFF2-40B4-BE49-F238E27FC236}">
                <a16:creationId xmlns:a16="http://schemas.microsoft.com/office/drawing/2014/main" id="{AFEB216E-DBE4-E1AF-A6B2-4F368A99309E}"/>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931978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FF0C5-F0E2-2D28-37EA-BEB0A2588359}"/>
              </a:ext>
            </a:extLst>
          </p:cNvPr>
          <p:cNvSpPr>
            <a:spLocks noGrp="1"/>
          </p:cNvSpPr>
          <p:nvPr>
            <p:ph type="title"/>
          </p:nvPr>
        </p:nvSpPr>
        <p:spPr/>
        <p:txBody>
          <a:bodyPr/>
          <a:lstStyle/>
          <a:p>
            <a:r>
              <a:rPr lang="en-US" dirty="0"/>
              <a:t>Float64 issues??</a:t>
            </a:r>
            <a:endParaRPr lang="en-NL" dirty="0"/>
          </a:p>
        </p:txBody>
      </p:sp>
      <p:sp>
        <p:nvSpPr>
          <p:cNvPr id="3" name="Content Placeholder 2">
            <a:extLst>
              <a:ext uri="{FF2B5EF4-FFF2-40B4-BE49-F238E27FC236}">
                <a16:creationId xmlns:a16="http://schemas.microsoft.com/office/drawing/2014/main" id="{7D857584-7C5C-8D1B-CB5B-6533F35D68C4}"/>
              </a:ext>
            </a:extLst>
          </p:cNvPr>
          <p:cNvSpPr>
            <a:spLocks noGrp="1"/>
          </p:cNvSpPr>
          <p:nvPr>
            <p:ph idx="1"/>
          </p:nvPr>
        </p:nvSpPr>
        <p:spPr/>
        <p:txBody>
          <a:bodyPr/>
          <a:lstStyle/>
          <a:p>
            <a:r>
              <a:rPr lang="en-US" dirty="0"/>
              <a:t> records the direct-versus-residual gap as 2.62e-14 m in float64 but 1.79e-03 m in float32 over 100 closed-loop steps.</a:t>
            </a:r>
            <a:endParaRPr lang="en-NL" dirty="0"/>
          </a:p>
        </p:txBody>
      </p:sp>
    </p:spTree>
    <p:extLst>
      <p:ext uri="{BB962C8B-B14F-4D97-AF65-F5344CB8AC3E}">
        <p14:creationId xmlns:p14="http://schemas.microsoft.com/office/powerpoint/2010/main" val="502203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D49EC-A1CD-D648-F06F-CC14387B08F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51E14D7-B098-9238-B3A9-6E62F6306FF6}"/>
              </a:ext>
            </a:extLst>
          </p:cNvPr>
          <p:cNvSpPr>
            <a:spLocks noGrp="1"/>
          </p:cNvSpPr>
          <p:nvPr>
            <p:ph idx="1"/>
          </p:nvPr>
        </p:nvSpPr>
        <p:spPr/>
        <p:txBody>
          <a:bodyPr/>
          <a:lstStyle/>
          <a:p>
            <a:r>
              <a:rPr lang="en-NL" dirty="0"/>
              <a:t>what was your point here or is not relevant anymore?: Not absorbable:</a:t>
            </a:r>
          </a:p>
          <a:p>
            <a:pPr lvl="0"/>
            <a:r>
              <a:rPr lang="en-NL" dirty="0"/>
              <a:t>M(2,2): the linear-in-Y term 2·ma·L0·Y = 1.010·Y. The baseline's yaw inertia depends on Y only through mh·Y², so no parameter setting produces a term linear in Y. Structurally outside the model class, and LPV in character.</a:t>
            </a:r>
          </a:p>
          <a:p>
            <a:pPr lvl="0"/>
            <a:r>
              <a:rPr lang="en-NL" dirty="0"/>
              <a:t>Everything carrying </a:t>
            </a:r>
            <a:r>
              <a:rPr lang="en-NL" dirty="0" err="1"/>
              <a:t>delta_a</a:t>
            </a:r>
            <a:r>
              <a:rPr lang="en-NL" dirty="0"/>
              <a:t>: −</a:t>
            </a:r>
            <a:r>
              <a:rPr lang="en-NL" dirty="0" err="1"/>
              <a:t>ma·delta_a</a:t>
            </a:r>
            <a:r>
              <a:rPr lang="en-NL" dirty="0"/>
              <a:t> in M(1,2) and 2·ma·(Y+L0)·</a:t>
            </a:r>
            <a:r>
              <a:rPr lang="en-NL" dirty="0" err="1"/>
              <a:t>delta_a</a:t>
            </a:r>
            <a:r>
              <a:rPr lang="en-NL" dirty="0"/>
              <a:t> in M(2,2). This is the actual dynamic coupling, and it is what scaled 5x today.</a:t>
            </a:r>
          </a:p>
          <a:p>
            <a:r>
              <a:rPr lang="en-NL" dirty="0"/>
              <a:t>short response.</a:t>
            </a:r>
          </a:p>
          <a:p>
            <a:endParaRPr lang="en-NL" dirty="0"/>
          </a:p>
        </p:txBody>
      </p:sp>
    </p:spTree>
    <p:extLst>
      <p:ext uri="{BB962C8B-B14F-4D97-AF65-F5344CB8AC3E}">
        <p14:creationId xmlns:p14="http://schemas.microsoft.com/office/powerpoint/2010/main" val="4137176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6111C-866F-C7CF-CCAF-C935D1287E22}"/>
              </a:ext>
            </a:extLst>
          </p:cNvPr>
          <p:cNvSpPr>
            <a:spLocks noGrp="1"/>
          </p:cNvSpPr>
          <p:nvPr>
            <p:ph type="title"/>
          </p:nvPr>
        </p:nvSpPr>
        <p:spPr/>
        <p:txBody>
          <a:bodyPr/>
          <a:lstStyle/>
          <a:p>
            <a:r>
              <a:rPr lang="en-US" dirty="0"/>
              <a:t>Encoder window</a:t>
            </a:r>
            <a:endParaRPr lang="en-NL" dirty="0"/>
          </a:p>
        </p:txBody>
      </p:sp>
      <p:sp>
        <p:nvSpPr>
          <p:cNvPr id="3" name="Content Placeholder 2">
            <a:extLst>
              <a:ext uri="{FF2B5EF4-FFF2-40B4-BE49-F238E27FC236}">
                <a16:creationId xmlns:a16="http://schemas.microsoft.com/office/drawing/2014/main" id="{017C9575-D72A-7572-71F4-F40EDF5B8EDA}"/>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188849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396C-6BEA-F7FC-F1C8-80A3FC40D533}"/>
              </a:ext>
            </a:extLst>
          </p:cNvPr>
          <p:cNvSpPr>
            <a:spLocks noGrp="1"/>
          </p:cNvSpPr>
          <p:nvPr>
            <p:ph type="title"/>
          </p:nvPr>
        </p:nvSpPr>
        <p:spPr/>
        <p:txBody>
          <a:bodyPr/>
          <a:lstStyle/>
          <a:p>
            <a:r>
              <a:rPr lang="en-US" dirty="0"/>
              <a:t>Multi-rate-horizon</a:t>
            </a:r>
            <a:endParaRPr lang="en-NL" dirty="0"/>
          </a:p>
        </p:txBody>
      </p:sp>
      <p:sp>
        <p:nvSpPr>
          <p:cNvPr id="3" name="Content Placeholder 2">
            <a:extLst>
              <a:ext uri="{FF2B5EF4-FFF2-40B4-BE49-F238E27FC236}">
                <a16:creationId xmlns:a16="http://schemas.microsoft.com/office/drawing/2014/main" id="{BF8BC48D-6D87-4EB5-07E8-C334FF69079F}"/>
              </a:ext>
            </a:extLst>
          </p:cNvPr>
          <p:cNvSpPr>
            <a:spLocks noGrp="1"/>
          </p:cNvSpPr>
          <p:nvPr>
            <p:ph idx="1"/>
          </p:nvPr>
        </p:nvSpPr>
        <p:spPr/>
        <p:txBody>
          <a:bodyPr/>
          <a:lstStyle/>
          <a:p>
            <a:r>
              <a:rPr lang="en-US" dirty="0"/>
              <a:t>2. The premise is challenged by your own </a:t>
            </a:r>
            <a:r>
              <a:rPr lang="en-US" dirty="0" err="1"/>
              <a:t>supervisorsThe</a:t>
            </a:r>
            <a:r>
              <a:rPr lang="en-US" dirty="0"/>
              <a:t> route rests on Ribeiro </a:t>
            </a:r>
            <a:r>
              <a:rPr lang="en-US" dirty="0" err="1"/>
              <a:t>Thm</a:t>
            </a:r>
            <a:r>
              <a:rPr lang="en-US" dirty="0"/>
              <a:t> 1, O(N^3) in step count, to argue that holding N fixed makes a longer physical horizon free. But Beintema, Schoukens and Toth (ICLR 2023, App. 8.1 Eq. 23a) give </a:t>
            </a:r>
            <a:r>
              <a:rPr lang="en-US" dirty="0" err="1"/>
              <a:t>L_enc</a:t>
            </a:r>
            <a:r>
              <a:rPr lang="en-US" dirty="0"/>
              <a:t> = O(exp(2*T*dt*</a:t>
            </a:r>
            <a:r>
              <a:rPr lang="en-US" dirty="0" err="1"/>
              <a:t>L_f</a:t>
            </a:r>
            <a:r>
              <a:rPr lang="en-US" dirty="0"/>
              <a:t>/tau)), exponential in physical horizon. Hold N fixed and multiply T*dt by 5 and the first bound stays flat while the second grows.</a:t>
            </a:r>
            <a:endParaRPr lang="en-NL" dirty="0"/>
          </a:p>
        </p:txBody>
      </p:sp>
    </p:spTree>
    <p:extLst>
      <p:ext uri="{BB962C8B-B14F-4D97-AF65-F5344CB8AC3E}">
        <p14:creationId xmlns:p14="http://schemas.microsoft.com/office/powerpoint/2010/main" val="2247670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70C3-1023-2E99-4F4D-44DED9A4E996}"/>
              </a:ext>
            </a:extLst>
          </p:cNvPr>
          <p:cNvSpPr>
            <a:spLocks noGrp="1"/>
          </p:cNvSpPr>
          <p:nvPr>
            <p:ph type="title"/>
          </p:nvPr>
        </p:nvSpPr>
        <p:spPr/>
        <p:txBody>
          <a:bodyPr/>
          <a:lstStyle/>
          <a:p>
            <a:r>
              <a:rPr lang="en-US" dirty="0"/>
              <a:t>Comparison to Jan</a:t>
            </a:r>
            <a:endParaRPr lang="en-NL" dirty="0"/>
          </a:p>
        </p:txBody>
      </p:sp>
      <p:sp>
        <p:nvSpPr>
          <p:cNvPr id="3" name="Content Placeholder 2">
            <a:extLst>
              <a:ext uri="{FF2B5EF4-FFF2-40B4-BE49-F238E27FC236}">
                <a16:creationId xmlns:a16="http://schemas.microsoft.com/office/drawing/2014/main" id="{5168E3F1-D1EC-A23E-FCB4-83F54D7BC75C}"/>
              </a:ext>
            </a:extLst>
          </p:cNvPr>
          <p:cNvSpPr>
            <a:spLocks noGrp="1"/>
          </p:cNvSpPr>
          <p:nvPr>
            <p:ph idx="1"/>
          </p:nvPr>
        </p:nvSpPr>
        <p:spPr/>
        <p:txBody>
          <a:bodyPr>
            <a:normAutofit lnSpcReduction="10000"/>
          </a:bodyPr>
          <a:lstStyle/>
          <a:p>
            <a:pPr lvl="0"/>
            <a:r>
              <a:rPr lang="en-NL" dirty="0"/>
              <a:t>Jan’s MSD is stable and forgetting, so gradients through a 200-step rollout remain well behaved.</a:t>
            </a:r>
          </a:p>
          <a:p>
            <a:pPr lvl="0"/>
            <a:r>
              <a:rPr lang="en-NL" dirty="0"/>
              <a:t>The gantry contains marginal/integrating dynamics and is trained through a controller, making long-horizon gradients more biased and poorly conditioned.</a:t>
            </a:r>
          </a:p>
          <a:p>
            <a:pPr lvl="0"/>
            <a:r>
              <a:rPr lang="en-NL" dirty="0"/>
              <a:t>The augmented state initially affects the loss through a weak bootstrap path involving its writer, encoder, and output coupling.</a:t>
            </a:r>
          </a:p>
          <a:p>
            <a:pPr lvl="0"/>
            <a:r>
              <a:rPr lang="en-NL" dirty="0"/>
              <a:t>Adam rescales small gradients, especially with our eps=1e-16, but it cannot repair gradients that are incoherent, vanishing through the computational path, or pointing toward a controller-hidden short-horizon correction.</a:t>
            </a:r>
          </a:p>
          <a:p>
            <a:endParaRPr lang="en-NL" dirty="0"/>
          </a:p>
        </p:txBody>
      </p:sp>
    </p:spTree>
    <p:extLst>
      <p:ext uri="{BB962C8B-B14F-4D97-AF65-F5344CB8AC3E}">
        <p14:creationId xmlns:p14="http://schemas.microsoft.com/office/powerpoint/2010/main" val="1894717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B1AAD-2D30-6F04-1676-DDD2E3A6BDCF}"/>
              </a:ext>
            </a:extLst>
          </p:cNvPr>
          <p:cNvSpPr>
            <a:spLocks noGrp="1"/>
          </p:cNvSpPr>
          <p:nvPr>
            <p:ph type="title"/>
          </p:nvPr>
        </p:nvSpPr>
        <p:spPr/>
        <p:txBody>
          <a:bodyPr/>
          <a:lstStyle/>
          <a:p>
            <a:r>
              <a:rPr lang="en-US" dirty="0"/>
              <a:t>Encoder + multiple shooting</a:t>
            </a:r>
            <a:endParaRPr lang="en-NL" dirty="0"/>
          </a:p>
        </p:txBody>
      </p:sp>
      <p:sp>
        <p:nvSpPr>
          <p:cNvPr id="3" name="Content Placeholder 2">
            <a:extLst>
              <a:ext uri="{FF2B5EF4-FFF2-40B4-BE49-F238E27FC236}">
                <a16:creationId xmlns:a16="http://schemas.microsoft.com/office/drawing/2014/main" id="{F05C10A4-636A-55A9-B539-BE11D1A58E86}"/>
              </a:ext>
            </a:extLst>
          </p:cNvPr>
          <p:cNvSpPr>
            <a:spLocks noGrp="1"/>
          </p:cNvSpPr>
          <p:nvPr>
            <p:ph idx="1"/>
          </p:nvPr>
        </p:nvSpPr>
        <p:spPr/>
        <p:txBody>
          <a:bodyPr>
            <a:normAutofit fontScale="85000" lnSpcReduction="20000"/>
          </a:bodyPr>
          <a:lstStyle/>
          <a:p>
            <a:r>
              <a:rPr lang="en-US" dirty="0"/>
              <a:t>Connect the different windows but we have encoder </a:t>
            </a:r>
            <a:r>
              <a:rPr lang="en-US" dirty="0" err="1"/>
              <a:t>init</a:t>
            </a:r>
            <a:r>
              <a:rPr lang="en-US" dirty="0"/>
              <a:t> at each window due to subnet</a:t>
            </a:r>
          </a:p>
          <a:p>
            <a:r>
              <a:rPr lang="en-US" dirty="0"/>
              <a:t>Controller start at 0 for each window: </a:t>
            </a:r>
            <a:r>
              <a:rPr lang="en-US" dirty="0" err="1"/>
              <a:t>Kessels</a:t>
            </a:r>
            <a:r>
              <a:rPr lang="en-US" dirty="0"/>
              <a:t> only does it once does not do BPPT</a:t>
            </a:r>
          </a:p>
          <a:p>
            <a:endParaRPr lang="en-US" dirty="0"/>
          </a:p>
          <a:p>
            <a:r>
              <a:rPr lang="en-US" dirty="0"/>
              <a:t>B found a hit. Weber, </a:t>
            </a:r>
            <a:r>
              <a:rPr lang="en-US" dirty="0" err="1"/>
              <a:t>Gühmann</a:t>
            </a:r>
            <a:r>
              <a:rPr lang="en-US" dirty="0"/>
              <a:t> &amp; Seel, "</a:t>
            </a:r>
            <a:r>
              <a:rPr lang="en-US" dirty="0" err="1"/>
              <a:t>FranSys</a:t>
            </a:r>
            <a:r>
              <a:rPr lang="en-US" dirty="0"/>
              <a:t>: A Fast Non-Autoregressive Recurrent Neural Network for Multi-Step Ahead Prediction", IEEE Access 12:145130-145147, 2024, DOI 10.1109/ACCESS.2024.3473014, free at the Hannover repository. It cites Beintema 2023. An Estimator RNN maps past inputs and outputs to the Predictor RNN's initial state, and Eq. (6)-(9), the "state synchronization loss", </a:t>
            </a:r>
            <a:r>
              <a:rPr lang="en-US" dirty="0" err="1"/>
              <a:t>penalise</a:t>
            </a:r>
            <a:r>
              <a:rPr lang="en-US" dirty="0"/>
              <a:t> the difference between the estimator's state and the rolled-out state at every horizon step, weighted α_sync in Eq. (11). At p = </a:t>
            </a:r>
            <a:r>
              <a:rPr lang="en-US" dirty="0" err="1"/>
              <a:t>n_p</a:t>
            </a:r>
            <a:r>
              <a:rPr lang="en-US" dirty="0"/>
              <a:t> that is exactly our defect between consecutive encoder-</a:t>
            </a:r>
            <a:r>
              <a:rPr lang="en-US" dirty="0" err="1"/>
              <a:t>initialised</a:t>
            </a:r>
            <a:r>
              <a:rPr lang="en-US" dirty="0"/>
              <a:t> segments.</a:t>
            </a:r>
            <a:endParaRPr lang="en-NL" dirty="0"/>
          </a:p>
        </p:txBody>
      </p:sp>
    </p:spTree>
    <p:extLst>
      <p:ext uri="{BB962C8B-B14F-4D97-AF65-F5344CB8AC3E}">
        <p14:creationId xmlns:p14="http://schemas.microsoft.com/office/powerpoint/2010/main" val="3268964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AD232-B39A-3AF8-0B45-D83282D94EB5}"/>
              </a:ext>
            </a:extLst>
          </p:cNvPr>
          <p:cNvSpPr>
            <a:spLocks noGrp="1"/>
          </p:cNvSpPr>
          <p:nvPr>
            <p:ph type="title"/>
          </p:nvPr>
        </p:nvSpPr>
        <p:spPr/>
        <p:txBody>
          <a:bodyPr/>
          <a:lstStyle/>
          <a:p>
            <a:r>
              <a:rPr lang="en-US" dirty="0"/>
              <a:t>Worse mismatch between system and baseline model </a:t>
            </a:r>
            <a:r>
              <a:rPr lang="en-US" dirty="0">
                <a:sym typeface="Wingdings" panose="05000000000000000000" pitchFamily="2" charset="2"/>
              </a:rPr>
              <a:t> ANN learns</a:t>
            </a:r>
            <a:endParaRPr lang="en-NL" dirty="0"/>
          </a:p>
        </p:txBody>
      </p:sp>
      <p:sp>
        <p:nvSpPr>
          <p:cNvPr id="3" name="Content Placeholder 2">
            <a:extLst>
              <a:ext uri="{FF2B5EF4-FFF2-40B4-BE49-F238E27FC236}">
                <a16:creationId xmlns:a16="http://schemas.microsoft.com/office/drawing/2014/main" id="{C53AC1D3-A0F2-A106-3F18-3F960BD33F5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14B580F-6806-0C27-3CB0-31EFC539F6C3}"/>
              </a:ext>
            </a:extLst>
          </p:cNvPr>
          <p:cNvPicPr>
            <a:picLocks noChangeAspect="1"/>
          </p:cNvPicPr>
          <p:nvPr/>
        </p:nvPicPr>
        <p:blipFill>
          <a:blip r:embed="rId2"/>
          <a:stretch>
            <a:fillRect/>
          </a:stretch>
        </p:blipFill>
        <p:spPr>
          <a:xfrm>
            <a:off x="2580827" y="2590122"/>
            <a:ext cx="6420746" cy="5315692"/>
          </a:xfrm>
          <a:prstGeom prst="rect">
            <a:avLst/>
          </a:prstGeom>
        </p:spPr>
      </p:pic>
    </p:spTree>
    <p:extLst>
      <p:ext uri="{BB962C8B-B14F-4D97-AF65-F5344CB8AC3E}">
        <p14:creationId xmlns:p14="http://schemas.microsoft.com/office/powerpoint/2010/main" val="544774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A88C6-0170-F382-D7FD-EA4D812CDC2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E4BE7BF-2381-D93F-ADCD-A89043CDA273}"/>
              </a:ext>
            </a:extLst>
          </p:cNvPr>
          <p:cNvSpPr>
            <a:spLocks noGrp="1"/>
          </p:cNvSpPr>
          <p:nvPr>
            <p:ph idx="1"/>
          </p:nvPr>
        </p:nvSpPr>
        <p:spPr/>
        <p:txBody>
          <a:bodyPr/>
          <a:lstStyle/>
          <a:p>
            <a:r>
              <a:rPr lang="en-NL" dirty="0"/>
              <a:t>The next useful change is therefore not “20 epochs at another rate.” It is to constrain selection or training with a model-sensitive criterion, such as open-loop held-out </a:t>
            </a:r>
            <a:r>
              <a:rPr lang="en-NL" dirty="0" err="1"/>
              <a:t>nf</a:t>
            </a:r>
            <a:r>
              <a:rPr lang="en-NL" dirty="0"/>
              <a:t>-RMS or standalone free-run stability, so the controller-hidden solution is no longer rewarded.</a:t>
            </a:r>
          </a:p>
        </p:txBody>
      </p:sp>
    </p:spTree>
    <p:extLst>
      <p:ext uri="{BB962C8B-B14F-4D97-AF65-F5344CB8AC3E}">
        <p14:creationId xmlns:p14="http://schemas.microsoft.com/office/powerpoint/2010/main" val="1191979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99CE6-077E-6FAC-4DD4-C23BD57AF41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ABBF221-2440-6142-E4E1-9B9DC6B9B5B8}"/>
              </a:ext>
            </a:extLst>
          </p:cNvPr>
          <p:cNvSpPr>
            <a:spLocks noGrp="1"/>
          </p:cNvSpPr>
          <p:nvPr>
            <p:ph idx="1"/>
          </p:nvPr>
        </p:nvSpPr>
        <p:spPr/>
        <p:txBody>
          <a:bodyPr>
            <a:normAutofit fontScale="25000" lnSpcReduction="20000"/>
          </a:bodyPr>
          <a:lstStyle/>
          <a:p>
            <a:r>
              <a:rPr lang="en-NL" dirty="0"/>
              <a:t>I have read all four reports and the corresponding additions in docs/references.md. The two research tracks fit together, but several conclusions need calibration before implementation.</a:t>
            </a:r>
          </a:p>
          <a:p>
            <a:r>
              <a:rPr lang="en-NL" b="1" dirty="0"/>
              <a:t>Main conclusion</a:t>
            </a:r>
          </a:p>
          <a:p>
            <a:r>
              <a:rPr lang="en-NL" dirty="0"/>
              <a:t>There are two distinct problems:</a:t>
            </a:r>
          </a:p>
          <a:p>
            <a:pPr lvl="0"/>
            <a:r>
              <a:rPr lang="en-NL" b="1" dirty="0"/>
              <a:t>The controller makes optimization easier but makes the output loss less sensitive to plant error.</a:t>
            </a:r>
            <a:endParaRPr lang="en-NL" dirty="0"/>
          </a:p>
          <a:p>
            <a:pPr lvl="0"/>
            <a:r>
              <a:rPr lang="en-NL" b="1" dirty="0"/>
              <a:t>The current discrete ANN architecture is unsuitable for shared-rate continuous-time training and may also hinder long-term learning at one rate.</a:t>
            </a:r>
            <a:endParaRPr lang="en-NL" dirty="0"/>
          </a:p>
          <a:p>
            <a:r>
              <a:rPr lang="en-NL" dirty="0"/>
              <a:t>They should be addressed sequentially, not combined in one experiment.</a:t>
            </a:r>
          </a:p>
          <a:p>
            <a:r>
              <a:rPr lang="en-NL" b="1" dirty="0"/>
              <a:t>Closed-loop objective</a:t>
            </a:r>
          </a:p>
          <a:p>
            <a:r>
              <a:rPr lang="en-NL" dirty="0"/>
              <a:t>For the current residual loop,</a:t>
            </a:r>
          </a:p>
          <a:p>
            <a:r>
              <a:rPr lang="en-NL" dirty="0"/>
              <a:t>\[ e_{\</a:t>
            </a:r>
            <a:r>
              <a:rPr lang="en-NL" dirty="0" err="1"/>
              <a:t>mathrm</a:t>
            </a:r>
            <a:r>
              <a:rPr lang="en-NL" dirty="0"/>
              <a:t>{CL}}=S\,d_{\</a:t>
            </a:r>
            <a:r>
              <a:rPr lang="en-NL" dirty="0" err="1"/>
              <a:t>mathrm</a:t>
            </a:r>
            <a:r>
              <a:rPr lang="en-NL" dirty="0"/>
              <a:t>{model}}, \</a:t>
            </a:r>
            <a:r>
              <a:rPr lang="en-NL" dirty="0" err="1"/>
              <a:t>qquad</a:t>
            </a:r>
            <a:r>
              <a:rPr lang="en-NL" dirty="0"/>
              <a:t> \Delta u_{\</a:t>
            </a:r>
            <a:r>
              <a:rPr lang="en-NL" dirty="0" err="1"/>
              <a:t>mathrm</a:t>
            </a:r>
            <a:r>
              <a:rPr lang="en-NL" dirty="0"/>
              <a:t>{fb}}=CS\,d_{\</a:t>
            </a:r>
            <a:r>
              <a:rPr lang="en-NL" dirty="0" err="1"/>
              <a:t>mathrm</a:t>
            </a:r>
            <a:r>
              <a:rPr lang="en-NL" dirty="0"/>
              <a:t>{model}}. \]</a:t>
            </a:r>
          </a:p>
          <a:p>
            <a:r>
              <a:rPr lang="en-NL" dirty="0"/>
              <a:t>Therefore:</a:t>
            </a:r>
          </a:p>
          <a:p>
            <a:pPr lvl="0"/>
            <a:r>
              <a:rPr lang="en-NL" dirty="0"/>
              <a:t>closed-loop output loss is suppressed where feedback is strong;</a:t>
            </a:r>
          </a:p>
          <a:p>
            <a:pPr lvl="0"/>
            <a:r>
              <a:rPr lang="en-NL" dirty="0"/>
              <a:t>residual effort emphasizes some of those suppressed errors;</a:t>
            </a:r>
          </a:p>
          <a:p>
            <a:pPr lvl="0"/>
            <a:r>
              <a:rPr lang="en-NL" dirty="0"/>
              <a:t>residual effort is not independent information because\[ \Delta u_{\</a:t>
            </a:r>
            <a:r>
              <a:rPr lang="en-NL" dirty="0" err="1"/>
              <a:t>mathrm</a:t>
            </a:r>
            <a:r>
              <a:rPr lang="en-NL" dirty="0"/>
              <a:t>{fb}}=C e_{\</a:t>
            </a:r>
            <a:r>
              <a:rPr lang="en-NL" dirty="0" err="1"/>
              <a:t>mathrm</a:t>
            </a:r>
            <a:r>
              <a:rPr lang="en-NL" dirty="0"/>
              <a:t>{CL}}; \]</a:t>
            </a:r>
          </a:p>
          <a:p>
            <a:pPr lvl="0"/>
            <a:r>
              <a:rPr lang="en-NL" dirty="0"/>
              <a:t>it can improve conditioning, but cannot remove controller </a:t>
            </a:r>
            <a:r>
              <a:rPr lang="en-NL" dirty="0" err="1"/>
              <a:t>nullspaces</a:t>
            </a:r>
            <a:r>
              <a:rPr lang="en-NL" dirty="0"/>
              <a:t> or lack of excitation.</a:t>
            </a:r>
          </a:p>
          <a:p>
            <a:r>
              <a:rPr lang="en-NL" dirty="0"/>
              <a:t>The literature supports residual effort under CLOE, CLIE and DIDIM terminology. The data-assimilation literature independently supports penalizing the injected correction so that the learned autonomous model must work after the injection is removed.</a:t>
            </a:r>
          </a:p>
          <a:p>
            <a:r>
              <a:rPr lang="en-NL" dirty="0"/>
              <a:t>The best immediate experiment remains:</a:t>
            </a:r>
          </a:p>
          <a:p>
            <a:r>
              <a:rPr lang="en-NL" dirty="0"/>
              <a:t>\[ L_{\</a:t>
            </a:r>
            <a:r>
              <a:rPr lang="en-NL" dirty="0" err="1"/>
              <a:t>mathrm</a:t>
            </a:r>
            <a:r>
              <a:rPr lang="en-NL" dirty="0"/>
              <a:t>{CL}} \quad\text{versus}\quad L_{\</a:t>
            </a:r>
            <a:r>
              <a:rPr lang="en-NL" dirty="0" err="1"/>
              <a:t>mathrm</a:t>
            </a:r>
            <a:r>
              <a:rPr lang="en-NL" dirty="0"/>
              <a:t>{CL}}+\</a:t>
            </a:r>
            <a:r>
              <a:rPr lang="en-NL" dirty="0" err="1"/>
              <a:t>lambda_uL_u</a:t>
            </a:r>
            <a:r>
              <a:rPr lang="en-NL" dirty="0"/>
              <a:t> \]</a:t>
            </a:r>
          </a:p>
          <a:p>
            <a:r>
              <a:rPr lang="en-NL" dirty="0"/>
              <a:t>at 4 kHz and \(</a:t>
            </a:r>
            <a:r>
              <a:rPr lang="en-NL" dirty="0" err="1"/>
              <a:t>n_f</a:t>
            </a:r>
            <a:r>
              <a:rPr lang="en-NL" dirty="0"/>
              <a:t>=400\), with identical seeds and training conditions.</a:t>
            </a:r>
          </a:p>
          <a:p>
            <a:r>
              <a:rPr lang="en-NL" dirty="0"/>
              <a:t>Before retraining, calculate \(</a:t>
            </a:r>
            <a:r>
              <a:rPr lang="en-NL" dirty="0" err="1"/>
              <a:t>L_u</a:t>
            </a:r>
            <a:r>
              <a:rPr lang="en-NL" dirty="0"/>
              <a:t>\) for initialization and 79578. That will directly establish whether its 38.7% closed-loop improvement required more residual force.</a:t>
            </a:r>
          </a:p>
          <a:p>
            <a:r>
              <a:rPr lang="en-NL" dirty="0"/>
              <a:t>Important constraints:</a:t>
            </a:r>
          </a:p>
          <a:p>
            <a:pPr lvl="0"/>
            <a:r>
              <a:rPr lang="en-NL" dirty="0"/>
              <a:t>normalize \(\Delta u_{\</a:t>
            </a:r>
            <a:r>
              <a:rPr lang="en-NL" dirty="0" err="1"/>
              <a:t>mathrm</a:t>
            </a:r>
            <a:r>
              <a:rPr lang="en-NL" dirty="0"/>
              <a:t>{fb}}\) with fixed, precomputed per-channel force scales;</a:t>
            </a:r>
          </a:p>
          <a:p>
            <a:pPr lvl="0"/>
            <a:r>
              <a:rPr lang="en-NL" dirty="0"/>
              <a:t>never recompute the normalization from the candidate model;</a:t>
            </a:r>
          </a:p>
          <a:p>
            <a:pPr lvl="0"/>
            <a:r>
              <a:rPr lang="en-NL" dirty="0"/>
              <a:t>log the state-dependent \(</a:t>
            </a:r>
            <a:r>
              <a:rPr lang="en-NL" dirty="0" err="1"/>
              <a:t>C_c</a:t>
            </a:r>
            <a:r>
              <a:rPr lang="en-NL" dirty="0"/>
              <a:t>\delta </a:t>
            </a:r>
            <a:r>
              <a:rPr lang="en-NL" dirty="0" err="1"/>
              <a:t>x_c</a:t>
            </a:r>
            <a:r>
              <a:rPr lang="en-NL" dirty="0"/>
              <a:t>\) and direct \(</a:t>
            </a:r>
            <a:r>
              <a:rPr lang="en-NL" dirty="0" err="1"/>
              <a:t>D_ce</a:t>
            </a:r>
            <a:r>
              <a:rPr lang="en-NL" dirty="0"/>
              <a:t>\) contributions separately;</a:t>
            </a:r>
          </a:p>
          <a:p>
            <a:pPr lvl="0"/>
            <a:r>
              <a:rPr lang="en-NL" dirty="0"/>
              <a:t>do not use residual effort alone as proof of plant recovery;</a:t>
            </a:r>
          </a:p>
          <a:p>
            <a:pPr lvl="0"/>
            <a:r>
              <a:rPr lang="en-NL" dirty="0"/>
              <a:t>retain held-out open-loop and standalone replay as deciding plant metrics.</a:t>
            </a:r>
          </a:p>
          <a:p>
            <a:r>
              <a:rPr lang="en-NL" b="1" dirty="0"/>
              <a:t>What “closed-loop bias” means here</a:t>
            </a:r>
          </a:p>
          <a:p>
            <a:r>
              <a:rPr lang="en-NL" dirty="0"/>
              <a:t>For the synthetic a5 dataset, classical statistical feedback bias is not the primary issue because there is effectively no measurement noise.</a:t>
            </a:r>
          </a:p>
          <a:p>
            <a:r>
              <a:rPr lang="en-NL" dirty="0"/>
              <a:t>The current issue is better described as:</a:t>
            </a:r>
          </a:p>
          <a:p>
            <a:pPr lvl="0"/>
            <a:r>
              <a:rPr lang="en-NL" dirty="0"/>
              <a:t>sensitivity weighting;</a:t>
            </a:r>
          </a:p>
          <a:p>
            <a:pPr lvl="0"/>
            <a:r>
              <a:rPr lang="en-NL" dirty="0"/>
              <a:t>finite-experiment ambiguity;</a:t>
            </a:r>
          </a:p>
          <a:p>
            <a:pPr lvl="0"/>
            <a:r>
              <a:rPr lang="en-NL" dirty="0"/>
              <a:t>controller-assisted or injection-assisted prediction;</a:t>
            </a:r>
          </a:p>
          <a:p>
            <a:pPr lvl="0"/>
            <a:r>
              <a:rPr lang="en-NL" dirty="0"/>
              <a:t>optimization-geometry mismatch between controlled training and autonomous evaluation.</a:t>
            </a:r>
          </a:p>
          <a:p>
            <a:r>
              <a:rPr lang="en-NL" dirty="0" err="1"/>
              <a:t>Kessels</a:t>
            </a:r>
            <a:r>
              <a:rPr lang="en-NL" dirty="0"/>
              <a:t> demonstrates that controller-wrapped training can work, but does not prove autonomous plant recovery for his industrial example.</a:t>
            </a:r>
          </a:p>
          <a:p>
            <a:r>
              <a:rPr lang="en-NL" b="1" dirty="0"/>
              <a:t>Important correction about controller variation</a:t>
            </a:r>
          </a:p>
          <a:p>
            <a:r>
              <a:rPr lang="en-NL" dirty="0"/>
              <a:t>A genuine changed-controller validation requires corresponding plant/output data generated or measured under that controller.</a:t>
            </a:r>
          </a:p>
          <a:p>
            <a:r>
              <a:rPr lang="en-NL" dirty="0"/>
              <a:t>Simply replacing \(C\) with \(0.8C\) while comparing against the original \(C\)-generated trajectory is not equivalent to </a:t>
            </a:r>
            <a:r>
              <a:rPr lang="en-NL" dirty="0" err="1"/>
              <a:t>Kessels</a:t>
            </a:r>
            <a:r>
              <a:rPr lang="en-NL" dirty="0"/>
              <a:t>’ changed-controller test. It changes the counterfactual simulation without providing the corresponding physical target.</a:t>
            </a:r>
          </a:p>
          <a:p>
            <a:r>
              <a:rPr lang="en-NL" dirty="0"/>
              <a:t>Therefore:</a:t>
            </a:r>
          </a:p>
          <a:p>
            <a:pPr lvl="0"/>
            <a:r>
              <a:rPr lang="en-NL" dirty="0"/>
              <a:t>alternative-controller data can add information;</a:t>
            </a:r>
          </a:p>
          <a:p>
            <a:pPr lvl="0"/>
            <a:r>
              <a:rPr lang="en-NL" dirty="0"/>
              <a:t>merely evaluating several simulated controllers against the same record cannot establish plant correctness;</a:t>
            </a:r>
          </a:p>
          <a:p>
            <a:pPr lvl="0"/>
            <a:r>
              <a:rPr lang="en-NL" dirty="0"/>
              <a:t>multiple-controller training should remain deferred unless matching datasets are available.</a:t>
            </a:r>
          </a:p>
          <a:p>
            <a:r>
              <a:rPr lang="en-NL" b="1" dirty="0"/>
              <a:t>Multi-rate findings</a:t>
            </a:r>
          </a:p>
          <a:p>
            <a:r>
              <a:rPr lang="en-NL" dirty="0"/>
              <a:t>The exact Roland proposal was not found:</a:t>
            </a:r>
          </a:p>
          <a:p>
            <a:pPr lvl="0"/>
            <a:r>
              <a:rPr lang="en-NL" dirty="0"/>
              <a:t>same trajectories decimated to several rates;</a:t>
            </a:r>
          </a:p>
          <a:p>
            <a:pPr lvl="0"/>
            <a:r>
              <a:rPr lang="en-NL" dirty="0"/>
              <a:t>one shared continuous-time vector field;</a:t>
            </a:r>
          </a:p>
          <a:p>
            <a:pPr lvl="0"/>
            <a:r>
              <a:rPr lang="en-NL" dirty="0"/>
              <a:t>fixed rollout step count;</a:t>
            </a:r>
          </a:p>
          <a:p>
            <a:pPr lvl="0"/>
            <a:r>
              <a:rPr lang="en-NL" dirty="0"/>
              <a:t>longer physical horizon at coarse rates;</a:t>
            </a:r>
          </a:p>
          <a:p>
            <a:pPr lvl="0"/>
            <a:r>
              <a:rPr lang="en-NL" dirty="0"/>
              <a:t>joint or scheduled rate losses;</a:t>
            </a:r>
          </a:p>
          <a:p>
            <a:pPr lvl="0"/>
            <a:r>
              <a:rPr lang="en-NL" dirty="0"/>
              <a:t>shared plant parameters.</a:t>
            </a:r>
          </a:p>
          <a:p>
            <a:r>
              <a:rPr lang="en-NL" dirty="0"/>
              <a:t>The closest source, Longi et al., uses the same record at multiple resolutions specifically to expose slow dynamics at fixed minibatch cost. However, it deliberately uses separate resolution-dependent latent components rather than one shared vector field.</a:t>
            </a:r>
          </a:p>
          <a:p>
            <a:r>
              <a:rPr lang="en-NL" dirty="0"/>
              <a:t>So the proposal remains scientifically credible, but it is not an established recipe with a published weighting schedule or convergence guarantee.</a:t>
            </a:r>
          </a:p>
          <a:p>
            <a:r>
              <a:rPr lang="en-NL" b="1" dirty="0"/>
              <a:t>The most important architectural result</a:t>
            </a:r>
          </a:p>
          <a:p>
            <a:r>
              <a:rPr lang="en-NL" dirty="0"/>
              <a:t>The actual current model is approximately</a:t>
            </a:r>
          </a:p>
          <a:p>
            <a:r>
              <a:rPr lang="en-NL" dirty="0"/>
              <a:t>\[ x_{k+1}=\Phi^{FP}_{</a:t>
            </a:r>
            <a:r>
              <a:rPr lang="en-NL" dirty="0" err="1"/>
              <a:t>T_s</a:t>
            </a:r>
            <a:r>
              <a:rPr lang="en-NL" dirty="0"/>
              <a:t>}(</a:t>
            </a:r>
            <a:r>
              <a:rPr lang="en-NL" dirty="0" err="1"/>
              <a:t>x_k,u_k</a:t>
            </a:r>
            <a:r>
              <a:rPr lang="en-NL" dirty="0"/>
              <a:t>)+g_\theta(</a:t>
            </a:r>
            <a:r>
              <a:rPr lang="en-NL" dirty="0" err="1"/>
              <a:t>x_k,x</a:t>
            </a:r>
            <a:r>
              <a:rPr lang="en-NL" dirty="0"/>
              <a:t>_{</a:t>
            </a:r>
            <a:r>
              <a:rPr lang="en-NL" dirty="0" err="1"/>
              <a:t>a,k</a:t>
            </a:r>
            <a:r>
              <a:rPr lang="en-NL" dirty="0"/>
              <a:t>},</a:t>
            </a:r>
            <a:r>
              <a:rPr lang="en-NL" dirty="0" err="1"/>
              <a:t>u_k</a:t>
            </a:r>
            <a:r>
              <a:rPr lang="en-NL" dirty="0"/>
              <a:t>), \]</a:t>
            </a:r>
          </a:p>
          <a:p>
            <a:r>
              <a:rPr lang="en-NL" dirty="0"/>
              <a:t>with no \(</a:t>
            </a:r>
            <a:r>
              <a:rPr lang="en-NL" dirty="0" err="1"/>
              <a:t>T_s</a:t>
            </a:r>
            <a:r>
              <a:rPr lang="en-NL" dirty="0"/>
              <a:t>\) factor on the ANN.</a:t>
            </a:r>
          </a:p>
          <a:p>
            <a:r>
              <a:rPr lang="en-NL" dirty="0"/>
              <a:t>That is a discrete per-step correction. It cannot represent the same physical dynamics at 4 and 2 kHz.</a:t>
            </a:r>
          </a:p>
          <a:p>
            <a:r>
              <a:rPr lang="en-NL" dirty="0"/>
              <a:t>Even changing it to</a:t>
            </a:r>
          </a:p>
          <a:p>
            <a:r>
              <a:rPr lang="en-NL" dirty="0"/>
              <a:t>\[ \Phi^{FP}_{</a:t>
            </a:r>
            <a:r>
              <a:rPr lang="en-NL" dirty="0" err="1"/>
              <a:t>T_s</a:t>
            </a:r>
            <a:r>
              <a:rPr lang="en-NL" dirty="0"/>
              <a:t>}(</a:t>
            </a:r>
            <a:r>
              <a:rPr lang="en-NL" dirty="0" err="1"/>
              <a:t>x_k,u_k</a:t>
            </a:r>
            <a:r>
              <a:rPr lang="en-NL" dirty="0"/>
              <a:t>)+</a:t>
            </a:r>
            <a:r>
              <a:rPr lang="en-NL" dirty="0" err="1"/>
              <a:t>T_sg</a:t>
            </a:r>
            <a:r>
              <a:rPr lang="en-NL" dirty="0"/>
              <a:t>_\theta(\</a:t>
            </a:r>
            <a:r>
              <a:rPr lang="en-NL" dirty="0" err="1"/>
              <a:t>cdot</a:t>
            </a:r>
            <a:r>
              <a:rPr lang="en-NL" dirty="0"/>
              <a:t>) \]</a:t>
            </a:r>
          </a:p>
          <a:p>
            <a:r>
              <a:rPr lang="en-NL" dirty="0"/>
              <a:t>would only create a first-order split integration of the ANN correction. It would not retain RK4 accuracy because the physics/ANN interaction terms are missing.</a:t>
            </a:r>
          </a:p>
          <a:p>
            <a:r>
              <a:rPr lang="en-NL" dirty="0"/>
              <a:t>The correct form is</a:t>
            </a:r>
          </a:p>
          <a:p>
            <a:r>
              <a:rPr lang="en-NL" dirty="0"/>
              <a:t>\[ \dot z= \begin{</a:t>
            </a:r>
            <a:r>
              <a:rPr lang="en-NL" dirty="0" err="1"/>
              <a:t>bmatrix</a:t>
            </a:r>
            <a:r>
              <a:rPr lang="en-NL" dirty="0"/>
              <a:t>} f_{\</a:t>
            </a:r>
            <a:r>
              <a:rPr lang="en-NL" dirty="0" err="1"/>
              <a:t>mathrm</a:t>
            </a:r>
            <a:r>
              <a:rPr lang="en-NL" dirty="0"/>
              <a:t>{FP}}(</a:t>
            </a:r>
            <a:r>
              <a:rPr lang="en-NL" dirty="0" err="1"/>
              <a:t>x,u</a:t>
            </a:r>
            <a:r>
              <a:rPr lang="en-NL" dirty="0"/>
              <a:t>)+g_\theta(</a:t>
            </a:r>
            <a:r>
              <a:rPr lang="en-NL" dirty="0" err="1"/>
              <a:t>x,x_a,u</a:t>
            </a:r>
            <a:r>
              <a:rPr lang="en-NL" dirty="0"/>
              <a:t>)\\ g_{a,\theta}(</a:t>
            </a:r>
            <a:r>
              <a:rPr lang="en-NL" dirty="0" err="1"/>
              <a:t>x,x_a,u</a:t>
            </a:r>
            <a:r>
              <a:rPr lang="en-NL" dirty="0"/>
              <a:t>) \end{</a:t>
            </a:r>
            <a:r>
              <a:rPr lang="en-NL" dirty="0" err="1"/>
              <a:t>bmatrix</a:t>
            </a:r>
            <a:r>
              <a:rPr lang="en-NL" dirty="0"/>
              <a:t>}, \</a:t>
            </a:r>
            <a:r>
              <a:rPr lang="en-NL" dirty="0" err="1"/>
              <a:t>qquad</a:t>
            </a:r>
            <a:r>
              <a:rPr lang="en-NL" dirty="0"/>
              <a:t> z=[</a:t>
            </a:r>
            <a:r>
              <a:rPr lang="en-NL" dirty="0" err="1"/>
              <a:t>x;x_a</a:t>
            </a:r>
            <a:r>
              <a:rPr lang="en-NL" dirty="0"/>
              <a:t>], \]</a:t>
            </a:r>
          </a:p>
          <a:p>
            <a:r>
              <a:rPr lang="en-NL" dirty="0"/>
              <a:t>with the entire combined vector field evaluated at every RK4 substage.</a:t>
            </a:r>
          </a:p>
          <a:p>
            <a:r>
              <a:rPr lang="en-NL" dirty="0"/>
              <a:t>This should be implemented before shared-rate training. The literature strongly supports the structural conclusion. However, claims such as “three orders of magnitude accuracy defect” describe numerical order, not a measured gantry-error magnitude. A gantry-specific solver-refinement test is still required.</a:t>
            </a:r>
          </a:p>
          <a:p>
            <a:r>
              <a:rPr lang="en-NL" b="1" dirty="0"/>
              <a:t>Recommended experimental order</a:t>
            </a:r>
          </a:p>
          <a:p>
            <a:pPr lvl="0"/>
            <a:r>
              <a:rPr lang="en-NL" b="1" dirty="0"/>
              <a:t>Residual-effort audit of existing models</a:t>
            </a:r>
            <a:endParaRPr lang="en-NL" dirty="0"/>
          </a:p>
          <a:p>
            <a:pPr lvl="0"/>
            <a:r>
              <a:rPr lang="en-NL" dirty="0"/>
              <a:t>Compare initialization, 79534 and 79578:</a:t>
            </a:r>
          </a:p>
          <a:p>
            <a:pPr lvl="1"/>
            <a:r>
              <a:rPr lang="en-NL" dirty="0"/>
              <a:t>closed-loop output RMS;</a:t>
            </a:r>
          </a:p>
          <a:p>
            <a:pPr lvl="1"/>
            <a:r>
              <a:rPr lang="en-NL" dirty="0"/>
              <a:t>residual force RMS per channel;</a:t>
            </a:r>
          </a:p>
          <a:p>
            <a:pPr lvl="1"/>
            <a:r>
              <a:rPr lang="en-NL" dirty="0"/>
              <a:t>normalized effort;</a:t>
            </a:r>
          </a:p>
          <a:p>
            <a:pPr lvl="1"/>
            <a:r>
              <a:rPr lang="en-NL" dirty="0"/>
              <a:t>effort PSD near the absorber band;</a:t>
            </a:r>
          </a:p>
          <a:p>
            <a:pPr lvl="1"/>
            <a:r>
              <a:rPr lang="en-NL" dirty="0"/>
              <a:t>open-loop and standalone error.</a:t>
            </a:r>
          </a:p>
          <a:p>
            <a:pPr lvl="0"/>
            <a:r>
              <a:rPr lang="en-NL" b="1" dirty="0"/>
              <a:t>Single-rate effort-loss ablation</a:t>
            </a:r>
            <a:endParaRPr lang="en-NL" dirty="0"/>
          </a:p>
          <a:p>
            <a:pPr lvl="0"/>
            <a:r>
              <a:rPr lang="en-NL" dirty="0"/>
              <a:t>At 4 kHz and \(</a:t>
            </a:r>
            <a:r>
              <a:rPr lang="en-NL" dirty="0" err="1"/>
              <a:t>n_f</a:t>
            </a:r>
            <a:r>
              <a:rPr lang="en-NL" dirty="0"/>
              <a:t>=400\):</a:t>
            </a:r>
          </a:p>
          <a:p>
            <a:pPr lvl="0"/>
            <a:r>
              <a:rPr lang="en-NL" dirty="0"/>
              <a:t>\[ L_{\</a:t>
            </a:r>
            <a:r>
              <a:rPr lang="en-NL" dirty="0" err="1"/>
              <a:t>mathrm</a:t>
            </a:r>
            <a:r>
              <a:rPr lang="en-NL" dirty="0"/>
              <a:t>{CL}} \quad\text{vs}\quad L_{\</a:t>
            </a:r>
            <a:r>
              <a:rPr lang="en-NL" dirty="0" err="1"/>
              <a:t>mathrm</a:t>
            </a:r>
            <a:r>
              <a:rPr lang="en-NL" dirty="0"/>
              <a:t>{CL}}+\</a:t>
            </a:r>
            <a:r>
              <a:rPr lang="en-NL" dirty="0" err="1"/>
              <a:t>lambda_uL_u</a:t>
            </a:r>
            <a:r>
              <a:rPr lang="en-NL" dirty="0"/>
              <a:t>. \]</a:t>
            </a:r>
          </a:p>
          <a:p>
            <a:pPr lvl="0"/>
            <a:r>
              <a:rPr lang="en-NL" dirty="0"/>
              <a:t>This isolates objective conditioning.</a:t>
            </a:r>
          </a:p>
          <a:p>
            <a:pPr lvl="0"/>
            <a:r>
              <a:rPr lang="en-NL" b="1" dirty="0"/>
              <a:t>Continuous-time augmentation conversion</a:t>
            </a:r>
            <a:endParaRPr lang="en-NL" dirty="0"/>
          </a:p>
          <a:p>
            <a:pPr lvl="0"/>
            <a:r>
              <a:rPr lang="en-NL" dirty="0"/>
              <a:t>Put the physical and neural vector fields inside one RK4 integration. Verify equivalence at initialization and solver convergence after training.</a:t>
            </a:r>
          </a:p>
          <a:p>
            <a:pPr lvl="0"/>
            <a:r>
              <a:rPr lang="en-NL" b="1" dirty="0"/>
              <a:t>Single 2 kHz open-loop premise test</a:t>
            </a:r>
            <a:endParaRPr lang="en-NL" dirty="0"/>
          </a:p>
          <a:p>
            <a:pPr lvl="0"/>
            <a:r>
              <a:rPr lang="en-NL" dirty="0"/>
              <a:t>Keep 400 steps, giving 0.2 seconds. This tests whether longer physical exposure helps the absorber dynamics.</a:t>
            </a:r>
          </a:p>
          <a:p>
            <a:pPr lvl="0"/>
            <a:r>
              <a:rPr lang="en-NL" dirty="0"/>
              <a:t>It should be an </a:t>
            </a:r>
            <a:r>
              <a:rPr lang="en-NL" b="1" dirty="0"/>
              <a:t>open-loop coarse-rate test</a:t>
            </a:r>
            <a:r>
              <a:rPr lang="en-NL" dirty="0"/>
              <a:t>. The repository’s controller gate shows that a controller re-</a:t>
            </a:r>
            <a:r>
              <a:rPr lang="en-NL" dirty="0" err="1"/>
              <a:t>discretized</a:t>
            </a:r>
            <a:r>
              <a:rPr lang="en-NL" dirty="0"/>
              <a:t> at 2 kHz materially changes sensitivity and phase margin, so a 2 kHz closed-loop rung would confound horizon with a changed feedback system.</a:t>
            </a:r>
          </a:p>
          <a:p>
            <a:pPr lvl="0"/>
            <a:r>
              <a:rPr lang="en-NL" b="1" dirty="0"/>
              <a:t>Only then test shared 4/2 kHz training</a:t>
            </a:r>
            <a:endParaRPr lang="en-NL" dirty="0"/>
          </a:p>
          <a:p>
            <a:pPr lvl="0"/>
            <a:r>
              <a:rPr lang="en-NL" dirty="0"/>
              <a:t>Requirements:</a:t>
            </a:r>
          </a:p>
          <a:p>
            <a:pPr lvl="1"/>
            <a:r>
              <a:rPr lang="en-NL" dirty="0"/>
              <a:t>shared continuous-time vector field;</a:t>
            </a:r>
          </a:p>
          <a:p>
            <a:pPr lvl="1"/>
            <a:r>
              <a:rPr lang="en-NL" dirty="0"/>
              <a:t>rate-specific encoders or an encoder conditioned on \(</a:t>
            </a:r>
            <a:r>
              <a:rPr lang="en-NL" dirty="0" err="1"/>
              <a:t>T_s</a:t>
            </a:r>
            <a:r>
              <a:rPr lang="en-NL" dirty="0"/>
              <a:t>/\tau\);</a:t>
            </a:r>
          </a:p>
          <a:p>
            <a:pPr lvl="1"/>
            <a:r>
              <a:rPr lang="en-NL" dirty="0"/>
              <a:t>equal physical normalization;</a:t>
            </a:r>
          </a:p>
          <a:p>
            <a:pPr lvl="1"/>
            <a:r>
              <a:rPr lang="en-NL" dirty="0"/>
              <a:t>common physical encoder-history duration;</a:t>
            </a:r>
          </a:p>
          <a:p>
            <a:pPr lvl="1"/>
            <a:r>
              <a:rPr lang="en-NL" dirty="0"/>
              <a:t>anti-aliasing and input semantics explicitly verified;</a:t>
            </a:r>
          </a:p>
          <a:p>
            <a:pPr lvl="1"/>
            <a:r>
              <a:rPr lang="en-NL" dirty="0"/>
              <a:t>coarse/fine gradient cosine logged;</a:t>
            </a:r>
          </a:p>
          <a:p>
            <a:pPr lvl="1"/>
            <a:r>
              <a:rPr lang="en-NL" dirty="0"/>
              <a:t>final evaluation at 4 kHz.</a:t>
            </a:r>
          </a:p>
          <a:p>
            <a:pPr lvl="0"/>
            <a:r>
              <a:rPr lang="en-NL" b="1" dirty="0"/>
              <a:t>Do not include 800 Hz initially</a:t>
            </a:r>
            <a:endParaRPr lang="en-NL" dirty="0"/>
          </a:p>
          <a:p>
            <a:pPr lvl="0"/>
            <a:r>
              <a:rPr lang="en-NL" dirty="0"/>
              <a:t>At a 150 Hz relevant bandwidth, 800 Hz provides only 5.33 samples per cycle and fails the cited ten-times-bandwidth engineering guideline. It also increases decimation variance and alias/</a:t>
            </a:r>
            <a:r>
              <a:rPr lang="en-NL" dirty="0" err="1"/>
              <a:t>intersample</a:t>
            </a:r>
            <a:r>
              <a:rPr lang="en-NL" dirty="0"/>
              <a:t> risk.</a:t>
            </a:r>
          </a:p>
          <a:p>
            <a:r>
              <a:rPr lang="en-NL" b="1" dirty="0"/>
              <a:t>Two literature conclusions I would not accept uncritically</a:t>
            </a:r>
          </a:p>
          <a:p>
            <a:r>
              <a:rPr lang="en-NL" dirty="0"/>
              <a:t>First, the claim that “the fixed controller is the binding constraint, not the horizon” is too strong. A fixed controller can make the model non-discerning, while a short horizon can simultaneously prevent slow dynamics from becoming visible. Both can bind.</a:t>
            </a:r>
          </a:p>
          <a:p>
            <a:r>
              <a:rPr lang="en-NL" dirty="0"/>
              <a:t>Second, the report’s blanket condemnation of block-mean \(u\) and point-sampled \(y\) is not yet established for this dataset. Block averaging is impulse-consistent for the recorded ZOH force, and previous project diagnostics showed that it removed severe marginal-axis error. The literature exposes a possible </a:t>
            </a:r>
            <a:r>
              <a:rPr lang="en-NL" dirty="0" err="1"/>
              <a:t>interchannel</a:t>
            </a:r>
            <a:r>
              <a:rPr lang="en-NL" dirty="0"/>
              <a:t>-delay/</a:t>
            </a:r>
            <a:r>
              <a:rPr lang="en-NL" dirty="0" err="1"/>
              <a:t>estimand</a:t>
            </a:r>
            <a:r>
              <a:rPr lang="en-NL" dirty="0"/>
              <a:t> problem, but a project-specific frequency and delay test is needed before changing the loader.</a:t>
            </a:r>
          </a:p>
          <a:p>
            <a:r>
              <a:rPr lang="en-NL" b="1" dirty="0"/>
              <a:t>Working verdict</a:t>
            </a:r>
          </a:p>
          <a:p>
            <a:pPr lvl="0"/>
            <a:r>
              <a:rPr lang="en-NL" b="1" dirty="0"/>
              <a:t>Residual effort:</a:t>
            </a:r>
            <a:r>
              <a:rPr lang="en-NL" dirty="0"/>
              <a:t> supported as a diagnostic and conditioning penalty, not independent plant information.</a:t>
            </a:r>
          </a:p>
          <a:p>
            <a:pPr lvl="0"/>
            <a:r>
              <a:rPr lang="en-NL" b="1" dirty="0"/>
              <a:t>Open-loop auxiliary loss:</a:t>
            </a:r>
            <a:r>
              <a:rPr lang="en-NL" dirty="0"/>
              <a:t> the clearest autonomous-plant anchor, but potentially difficult to optimize; introduce only after the effort ablation or anneal it from zero.</a:t>
            </a:r>
          </a:p>
          <a:p>
            <a:pPr lvl="0"/>
            <a:r>
              <a:rPr lang="en-NL" b="1" dirty="0"/>
              <a:t>Multi-rate horizon:</a:t>
            </a:r>
            <a:r>
              <a:rPr lang="en-NL" dirty="0"/>
              <a:t> plausible for long-term gradients, but unverified and currently blocked by the discrete ANN architecture.</a:t>
            </a:r>
          </a:p>
          <a:p>
            <a:pPr lvl="0"/>
            <a:r>
              <a:rPr lang="en-NL" b="1" dirty="0"/>
              <a:t>Continuous-time combined RK4:</a:t>
            </a:r>
            <a:r>
              <a:rPr lang="en-NL" dirty="0"/>
              <a:t> the strongest architecture improvement supported by the searches.</a:t>
            </a:r>
          </a:p>
          <a:p>
            <a:pPr lvl="0"/>
            <a:r>
              <a:rPr lang="en-NL" b="1" dirty="0"/>
              <a:t>Best immediate next action:</a:t>
            </a:r>
            <a:r>
              <a:rPr lang="en-NL" dirty="0"/>
              <a:t> calculate residual effort for initialization and 79578, then run the isolated 4 kHz effort-loss A/B.</a:t>
            </a:r>
          </a:p>
          <a:p>
            <a:pPr lvl="0"/>
            <a:r>
              <a:rPr lang="en-NL" b="1" dirty="0"/>
              <a:t>Best subsequent horizon test:</a:t>
            </a:r>
            <a:r>
              <a:rPr lang="en-NL" dirty="0"/>
              <a:t> one 2 kHz open-loop rung, followed by 4 kHz evaluation, not a raw three-rate closed-loop ladder.</a:t>
            </a:r>
          </a:p>
          <a:p>
            <a:r>
              <a:rPr lang="en-NL" dirty="0"/>
              <a:t>Relevant documents: [closed-loop objective review](C:\\Users\\20203253\\OneDrive - TU Eindhoven\\Graduation Project\\Baseline FP model\\Baseline-LPV-Augmentation\\docs\\closed-loop-objective-literature-2026-08-28.md), [closed-loop findings](C:\\Users\\20203253\\OneDrive - TU Eindhoven\\Graduation Project\\Baseline FP model\\Baseline-LPV-Augmentation\\docs\\closed-loop-training-findings-2026-08-28.md), [multi-rate sweep](C:\\Users\\20203253\\OneDrive - TU Eindhoven\\Graduation Project\\Baseline FP model\\Baseline-LPV-Augmentation\\docs\\multi-rate-shared-ct-model-sweep-2026-08-28.md), and [multi-rate findings](C:\\Users\\20203253\\OneDrive - TU Eindhoven\\Graduation Project\\Baseline FP model\\Baseline-LPV-Augmentation\\docs\\multi-rate-shared-ct-identification-findings-2026-08-28.md).</a:t>
            </a:r>
          </a:p>
          <a:p>
            <a:endParaRPr lang="en-NL" dirty="0"/>
          </a:p>
        </p:txBody>
      </p:sp>
    </p:spTree>
    <p:extLst>
      <p:ext uri="{BB962C8B-B14F-4D97-AF65-F5344CB8AC3E}">
        <p14:creationId xmlns:p14="http://schemas.microsoft.com/office/powerpoint/2010/main" val="4237765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DB1B2-A566-EAFD-A29D-C15D00B3247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3E26BD7-DA65-429A-26A8-5E267B6A2449}"/>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C02B7A8C-7A12-6D9B-2E8C-C7D2629C07ED}"/>
              </a:ext>
            </a:extLst>
          </p:cNvPr>
          <p:cNvSpPr txBox="1"/>
          <p:nvPr/>
        </p:nvSpPr>
        <p:spPr>
          <a:xfrm>
            <a:off x="3048828" y="197346"/>
            <a:ext cx="6097656" cy="6463308"/>
          </a:xfrm>
          <a:prstGeom prst="rect">
            <a:avLst/>
          </a:prstGeom>
          <a:noFill/>
        </p:spPr>
        <p:txBody>
          <a:bodyPr wrap="square">
            <a:spAutoFit/>
          </a:bodyPr>
          <a:lstStyle/>
          <a:p>
            <a:r>
              <a:rPr lang="en-NL" dirty="0"/>
              <a:t>understand these literature searches for possible improvements to make the ANN learn either long term dynamics or train in closed-loop while not being biased by the closed loop or a better alternative found in the literature:</a:t>
            </a:r>
          </a:p>
          <a:p>
            <a:endParaRPr lang="en-NL" dirty="0"/>
          </a:p>
          <a:p>
            <a:r>
              <a:rPr lang="en-NL" dirty="0"/>
              <a:t>docs/multi-rate-shared-ct-model-sweep-2026-08-28.md</a:t>
            </a:r>
          </a:p>
          <a:p>
            <a:endParaRPr lang="en-NL" dirty="0"/>
          </a:p>
          <a:p>
            <a:r>
              <a:rPr lang="en-NL" dirty="0"/>
              <a:t>docs/closed-loop-objective-literature-2026-08-28.md,</a:t>
            </a:r>
          </a:p>
          <a:p>
            <a:endParaRPr lang="en-NL" dirty="0"/>
          </a:p>
          <a:p>
            <a:r>
              <a:rPr lang="en-NL" dirty="0"/>
              <a:t>[closed-loop-training-findings-2026-08-28.md](C:\\Users\\20203253\\OneDrive - TU Eindhoven\\Graduation Project\\Baseline FP model\\Baseline-LPV-Augmentation\\docs\\closed-loop-training-findings-2026-08-28.md)</a:t>
            </a:r>
          </a:p>
          <a:p>
            <a:endParaRPr lang="en-NL" dirty="0"/>
          </a:p>
          <a:p>
            <a:r>
              <a:rPr lang="en-NL" dirty="0"/>
              <a:t>[multi-rate-shared-ct-identification-findings-2026-08-28.md](C:\\Users\\20203253\\OneDrive - TU Eindhoven\\Graduation Project\\Baseline FP model\\Baseline-LPV-Augmentation\\docs\\multi-rate-shared-ct-identification-findings-2026-08-28.md)</a:t>
            </a:r>
          </a:p>
          <a:p>
            <a:endParaRPr lang="en-NL" dirty="0"/>
          </a:p>
          <a:p>
            <a:endParaRPr lang="en-NL" dirty="0"/>
          </a:p>
          <a:p>
            <a:r>
              <a:rPr lang="en-NL" dirty="0"/>
              <a:t>these sources are updated in: docs/references.md</a:t>
            </a:r>
          </a:p>
        </p:txBody>
      </p:sp>
    </p:spTree>
    <p:extLst>
      <p:ext uri="{BB962C8B-B14F-4D97-AF65-F5344CB8AC3E}">
        <p14:creationId xmlns:p14="http://schemas.microsoft.com/office/powerpoint/2010/main" val="2495340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DC686-C522-4257-8188-BAD9D57F4B94}"/>
              </a:ext>
            </a:extLst>
          </p:cNvPr>
          <p:cNvSpPr>
            <a:spLocks noGrp="1"/>
          </p:cNvSpPr>
          <p:nvPr>
            <p:ph type="title"/>
          </p:nvPr>
        </p:nvSpPr>
        <p:spPr/>
        <p:txBody>
          <a:bodyPr>
            <a:normAutofit fontScale="90000"/>
          </a:bodyPr>
          <a:lstStyle/>
          <a:p>
            <a:r>
              <a:rPr lang="en-US" dirty="0"/>
              <a:t>Open loop mismatch long horizon</a:t>
            </a:r>
            <a:br>
              <a:rPr lang="en-US" dirty="0"/>
            </a:br>
            <a:r>
              <a:rPr lang="en-US" dirty="0"/>
              <a:t>Multi-rate-horizon??</a:t>
            </a:r>
            <a:br>
              <a:rPr lang="en-US" dirty="0"/>
            </a:br>
            <a:r>
              <a:rPr lang="en-US" dirty="0"/>
              <a:t>Multiple shooting: connect different windows.</a:t>
            </a:r>
            <a:endParaRPr lang="en-NL" dirty="0"/>
          </a:p>
        </p:txBody>
      </p:sp>
      <p:sp>
        <p:nvSpPr>
          <p:cNvPr id="3" name="Content Placeholder 2">
            <a:extLst>
              <a:ext uri="{FF2B5EF4-FFF2-40B4-BE49-F238E27FC236}">
                <a16:creationId xmlns:a16="http://schemas.microsoft.com/office/drawing/2014/main" id="{E1006B6E-410F-0F74-653B-7757BC15A727}"/>
              </a:ext>
            </a:extLst>
          </p:cNvPr>
          <p:cNvSpPr>
            <a:spLocks noGrp="1"/>
          </p:cNvSpPr>
          <p:nvPr>
            <p:ph idx="1"/>
          </p:nvPr>
        </p:nvSpPr>
        <p:spPr/>
        <p:txBody>
          <a:bodyPr/>
          <a:lstStyle/>
          <a:p>
            <a:r>
              <a:rPr lang="en-NL" dirty="0"/>
              <a:t>The meeting results also contain an important result I should have led with:</a:t>
            </a:r>
          </a:p>
          <a:p>
            <a:pPr lvl="0"/>
            <a:r>
              <a:rPr lang="en-NL" dirty="0"/>
              <a:t>Open-loop run 79573 reduced its short-horizon </a:t>
            </a:r>
            <a:r>
              <a:rPr lang="en-NL" dirty="0" err="1"/>
              <a:t>nf</a:t>
            </a:r>
            <a:r>
              <a:rPr lang="en-NL" dirty="0"/>
              <a:t>-RMS from 2.4823e-4 to 1.1260e-4—about </a:t>
            </a:r>
            <a:r>
              <a:rPr lang="en-NL" b="1" dirty="0"/>
              <a:t>54.6% improvement</a:t>
            </a:r>
            <a:r>
              <a:rPr lang="en-NL" dirty="0"/>
              <a:t>.</a:t>
            </a:r>
          </a:p>
          <a:p>
            <a:pPr lvl="0"/>
            <a:r>
              <a:rPr lang="en-NL" dirty="0"/>
              <a:t>But its full-record open-loop selector did not improve: the best remained the epoch-zero 3.309e-3.</a:t>
            </a:r>
          </a:p>
          <a:p>
            <a:pPr lvl="0"/>
            <a:r>
              <a:rPr lang="en-NL" dirty="0"/>
              <a:t>Closed-loop run 79578 improved its controller-assisted metric while its open-loop </a:t>
            </a:r>
            <a:r>
              <a:rPr lang="en-NL" dirty="0" err="1"/>
              <a:t>nf</a:t>
            </a:r>
            <a:r>
              <a:rPr lang="en-NL" dirty="0"/>
              <a:t> metric worsened to about 3.374e-4</a:t>
            </a:r>
          </a:p>
          <a:p>
            <a:endParaRPr lang="en-NL" dirty="0"/>
          </a:p>
        </p:txBody>
      </p:sp>
    </p:spTree>
    <p:extLst>
      <p:ext uri="{BB962C8B-B14F-4D97-AF65-F5344CB8AC3E}">
        <p14:creationId xmlns:p14="http://schemas.microsoft.com/office/powerpoint/2010/main" val="1413132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E8029-6368-0845-6BDC-FDFA777403D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5D88C5B-47C7-85BA-BAB6-CA00A58755CA}"/>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736150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08CE5-7944-2B9D-C33F-772EC0697FC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3771291-C8FF-683D-8605-9F0042A50EA0}"/>
              </a:ext>
            </a:extLst>
          </p:cNvPr>
          <p:cNvSpPr>
            <a:spLocks noGrp="1"/>
          </p:cNvSpPr>
          <p:nvPr>
            <p:ph idx="1"/>
          </p:nvPr>
        </p:nvSpPr>
        <p:spPr/>
        <p:txBody>
          <a:bodyPr/>
          <a:lstStyle/>
          <a:p>
            <a:r>
              <a:rPr lang="en-US" dirty="0"/>
              <a:t>I really need a method to see long term dynamics with short windows. But I have a subnet encoder initializing the states because we do augmentation and need a trained encoder for that and we use subnet at the moment.</a:t>
            </a:r>
          </a:p>
          <a:p>
            <a:pPr lvl="1"/>
            <a:r>
              <a:rPr lang="en-US" dirty="0"/>
              <a:t>Multiple shooting connecting the windows somehow while being able to use encoder </a:t>
            </a:r>
            <a:r>
              <a:rPr lang="en-US" dirty="0" err="1"/>
              <a:t>init</a:t>
            </a:r>
            <a:r>
              <a:rPr lang="en-US" dirty="0"/>
              <a:t> per window. Or maybe not per window but each x amount of windows…?</a:t>
            </a:r>
          </a:p>
          <a:p>
            <a:pPr lvl="1"/>
            <a:endParaRPr lang="en-US" dirty="0"/>
          </a:p>
          <a:p>
            <a:r>
              <a:rPr lang="en-US" dirty="0"/>
              <a:t>Then there is the bias the controller training is creating we have a run on the server for it..? </a:t>
            </a:r>
            <a:r>
              <a:rPr lang="en-US" dirty="0" err="1"/>
              <a:t>Kessels</a:t>
            </a:r>
            <a:r>
              <a:rPr lang="en-US" dirty="0"/>
              <a:t> was also not able to fix this.</a:t>
            </a:r>
            <a:endParaRPr lang="en-NL" dirty="0"/>
          </a:p>
        </p:txBody>
      </p:sp>
      <p:pic>
        <p:nvPicPr>
          <p:cNvPr id="5" name="Picture 4">
            <a:extLst>
              <a:ext uri="{FF2B5EF4-FFF2-40B4-BE49-F238E27FC236}">
                <a16:creationId xmlns:a16="http://schemas.microsoft.com/office/drawing/2014/main" id="{26799E9E-7485-4EFF-0BBA-BCB1BDBD1895}"/>
              </a:ext>
            </a:extLst>
          </p:cNvPr>
          <p:cNvPicPr>
            <a:picLocks noChangeAspect="1"/>
          </p:cNvPicPr>
          <p:nvPr/>
        </p:nvPicPr>
        <p:blipFill>
          <a:blip r:embed="rId2"/>
          <a:stretch>
            <a:fillRect/>
          </a:stretch>
        </p:blipFill>
        <p:spPr>
          <a:xfrm>
            <a:off x="11216183" y="2468054"/>
            <a:ext cx="6096851" cy="2876951"/>
          </a:xfrm>
          <a:prstGeom prst="rect">
            <a:avLst/>
          </a:prstGeom>
        </p:spPr>
      </p:pic>
      <p:pic>
        <p:nvPicPr>
          <p:cNvPr id="7" name="Picture 6">
            <a:extLst>
              <a:ext uri="{FF2B5EF4-FFF2-40B4-BE49-F238E27FC236}">
                <a16:creationId xmlns:a16="http://schemas.microsoft.com/office/drawing/2014/main" id="{9328F9C2-7EFF-A222-E50A-EA191C341780}"/>
              </a:ext>
            </a:extLst>
          </p:cNvPr>
          <p:cNvPicPr>
            <a:picLocks noChangeAspect="1"/>
          </p:cNvPicPr>
          <p:nvPr/>
        </p:nvPicPr>
        <p:blipFill>
          <a:blip r:embed="rId3"/>
          <a:stretch>
            <a:fillRect/>
          </a:stretch>
        </p:blipFill>
        <p:spPr>
          <a:xfrm>
            <a:off x="10101602" y="6176963"/>
            <a:ext cx="8326012" cy="2648320"/>
          </a:xfrm>
          <a:prstGeom prst="rect">
            <a:avLst/>
          </a:prstGeom>
        </p:spPr>
      </p:pic>
    </p:spTree>
    <p:extLst>
      <p:ext uri="{BB962C8B-B14F-4D97-AF65-F5344CB8AC3E}">
        <p14:creationId xmlns:p14="http://schemas.microsoft.com/office/powerpoint/2010/main" val="2524130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C241-8681-EEBD-BCB0-FC73ADA09BD7}"/>
              </a:ext>
            </a:extLst>
          </p:cNvPr>
          <p:cNvSpPr>
            <a:spLocks noGrp="1"/>
          </p:cNvSpPr>
          <p:nvPr>
            <p:ph type="title"/>
          </p:nvPr>
        </p:nvSpPr>
        <p:spPr/>
        <p:txBody>
          <a:bodyPr/>
          <a:lstStyle/>
          <a:p>
            <a:r>
              <a:rPr lang="en-US" dirty="0"/>
              <a:t>multi-scale time-stepping</a:t>
            </a:r>
            <a:endParaRPr lang="en-NL" dirty="0"/>
          </a:p>
        </p:txBody>
      </p:sp>
      <p:sp>
        <p:nvSpPr>
          <p:cNvPr id="3" name="Content Placeholder 2">
            <a:extLst>
              <a:ext uri="{FF2B5EF4-FFF2-40B4-BE49-F238E27FC236}">
                <a16:creationId xmlns:a16="http://schemas.microsoft.com/office/drawing/2014/main" id="{D9D4114C-7B76-5F43-3D92-78402B082E9D}"/>
              </a:ext>
            </a:extLst>
          </p:cNvPr>
          <p:cNvSpPr>
            <a:spLocks noGrp="1"/>
          </p:cNvSpPr>
          <p:nvPr>
            <p:ph idx="1"/>
          </p:nvPr>
        </p:nvSpPr>
        <p:spPr/>
        <p:txBody>
          <a:bodyPr/>
          <a:lstStyle/>
          <a:p>
            <a:r>
              <a:rPr lang="en-US" dirty="0" err="1"/>
              <a:t>Hemmasian</a:t>
            </a:r>
            <a:r>
              <a:rPr lang="en-US" dirty="0"/>
              <a:t> and Barati </a:t>
            </a:r>
            <a:r>
              <a:rPr lang="en-US" dirty="0" err="1"/>
              <a:t>Farimani</a:t>
            </a:r>
            <a:r>
              <a:rPr lang="en-US" dirty="0"/>
              <a:t> (multi-scale time-stepping) offers one idea worth knowing and probably not usable here: train several dynamical models at dt in {1, 2, 4, 8} with the same short rollout length R, so the physical span grows without gradient depth (their Algorithm 2 and the D^2 -&gt; D^4 -&gt; D^8 transfer-learning </a:t>
            </a:r>
            <a:r>
              <a:rPr lang="en-US" dirty="0" err="1"/>
              <a:t>init</a:t>
            </a:r>
            <a:r>
              <a:rPr lang="en-US" dirty="0"/>
              <a:t>). Applied here it would reach 0.8 s of span at </a:t>
            </a:r>
            <a:r>
              <a:rPr lang="en-US" dirty="0" err="1"/>
              <a:t>nf</a:t>
            </a:r>
            <a:r>
              <a:rPr lang="en-US" dirty="0"/>
              <a:t> = 400. It fails on our band: the augmentation target is the 130 to 180 Hz absorber, and coarsening Ts aliases the mode the ANN must learn. Worth one sentence in a related-work section, not worth building.</a:t>
            </a:r>
            <a:endParaRPr lang="en-NL" dirty="0"/>
          </a:p>
        </p:txBody>
      </p:sp>
    </p:spTree>
    <p:extLst>
      <p:ext uri="{BB962C8B-B14F-4D97-AF65-F5344CB8AC3E}">
        <p14:creationId xmlns:p14="http://schemas.microsoft.com/office/powerpoint/2010/main" val="1194990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42917-5CA6-7A04-7335-6855FCE8DDED}"/>
              </a:ext>
            </a:extLst>
          </p:cNvPr>
          <p:cNvSpPr>
            <a:spLocks noGrp="1"/>
          </p:cNvSpPr>
          <p:nvPr>
            <p:ph type="title"/>
          </p:nvPr>
        </p:nvSpPr>
        <p:spPr/>
        <p:txBody>
          <a:bodyPr/>
          <a:lstStyle/>
          <a:p>
            <a:r>
              <a:rPr lang="en-US" dirty="0"/>
              <a:t>Closed loop does NOT expose long term dynamics </a:t>
            </a:r>
            <a:r>
              <a:rPr lang="en-US" dirty="0">
                <a:sym typeface="Wingdings" panose="05000000000000000000" pitchFamily="2" charset="2"/>
              </a:rPr>
              <a:t> hides it</a:t>
            </a:r>
            <a:endParaRPr lang="en-NL" dirty="0"/>
          </a:p>
        </p:txBody>
      </p:sp>
      <p:sp>
        <p:nvSpPr>
          <p:cNvPr id="3" name="Content Placeholder 2">
            <a:extLst>
              <a:ext uri="{FF2B5EF4-FFF2-40B4-BE49-F238E27FC236}">
                <a16:creationId xmlns:a16="http://schemas.microsoft.com/office/drawing/2014/main" id="{832BED2C-96A6-EE00-B6F9-7779C2A1FC50}"/>
              </a:ext>
            </a:extLst>
          </p:cNvPr>
          <p:cNvSpPr>
            <a:spLocks noGrp="1"/>
          </p:cNvSpPr>
          <p:nvPr>
            <p:ph idx="1"/>
          </p:nvPr>
        </p:nvSpPr>
        <p:spPr/>
        <p:txBody>
          <a:bodyPr/>
          <a:lstStyle/>
          <a:p>
            <a:r>
              <a:rPr lang="en-NL" dirty="0"/>
              <a:t>You’re right to push on this. The result does </a:t>
            </a:r>
            <a:r>
              <a:rPr lang="en-NL" b="1" dirty="0"/>
              <a:t>not</a:t>
            </a:r>
            <a:r>
              <a:rPr lang="en-NL" dirty="0"/>
              <a:t> say “remove the controller and hope open-loop works”; it says we need to </a:t>
            </a:r>
            <a:r>
              <a:rPr lang="en-NL" b="1" dirty="0"/>
              <a:t>keep the controller’s optimization benefit while preventing it from defining the plant-dynamics objective</a:t>
            </a:r>
            <a:r>
              <a:rPr lang="en-NL" dirty="0"/>
              <a:t>.</a:t>
            </a:r>
          </a:p>
        </p:txBody>
      </p:sp>
    </p:spTree>
    <p:extLst>
      <p:ext uri="{BB962C8B-B14F-4D97-AF65-F5344CB8AC3E}">
        <p14:creationId xmlns:p14="http://schemas.microsoft.com/office/powerpoint/2010/main" val="2454807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BD030-BF0D-880D-44DF-66878E2FAD5D}"/>
              </a:ext>
            </a:extLst>
          </p:cNvPr>
          <p:cNvSpPr>
            <a:spLocks noGrp="1"/>
          </p:cNvSpPr>
          <p:nvPr>
            <p:ph type="title"/>
          </p:nvPr>
        </p:nvSpPr>
        <p:spPr/>
        <p:txBody>
          <a:bodyPr/>
          <a:lstStyle/>
          <a:p>
            <a:r>
              <a:rPr lang="en-US" dirty="0"/>
              <a:t>Issue ANN not for more sampling rates</a:t>
            </a:r>
            <a:endParaRPr lang="en-NL" dirty="0"/>
          </a:p>
        </p:txBody>
      </p:sp>
      <p:sp>
        <p:nvSpPr>
          <p:cNvPr id="3" name="Content Placeholder 2">
            <a:extLst>
              <a:ext uri="{FF2B5EF4-FFF2-40B4-BE49-F238E27FC236}">
                <a16:creationId xmlns:a16="http://schemas.microsoft.com/office/drawing/2014/main" id="{B634C541-0AC4-62A4-B013-DF5E19AE472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DE91E8E-0D73-9E94-0E58-B43452EDD383}"/>
              </a:ext>
            </a:extLst>
          </p:cNvPr>
          <p:cNvPicPr>
            <a:picLocks noChangeAspect="1"/>
          </p:cNvPicPr>
          <p:nvPr/>
        </p:nvPicPr>
        <p:blipFill>
          <a:blip r:embed="rId2"/>
          <a:stretch>
            <a:fillRect/>
          </a:stretch>
        </p:blipFill>
        <p:spPr>
          <a:xfrm>
            <a:off x="3569426" y="1690688"/>
            <a:ext cx="4867954" cy="4677428"/>
          </a:xfrm>
          <a:prstGeom prst="rect">
            <a:avLst/>
          </a:prstGeom>
        </p:spPr>
      </p:pic>
    </p:spTree>
    <p:extLst>
      <p:ext uri="{BB962C8B-B14F-4D97-AF65-F5344CB8AC3E}">
        <p14:creationId xmlns:p14="http://schemas.microsoft.com/office/powerpoint/2010/main" val="1372976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9AF31-068C-B0F2-4482-F1EAA72A17CB}"/>
              </a:ext>
            </a:extLst>
          </p:cNvPr>
          <p:cNvSpPr>
            <a:spLocks noGrp="1"/>
          </p:cNvSpPr>
          <p:nvPr>
            <p:ph type="title"/>
          </p:nvPr>
        </p:nvSpPr>
        <p:spPr/>
        <p:txBody>
          <a:bodyPr/>
          <a:lstStyle/>
          <a:p>
            <a:r>
              <a:rPr lang="en-US" dirty="0"/>
              <a:t>Requirements</a:t>
            </a:r>
            <a:endParaRPr lang="en-NL" dirty="0"/>
          </a:p>
        </p:txBody>
      </p:sp>
      <p:sp>
        <p:nvSpPr>
          <p:cNvPr id="3" name="Content Placeholder 2">
            <a:extLst>
              <a:ext uri="{FF2B5EF4-FFF2-40B4-BE49-F238E27FC236}">
                <a16:creationId xmlns:a16="http://schemas.microsoft.com/office/drawing/2014/main" id="{ABD91D4F-FB11-1546-0706-679510F3A44A}"/>
              </a:ext>
            </a:extLst>
          </p:cNvPr>
          <p:cNvSpPr>
            <a:spLocks noGrp="1"/>
          </p:cNvSpPr>
          <p:nvPr>
            <p:ph idx="1"/>
          </p:nvPr>
        </p:nvSpPr>
        <p:spPr/>
        <p:txBody>
          <a:bodyPr/>
          <a:lstStyle/>
          <a:p>
            <a:endParaRPr lang="en-NL"/>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720AAF7-F332-2C73-C99A-CF2E5D7CB7D9}"/>
                  </a:ext>
                </a:extLst>
              </p:cNvPr>
              <p:cNvSpPr txBox="1"/>
              <p:nvPr/>
            </p:nvSpPr>
            <p:spPr>
              <a:xfrm>
                <a:off x="3047036" y="-6247103"/>
                <a:ext cx="6094070" cy="19357992"/>
              </a:xfrm>
              <a:prstGeom prst="rect">
                <a:avLst/>
              </a:prstGeom>
              <a:noFill/>
            </p:spPr>
            <p:txBody>
              <a:bodyPr wrap="square">
                <a:spAutoFit/>
              </a:bodyPr>
              <a:lstStyle/>
              <a:p>
                <a:pPr>
                  <a:buNone/>
                </a:pPr>
                <a:r>
                  <a:rPr lang="en-NL" dirty="0"/>
                  <a:t>Yes. The requirements you’ve been consistently imposing are:</a:t>
                </a:r>
              </a:p>
              <a:p>
                <a:pPr marL="342900" lvl="0" indent="-342900">
                  <a:buFont typeface="+mj-lt"/>
                  <a:buAutoNum type="arabicPeriod"/>
                </a:pPr>
                <a:r>
                  <a:rPr lang="en-NL" b="1" dirty="0"/>
                  <a:t>Keep SUBNET encoder initialization</a:t>
                </a:r>
                <a:endParaRPr lang="en-NL" dirty="0"/>
              </a:p>
              <a:p>
                <a:pPr>
                  <a:buNone/>
                </a:pPr>
                <a14:m>
                  <m:oMathPara xmlns:m="http://schemas.openxmlformats.org/officeDocument/2006/math">
                    <m:oMath>
                      <m:sSubSup>
                        <m:sSubSupPr>
                          <m:ctrlPr>
                            <a:rPr lang="en-NL" i="1">
                              <a:latin typeface="+mn-lt"/>
                            </a:rPr>
                          </m:ctrlPr>
                        </m:sSubSupPr>
                        <m:e>
                          <m:r>
                            <a:rPr lang="en-NL" i="1">
                              <a:latin typeface="+mn-lt"/>
                            </a:rPr>
                            <m:t>𝑧</m:t>
                          </m:r>
                        </m:e>
                        <m:sub>
                          <m:r>
                            <a:rPr lang="en-NL" i="1">
                              <a:latin typeface="+mn-lt"/>
                            </a:rPr>
                            <m:t>𝑖</m:t>
                          </m:r>
                        </m:sub>
                        <m:sup>
                          <m:r>
                            <a:rPr lang="en-NL" i="0">
                              <a:latin typeface="+mn-lt"/>
                            </a:rPr>
                            <m:t>0</m:t>
                          </m:r>
                        </m:sup>
                      </m:sSubSup>
                      <m:r>
                        <a:rPr lang="en-NL" i="0">
                          <a:latin typeface="+mn-lt"/>
                        </a:rPr>
                        <m:t>=</m:t>
                      </m:r>
                      <m:sSub>
                        <m:sSubPr>
                          <m:ctrlPr>
                            <a:rPr lang="en-NL" i="1">
                              <a:latin typeface="+mn-lt"/>
                            </a:rPr>
                          </m:ctrlPr>
                        </m:sSubPr>
                        <m:e>
                          <m:r>
                            <a:rPr lang="en-NL" i="1">
                              <a:latin typeface="+mn-lt"/>
                            </a:rPr>
                            <m:t>𝐸</m:t>
                          </m:r>
                        </m:e>
                        <m:sub>
                          <m:r>
                            <a:rPr lang="en-NL" i="1">
                              <a:latin typeface="+mn-lt"/>
                            </a:rPr>
                            <m:t>𝜙</m:t>
                          </m:r>
                        </m:sub>
                      </m:sSub>
                      <m:d>
                        <m:dPr>
                          <m:ctrlPr>
                            <a:rPr lang="en-NL" i="1">
                              <a:latin typeface="+mn-lt"/>
                            </a:rPr>
                          </m:ctrlPr>
                        </m:dPr>
                        <m:e>
                          <m:sSub>
                            <m:sSubPr>
                              <m:ctrlPr>
                                <a:rPr lang="en-NL" i="1">
                                  <a:latin typeface="+mn-lt"/>
                                </a:rPr>
                              </m:ctrlPr>
                            </m:sSubPr>
                            <m:e>
                              <m:r>
                                <a:rPr lang="en-NL" i="1">
                                  <a:latin typeface="+mn-lt"/>
                                </a:rPr>
                                <m:t>𝐻</m:t>
                              </m:r>
                            </m:e>
                            <m:sub>
                              <m:r>
                                <a:rPr lang="en-NL" i="1">
                                  <a:latin typeface="+mn-lt"/>
                                </a:rPr>
                                <m:t>𝑖</m:t>
                              </m:r>
                            </m:sub>
                          </m:sSub>
                        </m:e>
                      </m:d>
                    </m:oMath>
                  </m:oMathPara>
                </a14:m>
                <a:endParaRPr lang="en-NL" dirty="0"/>
              </a:p>
              <a:p>
                <a:pPr marL="342900" lvl="0" indent="-342900">
                  <a:buFont typeface="+mj-lt"/>
                  <a:buAutoNum type="arabicPeriod"/>
                </a:pPr>
                <a:r>
                  <a:rPr lang="en-NL" dirty="0"/>
                  <a:t>at each training subsection/shooting node. The encoder is </a:t>
                </a:r>
                <a:r>
                  <a:rPr lang="en-NL" b="1" dirty="0"/>
                  <a:t>jointly trained</a:t>
                </a:r>
                <a:r>
                  <a:rPr lang="en-NL" dirty="0"/>
                  <a:t>; it is not a fixed initializer and you don’t want to replace it with free shooting states.</a:t>
                </a:r>
              </a:p>
              <a:p>
                <a:pPr marL="342900" lvl="0" indent="-342900">
                  <a:buFont typeface="+mj-lt"/>
                  <a:buAutoNum type="arabicPeriod"/>
                </a:pPr>
                <a:r>
                  <a:rPr lang="en-NL" b="1" dirty="0"/>
                  <a:t>Keep short differentiable rollouts</a:t>
                </a:r>
                <a:br>
                  <a:rPr lang="en-NL" dirty="0"/>
                </a:br>
                <a:r>
                  <a:rPr lang="en-NL" dirty="0"/>
                  <a:t>because long BPTT/single-shooting is computationally infeasible and has already behaved poorly. Increasing </a:t>
                </a:r>
                <a14:m>
                  <m:oMath xmlns:m="http://schemas.openxmlformats.org/officeDocument/2006/math">
                    <m:sSub>
                      <m:sSubPr>
                        <m:ctrlPr>
                          <a:rPr lang="en-NL" i="1">
                            <a:latin typeface="+mn-lt"/>
                          </a:rPr>
                        </m:ctrlPr>
                      </m:sSubPr>
                      <m:e>
                        <m:r>
                          <a:rPr lang="en-NL" i="1">
                            <a:latin typeface="+mn-lt"/>
                          </a:rPr>
                          <m:t>𝑛</m:t>
                        </m:r>
                      </m:e>
                      <m:sub>
                        <m:r>
                          <a:rPr lang="en-NL" i="1">
                            <a:latin typeface="+mn-lt"/>
                          </a:rPr>
                          <m:t>𝑓</m:t>
                        </m:r>
                      </m:sub>
                    </m:sSub>
                  </m:oMath>
                </a14:m>
                <a:r>
                  <a:rPr lang="en-NL" dirty="0"/>
                  <a:t>alone, even to 1600, did not solve the long-term problem.</a:t>
                </a:r>
              </a:p>
              <a:p>
                <a:pPr marL="342900" lvl="0" indent="-342900">
                  <a:buFont typeface="+mj-lt"/>
                  <a:buAutoNum type="arabicPeriod"/>
                </a:pPr>
                <a:r>
                  <a:rPr lang="en-NL" b="1" dirty="0"/>
                  <a:t>Still make long-term dynamics influence training</a:t>
                </a:r>
                <a:br>
                  <a:rPr lang="en-NL" dirty="0"/>
                </a:br>
                <a:r>
                  <a:rPr lang="en-NL" dirty="0"/>
                  <a:t>even when an individual rollout is short. In particular, you need to capture dynamics whose effect appears hundreds of milliseconds or seconds later.</a:t>
                </a:r>
              </a:p>
              <a:p>
                <a:pPr marL="342900" lvl="0" indent="-342900">
                  <a:buFont typeface="+mj-lt"/>
                  <a:buAutoNum type="arabicPeriod"/>
                </a:pPr>
                <a:r>
                  <a:rPr lang="en-NL" b="1" dirty="0"/>
                  <a:t>Preserve stride/overlapping-window training</a:t>
                </a:r>
                <a:br>
                  <a:rPr lang="en-NL" dirty="0"/>
                </a:br>
                <a:r>
                  <a:rPr lang="en-NL" dirty="0"/>
                  <a:t>because it gives you many encoder-initialized training </a:t>
                </a:r>
                <a:r>
                  <a:rPr lang="en-NL" dirty="0" err="1"/>
                  <a:t>subsequences</a:t>
                </a:r>
                <a:r>
                  <a:rPr lang="en-NL" dirty="0"/>
                  <a:t> and is an important benefit of SUBNET. Stride is for data efficiency; it should not automatically become the multiple-shooting segment length.</a:t>
                </a:r>
              </a:p>
              <a:p>
                <a:pPr marL="342900" lvl="0" indent="-342900">
                  <a:buFont typeface="+mj-lt"/>
                  <a:buAutoNum type="arabicPeriod"/>
                </a:pPr>
                <a:r>
                  <a:rPr lang="en-NL" b="1" dirty="0"/>
                  <a:t>The additional augmentation states are latent</a:t>
                </a:r>
                <a:br>
                  <a:rPr lang="en-NL" dirty="0"/>
                </a:br>
                <a:r>
                  <a:rPr lang="en-NL" dirty="0"/>
                  <a:t>in Jan Hoekstra’s dynamic-parallel LFR:</a:t>
                </a:r>
              </a:p>
              <a:p>
                <a:pPr>
                  <a:buNone/>
                </a:pPr>
                <a14:m>
                  <m:oMathPara xmlns:m="http://schemas.openxmlformats.org/officeDocument/2006/math">
                    <m:oMath>
                      <m:r>
                        <a:rPr lang="en-NL" i="1">
                          <a:latin typeface="+mn-lt"/>
                        </a:rPr>
                        <m:t>𝑧</m:t>
                      </m:r>
                      <m:r>
                        <a:rPr lang="en-NL" i="0">
                          <a:latin typeface="+mn-lt"/>
                        </a:rPr>
                        <m:t>=</m:t>
                      </m:r>
                      <m:d>
                        <m:dPr>
                          <m:begChr m:val="["/>
                          <m:endChr m:val="]"/>
                          <m:sepChr m:val=";"/>
                          <m:ctrlPr>
                            <a:rPr lang="en-NL" i="1">
                              <a:latin typeface="+mn-lt"/>
                            </a:rPr>
                          </m:ctrlPr>
                        </m:dPr>
                        <m:e>
                          <m:sSub>
                            <m:sSubPr>
                              <m:ctrlPr>
                                <a:rPr lang="en-NL" i="1">
                                  <a:latin typeface="+mn-lt"/>
                                </a:rPr>
                              </m:ctrlPr>
                            </m:sSubPr>
                            <m:e>
                              <m:r>
                                <a:rPr lang="en-NL" i="1">
                                  <a:latin typeface="+mn-lt"/>
                                </a:rPr>
                                <m:t>𝑥</m:t>
                              </m:r>
                            </m:e>
                            <m:sub>
                              <m:r>
                                <m:rPr>
                                  <m:sty m:val="p"/>
                                </m:rPr>
                                <a:rPr lang="en-NL" i="0">
                                  <a:latin typeface="+mn-lt"/>
                                </a:rPr>
                                <m:t>phys</m:t>
                              </m:r>
                            </m:sub>
                          </m:sSub>
                        </m:e>
                        <m:e>
                          <m:sSub>
                            <m:sSubPr>
                              <m:ctrlPr>
                                <a:rPr lang="en-NL" i="1">
                                  <a:latin typeface="+mn-lt"/>
                                </a:rPr>
                              </m:ctrlPr>
                            </m:sSubPr>
                            <m:e>
                              <m:r>
                                <a:rPr lang="en-NL" i="1">
                                  <a:latin typeface="+mn-lt"/>
                                </a:rPr>
                                <m:t>ℎ</m:t>
                              </m:r>
                            </m:e>
                            <m:sub>
                              <m:r>
                                <m:rPr>
                                  <m:sty m:val="p"/>
                                </m:rPr>
                                <a:rPr lang="en-NL" i="0">
                                  <a:latin typeface="+mn-lt"/>
                                </a:rPr>
                                <m:t>aug</m:t>
                              </m:r>
                            </m:sub>
                          </m:sSub>
                        </m:e>
                      </m:d>
                      <m:r>
                        <a:rPr lang="en-NL" i="0">
                          <a:latin typeface="+mn-lt"/>
                        </a:rPr>
                        <m:t>.</m:t>
                      </m:r>
                    </m:oMath>
                  </m:oMathPara>
                </a14:m>
                <a:endParaRPr lang="en-NL" dirty="0"/>
              </a:p>
              <a:p>
                <a:pPr marL="342900" lvl="0" indent="-342900">
                  <a:buFont typeface="+mj-lt"/>
                  <a:buAutoNum type="arabicPeriod"/>
                </a:pPr>
                <a:r>
                  <a:rPr lang="en-NL" dirty="0"/>
                  <a:t>There is no measured ground-truth </a:t>
                </a:r>
                <a14:m>
                  <m:oMath xmlns:m="http://schemas.openxmlformats.org/officeDocument/2006/math">
                    <m:sSub>
                      <m:sSubPr>
                        <m:ctrlPr>
                          <a:rPr lang="en-NL" i="1">
                            <a:latin typeface="+mn-lt"/>
                          </a:rPr>
                        </m:ctrlPr>
                      </m:sSubPr>
                      <m:e>
                        <m:r>
                          <a:rPr lang="en-NL" i="1">
                            <a:latin typeface="+mn-lt"/>
                          </a:rPr>
                          <m:t>ℎ</m:t>
                        </m:r>
                      </m:e>
                      <m:sub>
                        <m:r>
                          <m:rPr>
                            <m:sty m:val="p"/>
                          </m:rPr>
                          <a:rPr lang="en-NL" i="0">
                            <a:latin typeface="+mn-lt"/>
                          </a:rPr>
                          <m:t>aug</m:t>
                        </m:r>
                      </m:sub>
                    </m:sSub>
                  </m:oMath>
                </a14:m>
                <a:r>
                  <a:rPr lang="en-NL" dirty="0"/>
                  <a:t>, so any method must work without supervising those states directly.</a:t>
                </a:r>
              </a:p>
              <a:p>
                <a:pPr marL="342900" lvl="0" indent="-342900">
                  <a:buFont typeface="+mj-lt"/>
                  <a:buAutoNum type="arabicPeriod"/>
                </a:pPr>
                <a:r>
                  <a:rPr lang="en-NL" b="1" dirty="0"/>
                  <a:t>Do not allow the optimizer to exploit the controller.</a:t>
                </a:r>
                <a:br>
                  <a:rPr lang="en-NL" dirty="0"/>
                </a:br>
                <a:r>
                  <a:rPr lang="en-NL" dirty="0"/>
                  <a:t>Your rollout controller is known, predetermined and linear. If</a:t>
                </a:r>
              </a:p>
              <a:p>
                <a:pPr>
                  <a:buNone/>
                </a:pPr>
                <a14:m>
                  <m:oMathPara xmlns:m="http://schemas.openxmlformats.org/officeDocument/2006/math">
                    <m:oMath>
                      <m:sSub>
                        <m:sSubPr>
                          <m:ctrlPr>
                            <a:rPr lang="en-NL" i="1">
                              <a:latin typeface="+mn-lt"/>
                            </a:rPr>
                          </m:ctrlPr>
                        </m:sSubPr>
                        <m:e>
                          <m:r>
                            <a:rPr lang="en-NL" i="1">
                              <a:latin typeface="+mn-lt"/>
                            </a:rPr>
                            <m:t>𝑦</m:t>
                          </m:r>
                        </m:e>
                        <m:sub>
                          <m:r>
                            <m:rPr>
                              <m:sty m:val="p"/>
                            </m:rPr>
                            <a:rPr lang="en-NL" i="0">
                              <a:latin typeface="+mn-lt"/>
                            </a:rPr>
                            <m:t>model</m:t>
                          </m:r>
                        </m:sub>
                      </m:sSub>
                      <m:r>
                        <a:rPr lang="en-NL" i="0">
                          <a:latin typeface="+mn-lt"/>
                        </a:rPr>
                        <m:t>=</m:t>
                      </m:r>
                      <m:sSub>
                        <m:sSubPr>
                          <m:ctrlPr>
                            <a:rPr lang="en-NL" i="1">
                              <a:latin typeface="+mn-lt"/>
                            </a:rPr>
                          </m:ctrlPr>
                        </m:sSubPr>
                        <m:e>
                          <m:r>
                            <a:rPr lang="en-NL" i="1">
                              <a:latin typeface="+mn-lt"/>
                            </a:rPr>
                            <m:t>𝑦</m:t>
                          </m:r>
                        </m:e>
                        <m:sub>
                          <m:r>
                            <m:rPr>
                              <m:sty m:val="p"/>
                            </m:rPr>
                            <a:rPr lang="en-NL" i="0">
                              <a:latin typeface="+mn-lt"/>
                            </a:rPr>
                            <m:t>data</m:t>
                          </m:r>
                        </m:sub>
                      </m:sSub>
                      <m:r>
                        <a:rPr lang="en-NL" i="0">
                          <a:latin typeface="+mn-lt"/>
                        </a:rPr>
                        <m:t>,</m:t>
                      </m:r>
                    </m:oMath>
                  </m:oMathPara>
                </a14:m>
                <a:endParaRPr lang="en-NL" dirty="0"/>
              </a:p>
              <a:p>
                <a:pPr marL="342900" lvl="0" indent="-342900">
                  <a:buFont typeface="+mj-lt"/>
                  <a:buAutoNum type="arabicPeriod"/>
                </a:pPr>
                <a:r>
                  <a:rPr lang="en-NL" dirty="0"/>
                  <a:t>its correction should be zero. You do </a:t>
                </a:r>
                <a:r>
                  <a:rPr lang="en-NL" b="1" dirty="0"/>
                  <a:t>not</a:t>
                </a:r>
                <a:r>
                  <a:rPr lang="en-NL" dirty="0"/>
                  <a:t> want trainable controller initial states or controller parameters that could compensate for bad plant dynamics.</a:t>
                </a:r>
              </a:p>
              <a:p>
                <a:pPr marL="342900" lvl="0" indent="-342900">
                  <a:buFont typeface="+mj-lt"/>
                  <a:buAutoNum type="arabicPeriod"/>
                </a:pPr>
                <a:r>
                  <a:rPr lang="en-NL" b="1" dirty="0"/>
                  <a:t>Your current closed-loop rollout has a real problem:</a:t>
                </a:r>
                <a:r>
                  <a:rPr lang="en-NL" dirty="0"/>
                  <a:t> it can hide the long-term dynamics. The correction controller keeps the model near the data, and your experiments showed that closed-loop training can improve its assisted metric while making autonomous dynamics much worse.</a:t>
                </a:r>
              </a:p>
              <a:p>
                <a:pPr marL="342900" lvl="0" indent="-342900">
                  <a:buFont typeface="+mj-lt"/>
                  <a:buAutoNum type="arabicPeriod"/>
                </a:pPr>
                <a:r>
                  <a:rPr lang="en-NL" b="1" dirty="0"/>
                  <a:t>But simply saying “remove the controller” is not enough.</a:t>
                </a:r>
                <a:br>
                  <a:rPr lang="en-NL" dirty="0"/>
                </a:br>
                <a:r>
                  <a:rPr lang="en-NL" dirty="0"/>
                  <a:t>Open-loop makes the long-term failure visible, but with short windows the optimizer still may not receive enough information about slow dynamics.</a:t>
                </a:r>
              </a:p>
              <a:p>
                <a:pPr marL="342900" lvl="0" indent="-342900">
                  <a:buFont typeface="+mj-lt"/>
                  <a:buAutoNum type="arabicPeriod"/>
                </a:pPr>
                <a:r>
                  <a:rPr lang="en-NL" dirty="0"/>
                  <a:t>Therefore the method you want needs to achieve something like</a:t>
                </a:r>
              </a:p>
              <a:p>
                <a:pPr>
                  <a:buNone/>
                </a:pPr>
                <a14:m>
                  <m:oMathPara xmlns:m="http://schemas.openxmlformats.org/officeDocument/2006/math">
                    <m:oMath>
                      <m:borderBox>
                        <m:borderBoxPr>
                          <m:ctrlPr>
                            <a:rPr lang="en-NL" b="0" i="0"/>
                          </m:ctrlPr>
                        </m:borderBoxPr>
                        <m:e>
                          <m:r>
                            <m:rPr>
                              <m:nor/>
                            </m:rPr>
                            <a:rPr lang="en-NL" b="0" i="0"/>
                            <m:t>long effective dynamical horizon</m:t>
                          </m:r>
                        </m:e>
                      </m:borderBox>
                    </m:oMath>
                  </m:oMathPara>
                </a14:m>
                <a:endParaRPr lang="en-NL" b="0" dirty="0"/>
              </a:p>
              <a:p>
                <a:pPr marL="342900" lvl="0" indent="-342900">
                  <a:buFont typeface="+mj-lt"/>
                  <a:buAutoNum type="arabicPeriod"/>
                </a:pPr>
                <a:r>
                  <a:rPr lang="en-NL" dirty="0"/>
                  <a:t>while retaining</a:t>
                </a:r>
              </a:p>
              <a:p>
                <a:pPr>
                  <a:buNone/>
                </a:pPr>
                <a14:m>
                  <m:oMathPara xmlns:m="http://schemas.openxmlformats.org/officeDocument/2006/math">
                    <m:oMath>
                      <m:borderBox>
                        <m:borderBoxPr>
                          <m:ctrlPr>
                            <a:rPr lang="en-NL" b="0" i="0"/>
                          </m:ctrlPr>
                        </m:borderBoxPr>
                        <m:e>
                          <m:r>
                            <m:rPr>
                              <m:nor/>
                            </m:rPr>
                            <a:rPr lang="en-NL" b="0" i="0"/>
                            <m:t>short gradient horizon</m:t>
                          </m:r>
                        </m:e>
                      </m:borderBox>
                      <m:r>
                        <a:rPr lang="en-NL" b="0" i="0">
                          <a:latin typeface="+mn-lt"/>
                        </a:rPr>
                        <m:t>.</m:t>
                      </m:r>
                    </m:oMath>
                  </m:oMathPara>
                </a14:m>
                <a:endParaRPr lang="en-NL" b="0" dirty="0"/>
              </a:p>
              <a:p>
                <a:pPr marL="342900" lvl="0" indent="-342900">
                  <a:buFont typeface="+mj-lt"/>
                  <a:buAutoNum type="arabicPeriod"/>
                </a:pPr>
                <a:r>
                  <a:rPr lang="en-NL" dirty="0"/>
                  <a:t>And, based on the Ribeiro paper, the promising mechanism is </a:t>
                </a:r>
                <a:r>
                  <a:rPr lang="en-NL" b="1" dirty="0"/>
                  <a:t>contiguous multiple shooting</a:t>
                </a:r>
                <a:r>
                  <a:rPr lang="en-NL" dirty="0"/>
                  <a:t>:</a:t>
                </a:r>
              </a:p>
              <a:p>
                <a:pPr>
                  <a:buNone/>
                </a:pPr>
                <a14:m>
                  <m:oMathPara xmlns:m="http://schemas.openxmlformats.org/officeDocument/2006/math">
                    <m:oMath>
                      <m:sSub>
                        <m:sSubPr>
                          <m:ctrlPr>
                            <a:rPr lang="en-NL" i="1">
                              <a:latin typeface="+mn-lt"/>
                            </a:rPr>
                          </m:ctrlPr>
                        </m:sSubPr>
                        <m:e>
                          <m:r>
                            <a:rPr lang="en-NL" i="1">
                              <a:latin typeface="+mn-lt"/>
                            </a:rPr>
                            <m:t>𝐸</m:t>
                          </m:r>
                        </m:e>
                        <m:sub>
                          <m:r>
                            <a:rPr lang="en-NL" i="1">
                              <a:latin typeface="+mn-lt"/>
                            </a:rPr>
                            <m:t>𝜙</m:t>
                          </m:r>
                        </m:sub>
                      </m:sSub>
                      <m:d>
                        <m:dPr>
                          <m:ctrlPr>
                            <a:rPr lang="en-NL" i="1">
                              <a:latin typeface="+mn-lt"/>
                            </a:rPr>
                          </m:ctrlPr>
                        </m:dPr>
                        <m:e>
                          <m:sSub>
                            <m:sSubPr>
                              <m:ctrlPr>
                                <a:rPr lang="en-NL" i="1">
                                  <a:latin typeface="+mn-lt"/>
                                </a:rPr>
                              </m:ctrlPr>
                            </m:sSubPr>
                            <m:e>
                              <m:r>
                                <a:rPr lang="en-NL" i="1">
                                  <a:latin typeface="+mn-lt"/>
                                </a:rPr>
                                <m:t>𝐻</m:t>
                              </m:r>
                            </m:e>
                            <m:sub>
                              <m:r>
                                <a:rPr lang="en-NL" i="0">
                                  <a:latin typeface="+mn-lt"/>
                                </a:rPr>
                                <m:t>0</m:t>
                              </m:r>
                            </m:sub>
                          </m:sSub>
                        </m:e>
                      </m:d>
                      <m:groupChr>
                        <m:groupChrPr>
                          <m:chr m:val="→"/>
                          <m:pos m:val="bot"/>
                          <m:vertJc m:val="bot"/>
                          <m:ctrlPr>
                            <a:rPr lang="en-NL" i="1">
                              <a:latin typeface="+mn-lt"/>
                            </a:rPr>
                          </m:ctrlPr>
                        </m:groupChrPr>
                        <m:e>
                          <m:box>
                            <m:boxPr>
                              <m:ctrlPr>
                                <a:rPr lang="en-NL" i="1">
                                  <a:latin typeface="+mn-lt"/>
                                </a:rPr>
                              </m:ctrlPr>
                            </m:boxPr>
                            <m:e>
                              <m:sSub>
                                <m:sSubPr>
                                  <m:ctrlPr>
                                    <a:rPr lang="en-NL" i="1">
                                      <a:latin typeface="+mn-lt"/>
                                    </a:rPr>
                                  </m:ctrlPr>
                                </m:sSubPr>
                                <m:e>
                                  <m:r>
                                    <a:rPr lang="en-NL" i="1">
                                      <a:latin typeface="+mn-lt"/>
                                    </a:rPr>
                                    <m:t>𝑁</m:t>
                                  </m:r>
                                </m:e>
                                <m:sub>
                                  <m:r>
                                    <a:rPr lang="en-NL" i="1">
                                      <a:latin typeface="+mn-lt"/>
                                    </a:rPr>
                                    <m:t>𝑠</m:t>
                                  </m:r>
                                </m:sub>
                              </m:sSub>
                            </m:e>
                          </m:box>
                        </m:e>
                      </m:groupChr>
                      <m:sSub>
                        <m:sSubPr>
                          <m:ctrlPr>
                            <a:rPr lang="en-NL" i="1">
                              <a:latin typeface="+mn-lt"/>
                            </a:rPr>
                          </m:ctrlPr>
                        </m:sSubPr>
                        <m:e>
                          <m:r>
                            <a:rPr lang="en-NL" i="1">
                              <a:latin typeface="+mn-lt"/>
                            </a:rPr>
                            <m:t>𝐸</m:t>
                          </m:r>
                        </m:e>
                        <m:sub>
                          <m:r>
                            <a:rPr lang="en-NL" i="1">
                              <a:latin typeface="+mn-lt"/>
                            </a:rPr>
                            <m:t>𝜙</m:t>
                          </m:r>
                        </m:sub>
                      </m:sSub>
                      <m:d>
                        <m:dPr>
                          <m:ctrlPr>
                            <a:rPr lang="en-NL" i="1">
                              <a:latin typeface="+mn-lt"/>
                            </a:rPr>
                          </m:ctrlPr>
                        </m:dPr>
                        <m:e>
                          <m:sSub>
                            <m:sSubPr>
                              <m:ctrlPr>
                                <a:rPr lang="en-NL" i="1">
                                  <a:latin typeface="+mn-lt"/>
                                </a:rPr>
                              </m:ctrlPr>
                            </m:sSubPr>
                            <m:e>
                              <m:r>
                                <a:rPr lang="en-NL" i="1">
                                  <a:latin typeface="+mn-lt"/>
                                </a:rPr>
                                <m:t>𝐻</m:t>
                              </m:r>
                            </m:e>
                            <m:sub>
                              <m:r>
                                <a:rPr lang="en-NL" i="0">
                                  <a:latin typeface="+mn-lt"/>
                                </a:rPr>
                                <m:t>1</m:t>
                              </m:r>
                            </m:sub>
                          </m:sSub>
                        </m:e>
                      </m:d>
                      <m:groupChr>
                        <m:groupChrPr>
                          <m:chr m:val="→"/>
                          <m:pos m:val="bot"/>
                          <m:vertJc m:val="bot"/>
                          <m:ctrlPr>
                            <a:rPr lang="en-NL" i="1">
                              <a:latin typeface="+mn-lt"/>
                            </a:rPr>
                          </m:ctrlPr>
                        </m:groupChrPr>
                        <m:e>
                          <m:box>
                            <m:boxPr>
                              <m:ctrlPr>
                                <a:rPr lang="en-NL" i="1">
                                  <a:latin typeface="+mn-lt"/>
                                </a:rPr>
                              </m:ctrlPr>
                            </m:boxPr>
                            <m:e>
                              <m:sSub>
                                <m:sSubPr>
                                  <m:ctrlPr>
                                    <a:rPr lang="en-NL" i="1">
                                      <a:latin typeface="+mn-lt"/>
                                    </a:rPr>
                                  </m:ctrlPr>
                                </m:sSubPr>
                                <m:e>
                                  <m:r>
                                    <a:rPr lang="en-NL" i="1">
                                      <a:latin typeface="+mn-lt"/>
                                    </a:rPr>
                                    <m:t>𝑁</m:t>
                                  </m:r>
                                </m:e>
                                <m:sub>
                                  <m:r>
                                    <a:rPr lang="en-NL" i="1">
                                      <a:latin typeface="+mn-lt"/>
                                    </a:rPr>
                                    <m:t>𝑠</m:t>
                                  </m:r>
                                </m:sub>
                              </m:sSub>
                            </m:e>
                          </m:box>
                        </m:e>
                      </m:groupChr>
                      <m:sSub>
                        <m:sSubPr>
                          <m:ctrlPr>
                            <a:rPr lang="en-NL" i="1">
                              <a:latin typeface="+mn-lt"/>
                            </a:rPr>
                          </m:ctrlPr>
                        </m:sSubPr>
                        <m:e>
                          <m:r>
                            <a:rPr lang="en-NL" i="1">
                              <a:latin typeface="+mn-lt"/>
                            </a:rPr>
                            <m:t>𝐸</m:t>
                          </m:r>
                        </m:e>
                        <m:sub>
                          <m:r>
                            <a:rPr lang="en-NL" i="1">
                              <a:latin typeface="+mn-lt"/>
                            </a:rPr>
                            <m:t>𝜙</m:t>
                          </m:r>
                        </m:sub>
                      </m:sSub>
                      <m:d>
                        <m:dPr>
                          <m:ctrlPr>
                            <a:rPr lang="en-NL" i="1">
                              <a:latin typeface="+mn-lt"/>
                            </a:rPr>
                          </m:ctrlPr>
                        </m:dPr>
                        <m:e>
                          <m:sSub>
                            <m:sSubPr>
                              <m:ctrlPr>
                                <a:rPr lang="en-NL" i="1">
                                  <a:latin typeface="+mn-lt"/>
                                </a:rPr>
                              </m:ctrlPr>
                            </m:sSubPr>
                            <m:e>
                              <m:r>
                                <a:rPr lang="en-NL" i="1">
                                  <a:latin typeface="+mn-lt"/>
                                </a:rPr>
                                <m:t>𝐻</m:t>
                              </m:r>
                            </m:e>
                            <m:sub>
                              <m:r>
                                <a:rPr lang="en-NL" i="0">
                                  <a:latin typeface="+mn-lt"/>
                                </a:rPr>
                                <m:t>2</m:t>
                              </m:r>
                            </m:sub>
                          </m:sSub>
                        </m:e>
                      </m:d>
                      <m:r>
                        <a:rPr lang="en-NL" i="0">
                          <a:latin typeface="+mn-lt"/>
                        </a:rPr>
                        <m:t>→⋯</m:t>
                      </m:r>
                    </m:oMath>
                  </m:oMathPara>
                </a14:m>
                <a:endParaRPr lang="en-NL" dirty="0"/>
              </a:p>
              <a:p>
                <a:pPr>
                  <a:buNone/>
                </a:pPr>
                <a:r>
                  <a:rPr lang="en-NL" dirty="0"/>
                  <a:t>with short simulations and continuity defects, rather than simply making one giant rollout.</a:t>
                </a:r>
              </a:p>
              <a:p>
                <a:pPr>
                  <a:buNone/>
                </a:pPr>
                <a:r>
                  <a:rPr lang="en-NL" dirty="0"/>
                  <a:t>The core requirement, as I understand it, is therefore:</a:t>
                </a:r>
              </a:p>
              <a:p>
                <a:pPr>
                  <a:buNone/>
                </a:pPr>
                <a14:m>
                  <m:oMathPara xmlns:m="http://schemas.openxmlformats.org/officeDocument/2006/math">
                    <m:oMath>
                      <m:borderBox>
                        <m:borderBoxPr>
                          <m:ctrlPr>
                            <a:rPr lang="en-NL" b="0" i="1">
                              <a:latin typeface="+mn-lt"/>
                            </a:rPr>
                          </m:ctrlPr>
                        </m:borderBoxPr>
                        <m:e>
                          <m:m>
                            <m:mPr>
                              <m:plcHide m:val="on"/>
                              <m:mcs>
                                <m:mc>
                                  <m:mcPr>
                                    <m:count m:val="1"/>
                                    <m:mcJc m:val="center"/>
                                  </m:mcPr>
                                </m:mc>
                              </m:mcs>
                              <m:ctrlPr>
                                <a:rPr lang="en-NL" b="0" i="1">
                                  <a:latin typeface="+mn-lt"/>
                                </a:rPr>
                              </m:ctrlPr>
                            </m:mPr>
                            <m:mr>
                              <m:e>
                                <m:r>
                                  <m:rPr>
                                    <m:nor/>
                                  </m:rPr>
                                  <a:rPr lang="en-NL" b="0" i="0"/>
                                  <m:t>trainable SUBNET encoder at every segment</m:t>
                                </m:r>
                              </m:e>
                            </m:mr>
                            <m:mr>
                              <m:e>
                                <m:r>
                                  <a:rPr lang="en-NL" b="0" i="0">
                                    <a:latin typeface="+mn-lt"/>
                                  </a:rPr>
                                  <m:t>+</m:t>
                                </m:r>
                              </m:e>
                            </m:mr>
                            <m:mr>
                              <m:e>
                                <m:r>
                                  <m:rPr>
                                    <m:nor/>
                                  </m:rPr>
                                  <a:rPr lang="en-NL" b="0" i="0">
                                    <a:latin typeface="+mn-lt"/>
                                  </a:rPr>
                                  <m:t>short, computationally feasible BPTT</m:t>
                                </m:r>
                              </m:e>
                            </m:mr>
                            <m:mr>
                              <m:e>
                                <m:r>
                                  <a:rPr lang="en-NL" b="0" i="0">
                                    <a:latin typeface="+mn-lt"/>
                                  </a:rPr>
                                  <m:t>+</m:t>
                                </m:r>
                              </m:e>
                            </m:mr>
                            <m:mr>
                              <m:e>
                                <m:r>
                                  <m:rPr>
                                    <m:nor/>
                                  </m:rPr>
                                  <a:rPr lang="en-NL" b="0" i="0">
                                    <a:latin typeface="+mn-lt"/>
                                  </a:rPr>
                                  <m:t>overlapping/stride−based data efficiency</m:t>
                                </m:r>
                              </m:e>
                            </m:mr>
                            <m:mr>
                              <m:e>
                                <m:r>
                                  <a:rPr lang="en-NL" b="0" i="0">
                                    <a:latin typeface="+mn-lt"/>
                                  </a:rPr>
                                  <m:t>+</m:t>
                                </m:r>
                              </m:e>
                            </m:mr>
                            <m:mr>
                              <m:e>
                                <m:r>
                                  <m:rPr>
                                    <m:nor/>
                                  </m:rPr>
                                  <a:rPr lang="en-NL" b="0" i="0">
                                    <a:latin typeface="+mn-lt"/>
                                  </a:rPr>
                                  <m:t>latent dynamic LFR augmentation</m:t>
                                </m:r>
                              </m:e>
                            </m:mr>
                            <m:mr>
                              <m:e>
                                <m:r>
                                  <a:rPr lang="en-NL" b="0" i="0">
                                    <a:latin typeface="+mn-lt"/>
                                  </a:rPr>
                                  <m:t>+</m:t>
                                </m:r>
                              </m:e>
                            </m:mr>
                            <m:mr>
                              <m:e>
                                <m:r>
                                  <m:rPr>
                                    <m:nor/>
                                  </m:rPr>
                                  <a:rPr lang="en-NL" b="0" i="0">
                                    <a:latin typeface="+mn-lt"/>
                                  </a:rPr>
                                  <m:t>long−horizon dynamical information</m:t>
                                </m:r>
                              </m:e>
                            </m:mr>
                            <m:mr>
                              <m:e>
                                <m:r>
                                  <a:rPr lang="en-NL" b="0" i="0">
                                    <a:latin typeface="+mn-lt"/>
                                  </a:rPr>
                                  <m:t>+</m:t>
                                </m:r>
                              </m:e>
                            </m:mr>
                            <m:mr>
                              <m:e>
                                <m:r>
                                  <m:rPr>
                                    <m:nor/>
                                  </m:rPr>
                                  <a:rPr lang="en-NL" b="0" i="0">
                                    <a:latin typeface="+mn-lt"/>
                                  </a:rPr>
                                  <m:t>no controller−assisted cheating</m:t>
                                </m:r>
                              </m:e>
                            </m:mr>
                          </m:m>
                        </m:e>
                      </m:borderBox>
                    </m:oMath>
                  </m:oMathPara>
                </a14:m>
                <a:endParaRPr lang="en-NL" b="0" dirty="0"/>
              </a:p>
              <a:p>
                <a:pPr>
                  <a:buNone/>
                </a:pPr>
                <a:r>
                  <a:rPr lang="en-NL" dirty="0"/>
                  <a:t>That is the constraint set I should use when judging any method from here onward.</a:t>
                </a:r>
              </a:p>
            </p:txBody>
          </p:sp>
        </mc:Choice>
        <mc:Fallback>
          <p:sp>
            <p:nvSpPr>
              <p:cNvPr id="5" name="TextBox 4">
                <a:extLst>
                  <a:ext uri="{FF2B5EF4-FFF2-40B4-BE49-F238E27FC236}">
                    <a16:creationId xmlns:a16="http://schemas.microsoft.com/office/drawing/2014/main" id="{E720AAF7-F332-2C73-C99A-CF2E5D7CB7D9}"/>
                  </a:ext>
                </a:extLst>
              </p:cNvPr>
              <p:cNvSpPr txBox="1">
                <a:spLocks noRot="1" noChangeAspect="1" noMove="1" noResize="1" noEditPoints="1" noAdjustHandles="1" noChangeArrowheads="1" noChangeShapeType="1" noTextEdit="1"/>
              </p:cNvSpPr>
              <p:nvPr/>
            </p:nvSpPr>
            <p:spPr>
              <a:xfrm>
                <a:off x="3047036" y="-6247103"/>
                <a:ext cx="6094070" cy="19357992"/>
              </a:xfrm>
              <a:prstGeom prst="rect">
                <a:avLst/>
              </a:prstGeom>
              <a:blipFill>
                <a:blip r:embed="rId2"/>
                <a:stretch>
                  <a:fillRect l="-900" t="-126" r="-1200"/>
                </a:stretch>
              </a:blipFill>
            </p:spPr>
            <p:txBody>
              <a:bodyPr/>
              <a:lstStyle/>
              <a:p>
                <a:r>
                  <a:rPr lang="en-NL">
                    <a:noFill/>
                  </a:rPr>
                  <a:t> </a:t>
                </a:r>
              </a:p>
            </p:txBody>
          </p:sp>
        </mc:Fallback>
      </mc:AlternateContent>
    </p:spTree>
    <p:extLst>
      <p:ext uri="{BB962C8B-B14F-4D97-AF65-F5344CB8AC3E}">
        <p14:creationId xmlns:p14="http://schemas.microsoft.com/office/powerpoint/2010/main" val="740024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1A3F7-194B-B21C-8824-72F6054BAB04}"/>
              </a:ext>
            </a:extLst>
          </p:cNvPr>
          <p:cNvSpPr>
            <a:spLocks noGrp="1"/>
          </p:cNvSpPr>
          <p:nvPr>
            <p:ph type="title"/>
          </p:nvPr>
        </p:nvSpPr>
        <p:spPr/>
        <p:txBody>
          <a:bodyPr/>
          <a:lstStyle/>
          <a:p>
            <a:endParaRPr lang="en-NL"/>
          </a:p>
        </p:txBody>
      </p:sp>
      <p:graphicFrame>
        <p:nvGraphicFramePr>
          <p:cNvPr id="4" name="Content Placeholder 3">
            <a:extLst>
              <a:ext uri="{FF2B5EF4-FFF2-40B4-BE49-F238E27FC236}">
                <a16:creationId xmlns:a16="http://schemas.microsoft.com/office/drawing/2014/main" id="{85A96744-112D-930F-41B6-C0A46A391308}"/>
              </a:ext>
            </a:extLst>
          </p:cNvPr>
          <p:cNvGraphicFramePr>
            <a:graphicFrameLocks noGrp="1"/>
          </p:cNvGraphicFramePr>
          <p:nvPr>
            <p:ph idx="1"/>
          </p:nvPr>
        </p:nvGraphicFramePr>
        <p:xfrm>
          <a:off x="3862056" y="1607110"/>
          <a:ext cx="4467888" cy="4788368"/>
        </p:xfrm>
        <a:graphic>
          <a:graphicData uri="http://schemas.openxmlformats.org/drawingml/2006/table">
            <a:tbl>
              <a:tblPr>
                <a:tableStyleId>{5C22544A-7EE6-4342-B048-85BDC9FD1C3A}</a:tableStyleId>
              </a:tblPr>
              <a:tblGrid>
                <a:gridCol w="558486">
                  <a:extLst>
                    <a:ext uri="{9D8B030D-6E8A-4147-A177-3AD203B41FA5}">
                      <a16:colId xmlns:a16="http://schemas.microsoft.com/office/drawing/2014/main" val="1219739839"/>
                    </a:ext>
                  </a:extLst>
                </a:gridCol>
                <a:gridCol w="558486">
                  <a:extLst>
                    <a:ext uri="{9D8B030D-6E8A-4147-A177-3AD203B41FA5}">
                      <a16:colId xmlns:a16="http://schemas.microsoft.com/office/drawing/2014/main" val="4156051467"/>
                    </a:ext>
                  </a:extLst>
                </a:gridCol>
                <a:gridCol w="558486">
                  <a:extLst>
                    <a:ext uri="{9D8B030D-6E8A-4147-A177-3AD203B41FA5}">
                      <a16:colId xmlns:a16="http://schemas.microsoft.com/office/drawing/2014/main" val="2494228759"/>
                    </a:ext>
                  </a:extLst>
                </a:gridCol>
                <a:gridCol w="558486">
                  <a:extLst>
                    <a:ext uri="{9D8B030D-6E8A-4147-A177-3AD203B41FA5}">
                      <a16:colId xmlns:a16="http://schemas.microsoft.com/office/drawing/2014/main" val="1483019415"/>
                    </a:ext>
                  </a:extLst>
                </a:gridCol>
                <a:gridCol w="558486">
                  <a:extLst>
                    <a:ext uri="{9D8B030D-6E8A-4147-A177-3AD203B41FA5}">
                      <a16:colId xmlns:a16="http://schemas.microsoft.com/office/drawing/2014/main" val="3260323448"/>
                    </a:ext>
                  </a:extLst>
                </a:gridCol>
                <a:gridCol w="558486">
                  <a:extLst>
                    <a:ext uri="{9D8B030D-6E8A-4147-A177-3AD203B41FA5}">
                      <a16:colId xmlns:a16="http://schemas.microsoft.com/office/drawing/2014/main" val="3785867669"/>
                    </a:ext>
                  </a:extLst>
                </a:gridCol>
                <a:gridCol w="558486">
                  <a:extLst>
                    <a:ext uri="{9D8B030D-6E8A-4147-A177-3AD203B41FA5}">
                      <a16:colId xmlns:a16="http://schemas.microsoft.com/office/drawing/2014/main" val="3451443367"/>
                    </a:ext>
                  </a:extLst>
                </a:gridCol>
                <a:gridCol w="558486">
                  <a:extLst>
                    <a:ext uri="{9D8B030D-6E8A-4147-A177-3AD203B41FA5}">
                      <a16:colId xmlns:a16="http://schemas.microsoft.com/office/drawing/2014/main" val="1222174751"/>
                    </a:ext>
                  </a:extLst>
                </a:gridCol>
              </a:tblGrid>
              <a:tr h="621620">
                <a:tc>
                  <a:txBody>
                    <a:bodyPr/>
                    <a:lstStyle/>
                    <a:p>
                      <a:pPr>
                        <a:buNone/>
                      </a:pPr>
                      <a:r>
                        <a:rPr lang="en-NL" sz="800"/>
                        <a:t>Method</a:t>
                      </a:r>
                    </a:p>
                  </a:txBody>
                  <a:tcPr marL="38851" marR="38851" marT="19426" marB="19426" anchor="ctr"/>
                </a:tc>
                <a:tc>
                  <a:txBody>
                    <a:bodyPr/>
                    <a:lstStyle/>
                    <a:p>
                      <a:pPr>
                        <a:buNone/>
                      </a:pPr>
                      <a:r>
                        <a:rPr lang="en-NL" sz="800"/>
                        <a:t>Long effective horizon with short BPTT?</a:t>
                      </a:r>
                    </a:p>
                  </a:txBody>
                  <a:tcPr marL="38851" marR="38851" marT="19426" marB="19426" anchor="ctr"/>
                </a:tc>
                <a:tc>
                  <a:txBody>
                    <a:bodyPr/>
                    <a:lstStyle/>
                    <a:p>
                      <a:pPr>
                        <a:buNone/>
                      </a:pPr>
                      <a:r>
                        <a:rPr lang="en-NL" sz="800"/>
                        <a:t>Keeps trained encoder?</a:t>
                      </a:r>
                    </a:p>
                  </a:txBody>
                  <a:tcPr marL="38851" marR="38851" marT="19426" marB="19426" anchor="ctr"/>
                </a:tc>
                <a:tc>
                  <a:txBody>
                    <a:bodyPr/>
                    <a:lstStyle/>
                    <a:p>
                      <a:pPr>
                        <a:buNone/>
                      </a:pPr>
                      <a:r>
                        <a:rPr lang="en-NL" sz="800"/>
                        <a:t>Works with latent states?</a:t>
                      </a:r>
                    </a:p>
                  </a:txBody>
                  <a:tcPr marL="38851" marR="38851" marT="19426" marB="19426" anchor="ctr"/>
                </a:tc>
                <a:tc>
                  <a:txBody>
                    <a:bodyPr/>
                    <a:lstStyle/>
                    <a:p>
                      <a:pPr>
                        <a:buNone/>
                      </a:pPr>
                      <a:r>
                        <a:rPr lang="en-NL" sz="800"/>
                        <a:t>Keeps overlapping windows?</a:t>
                      </a:r>
                    </a:p>
                  </a:txBody>
                  <a:tcPr marL="38851" marR="38851" marT="19426" marB="19426" anchor="ctr"/>
                </a:tc>
                <a:tc>
                  <a:txBody>
                    <a:bodyPr/>
                    <a:lstStyle/>
                    <a:p>
                      <a:pPr>
                        <a:buNone/>
                      </a:pPr>
                      <a:r>
                        <a:rPr lang="en-NL" sz="800"/>
                        <a:t>Prevents controller masking?</a:t>
                      </a:r>
                    </a:p>
                  </a:txBody>
                  <a:tcPr marL="38851" marR="38851" marT="19426" marB="19426" anchor="ctr"/>
                </a:tc>
                <a:tc>
                  <a:txBody>
                    <a:bodyPr/>
                    <a:lstStyle/>
                    <a:p>
                      <a:pPr>
                        <a:buNone/>
                      </a:pPr>
                      <a:r>
                        <a:rPr lang="en-NL" sz="800" dirty="0"/>
                        <a:t>Literature support</a:t>
                      </a:r>
                    </a:p>
                  </a:txBody>
                  <a:tcPr marL="38851" marR="38851" marT="19426" marB="19426" anchor="ctr"/>
                </a:tc>
                <a:tc>
                  <a:txBody>
                    <a:bodyPr/>
                    <a:lstStyle/>
                    <a:p>
                      <a:pPr>
                        <a:buNone/>
                      </a:pPr>
                      <a:r>
                        <a:rPr lang="en-NL" sz="800"/>
                        <a:t>Main unresolved risk</a:t>
                      </a:r>
                    </a:p>
                  </a:txBody>
                  <a:tcPr marL="38851" marR="38851" marT="19426" marB="19426" anchor="ctr"/>
                </a:tc>
                <a:extLst>
                  <a:ext uri="{0D108BD9-81ED-4DB2-BD59-A6C34878D82A}">
                    <a16:rowId xmlns:a16="http://schemas.microsoft.com/office/drawing/2014/main" val="601890033"/>
                  </a:ext>
                </a:extLst>
              </a:tr>
              <a:tr h="1320942">
                <a:tc>
                  <a:txBody>
                    <a:bodyPr/>
                    <a:lstStyle/>
                    <a:p>
                      <a:pPr>
                        <a:buNone/>
                      </a:pPr>
                      <a:r>
                        <a:rPr lang="en-NL" sz="800"/>
                        <a:t>R1 Frequency-weighted / prefiltered SUBNET loss (+ $S^{-1}$ weighting or no controller)</a:t>
                      </a:r>
                    </a:p>
                  </a:txBody>
                  <a:tcPr marL="38851" marR="38851" marT="19426" marB="19426" anchor="ctr"/>
                </a:tc>
                <a:tc>
                  <a:txBody>
                    <a:bodyPr/>
                    <a:lstStyle/>
                    <a:p>
                      <a:pPr>
                        <a:buNone/>
                      </a:pPr>
                      <a:r>
                        <a:rPr lang="en-NL" sz="800"/>
                        <a:t>Yes, via spectral weighting rather than horizon</a:t>
                      </a:r>
                    </a:p>
                  </a:txBody>
                  <a:tcPr marL="38851" marR="38851" marT="19426" marB="19426" anchor="ctr"/>
                </a:tc>
                <a:tc>
                  <a:txBody>
                    <a:bodyPr/>
                    <a:lstStyle/>
                    <a:p>
                      <a:pPr>
                        <a:buNone/>
                      </a:pPr>
                      <a:r>
                        <a:rPr lang="en-NL" sz="800"/>
                        <a:t>Yes, unchanged</a:t>
                      </a:r>
                    </a:p>
                  </a:txBody>
                  <a:tcPr marL="38851" marR="38851" marT="19426" marB="19426" anchor="ctr"/>
                </a:tc>
                <a:tc>
                  <a:txBody>
                    <a:bodyPr/>
                    <a:lstStyle/>
                    <a:p>
                      <a:pPr>
                        <a:buNone/>
                      </a:pPr>
                      <a:r>
                        <a:rPr lang="en-NL" sz="800"/>
                        <a:t>Yes, no latent targets needed</a:t>
                      </a:r>
                    </a:p>
                  </a:txBody>
                  <a:tcPr marL="38851" marR="38851" marT="19426" marB="19426" anchor="ctr"/>
                </a:tc>
                <a:tc>
                  <a:txBody>
                    <a:bodyPr/>
                    <a:lstStyle/>
                    <a:p>
                      <a:pPr>
                        <a:buNone/>
                      </a:pPr>
                      <a:r>
                        <a:rPr lang="en-NL" sz="800"/>
                        <a:t>Yes</a:t>
                      </a:r>
                    </a:p>
                  </a:txBody>
                  <a:tcPr marL="38851" marR="38851" marT="19426" marB="19426" anchor="ctr"/>
                </a:tc>
                <a:tc>
                  <a:txBody>
                    <a:bodyPr/>
                    <a:lstStyle/>
                    <a:p>
                      <a:pPr>
                        <a:buNone/>
                      </a:pPr>
                      <a:r>
                        <a:rPr lang="en-NL" sz="800"/>
                        <a:t>Yes, $L = I + G_\theta K$ inverts the loop exactly in the linearized case</a:t>
                      </a:r>
                    </a:p>
                  </a:txBody>
                  <a:tcPr marL="38851" marR="38851" marT="19426" marB="19426" anchor="ctr"/>
                </a:tc>
                <a:tc>
                  <a:txBody>
                    <a:bodyPr/>
                    <a:lstStyle/>
                    <a:p>
                      <a:pPr>
                        <a:buNone/>
                      </a:pPr>
                      <a:r>
                        <a:rPr lang="en-NL" sz="800"/>
                        <a:t>Very strong (Ljung Ch. 8/14; Forssell &amp; Ljung 1999); classical, uncontroversial</a:t>
                      </a:r>
                    </a:p>
                  </a:txBody>
                  <a:tcPr marL="38851" marR="38851" marT="19426" marB="19426" anchor="ctr"/>
                </a:tc>
                <a:tc>
                  <a:txBody>
                    <a:bodyPr/>
                    <a:lstStyle/>
                    <a:p>
                      <a:pPr>
                        <a:buNone/>
                      </a:pPr>
                      <a:r>
                        <a:rPr lang="en-NL" sz="800"/>
                        <a:t>Cannot exceed the information in one window: needs $n_f T_s \gtrsim$ one period of the slow mode</a:t>
                      </a:r>
                    </a:p>
                  </a:txBody>
                  <a:tcPr marL="38851" marR="38851" marT="19426" marB="19426" anchor="ctr"/>
                </a:tc>
                <a:extLst>
                  <a:ext uri="{0D108BD9-81ED-4DB2-BD59-A6C34878D82A}">
                    <a16:rowId xmlns:a16="http://schemas.microsoft.com/office/drawing/2014/main" val="4225933906"/>
                  </a:ext>
                </a:extLst>
              </a:tr>
              <a:tr h="1204388">
                <a:tc>
                  <a:txBody>
                    <a:bodyPr/>
                    <a:lstStyle/>
                    <a:p>
                      <a:pPr>
                        <a:buNone/>
                      </a:pPr>
                      <a:r>
                        <a:rPr lang="en-NL" sz="800"/>
                        <a:t>R2 Local-FRF / BLA matching on the LFR linearization</a:t>
                      </a:r>
                    </a:p>
                  </a:txBody>
                  <a:tcPr marL="38851" marR="38851" marT="19426" marB="19426" anchor="ctr"/>
                </a:tc>
                <a:tc>
                  <a:txBody>
                    <a:bodyPr/>
                    <a:lstStyle/>
                    <a:p>
                      <a:pPr>
                        <a:buNone/>
                      </a:pPr>
                      <a:r>
                        <a:rPr lang="en-NL" sz="800"/>
                        <a:t>Yes, zero BPTT; a 1 s constant is a 1 rad/s feature</a:t>
                      </a:r>
                    </a:p>
                  </a:txBody>
                  <a:tcPr marL="38851" marR="38851" marT="19426" marB="19426" anchor="ctr"/>
                </a:tc>
                <a:tc>
                  <a:txBody>
                    <a:bodyPr/>
                    <a:lstStyle/>
                    <a:p>
                      <a:pPr>
                        <a:buNone/>
                      </a:pPr>
                      <a:r>
                        <a:rPr lang="en-NL" sz="800"/>
                        <a:t>Yes, orthogonal to it</a:t>
                      </a:r>
                    </a:p>
                  </a:txBody>
                  <a:tcPr marL="38851" marR="38851" marT="19426" marB="19426" anchor="ctr"/>
                </a:tc>
                <a:tc>
                  <a:txBody>
                    <a:bodyPr/>
                    <a:lstStyle/>
                    <a:p>
                      <a:pPr>
                        <a:buNone/>
                      </a:pPr>
                      <a:r>
                        <a:rPr lang="en-NL" sz="800"/>
                        <a:t>Yes, supervises $A_\mathrm{aug}$ spectrum, not $h_\mathrm{aug}$ values</a:t>
                      </a:r>
                    </a:p>
                  </a:txBody>
                  <a:tcPr marL="38851" marR="38851" marT="19426" marB="19426" anchor="ctr"/>
                </a:tc>
                <a:tc>
                  <a:txBody>
                    <a:bodyPr/>
                    <a:lstStyle/>
                    <a:p>
                      <a:pPr>
                        <a:buNone/>
                      </a:pPr>
                      <a:r>
                        <a:rPr lang="en-NL" sz="800"/>
                        <a:t>Yes</a:t>
                      </a:r>
                    </a:p>
                  </a:txBody>
                  <a:tcPr marL="38851" marR="38851" marT="19426" marB="19426" anchor="ctr"/>
                </a:tc>
                <a:tc>
                  <a:txBody>
                    <a:bodyPr/>
                    <a:lstStyle/>
                    <a:p>
                      <a:pPr>
                        <a:buNone/>
                      </a:pPr>
                      <a:r>
                        <a:rPr lang="en-NL" sz="800"/>
                        <a:t>Yes, no rollout to corrupt</a:t>
                      </a:r>
                    </a:p>
                  </a:txBody>
                  <a:tcPr marL="38851" marR="38851" marT="19426" marB="19426" anchor="ctr"/>
                </a:tc>
                <a:tc>
                  <a:txBody>
                    <a:bodyPr/>
                    <a:lstStyle/>
                    <a:p>
                      <a:pPr>
                        <a:buNone/>
                      </a:pPr>
                      <a:r>
                        <a:rPr lang="en-NL" sz="800"/>
                        <a:t>Strong, and in your supervisors' own line (Schoukens &amp; Tóth 2020 on LFR + BLA)</a:t>
                      </a:r>
                    </a:p>
                  </a:txBody>
                  <a:tcPr marL="38851" marR="38851" marT="19426" marB="19426" anchor="ctr"/>
                </a:tc>
                <a:tc>
                  <a:txBody>
                    <a:bodyPr/>
                    <a:lstStyle/>
                    <a:p>
                      <a:pPr>
                        <a:buNone/>
                      </a:pPr>
                      <a:r>
                        <a:rPr lang="en-NL" sz="800"/>
                        <a:t>Requires low-frequency excitation at usable operating points; hardware was relocated</a:t>
                      </a:r>
                    </a:p>
                  </a:txBody>
                  <a:tcPr marL="38851" marR="38851" marT="19426" marB="19426" anchor="ctr"/>
                </a:tc>
                <a:extLst>
                  <a:ext uri="{0D108BD9-81ED-4DB2-BD59-A6C34878D82A}">
                    <a16:rowId xmlns:a16="http://schemas.microsoft.com/office/drawing/2014/main" val="467873341"/>
                  </a:ext>
                </a:extLst>
              </a:tr>
              <a:tr h="1204388">
                <a:tc>
                  <a:txBody>
                    <a:bodyPr/>
                    <a:lstStyle/>
                    <a:p>
                      <a:pPr>
                        <a:buNone/>
                      </a:pPr>
                      <a:r>
                        <a:rPr lang="en-NL" sz="800"/>
                        <a:t>R3 Boundary-corrected encoder shooting + augmented Lagrangian</a:t>
                      </a:r>
                    </a:p>
                  </a:txBody>
                  <a:tcPr marL="38851" marR="38851" marT="19426" marB="19426" anchor="ctr"/>
                </a:tc>
                <a:tc>
                  <a:txBody>
                    <a:bodyPr/>
                    <a:lstStyle/>
                    <a:p>
                      <a:pPr>
                        <a:buNone/>
                      </a:pPr>
                      <a:r>
                        <a:rPr lang="en-NL" sz="800"/>
                        <a:t>Partially; only if $\Delta_i$ are free so multipliers chain</a:t>
                      </a:r>
                    </a:p>
                  </a:txBody>
                  <a:tcPr marL="38851" marR="38851" marT="19426" marB="19426" anchor="ctr"/>
                </a:tc>
                <a:tc>
                  <a:txBody>
                    <a:bodyPr/>
                    <a:lstStyle/>
                    <a:p>
                      <a:pPr>
                        <a:buNone/>
                      </a:pPr>
                      <a:r>
                        <a:rPr lang="en-NL" sz="800"/>
                        <a:t>Yes, as anchor and initializer</a:t>
                      </a:r>
                    </a:p>
                  </a:txBody>
                  <a:tcPr marL="38851" marR="38851" marT="19426" marB="19426" anchor="ctr"/>
                </a:tc>
                <a:tc>
                  <a:txBody>
                    <a:bodyPr/>
                    <a:lstStyle/>
                    <a:p>
                      <a:pPr>
                        <a:buNone/>
                      </a:pPr>
                      <a:r>
                        <a:rPr lang="en-NL" sz="800"/>
                        <a:t>Yes, with latent scale pinned</a:t>
                      </a:r>
                    </a:p>
                  </a:txBody>
                  <a:tcPr marL="38851" marR="38851" marT="19426" marB="19426" anchor="ctr"/>
                </a:tc>
                <a:tc>
                  <a:txBody>
                    <a:bodyPr/>
                    <a:lstStyle/>
                    <a:p>
                      <a:pPr>
                        <a:buNone/>
                      </a:pPr>
                      <a:r>
                        <a:rPr lang="en-NL" sz="800"/>
                        <a:t>Yes, boundaries decoupled from windows</a:t>
                      </a:r>
                    </a:p>
                  </a:txBody>
                  <a:tcPr marL="38851" marR="38851" marT="19426" marB="19426" anchor="ctr"/>
                </a:tc>
                <a:tc>
                  <a:txBody>
                    <a:bodyPr/>
                    <a:lstStyle/>
                    <a:p>
                      <a:pPr>
                        <a:buNone/>
                      </a:pPr>
                      <a:r>
                        <a:rPr lang="en-NL" sz="800"/>
                        <a:t>Only if controller removed</a:t>
                      </a:r>
                    </a:p>
                  </a:txBody>
                  <a:tcPr marL="38851" marR="38851" marT="19426" marB="19426" anchor="ctr"/>
                </a:tc>
                <a:tc>
                  <a:txBody>
                    <a:bodyPr/>
                    <a:lstStyle/>
                    <a:p>
                      <a:pPr>
                        <a:buNone/>
                      </a:pPr>
                      <a:r>
                        <a:rPr lang="en-NL" sz="800"/>
                        <a:t>Moderate (Bock &amp; Plitt; Turan &amp; Jäschke; Iakovlev)</a:t>
                      </a:r>
                    </a:p>
                  </a:txBody>
                  <a:tcPr marL="38851" marR="38851" marT="19426" marB="19426" anchor="ctr"/>
                </a:tc>
                <a:tc>
                  <a:txBody>
                    <a:bodyPr/>
                    <a:lstStyle/>
                    <a:p>
                      <a:pPr>
                        <a:buNone/>
                      </a:pPr>
                      <a:r>
                        <a:rPr lang="en-NL" sz="800" dirty="0"/>
                        <a:t>The consistent-hallucination manifold of Q3; AL tuning; highest implementation risk</a:t>
                      </a:r>
                    </a:p>
                  </a:txBody>
                  <a:tcPr marL="38851" marR="38851" marT="19426" marB="19426" anchor="ctr"/>
                </a:tc>
                <a:extLst>
                  <a:ext uri="{0D108BD9-81ED-4DB2-BD59-A6C34878D82A}">
                    <a16:rowId xmlns:a16="http://schemas.microsoft.com/office/drawing/2014/main" val="1244044595"/>
                  </a:ext>
                </a:extLst>
              </a:tr>
            </a:tbl>
          </a:graphicData>
        </a:graphic>
      </p:graphicFrame>
      <p:sp>
        <p:nvSpPr>
          <p:cNvPr id="6" name="TextBox 5">
            <a:extLst>
              <a:ext uri="{FF2B5EF4-FFF2-40B4-BE49-F238E27FC236}">
                <a16:creationId xmlns:a16="http://schemas.microsoft.com/office/drawing/2014/main" id="{1E6312A9-43F0-984A-0CD4-10E0B5810359}"/>
              </a:ext>
            </a:extLst>
          </p:cNvPr>
          <p:cNvSpPr txBox="1"/>
          <p:nvPr/>
        </p:nvSpPr>
        <p:spPr>
          <a:xfrm>
            <a:off x="8707056" y="-56281214"/>
            <a:ext cx="6094070" cy="121694853"/>
          </a:xfrm>
          <a:prstGeom prst="rect">
            <a:avLst/>
          </a:prstGeom>
          <a:noFill/>
        </p:spPr>
        <p:txBody>
          <a:bodyPr wrap="square">
            <a:spAutoFit/>
          </a:bodyPr>
          <a:lstStyle/>
          <a:p>
            <a:pPr>
              <a:buNone/>
            </a:pPr>
            <a:r>
              <a:rPr lang="en-NL" dirty="0"/>
              <a:t>Before the literature: two numbers in your setup decide most of this, and I'd want them stated explicitly in the thesis.</a:t>
            </a:r>
          </a:p>
          <a:p>
            <a:pPr>
              <a:buNone/>
            </a:pPr>
            <a:r>
              <a:rPr lang="en-NL" b="1" dirty="0"/>
              <a:t>(</a:t>
            </a:r>
            <a:r>
              <a:rPr lang="en-NL" b="1" dirty="0" err="1"/>
              <a:t>i</a:t>
            </a:r>
            <a:r>
              <a:rPr lang="en-NL" b="1" dirty="0"/>
              <a:t>) What is $</a:t>
            </a:r>
            <a:r>
              <a:rPr lang="en-NL" b="1" dirty="0" err="1"/>
              <a:t>n_f</a:t>
            </a:r>
            <a:r>
              <a:rPr lang="en-NL" b="1" dirty="0"/>
              <a:t> = 1600$ in seconds?</a:t>
            </a:r>
            <a:r>
              <a:rPr lang="en-NL" dirty="0"/>
              <a:t> On a gantry stage sampled at 10 kHz that is 160 </a:t>
            </a:r>
            <a:r>
              <a:rPr lang="en-NL" dirty="0" err="1"/>
              <a:t>ms</a:t>
            </a:r>
            <a:r>
              <a:rPr lang="en-NL" dirty="0"/>
              <a:t>, i.e. you never actually tested the 1–4 s regime and the "increasing $</a:t>
            </a:r>
            <a:r>
              <a:rPr lang="en-NL" dirty="0" err="1"/>
              <a:t>n_f</a:t>
            </a:r>
            <a:r>
              <a:rPr lang="en-NL" dirty="0"/>
              <a:t>$ didn't help" evidence is not evidence about long horizons at all. At 1 kHz it is 1.6 s and the evidence is meaningful. </a:t>
            </a:r>
            <a:r>
              <a:rPr lang="en-NL" b="1" dirty="0"/>
              <a:t>(ii) What is the encoder history $</a:t>
            </a:r>
            <a:r>
              <a:rPr lang="en-NL" b="1" dirty="0" err="1"/>
              <a:t>H_i</a:t>
            </a:r>
            <a:r>
              <a:rPr lang="en-NL" b="1" dirty="0"/>
              <a:t>$ in seconds?</a:t>
            </a:r>
            <a:r>
              <a:rPr lang="en-NL" dirty="0"/>
              <a:t> If the slow augmented mode has a 1–4 s time constant and $</a:t>
            </a:r>
            <a:r>
              <a:rPr lang="en-NL" dirty="0" err="1"/>
              <a:t>H_i</a:t>
            </a:r>
            <a:r>
              <a:rPr lang="en-NL" dirty="0"/>
              <a:t>$ spans 5–50 </a:t>
            </a:r>
            <a:r>
              <a:rPr lang="en-NL" dirty="0" err="1"/>
              <a:t>ms</a:t>
            </a:r>
            <a:r>
              <a:rPr lang="en-NL" dirty="0"/>
              <a:t>, the </a:t>
            </a:r>
            <a:r>
              <a:rPr lang="en-NL" dirty="0" err="1"/>
              <a:t>reconstructability</a:t>
            </a:r>
            <a:r>
              <a:rPr lang="en-NL" dirty="0"/>
              <a:t> map you are asking $E_\phi$ to approximate is numerically singular in exactly the direction you care about, and no change to the loss horizon will fix it.</a:t>
            </a:r>
          </a:p>
          <a:p>
            <a:pPr>
              <a:buNone/>
            </a:pPr>
            <a:br>
              <a:rPr lang="en-NL" dirty="0"/>
            </a:br>
            <a:endParaRPr lang="en-NL" dirty="0"/>
          </a:p>
          <a:p>
            <a:pPr>
              <a:buNone/>
            </a:pPr>
            <a:r>
              <a:rPr lang="en-NL" b="1" dirty="0"/>
              <a:t>1. Diagnosis first</a:t>
            </a:r>
          </a:p>
          <a:p>
            <a:pPr>
              <a:buNone/>
            </a:pPr>
            <a:r>
              <a:rPr lang="en-NL" dirty="0"/>
              <a:t>There is a fifth mechanism you did not list, and I think it dominates.</a:t>
            </a:r>
          </a:p>
          <a:p>
            <a:pPr>
              <a:buNone/>
            </a:pPr>
            <a:r>
              <a:rPr lang="en-NL" b="1" dirty="0"/>
              <a:t>E. Criterion-level masking by the encoder itself.</a:t>
            </a:r>
            <a:r>
              <a:rPr lang="en-NL" dirty="0"/>
              <a:t> The controller is not the only thing resetting your model toward the data. The encoder is. SUBNET re-initializes $z_i^0 = E_\phi(</a:t>
            </a:r>
            <a:r>
              <a:rPr lang="en-NL" dirty="0" err="1"/>
              <a:t>H_i</a:t>
            </a:r>
            <a:r>
              <a:rPr lang="en-NL" dirty="0"/>
              <a:t>)$ at every subsection, which is structurally an observer reset every $</a:t>
            </a:r>
            <a:r>
              <a:rPr lang="en-NL" dirty="0" err="1"/>
              <a:t>n_f</a:t>
            </a:r>
            <a:r>
              <a:rPr lang="en-NL" dirty="0"/>
              <a:t>$ samples. A model that is right over 100–400 </a:t>
            </a:r>
            <a:r>
              <a:rPr lang="en-NL" dirty="0" err="1"/>
              <a:t>ms</a:t>
            </a:r>
            <a:r>
              <a:rPr lang="en-NL" dirty="0"/>
              <a:t> and wrong over 1–4 s can drive the SUBNET criterion to its noise floor, because the criterion never lets the wrong mode run. This is the nonlinear-state-space version of the classical observation that a criterion with output injection (one-step or short-horizon prediction error) selects different models than a simulation criterion, and that autoregressive/feedback terms let a structurally wrong model look good. </a:t>
            </a:r>
            <a:r>
              <a:rPr lang="en-NL" dirty="0" err="1"/>
              <a:t>Piroddi</a:t>
            </a:r>
            <a:r>
              <a:rPr lang="en-NL" dirty="0"/>
              <a:t> shows that one-step prediction-error minimisation can select incorrect or redundant structures, particularly when the data are not adequately exciting or are oversampled, and that a simulation-error criterion is the more effective alternative. Your controller experiment is a second, stronger instance of the same effect.</a:t>
            </a:r>
          </a:p>
          <a:p>
            <a:pPr>
              <a:buNone/>
            </a:pPr>
            <a:r>
              <a:rPr lang="en-NL" dirty="0"/>
              <a:t>Ranking the mechanisms for your case:</a:t>
            </a:r>
          </a:p>
          <a:p>
            <a:pPr marL="342900" lvl="0" indent="-342900">
              <a:buFont typeface="Arial" panose="020B0604020202020204" pitchFamily="34" charset="0"/>
              <a:buChar char="•"/>
            </a:pPr>
            <a:r>
              <a:rPr lang="en-NL" b="1" dirty="0"/>
              <a:t>A (optimization horizon).</a:t>
            </a:r>
            <a:r>
              <a:rPr lang="en-NL" dirty="0"/>
              <a:t> Unlikely to be the whole story, </a:t>
            </a:r>
            <a:r>
              <a:rPr lang="en-NL" i="1" dirty="0"/>
              <a:t>provided</a:t>
            </a:r>
            <a:r>
              <a:rPr lang="en-NL" dirty="0"/>
              <a:t> $</a:t>
            </a:r>
            <a:r>
              <a:rPr lang="en-NL" dirty="0" err="1"/>
              <a:t>n_f</a:t>
            </a:r>
            <a:r>
              <a:rPr lang="en-NL" dirty="0"/>
              <a:t>=1600$ was genuinely seconds. Ribeiro et al. show the loss Lipschitz constant can grow exponentially with the simulation interval length, so A is real, but A predicts "training becomes unstable/stuck", not "training converges nicely to a model with wrong slow dynamics".</a:t>
            </a:r>
          </a:p>
          <a:p>
            <a:pPr marL="342900" lvl="0" indent="-342900">
              <a:buFont typeface="Arial" panose="020B0604020202020204" pitchFamily="34" charset="0"/>
              <a:buChar char="•"/>
            </a:pPr>
            <a:r>
              <a:rPr lang="en-NL" b="1" dirty="0"/>
              <a:t>B (state reconstruction).</a:t>
            </a:r>
            <a:r>
              <a:rPr lang="en-NL" dirty="0"/>
              <a:t> High prior probability, cheap to test, and it is the one failure that </a:t>
            </a:r>
            <a:r>
              <a:rPr lang="en-NL" i="1" dirty="0"/>
              <a:t>cannot</a:t>
            </a:r>
            <a:r>
              <a:rPr lang="en-NL" dirty="0"/>
              <a:t> be repaired by any loss-side change. If $</a:t>
            </a:r>
            <a:r>
              <a:rPr lang="en-NL" dirty="0" err="1"/>
              <a:t>H_i</a:t>
            </a:r>
            <a:r>
              <a:rPr lang="en-NL" dirty="0"/>
              <a:t>$ does not span the slow time constant, $E_\phi$ returns an essentially arbitrary $h_\</a:t>
            </a:r>
            <a:r>
              <a:rPr lang="en-NL" dirty="0" err="1"/>
              <a:t>mathrm</a:t>
            </a:r>
            <a:r>
              <a:rPr lang="en-NL" dirty="0"/>
              <a:t>{</a:t>
            </a:r>
            <a:r>
              <a:rPr lang="en-NL" dirty="0" err="1"/>
              <a:t>aug</a:t>
            </a:r>
            <a:r>
              <a:rPr lang="en-NL" dirty="0"/>
              <a:t>}$, and the slow-mode parameters receive gradient dominated by encoder noise.</a:t>
            </a:r>
          </a:p>
          <a:p>
            <a:pPr marL="342900" lvl="0" indent="-342900">
              <a:buFont typeface="Arial" panose="020B0604020202020204" pitchFamily="34" charset="0"/>
              <a:buChar char="•"/>
            </a:pPr>
            <a:r>
              <a:rPr lang="en-NL" b="1" dirty="0"/>
              <a:t>C (supervision/information).</a:t>
            </a:r>
            <a:r>
              <a:rPr lang="en-NL" dirty="0"/>
              <a:t> High prior probability. Quantitatively: a slow-eigenvalue error $\delta$ with modal amplitude $a$ produces output deviation $\</a:t>
            </a:r>
            <a:r>
              <a:rPr lang="en-NL" dirty="0" err="1"/>
              <a:t>approx</a:t>
            </a:r>
            <a:r>
              <a:rPr lang="en-NL" dirty="0"/>
              <a:t> a,\</a:t>
            </a:r>
            <a:r>
              <a:rPr lang="en-NL" dirty="0" err="1"/>
              <a:t>delta,t</a:t>
            </a:r>
            <a:r>
              <a:rPr lang="en-NL" dirty="0"/>
              <a:t>$. Over a window $\</a:t>
            </a:r>
            <a:r>
              <a:rPr lang="en-NL" dirty="0" err="1"/>
              <a:t>tau_s</a:t>
            </a:r>
            <a:r>
              <a:rPr lang="en-NL" dirty="0"/>
              <a:t> = </a:t>
            </a:r>
            <a:r>
              <a:rPr lang="en-NL" dirty="0" err="1"/>
              <a:t>n_f</a:t>
            </a:r>
            <a:r>
              <a:rPr lang="en-NL" dirty="0"/>
              <a:t> </a:t>
            </a:r>
            <a:r>
              <a:rPr lang="en-NL" dirty="0" err="1"/>
              <a:t>T_s</a:t>
            </a:r>
            <a:r>
              <a:rPr lang="en-NL" dirty="0"/>
              <a:t>$ the signal energy is $\</a:t>
            </a:r>
            <a:r>
              <a:rPr lang="en-NL" dirty="0" err="1"/>
              <a:t>propto</a:t>
            </a:r>
            <a:r>
              <a:rPr lang="en-NL" dirty="0"/>
              <a:t> a^2\delta^2\tau_s^3$; over $T$ it is $\</a:t>
            </a:r>
            <a:r>
              <a:rPr lang="en-NL" dirty="0" err="1"/>
              <a:t>propto</a:t>
            </a:r>
            <a:r>
              <a:rPr lang="en-NL" dirty="0"/>
              <a:t> a^2\delta^2T^3$. Short windows suppress slow-mode information by $(\</a:t>
            </a:r>
            <a:r>
              <a:rPr lang="en-NL" dirty="0" err="1"/>
              <a:t>tau_s</a:t>
            </a:r>
            <a:r>
              <a:rPr lang="en-NL" dirty="0"/>
              <a:t>/T)^3$. With $\</a:t>
            </a:r>
            <a:r>
              <a:rPr lang="en-NL" dirty="0" err="1"/>
              <a:t>tau_s</a:t>
            </a:r>
            <a:r>
              <a:rPr lang="en-NL" dirty="0"/>
              <a:t> = 0.16$ s and $T = 4$ s that is $6\times10^{-5}$.</a:t>
            </a:r>
          </a:p>
          <a:p>
            <a:pPr marL="342900" lvl="0" indent="-342900">
              <a:buFont typeface="Arial" panose="020B0604020202020204" pitchFamily="34" charset="0"/>
              <a:buChar char="•"/>
            </a:pPr>
            <a:r>
              <a:rPr lang="en-NL" b="1" dirty="0"/>
              <a:t>D (structural identifiability).</a:t>
            </a:r>
            <a:r>
              <a:rPr lang="en-NL" dirty="0"/>
              <a:t> Plausible given your architecture history (the marginally-stable-Jacobian and zero-gradient-block episodes suggest the augmentation block's slow dynamics are weakly coupled to $y$). Test it directly rather than assuming it.</a:t>
            </a:r>
          </a:p>
          <a:p>
            <a:pPr>
              <a:buNone/>
            </a:pPr>
            <a:r>
              <a:rPr lang="en-NL" dirty="0"/>
              <a:t>The single most informative fact you already have: the model fits short windows well and drifts long-term </a:t>
            </a:r>
            <a:r>
              <a:rPr lang="en-NL" i="1" dirty="0"/>
              <a:t>reproducibly</a:t>
            </a:r>
            <a:r>
              <a:rPr lang="en-NL" dirty="0"/>
              <a:t>. That pattern is C/D, not A.</a:t>
            </a:r>
          </a:p>
          <a:p>
            <a:pPr>
              <a:buNone/>
            </a:pPr>
            <a:br>
              <a:rPr lang="en-NL" dirty="0"/>
            </a:br>
            <a:endParaRPr lang="en-NL" dirty="0"/>
          </a:p>
          <a:p>
            <a:pPr>
              <a:buNone/>
            </a:pPr>
            <a:r>
              <a:rPr lang="en-NL" b="1" dirty="0"/>
              <a:t>2. Your six multiple-shooting questions, answered</a:t>
            </a:r>
          </a:p>
          <a:p>
            <a:pPr>
              <a:buNone/>
            </a:pPr>
            <a:r>
              <a:rPr lang="en-NL" b="1" dirty="0"/>
              <a:t>Q1/Q2: does encoder-generated multiple shooting preserve what constrained MS provides? No, and the reason is exact.</a:t>
            </a:r>
            <a:endParaRPr lang="en-NL" dirty="0"/>
          </a:p>
          <a:p>
            <a:pPr>
              <a:buNone/>
            </a:pPr>
            <a:r>
              <a:rPr lang="en-NL" dirty="0"/>
              <a:t>In classical MS with </a:t>
            </a:r>
            <a:r>
              <a:rPr lang="en-NL" i="1" dirty="0"/>
              <a:t>free</a:t>
            </a:r>
            <a:r>
              <a:rPr lang="en-NL" dirty="0"/>
              <a:t> shooting variables $</a:t>
            </a:r>
            <a:r>
              <a:rPr lang="en-NL" dirty="0" err="1"/>
              <a:t>s_i</a:t>
            </a:r>
            <a:r>
              <a:rPr lang="en-NL" dirty="0"/>
              <a:t>$ and hard constraints $s_{i+1} = F_\theta^{</a:t>
            </a:r>
            <a:r>
              <a:rPr lang="en-NL" dirty="0" err="1"/>
              <a:t>N_s</a:t>
            </a:r>
            <a:r>
              <a:rPr lang="en-NL" dirty="0"/>
              <a:t>}(</a:t>
            </a:r>
            <a:r>
              <a:rPr lang="en-NL" dirty="0" err="1"/>
              <a:t>s_i</a:t>
            </a:r>
            <a:r>
              <a:rPr lang="en-NL" dirty="0"/>
              <a:t>)$, the </a:t>
            </a:r>
            <a:r>
              <a:rPr lang="en-NL" dirty="0" err="1"/>
              <a:t>Lagrangian</a:t>
            </a:r>
            <a:r>
              <a:rPr lang="en-NL" dirty="0"/>
              <a:t> stationarity condition in $</a:t>
            </a:r>
            <a:r>
              <a:rPr lang="en-NL" dirty="0" err="1"/>
              <a:t>s_i</a:t>
            </a:r>
            <a:r>
              <a:rPr lang="en-NL" dirty="0"/>
              <a:t>$ is</a:t>
            </a:r>
          </a:p>
          <a:p>
            <a:pPr>
              <a:buNone/>
            </a:pPr>
            <a:r>
              <a:rPr lang="en-NL" dirty="0"/>
              <a:t>$$ \</a:t>
            </a:r>
            <a:r>
              <a:rPr lang="en-NL" dirty="0" err="1"/>
              <a:t>lambda_i</a:t>
            </a:r>
            <a:r>
              <a:rPr lang="en-NL" dirty="0"/>
              <a:t> ;=; \frac{\partial \</a:t>
            </a:r>
            <a:r>
              <a:rPr lang="en-NL" dirty="0" err="1"/>
              <a:t>ell_i</a:t>
            </a:r>
            <a:r>
              <a:rPr lang="en-NL" dirty="0"/>
              <a:t>}{\partial </a:t>
            </a:r>
            <a:r>
              <a:rPr lang="en-NL" dirty="0" err="1"/>
              <a:t>s_i</a:t>
            </a:r>
            <a:r>
              <a:rPr lang="en-NL" dirty="0"/>
              <a:t>} + \</a:t>
            </a:r>
            <a:r>
              <a:rPr lang="en-NL" dirty="0" err="1"/>
              <a:t>Phi_i</a:t>
            </a:r>
            <a:r>
              <a:rPr lang="en-NL" dirty="0"/>
              <a:t>^\top \lambda_{i+1}, \</a:t>
            </a:r>
            <a:r>
              <a:rPr lang="en-NL" dirty="0" err="1"/>
              <a:t>qquad</a:t>
            </a:r>
            <a:r>
              <a:rPr lang="en-NL" dirty="0"/>
              <a:t> \</a:t>
            </a:r>
            <a:r>
              <a:rPr lang="en-NL" dirty="0" err="1"/>
              <a:t>Phi_i</a:t>
            </a:r>
            <a:r>
              <a:rPr lang="en-NL" dirty="0"/>
              <a:t> = \frac{\partial F_\theta^{</a:t>
            </a:r>
            <a:r>
              <a:rPr lang="en-NL" dirty="0" err="1"/>
              <a:t>N_s</a:t>
            </a:r>
            <a:r>
              <a:rPr lang="en-NL" dirty="0"/>
              <a:t>}}{\partial </a:t>
            </a:r>
            <a:r>
              <a:rPr lang="en-NL" dirty="0" err="1"/>
              <a:t>s_i</a:t>
            </a:r>
            <a:r>
              <a:rPr lang="en-NL" dirty="0"/>
              <a:t>}, $$</a:t>
            </a:r>
          </a:p>
          <a:p>
            <a:pPr>
              <a:buNone/>
            </a:pPr>
            <a:r>
              <a:rPr lang="en-NL" dirty="0"/>
              <a:t>and the parameter gradient is $\</a:t>
            </a:r>
            <a:r>
              <a:rPr lang="en-NL" dirty="0" err="1"/>
              <a:t>nabla</a:t>
            </a:r>
            <a:r>
              <a:rPr lang="en-NL" dirty="0"/>
              <a:t>_\theta L = \</a:t>
            </a:r>
            <a:r>
              <a:rPr lang="en-NL" dirty="0" err="1"/>
              <a:t>sum_i</a:t>
            </a:r>
            <a:r>
              <a:rPr lang="en-NL" dirty="0"/>
              <a:t> \big[\partial_\theta \</a:t>
            </a:r>
            <a:r>
              <a:rPr lang="en-NL" dirty="0" err="1"/>
              <a:t>ell_i</a:t>
            </a:r>
            <a:r>
              <a:rPr lang="en-NL" dirty="0"/>
              <a:t> + (\partial_\theta F^{</a:t>
            </a:r>
            <a:r>
              <a:rPr lang="en-NL" dirty="0" err="1"/>
              <a:t>N_s</a:t>
            </a:r>
            <a:r>
              <a:rPr lang="en-NL" dirty="0"/>
              <a:t>}</a:t>
            </a:r>
            <a:r>
              <a:rPr lang="en-NL" i="1" dirty="0" err="1"/>
              <a:t>i</a:t>
            </a:r>
            <a:r>
              <a:rPr lang="en-NL" i="1" dirty="0"/>
              <a:t>)^\top \lambda</a:t>
            </a:r>
            <a:r>
              <a:rPr lang="en-NL" dirty="0"/>
              <a:t>{i+1}\big]$. That multiplier recursion </a:t>
            </a:r>
            <a:r>
              <a:rPr lang="en-NL" b="1" dirty="0"/>
              <a:t>is</a:t>
            </a:r>
            <a:r>
              <a:rPr lang="en-NL" dirty="0"/>
              <a:t> the BPTT adjoint of the full-length trajectory. At a feasible KKT point the reduced gradient equals the long single-shooting gradient. This is the precise sense in which constrained MS buys long-horizon sensitivity with short graphs: the horizon lives in the multipliers, not in the computational graph.</a:t>
            </a:r>
          </a:p>
          <a:p>
            <a:pPr>
              <a:buNone/>
            </a:pPr>
            <a:r>
              <a:rPr lang="en-NL" dirty="0"/>
              <a:t>Substituting $</a:t>
            </a:r>
            <a:r>
              <a:rPr lang="en-NL" dirty="0" err="1"/>
              <a:t>s_i</a:t>
            </a:r>
            <a:r>
              <a:rPr lang="en-NL" dirty="0"/>
              <a:t> = E_\phi(</a:t>
            </a:r>
            <a:r>
              <a:rPr lang="en-NL" dirty="0" err="1"/>
              <a:t>H_i</a:t>
            </a:r>
            <a:r>
              <a:rPr lang="en-NL" dirty="0"/>
              <a:t>)$ destroys this. $E_\phi(H_{i+1})$ depends on data and $\phi$ only, so $\partial_\theta E_\phi(H_{i+1}) = 0$ and there is no backward recursion linking segment $</a:t>
            </a:r>
            <a:r>
              <a:rPr lang="en-NL" dirty="0" err="1"/>
              <a:t>i</a:t>
            </a:r>
            <a:r>
              <a:rPr lang="en-NL" dirty="0"/>
              <a:t>$ to segment $i+1$. The stationarity conditions in ${</a:t>
            </a:r>
            <a:r>
              <a:rPr lang="en-NL" dirty="0" err="1"/>
              <a:t>s_i</a:t>
            </a:r>
            <a:r>
              <a:rPr lang="en-NL" dirty="0"/>
              <a:t>}$ are replaced by one pooled condition on $\phi$. </a:t>
            </a:r>
            <a:r>
              <a:rPr lang="en-NL" b="1" dirty="0"/>
              <a:t>The effective dynamical horizon of an encoder-anchored defect term is $</a:t>
            </a:r>
            <a:r>
              <a:rPr lang="en-NL" b="1" dirty="0" err="1"/>
              <a:t>N_s</a:t>
            </a:r>
            <a:r>
              <a:rPr lang="en-NL" b="1" dirty="0"/>
              <a:t>$, full stop.</a:t>
            </a:r>
            <a:r>
              <a:rPr lang="en-NL" dirty="0"/>
              <a:t> What encoder-MS actually buys you is different and still worth having: supervision on the </a:t>
            </a:r>
            <a:r>
              <a:rPr lang="en-NL" i="1" dirty="0"/>
              <a:t>full state</a:t>
            </a:r>
            <a:r>
              <a:rPr lang="en-NL" dirty="0"/>
              <a:t>, including the unmeasured $h_\</a:t>
            </a:r>
            <a:r>
              <a:rPr lang="en-NL" dirty="0" err="1"/>
              <a:t>mathrm</a:t>
            </a:r>
            <a:r>
              <a:rPr lang="en-NL" dirty="0"/>
              <a:t>{</a:t>
            </a:r>
            <a:r>
              <a:rPr lang="en-NL" dirty="0" err="1"/>
              <a:t>aug</a:t>
            </a:r>
            <a:r>
              <a:rPr lang="en-NL" dirty="0"/>
              <a:t>}$, instead of supervision only through $C$. That is a state-space gain, not a horizon gain.</a:t>
            </a:r>
          </a:p>
          <a:p>
            <a:pPr>
              <a:buNone/>
            </a:pPr>
            <a:r>
              <a:rPr lang="en-NL" dirty="0"/>
              <a:t>Beintema is explicit that SUBNET is the encoder-based reformulation of MS: the subspace encoder estimates each section's initial state directly from past inputs and outputs so complexity does not grow with the number of sections, and unlike standard multiple shooting the formulation uses overlapping subsections, which is proven to increase data efficiency. So adding a defect penalty on top of SUBNET does not turn SUBNET into Ribeiro's method. It adds a latent-state consistency term to something that is already amortized MS.</a:t>
            </a:r>
          </a:p>
          <a:p>
            <a:pPr>
              <a:buNone/>
            </a:pPr>
            <a:r>
              <a:rPr lang="en-NL" b="1" dirty="0"/>
              <a:t>Q3: can the encoder absorb the defects? Yes, and there is a named degenerate manifold.</a:t>
            </a:r>
            <a:r>
              <a:rPr lang="en-NL" dirty="0"/>
              <a:t> Any pair $(E_\phi, F_\theta)$ satisfying $E_\phi \circ \text{shift}^{</a:t>
            </a:r>
            <a:r>
              <a:rPr lang="en-NL" dirty="0" err="1"/>
              <a:t>N_s</a:t>
            </a:r>
            <a:r>
              <a:rPr lang="en-NL" dirty="0"/>
              <a:t>} = F_\theta^{</a:t>
            </a:r>
            <a:r>
              <a:rPr lang="en-NL" dirty="0" err="1"/>
              <a:t>N_s</a:t>
            </a:r>
            <a:r>
              <a:rPr lang="en-NL" dirty="0"/>
              <a:t>}\circ E_\phi$ on the training data has zero defect regardless of whether $F_\theta$ matches the plant. Concretely, in your architecture the optimizer can set $E_\</a:t>
            </a:r>
            <a:r>
              <a:rPr lang="en-NL" dirty="0" err="1"/>
              <a:t>phi$'s</a:t>
            </a:r>
            <a:r>
              <a:rPr lang="en-NL" dirty="0"/>
              <a:t> $h_\</a:t>
            </a:r>
            <a:r>
              <a:rPr lang="en-NL" dirty="0" err="1"/>
              <a:t>mathrm</a:t>
            </a:r>
            <a:r>
              <a:rPr lang="en-NL" dirty="0"/>
              <a:t>{</a:t>
            </a:r>
            <a:r>
              <a:rPr lang="en-NL" dirty="0" err="1"/>
              <a:t>aug</a:t>
            </a:r>
            <a:r>
              <a:rPr lang="en-NL" dirty="0"/>
              <a:t>}$ output to (near) zero and let $A_\</a:t>
            </a:r>
            <a:r>
              <a:rPr lang="en-NL" dirty="0" err="1"/>
              <a:t>mathrm</a:t>
            </a:r>
            <a:r>
              <a:rPr lang="en-NL" dirty="0"/>
              <a:t>{</a:t>
            </a:r>
            <a:r>
              <a:rPr lang="en-NL" dirty="0" err="1"/>
              <a:t>aug</a:t>
            </a:r>
            <a:r>
              <a:rPr lang="en-NL" dirty="0"/>
              <a:t>}$ be anything: $h_\</a:t>
            </a:r>
            <a:r>
              <a:rPr lang="en-NL" dirty="0" err="1"/>
              <a:t>mathrm</a:t>
            </a:r>
            <a:r>
              <a:rPr lang="en-NL" dirty="0"/>
              <a:t>{</a:t>
            </a:r>
            <a:r>
              <a:rPr lang="en-NL" dirty="0" err="1"/>
              <a:t>aug</a:t>
            </a:r>
            <a:r>
              <a:rPr lang="en-NL" dirty="0"/>
              <a:t>}$ stays near zero along all trained rollouts, defects vanish, output loss is unchanged, and the autonomous long-horizon behaviour is whatever $A_\</a:t>
            </a:r>
            <a:r>
              <a:rPr lang="en-NL" dirty="0" err="1"/>
              <a:t>mathrm</a:t>
            </a:r>
            <a:r>
              <a:rPr lang="en-NL" dirty="0"/>
              <a:t>{</a:t>
            </a:r>
            <a:r>
              <a:rPr lang="en-NL" dirty="0" err="1"/>
              <a:t>aug</a:t>
            </a:r>
            <a:r>
              <a:rPr lang="en-NL" dirty="0"/>
              <a:t>}$ happens to be. The degeneracy lies exactly along the direction you are trying to identify. Any defect penalty needs a latent normalization (fix the scale of $h_\</a:t>
            </a:r>
            <a:r>
              <a:rPr lang="en-NL" dirty="0" err="1"/>
              <a:t>mathrm</a:t>
            </a:r>
            <a:r>
              <a:rPr lang="en-NL" dirty="0"/>
              <a:t>{</a:t>
            </a:r>
            <a:r>
              <a:rPr lang="en-NL" dirty="0" err="1"/>
              <a:t>aug</a:t>
            </a:r>
            <a:r>
              <a:rPr lang="en-NL" dirty="0"/>
              <a:t>}$ or of $C_\</a:t>
            </a:r>
            <a:r>
              <a:rPr lang="en-NL" dirty="0" err="1"/>
              <a:t>mathrm</a:t>
            </a:r>
            <a:r>
              <a:rPr lang="en-NL" dirty="0"/>
              <a:t>{</a:t>
            </a:r>
            <a:r>
              <a:rPr lang="en-NL" dirty="0" err="1"/>
              <a:t>aug</a:t>
            </a:r>
            <a:r>
              <a:rPr lang="en-NL" dirty="0"/>
              <a:t>}$) or it is unfalsifiable. The GOKU-net authors hit the same wall: in latent models the dynamics live in a space being learned simultaneously, so the true initial conditions per window are unavailable, unlike settings where the ODE models the observed data directly.</a:t>
            </a:r>
          </a:p>
          <a:p>
            <a:pPr>
              <a:buNone/>
            </a:pPr>
            <a:r>
              <a:rPr lang="en-NL" b="1" dirty="0"/>
              <a:t>Q4: coherent accumulation. This is the decisive calculation.</a:t>
            </a:r>
            <a:r>
              <a:rPr lang="en-NL" dirty="0"/>
              <a:t> With eigenvalue error $\delta$, per-segment defect $\</a:t>
            </a:r>
            <a:r>
              <a:rPr lang="en-NL" dirty="0" err="1"/>
              <a:t>approx</a:t>
            </a:r>
            <a:r>
              <a:rPr lang="en-NL" dirty="0"/>
              <a:t> a,\delta,\</a:t>
            </a:r>
            <a:r>
              <a:rPr lang="en-NL" dirty="0" err="1"/>
              <a:t>tau_s</a:t>
            </a:r>
            <a:r>
              <a:rPr lang="en-NL" dirty="0"/>
              <a:t>$, $K = T/\</a:t>
            </a:r>
            <a:r>
              <a:rPr lang="en-NL" dirty="0" err="1"/>
              <a:t>tau_s</a:t>
            </a:r>
            <a:r>
              <a:rPr lang="en-NL" dirty="0"/>
              <a:t>$ segments, and per-defect noise $\</a:t>
            </a:r>
            <a:r>
              <a:rPr lang="en-NL" dirty="0" err="1"/>
              <a:t>varepsilon</a:t>
            </a:r>
            <a:r>
              <a:rPr lang="en-NL" dirty="0"/>
              <a:t>$ (encoder estimation error, which is </a:t>
            </a:r>
            <a:r>
              <a:rPr lang="en-NL" i="1" dirty="0"/>
              <a:t>not</a:t>
            </a:r>
            <a:r>
              <a:rPr lang="en-NL" dirty="0"/>
              <a:t> small for a weakly observable slow state):</a:t>
            </a:r>
          </a:p>
          <a:p>
            <a:pPr>
              <a:buNone/>
            </a:pPr>
            <a:r>
              <a:rPr lang="en-NL" dirty="0"/>
              <a:t>$$ \text{SNR}^2_{\text{defect}} = \frac{K,a^2\delta^2\tau_s^2}{\varepsilon^2} = \frac{a^2\delta^2,\</a:t>
            </a:r>
            <a:r>
              <a:rPr lang="en-NL" dirty="0" err="1"/>
              <a:t>tau_s</a:t>
            </a:r>
            <a:r>
              <a:rPr lang="en-NL" dirty="0"/>
              <a:t> T}{\varepsilon^2} \quad\</a:t>
            </a:r>
            <a:r>
              <a:rPr lang="en-NL" dirty="0" err="1"/>
              <a:t>Longrightarrow</a:t>
            </a:r>
            <a:r>
              <a:rPr lang="en-NL" dirty="0"/>
              <a:t>\quad \delta_{\min}^{\text{MS}} \</a:t>
            </a:r>
            <a:r>
              <a:rPr lang="en-NL" dirty="0" err="1"/>
              <a:t>propto</a:t>
            </a:r>
            <a:r>
              <a:rPr lang="en-NL" dirty="0"/>
              <a:t> \frac{\</a:t>
            </a:r>
            <a:r>
              <a:rPr lang="en-NL" dirty="0" err="1"/>
              <a:t>varepsilon</a:t>
            </a:r>
            <a:r>
              <a:rPr lang="en-NL" dirty="0"/>
              <a:t>}{a\sqrt{\</a:t>
            </a:r>
            <a:r>
              <a:rPr lang="en-NL" dirty="0" err="1"/>
              <a:t>tau_s</a:t>
            </a:r>
            <a:r>
              <a:rPr lang="en-NL" dirty="0"/>
              <a:t> T}}, $$</a:t>
            </a:r>
          </a:p>
          <a:p>
            <a:pPr>
              <a:buNone/>
            </a:pPr>
            <a:r>
              <a:rPr lang="en-NL" dirty="0"/>
              <a:t>against long single shooting with per-sample output noise $\sigma$:</a:t>
            </a:r>
          </a:p>
          <a:p>
            <a:pPr>
              <a:buNone/>
            </a:pPr>
            <a:r>
              <a:rPr lang="en-NL" dirty="0"/>
              <a:t>$$ \delta_{\min}^{\text{SS}} \</a:t>
            </a:r>
            <a:r>
              <a:rPr lang="en-NL" dirty="0" err="1"/>
              <a:t>propto</a:t>
            </a:r>
            <a:r>
              <a:rPr lang="en-NL" dirty="0"/>
              <a:t> \frac{\sigma\sqrt{</a:t>
            </a:r>
            <a:r>
              <a:rPr lang="en-NL" dirty="0" err="1"/>
              <a:t>T_s</a:t>
            </a:r>
            <a:r>
              <a:rPr lang="en-NL" dirty="0"/>
              <a:t>}}{</a:t>
            </a:r>
            <a:r>
              <a:rPr lang="en-NL" dirty="0" err="1"/>
              <a:t>a,T</a:t>
            </a:r>
            <a:r>
              <a:rPr lang="en-NL" dirty="0"/>
              <a:t>^{3/2}} . $$</a:t>
            </a:r>
          </a:p>
          <a:p>
            <a:pPr>
              <a:buNone/>
            </a:pPr>
            <a:r>
              <a:rPr lang="en-NL" dirty="0"/>
              <a:t>The defect criterion sums squares (incoherent); the long-horizon criterion squares a sum (coherent). The detectability gap is a factor $\sim T/\sqrt{\</a:t>
            </a:r>
            <a:r>
              <a:rPr lang="en-NL" dirty="0" err="1"/>
              <a:t>tau_s</a:t>
            </a:r>
            <a:r>
              <a:rPr lang="en-NL" dirty="0"/>
              <a:t>}$. Re-weighting the penalty by $\mu$ rescales the deterministic term but not this ratio, because $\</a:t>
            </a:r>
            <a:r>
              <a:rPr lang="en-NL" dirty="0" err="1"/>
              <a:t>varepsilon</a:t>
            </a:r>
            <a:r>
              <a:rPr lang="en-NL" dirty="0"/>
              <a:t>$ scales with it. </a:t>
            </a:r>
            <a:r>
              <a:rPr lang="en-NL" b="1" dirty="0"/>
              <a:t>Small coherent defects are not recoverable by turning up $\mu$.</a:t>
            </a:r>
            <a:endParaRPr lang="en-NL" dirty="0"/>
          </a:p>
          <a:p>
            <a:pPr>
              <a:buNone/>
            </a:pPr>
            <a:r>
              <a:rPr lang="en-NL" b="1" dirty="0"/>
              <a:t>Q5: yes, the literature exists, and it is the closest thing to your setting.</a:t>
            </a:r>
            <a:r>
              <a:rPr lang="en-NL" dirty="0"/>
              <a:t> Iakovlev et al. propose a principled multiple-shooting scheme for neural </a:t>
            </a:r>
            <a:r>
              <a:rPr lang="en-NL" dirty="0" err="1"/>
              <a:t>ODEs</a:t>
            </a:r>
            <a:r>
              <a:rPr lang="en-NL" dirty="0"/>
              <a:t> that splits trajectories into short segments optimized in parallel with probabilistic control of continuity across segments, with amortized encodings of the segment initial states via a transformer recognition network; the follow-up extends this to latent PDE states with a purpose-built encoder. That is amortized/encoder-generated shooting with a </a:t>
            </a:r>
            <a:r>
              <a:rPr lang="en-NL" i="1" dirty="0"/>
              <a:t>probabilistic</a:t>
            </a:r>
            <a:r>
              <a:rPr lang="en-NL" dirty="0"/>
              <a:t> continuity prior rather than a hard constraint. Note what they claim: efficient and stable training on long, irregularly sampled trajectories. They claim optimization stability, not recovery of long-horizon identifiability. Their guarantee does not transfer to your question.</a:t>
            </a:r>
          </a:p>
          <a:p>
            <a:pPr>
              <a:buNone/>
            </a:pPr>
            <a:r>
              <a:rPr lang="en-NL" b="1" dirty="0"/>
              <a:t>Q6: penalty vs augmented </a:t>
            </a:r>
            <a:r>
              <a:rPr lang="en-NL" b="1" dirty="0" err="1"/>
              <a:t>Lagrangian</a:t>
            </a:r>
            <a:r>
              <a:rPr lang="en-NL" b="1" dirty="0"/>
              <a:t> vs exact constraints.</a:t>
            </a:r>
            <a:r>
              <a:rPr lang="en-NL" dirty="0"/>
              <a:t> Turan and </a:t>
            </a:r>
            <a:r>
              <a:rPr lang="en-NL" dirty="0" err="1"/>
              <a:t>Jäschke</a:t>
            </a:r>
            <a:r>
              <a:rPr lang="en-NL" dirty="0"/>
              <a:t> note the MS continuity constraints can be handled by a penalty or an augmented </a:t>
            </a:r>
            <a:r>
              <a:rPr lang="en-NL" dirty="0" err="1"/>
              <a:t>Lagrangian</a:t>
            </a:r>
            <a:r>
              <a:rPr lang="en-NL" dirty="0"/>
              <a:t> method, and Chakraborty et al.'s MP-NODE uses $\</a:t>
            </a:r>
            <a:r>
              <a:rPr lang="en-NL" dirty="0" err="1"/>
              <a:t>mathcal</a:t>
            </a:r>
            <a:r>
              <a:rPr lang="en-NL" dirty="0"/>
              <a:t>{L} = \</a:t>
            </a:r>
            <a:r>
              <a:rPr lang="en-NL" dirty="0" err="1"/>
              <a:t>mathcal</a:t>
            </a:r>
            <a:r>
              <a:rPr lang="en-NL" dirty="0"/>
              <a:t>{L}_{GT} + \</a:t>
            </a:r>
            <a:r>
              <a:rPr lang="en-NL" dirty="0" err="1"/>
              <a:t>tfrac</a:t>
            </a:r>
            <a:r>
              <a:rPr lang="en-NL" dirty="0"/>
              <a:t>{\mu}{2}\</a:t>
            </a:r>
            <a:r>
              <a:rPr lang="en-NL" dirty="0" err="1"/>
              <a:t>mathcal</a:t>
            </a:r>
            <a:r>
              <a:rPr lang="en-NL" dirty="0"/>
              <a:t>{L}_P$ with $\</a:t>
            </a:r>
            <a:r>
              <a:rPr lang="en-NL" dirty="0" err="1"/>
              <a:t>mathcal</a:t>
            </a:r>
            <a:r>
              <a:rPr lang="en-NL" dirty="0"/>
              <a:t>{L}</a:t>
            </a:r>
            <a:r>
              <a:rPr lang="en-NL" i="1" dirty="0"/>
              <a:t>P$ the mean squared discontinuity across windows. An augmented </a:t>
            </a:r>
            <a:r>
              <a:rPr lang="en-NL" i="1" dirty="0" err="1"/>
              <a:t>Lagrangian</a:t>
            </a:r>
            <a:r>
              <a:rPr lang="en-NL" i="1" dirty="0"/>
              <a:t> is strictly better than a pure penalty if your shooting states are free, because the explicit multipliers restore the cross-segment adjoint recursion at moderate $\mu$. With encoder-generated states there are no multipliers to propagate, so the augmented </a:t>
            </a:r>
            <a:r>
              <a:rPr lang="en-NL" i="1" dirty="0" err="1"/>
              <a:t>Lagrangian</a:t>
            </a:r>
            <a:r>
              <a:rPr lang="en-NL" i="1" dirty="0"/>
              <a:t> degenerates to a penalty with an adaptive weight. </a:t>
            </a:r>
            <a:r>
              <a:rPr lang="en-NL" b="1" i="1" dirty="0"/>
              <a:t>If you want the AL to buy you anything, you must free the shooting states, which breaks your requirement 1.</a:t>
            </a:r>
            <a:r>
              <a:rPr lang="en-NL" i="1" dirty="0"/>
              <a:t> A defensible middle path is a hybrid: $</a:t>
            </a:r>
            <a:r>
              <a:rPr lang="en-NL" i="1" dirty="0" err="1"/>
              <a:t>s_i</a:t>
            </a:r>
            <a:r>
              <a:rPr lang="en-NL" i="1" dirty="0"/>
              <a:t> = E</a:t>
            </a:r>
            <a:r>
              <a:rPr lang="en-NL" dirty="0"/>
              <a:t>\phi(</a:t>
            </a:r>
            <a:r>
              <a:rPr lang="en-NL" dirty="0" err="1"/>
              <a:t>H_i</a:t>
            </a:r>
            <a:r>
              <a:rPr lang="en-NL" dirty="0"/>
              <a:t>) + \</a:t>
            </a:r>
            <a:r>
              <a:rPr lang="en-NL" dirty="0" err="1"/>
              <a:t>Delta_i</a:t>
            </a:r>
            <a:r>
              <a:rPr lang="en-NL" dirty="0"/>
              <a:t>$ with free, regularized $\</a:t>
            </a:r>
            <a:r>
              <a:rPr lang="en-NL" dirty="0" err="1"/>
              <a:t>Delta_i</a:t>
            </a:r>
            <a:r>
              <a:rPr lang="en-NL" dirty="0"/>
              <a:t>$ only at a coarse grid of segment boundaries. That preserves the encoder as the </a:t>
            </a:r>
            <a:r>
              <a:rPr lang="en-NL" dirty="0" err="1"/>
              <a:t>reconstructability</a:t>
            </a:r>
            <a:r>
              <a:rPr lang="en-NL" dirty="0"/>
              <a:t> map and as the initializer, keeps $O(</a:t>
            </a:r>
            <a:r>
              <a:rPr lang="en-NL" dirty="0" err="1"/>
              <a:t>n_z</a:t>
            </a:r>
            <a:r>
              <a:rPr lang="en-NL" dirty="0"/>
              <a:t> \times K)$ extra variables rather than one per overlapping window, and restores the multiplier chain. It is a modest, explainable deviation, not a new algorithm.</a:t>
            </a:r>
          </a:p>
          <a:p>
            <a:pPr>
              <a:buNone/>
            </a:pPr>
            <a:br>
              <a:rPr lang="en-NL" dirty="0"/>
            </a:br>
            <a:endParaRPr lang="en-NL" dirty="0"/>
          </a:p>
          <a:p>
            <a:pPr>
              <a:buNone/>
            </a:pPr>
            <a:r>
              <a:rPr lang="en-NL" b="1" dirty="0"/>
              <a:t>3. The controller</a:t>
            </a:r>
          </a:p>
          <a:p>
            <a:pPr>
              <a:buNone/>
            </a:pPr>
            <a:r>
              <a:rPr lang="en-NL" dirty="0"/>
              <a:t>Linearize about the rollout, let $G_\theta$ be the model's frozen-scheduling response and $K$ the fixed controller. With $u_\</a:t>
            </a:r>
            <a:r>
              <a:rPr lang="en-NL" dirty="0" err="1"/>
              <a:t>mathrm</a:t>
            </a:r>
            <a:r>
              <a:rPr lang="en-NL" dirty="0"/>
              <a:t>{</a:t>
            </a:r>
            <a:r>
              <a:rPr lang="en-NL" dirty="0" err="1"/>
              <a:t>corr</a:t>
            </a:r>
            <a:r>
              <a:rPr lang="en-NL" dirty="0"/>
              <a:t>} = K e$, the training residual is</a:t>
            </a:r>
          </a:p>
          <a:p>
            <a:pPr>
              <a:buNone/>
            </a:pPr>
            <a:r>
              <a:rPr lang="en-NL" dirty="0"/>
              <a:t>$$ e_{\</a:t>
            </a:r>
            <a:r>
              <a:rPr lang="en-NL" dirty="0" err="1"/>
              <a:t>mathrm</a:t>
            </a:r>
            <a:r>
              <a:rPr lang="en-NL" dirty="0"/>
              <a:t>{cl}} = \underbrace{(I + G_\theta K)^{-1}}</a:t>
            </a:r>
            <a:r>
              <a:rPr lang="en-NL" i="1" dirty="0"/>
              <a:t>{S},e</a:t>
            </a:r>
            <a:r>
              <a:rPr lang="en-NL" dirty="0"/>
              <a:t>{\</a:t>
            </a:r>
            <a:r>
              <a:rPr lang="en-NL" dirty="0" err="1"/>
              <a:t>mathrm</a:t>
            </a:r>
            <a:r>
              <a:rPr lang="en-NL" dirty="0"/>
              <a:t>{</a:t>
            </a:r>
            <a:r>
              <a:rPr lang="en-NL" dirty="0" err="1"/>
              <a:t>ol</a:t>
            </a:r>
            <a:r>
              <a:rPr lang="en-NL" dirty="0"/>
              <a:t>}} . $$</a:t>
            </a:r>
          </a:p>
          <a:p>
            <a:pPr>
              <a:buNone/>
            </a:pPr>
            <a:r>
              <a:rPr lang="en-NL" dirty="0"/>
              <a:t>Your masking is quantitatively $|S(j\omega)|$, which is smallest exactly in the low-frequency band where your 1–4 s dynamics live. This is not a tuning problem; it is what a stabilizing loop does. So requirement 6 is satisfied only if you either drop the controller or invert $S$ in the criterion. The inversion is available in closed form because $K$ is known:</a:t>
            </a:r>
          </a:p>
          <a:p>
            <a:pPr>
              <a:buNone/>
            </a:pPr>
            <a:r>
              <a:rPr lang="en-NL" dirty="0"/>
              <a:t>$$ e_{\</a:t>
            </a:r>
            <a:r>
              <a:rPr lang="en-NL" dirty="0" err="1"/>
              <a:t>mathrm</a:t>
            </a:r>
            <a:r>
              <a:rPr lang="en-NL" dirty="0"/>
              <a:t>{</a:t>
            </a:r>
            <a:r>
              <a:rPr lang="en-NL" dirty="0" err="1"/>
              <a:t>ol</a:t>
            </a:r>
            <a:r>
              <a:rPr lang="en-NL" dirty="0"/>
              <a:t>}} = S^{-1}e_{\</a:t>
            </a:r>
            <a:r>
              <a:rPr lang="en-NL" dirty="0" err="1"/>
              <a:t>mathrm</a:t>
            </a:r>
            <a:r>
              <a:rPr lang="en-NL" dirty="0"/>
              <a:t>{cl}} = e_{\</a:t>
            </a:r>
            <a:r>
              <a:rPr lang="en-NL" dirty="0" err="1"/>
              <a:t>mathrm</a:t>
            </a:r>
            <a:r>
              <a:rPr lang="en-NL" dirty="0"/>
              <a:t>{cl}} + G_\</a:t>
            </a:r>
            <a:r>
              <a:rPr lang="en-NL" dirty="0" err="1"/>
              <a:t>theta,u</a:t>
            </a:r>
            <a:r>
              <a:rPr lang="en-NL" dirty="0"/>
              <a:t>_{\</a:t>
            </a:r>
            <a:r>
              <a:rPr lang="en-NL" dirty="0" err="1"/>
              <a:t>mathrm</a:t>
            </a:r>
            <a:r>
              <a:rPr lang="en-NL" dirty="0"/>
              <a:t>{</a:t>
            </a:r>
            <a:r>
              <a:rPr lang="en-NL" dirty="0" err="1"/>
              <a:t>corr</a:t>
            </a:r>
            <a:r>
              <a:rPr lang="en-NL" dirty="0"/>
              <a:t>}}, \</a:t>
            </a:r>
            <a:r>
              <a:rPr lang="en-NL" dirty="0" err="1"/>
              <a:t>qquad</a:t>
            </a:r>
            <a:r>
              <a:rPr lang="en-NL" dirty="0"/>
              <a:t> J = \</a:t>
            </a:r>
            <a:r>
              <a:rPr lang="en-NL" dirty="0" err="1"/>
              <a:t>sum_k</a:t>
            </a:r>
            <a:r>
              <a:rPr lang="en-NL" dirty="0"/>
              <a:t> \big| </a:t>
            </a:r>
            <a:r>
              <a:rPr lang="en-NL" dirty="0" err="1"/>
              <a:t>e_k</a:t>
            </a:r>
            <a:r>
              <a:rPr lang="en-NL" dirty="0"/>
              <a:t> + (G_\theta u_{\</a:t>
            </a:r>
            <a:r>
              <a:rPr lang="en-NL" dirty="0" err="1"/>
              <a:t>mathrm</a:t>
            </a:r>
            <a:r>
              <a:rPr lang="en-NL" dirty="0"/>
              <a:t>{</a:t>
            </a:r>
            <a:r>
              <a:rPr lang="en-NL" dirty="0" err="1"/>
              <a:t>corr</a:t>
            </a:r>
            <a:r>
              <a:rPr lang="en-NL" dirty="0"/>
              <a:t>}})_k \big|^2 . $$</a:t>
            </a:r>
          </a:p>
          <a:p>
            <a:pPr>
              <a:buNone/>
            </a:pPr>
            <a:r>
              <a:rPr lang="en-NL" dirty="0"/>
              <a:t>In words: the corrective control action is the model error, mapped through the loop. Penalizing the residual </a:t>
            </a:r>
            <a:r>
              <a:rPr lang="en-NL" i="1" dirty="0"/>
              <a:t>plus the model's response to the correction</a:t>
            </a:r>
            <a:r>
              <a:rPr lang="en-NL" dirty="0"/>
              <a:t> recovers the open-loop error, and $J = 0$ </a:t>
            </a:r>
            <a:r>
              <a:rPr lang="en-NL" dirty="0" err="1"/>
              <a:t>iff</a:t>
            </a:r>
            <a:r>
              <a:rPr lang="en-NL" dirty="0"/>
              <a:t> the model is autonomously correct. Exact for the linearized/frozen-scheduling case, approximate for the LPV/LFR case, and it costs one extra short rollout. If you keep the controller, this is the only version I would defend in a thesis. Otherwise drop it from training and use it only for rollout stabilization during </a:t>
            </a:r>
            <a:r>
              <a:rPr lang="en-NL" i="1" dirty="0"/>
              <a:t>evaluation</a:t>
            </a:r>
            <a:r>
              <a:rPr lang="en-NL" dirty="0"/>
              <a:t>.</a:t>
            </a:r>
          </a:p>
          <a:p>
            <a:pPr>
              <a:buNone/>
            </a:pPr>
            <a:br>
              <a:rPr lang="en-NL" dirty="0"/>
            </a:br>
            <a:endParaRPr lang="en-NL" dirty="0"/>
          </a:p>
          <a:p>
            <a:pPr>
              <a:buNone/>
            </a:pPr>
            <a:r>
              <a:rPr lang="en-NL" b="1" dirty="0"/>
              <a:t>4. Methods screened and rejected</a:t>
            </a:r>
          </a:p>
          <a:p>
            <a:pPr marL="342900" lvl="0" indent="-342900">
              <a:buFont typeface="Arial" panose="020B0604020202020204" pitchFamily="34" charset="0"/>
              <a:buChar char="•"/>
            </a:pPr>
            <a:r>
              <a:rPr lang="en-NL" b="1" dirty="0"/>
              <a:t>Weak-form / collocation / </a:t>
            </a:r>
            <a:r>
              <a:rPr lang="en-NL" b="1" dirty="0" err="1"/>
              <a:t>WSINDy</a:t>
            </a:r>
            <a:r>
              <a:rPr lang="en-NL" b="1" dirty="0"/>
              <a:t>.</a:t>
            </a:r>
            <a:r>
              <a:rPr lang="en-NL" dirty="0"/>
              <a:t> Gives long-horizon information without BPTT, but requires the state (or its derivatives) to be measured. Your $h_\</a:t>
            </a:r>
            <a:r>
              <a:rPr lang="en-NL" dirty="0" err="1"/>
              <a:t>mathrm</a:t>
            </a:r>
            <a:r>
              <a:rPr lang="en-NL" dirty="0"/>
              <a:t>{</a:t>
            </a:r>
            <a:r>
              <a:rPr lang="en-NL" dirty="0" err="1"/>
              <a:t>aug</a:t>
            </a:r>
            <a:r>
              <a:rPr lang="en-NL" dirty="0"/>
              <a:t>}$ is not. Violates requirement 5.</a:t>
            </a:r>
          </a:p>
          <a:p>
            <a:pPr marL="342900" lvl="0" indent="-342900">
              <a:buFont typeface="Arial" panose="020B0604020202020204" pitchFamily="34" charset="0"/>
              <a:buChar char="•"/>
            </a:pPr>
            <a:r>
              <a:rPr lang="en-NL" b="1" dirty="0"/>
              <a:t>Adjoint / checkpointing.</a:t>
            </a:r>
            <a:r>
              <a:rPr lang="en-NL" dirty="0"/>
              <a:t> Solves memory, not conditioning. The exponential growth of loss Lipschitz constant with interval length is untouched. Violates the spirit of requirement 2 (compute is still $O(T)$).</a:t>
            </a:r>
          </a:p>
          <a:p>
            <a:pPr marL="342900" lvl="0" indent="-342900">
              <a:buFont typeface="Arial" panose="020B0604020202020204" pitchFamily="34" charset="0"/>
              <a:buChar char="•"/>
            </a:pPr>
            <a:r>
              <a:rPr lang="en-NL" b="1" dirty="0"/>
              <a:t>Latent overshooting (Hafner et al.).</a:t>
            </a:r>
            <a:r>
              <a:rPr lang="en-NL" dirty="0"/>
              <a:t> It enforces consistency between one-step and multi-step predictions in latent space, but the gradient horizon equals the overshoot horizon. It is $</a:t>
            </a:r>
            <a:r>
              <a:rPr lang="en-NL" dirty="0" err="1"/>
              <a:t>n_f</a:t>
            </a:r>
            <a:r>
              <a:rPr lang="en-NL" dirty="0"/>
              <a:t>$ under another name.</a:t>
            </a:r>
          </a:p>
          <a:p>
            <a:pPr marL="342900" lvl="0" indent="-342900">
              <a:buFont typeface="Arial" panose="020B0604020202020204" pitchFamily="34" charset="0"/>
              <a:buChar char="•"/>
            </a:pPr>
            <a:r>
              <a:rPr lang="en-NL" b="1" dirty="0"/>
              <a:t>Curriculum MS / MP-NODE.</a:t>
            </a:r>
            <a:r>
              <a:rPr lang="en-NL" dirty="0"/>
              <a:t> Curriculum multiple shooting combines curriculum learning with multiple shooting for ODE fitting and MP-NODE splits trajectories into non-overlapping windows and penalizes inter-window discontinuities. Both are mechanism-A medicine, and both drop overlapping windows. Useful as a fallback if your diagnostic says A; not otherwise.</a:t>
            </a:r>
          </a:p>
          <a:p>
            <a:pPr marL="342900" lvl="0" indent="-342900">
              <a:buFont typeface="Arial" panose="020B0604020202020204" pitchFamily="34" charset="0"/>
              <a:buChar char="•"/>
            </a:pPr>
            <a:r>
              <a:rPr lang="en-NL" b="1" dirty="0"/>
              <a:t>Synthetic/decoupled gradients.</a:t>
            </a:r>
            <a:r>
              <a:rPr lang="en-NL" dirty="0"/>
              <a:t> No system-identification track record, no guarantee, unfalsifiable in a thesis timeframe. Reject.</a:t>
            </a:r>
          </a:p>
          <a:p>
            <a:pPr>
              <a:buNone/>
            </a:pPr>
            <a:br>
              <a:rPr lang="en-NL" dirty="0"/>
            </a:br>
            <a:endParaRPr lang="en-NL" dirty="0"/>
          </a:p>
          <a:p>
            <a:pPr>
              <a:buNone/>
            </a:pPr>
            <a:r>
              <a:rPr lang="en-NL" b="1" dirty="0"/>
              <a:t>5. The three I would defend</a:t>
            </a:r>
          </a:p>
          <a:p>
            <a:pPr>
              <a:buNone/>
            </a:pPr>
            <a:r>
              <a:rPr lang="en-NL" b="1" dirty="0"/>
              <a:t>R1. Frequency-weighted (prefiltered) SUBNET criterion</a:t>
            </a:r>
          </a:p>
          <a:p>
            <a:pPr marL="342900" lvl="0" indent="-342900">
              <a:buFont typeface="+mj-lt"/>
              <a:buAutoNum type="arabicPeriod"/>
            </a:pPr>
            <a:r>
              <a:rPr lang="en-NL" b="1" dirty="0"/>
              <a:t>Reference.</a:t>
            </a:r>
            <a:r>
              <a:rPr lang="en-NL" dirty="0"/>
              <a:t> Ljung, </a:t>
            </a:r>
            <a:r>
              <a:rPr lang="en-NL" i="1" dirty="0"/>
              <a:t>System Identification: Theory for the User</a:t>
            </a:r>
            <a:r>
              <a:rPr lang="en-NL" dirty="0"/>
              <a:t>, 2nd ed., Ch. 8 (bias distribution) and Ch. 14 (prefiltering); Forssell &amp; Ljung, </a:t>
            </a:r>
            <a:r>
              <a:rPr lang="en-NL" i="1" dirty="0"/>
              <a:t>Closed-loop identification revisited</a:t>
            </a:r>
            <a:r>
              <a:rPr lang="en-NL" dirty="0"/>
              <a:t>, </a:t>
            </a:r>
            <a:r>
              <a:rPr lang="en-NL" dirty="0" err="1"/>
              <a:t>Automatica</a:t>
            </a:r>
            <a:r>
              <a:rPr lang="en-NL" dirty="0"/>
              <a:t> 35(7), 1999, for the sensitivity-weighting argument.</a:t>
            </a:r>
          </a:p>
          <a:p>
            <a:pPr marL="342900" lvl="0" indent="-342900">
              <a:buFont typeface="+mj-lt"/>
              <a:buAutoNum type="arabicPeriod"/>
            </a:pPr>
            <a:r>
              <a:rPr lang="en-NL" b="1" dirty="0"/>
              <a:t>What it solves.</a:t>
            </a:r>
            <a:r>
              <a:rPr lang="en-NL" dirty="0"/>
              <a:t> It shows the asymptotic parameter bias is $\theta^\star = \</a:t>
            </a:r>
            <a:r>
              <a:rPr lang="en-NL" dirty="0" err="1"/>
              <a:t>arg</a:t>
            </a:r>
            <a:r>
              <a:rPr lang="en-NL" dirty="0"/>
              <a:t>\min\int |G_0 - G_\theta|^2 |L|^2 \</a:t>
            </a:r>
            <a:r>
              <a:rPr lang="en-NL" dirty="0" err="1"/>
              <a:t>Phi_u</a:t>
            </a:r>
            <a:r>
              <a:rPr lang="en-NL" dirty="0"/>
              <a:t>/|H|^2,d\omega$: the criterion's </a:t>
            </a:r>
            <a:r>
              <a:rPr lang="en-NL" i="1" dirty="0"/>
              <a:t>frequency weighting</a:t>
            </a:r>
            <a:r>
              <a:rPr lang="en-NL" dirty="0"/>
              <a:t> determines which dynamics get fitted, and a prefilter $L$ moves that weighting.</a:t>
            </a:r>
          </a:p>
          <a:p>
            <a:pPr marL="342900" lvl="0" indent="-342900">
              <a:buFont typeface="+mj-lt"/>
              <a:buAutoNum type="arabicPeriod"/>
            </a:pPr>
            <a:r>
              <a:rPr lang="en-NL" b="1" dirty="0"/>
              <a:t>Equation.</a:t>
            </a:r>
            <a:r>
              <a:rPr lang="en-NL" dirty="0"/>
              <a:t> Replace $</a:t>
            </a:r>
            <a:r>
              <a:rPr lang="en-NL" dirty="0" err="1"/>
              <a:t>e_k</a:t>
            </a:r>
            <a:r>
              <a:rPr lang="en-NL" dirty="0"/>
              <a:t>$ by $(L e)_k$ with $L$ a low-pass or band-emphasis filter covering $0.25$–$10$ rad/s, applied to both $y^{\</a:t>
            </a:r>
            <a:r>
              <a:rPr lang="en-NL" dirty="0" err="1"/>
              <a:t>mathrm</a:t>
            </a:r>
            <a:r>
              <a:rPr lang="en-NL" dirty="0"/>
              <a:t>{data}}$ and $y^{\</a:t>
            </a:r>
            <a:r>
              <a:rPr lang="en-NL" dirty="0" err="1"/>
              <a:t>mathrm</a:t>
            </a:r>
            <a:r>
              <a:rPr lang="en-NL" dirty="0"/>
              <a:t>{model}}$ inside each subsection (with filter states carried from the encoder history to avoid a filter transient).</a:t>
            </a:r>
          </a:p>
          <a:p>
            <a:pPr marL="342900" lvl="0" indent="-342900">
              <a:buFont typeface="+mj-lt"/>
              <a:buAutoNum type="arabicPeriod"/>
            </a:pPr>
            <a:r>
              <a:rPr lang="en-NL" b="1" dirty="0"/>
              <a:t>Assumptions.</a:t>
            </a:r>
            <a:r>
              <a:rPr lang="en-NL" dirty="0"/>
              <a:t> LTI model class, open-loop, quadratic criterion, asymptotic in $N$.</a:t>
            </a:r>
          </a:p>
          <a:p>
            <a:pPr marL="342900" lvl="0" indent="-342900">
              <a:buFont typeface="+mj-lt"/>
              <a:buAutoNum type="arabicPeriod"/>
            </a:pPr>
            <a:r>
              <a:rPr lang="en-NL" b="1" dirty="0"/>
              <a:t>Differs from yours.</a:t>
            </a:r>
            <a:r>
              <a:rPr lang="en-NL" dirty="0"/>
              <a:t> Nonlinear/LPV model, truncated segments, encoder resets. The bias formula becomes local (per frozen scheduling), not global.</a:t>
            </a:r>
          </a:p>
          <a:p>
            <a:pPr marL="342900" lvl="0" indent="-342900">
              <a:buFont typeface="+mj-lt"/>
              <a:buAutoNum type="arabicPeriod"/>
            </a:pPr>
            <a:r>
              <a:rPr lang="en-NL" b="1" dirty="0"/>
              <a:t>Transfers.</a:t>
            </a:r>
            <a:r>
              <a:rPr lang="en-NL" dirty="0"/>
              <a:t> The qualitative statement that short-window broadband criteria under-weight low-frequency dynamics, and that prefiltering re-weights them. This is standard and your supervisors will accept it immediately.</a:t>
            </a:r>
          </a:p>
          <a:p>
            <a:pPr marL="342900" lvl="0" indent="-342900">
              <a:buFont typeface="+mj-lt"/>
              <a:buAutoNum type="arabicPeriod"/>
            </a:pPr>
            <a:r>
              <a:rPr lang="en-NL" b="1" dirty="0"/>
              <a:t>Does not transfer.</a:t>
            </a:r>
            <a:r>
              <a:rPr lang="en-NL" dirty="0"/>
              <a:t> Any quantitative bias guarantee.</a:t>
            </a:r>
          </a:p>
          <a:p>
            <a:pPr marL="342900" lvl="0" indent="-342900">
              <a:buFont typeface="+mj-lt"/>
              <a:buAutoNum type="arabicPeriod"/>
            </a:pPr>
            <a:r>
              <a:rPr lang="en-NL" b="1" dirty="0"/>
              <a:t>How long-term dynamics enter the gradient.</a:t>
            </a:r>
            <a:r>
              <a:rPr lang="en-NL" dirty="0"/>
              <a:t> They do not enter through horizon; they enter through </a:t>
            </a:r>
            <a:r>
              <a:rPr lang="en-NL" i="1" dirty="0"/>
              <a:t>weighting</a:t>
            </a:r>
            <a:r>
              <a:rPr lang="en-NL" dirty="0"/>
              <a:t>. A 1 s time constant is a $\sim$1 rad/s spectral feature, and its signature is present within a 160 </a:t>
            </a:r>
            <a:r>
              <a:rPr lang="en-NL" dirty="0" err="1"/>
              <a:t>ms</a:t>
            </a:r>
            <a:r>
              <a:rPr lang="en-NL" dirty="0"/>
              <a:t> window as a low-frequency trend, just at low SNR relative to the broadband error. $L$ raises that SNR. This is the coherent-averaging escape from the $\delta_{\min}$ argument in Q4: averaging happens across the whole record in frequency, not within a window in time.</a:t>
            </a:r>
          </a:p>
          <a:p>
            <a:pPr marL="342900" lvl="0" indent="-342900">
              <a:buFont typeface="+mj-lt"/>
              <a:buAutoNum type="arabicPeriod"/>
            </a:pPr>
            <a:r>
              <a:rPr lang="en-NL" b="1" dirty="0"/>
              <a:t>Cost.</a:t>
            </a:r>
            <a:r>
              <a:rPr lang="en-NL" dirty="0"/>
              <a:t> One filter. No change in memory or graph depth.</a:t>
            </a:r>
          </a:p>
          <a:p>
            <a:pPr marL="342900" lvl="0" indent="-342900">
              <a:buFont typeface="+mj-lt"/>
              <a:buAutoNum type="arabicPeriod"/>
            </a:pPr>
            <a:r>
              <a:rPr lang="en-NL" b="1" dirty="0"/>
              <a:t>Failure modes.</a:t>
            </a:r>
            <a:r>
              <a:rPr lang="en-NL" dirty="0"/>
              <a:t> If the window is shorter than one period of the mode of interest, the filter cannot manufacture information that is not in the window ($</a:t>
            </a:r>
            <a:r>
              <a:rPr lang="en-NL" dirty="0" err="1"/>
              <a:t>n_f</a:t>
            </a:r>
            <a:r>
              <a:rPr lang="en-NL" dirty="0"/>
              <a:t> </a:t>
            </a:r>
            <a:r>
              <a:rPr lang="en-NL" dirty="0" err="1"/>
              <a:t>T_s</a:t>
            </a:r>
            <a:r>
              <a:rPr lang="en-NL" dirty="0"/>
              <a:t> \</a:t>
            </a:r>
            <a:r>
              <a:rPr lang="en-NL" dirty="0" err="1"/>
              <a:t>gtrsim</a:t>
            </a:r>
            <a:r>
              <a:rPr lang="en-NL" dirty="0"/>
              <a:t> 2\pi/\omega_{\</a:t>
            </a:r>
            <a:r>
              <a:rPr lang="en-NL" dirty="0" err="1"/>
              <a:t>mathrm</a:t>
            </a:r>
            <a:r>
              <a:rPr lang="en-NL" dirty="0"/>
              <a:t>{slow}}$ is a hard floor). Also fails outright if the mechanism is B.</a:t>
            </a:r>
          </a:p>
          <a:p>
            <a:pPr marL="342900" lvl="0" indent="-342900">
              <a:buFont typeface="+mj-lt"/>
              <a:buAutoNum type="arabicPeriod"/>
            </a:pPr>
            <a:r>
              <a:rPr lang="en-NL" b="1" dirty="0"/>
              <a:t>Falsifying experiment.</a:t>
            </a:r>
            <a:r>
              <a:rPr lang="en-NL" dirty="0"/>
              <a:t> Loss-landscape slice (below) with and without $L$. If curvature along the slow-mode direction does not increase by an order of magnitude, drop R1.</a:t>
            </a:r>
          </a:p>
          <a:p>
            <a:pPr>
              <a:buNone/>
            </a:pPr>
            <a:r>
              <a:rPr lang="en-NL" b="1" dirty="0"/>
              <a:t>R2. Local-FRF / BLA matching on the LFR linearization</a:t>
            </a:r>
          </a:p>
          <a:p>
            <a:pPr marL="342900" lvl="0" indent="-342900">
              <a:buFont typeface="+mj-lt"/>
              <a:buAutoNum type="arabicPeriod"/>
            </a:pPr>
            <a:r>
              <a:rPr lang="en-NL" b="1" dirty="0"/>
              <a:t>Reference.</a:t>
            </a:r>
            <a:r>
              <a:rPr lang="en-NL" dirty="0"/>
              <a:t> </a:t>
            </a:r>
            <a:r>
              <a:rPr lang="en-NL" dirty="0" err="1"/>
              <a:t>Pintelon</a:t>
            </a:r>
            <a:r>
              <a:rPr lang="en-NL" dirty="0"/>
              <a:t> &amp; Schoukens, </a:t>
            </a:r>
            <a:r>
              <a:rPr lang="en-NL" i="1" dirty="0"/>
              <a:t>System Identification: A Frequency Domain Approach</a:t>
            </a:r>
            <a:r>
              <a:rPr lang="en-NL" dirty="0"/>
              <a:t>, 2nd ed.; and for your exact model class, Schoukens &amp; Tóth, "On the initialization of nonlinear LFR model identification with the best linear approximation", IFAC World Congress 2020.</a:t>
            </a:r>
          </a:p>
          <a:p>
            <a:pPr marL="342900" lvl="0" indent="-342900">
              <a:buFont typeface="+mj-lt"/>
              <a:buAutoNum type="arabicPeriod"/>
            </a:pPr>
            <a:r>
              <a:rPr lang="en-NL" b="1" dirty="0"/>
              <a:t>What it solves.</a:t>
            </a:r>
            <a:r>
              <a:rPr lang="en-NL" dirty="0"/>
              <a:t> Extracting a linear dynamic description of a nonlinear LFR system from data and using it to place the linear dynamics of the LFR block.</a:t>
            </a:r>
          </a:p>
          <a:p>
            <a:pPr marL="342900" lvl="0" indent="-342900">
              <a:buFont typeface="+mj-lt"/>
              <a:buAutoNum type="arabicPeriod"/>
            </a:pPr>
            <a:r>
              <a:rPr lang="en-NL" b="1" dirty="0"/>
              <a:t>Equation.</a:t>
            </a:r>
            <a:r>
              <a:rPr lang="en-NL" dirty="0"/>
              <a:t> At frozen scheduling $p$, your LFR augmented model is LTI with $(A(p),B(p),C(p),D(p))$ obtained from the loop matrix $L(Y) = I - D_{</a:t>
            </a:r>
            <a:r>
              <a:rPr lang="en-NL" dirty="0" err="1"/>
              <a:t>zw</a:t>
            </a:r>
            <a:r>
              <a:rPr lang="en-NL" dirty="0"/>
              <a:t>}\Delta(Y)$ you already audited. Add $J_{\</a:t>
            </a:r>
            <a:r>
              <a:rPr lang="en-NL" dirty="0" err="1"/>
              <a:t>mathrm</a:t>
            </a:r>
            <a:r>
              <a:rPr lang="en-NL" dirty="0"/>
              <a:t>{FRF}} = \sum_{p}\sum_{\omega\in\Omega_{\text{slow}}} W(\omega),|\hat </a:t>
            </a:r>
            <a:r>
              <a:rPr lang="en-NL" dirty="0" err="1"/>
              <a:t>G_p</a:t>
            </a:r>
            <a:r>
              <a:rPr lang="en-NL" dirty="0"/>
              <a:t>(j\omega) - C(p)(j\omega I - A(p))^{-1}B(p) - D(p)|^2$, with $\hat </a:t>
            </a:r>
            <a:r>
              <a:rPr lang="en-NL" dirty="0" err="1"/>
              <a:t>G_p</a:t>
            </a:r>
            <a:r>
              <a:rPr lang="en-NL" dirty="0"/>
              <a:t>$ from local excitation experiments or a BLA. Gradients are analytic; </a:t>
            </a:r>
            <a:r>
              <a:rPr lang="en-NL" b="1" dirty="0"/>
              <a:t>no rollout at all</a:t>
            </a:r>
            <a:r>
              <a:rPr lang="en-NL" dirty="0"/>
              <a:t>.</a:t>
            </a:r>
          </a:p>
          <a:p>
            <a:pPr marL="342900" lvl="0" indent="-342900">
              <a:buFont typeface="+mj-lt"/>
              <a:buAutoNum type="arabicPeriod"/>
            </a:pPr>
            <a:r>
              <a:rPr lang="en-NL" b="1" dirty="0"/>
              <a:t>Assumptions.</a:t>
            </a:r>
            <a:r>
              <a:rPr lang="en-NL" dirty="0"/>
              <a:t> Local </a:t>
            </a:r>
            <a:r>
              <a:rPr lang="en-NL" dirty="0" err="1"/>
              <a:t>linearizations</a:t>
            </a:r>
            <a:r>
              <a:rPr lang="en-NL" dirty="0"/>
              <a:t> are meaningful, and you can obtain $\hat </a:t>
            </a:r>
            <a:r>
              <a:rPr lang="en-NL" dirty="0" err="1"/>
              <a:t>G_p</a:t>
            </a:r>
            <a:r>
              <a:rPr lang="en-NL" dirty="0"/>
              <a:t>$ at operating points.</a:t>
            </a:r>
          </a:p>
          <a:p>
            <a:pPr marL="342900" lvl="0" indent="-342900">
              <a:buFont typeface="+mj-lt"/>
              <a:buAutoNum type="arabicPeriod"/>
            </a:pPr>
            <a:r>
              <a:rPr lang="en-NL" b="1" dirty="0"/>
              <a:t>Differs from yours.</a:t>
            </a:r>
            <a:r>
              <a:rPr lang="en-NL" dirty="0"/>
              <a:t> Your gantry may not be re-excitable at will after the hardware move.</a:t>
            </a:r>
          </a:p>
          <a:p>
            <a:pPr marL="342900" lvl="0" indent="-342900">
              <a:buFont typeface="+mj-lt"/>
              <a:buAutoNum type="arabicPeriod"/>
            </a:pPr>
            <a:r>
              <a:rPr lang="en-NL" b="1" dirty="0"/>
              <a:t>Transfers.</a:t>
            </a:r>
            <a:r>
              <a:rPr lang="en-NL" dirty="0"/>
              <a:t> The identifiability argument: poles and damping at 0.25–10 Hz are directly supervised. This is the only candidate that attacks D as well as C.</a:t>
            </a:r>
          </a:p>
          <a:p>
            <a:pPr marL="342900" lvl="0" indent="-342900">
              <a:buFont typeface="+mj-lt"/>
              <a:buAutoNum type="arabicPeriod"/>
            </a:pPr>
            <a:r>
              <a:rPr lang="en-NL" b="1" dirty="0"/>
              <a:t>Does not transfer.</a:t>
            </a:r>
            <a:r>
              <a:rPr lang="en-NL" dirty="0"/>
              <a:t> Nothing about the nonlinear coupling between operating points.</a:t>
            </a:r>
          </a:p>
          <a:p>
            <a:pPr marL="342900" lvl="0" indent="-342900">
              <a:buFont typeface="+mj-lt"/>
              <a:buAutoNum type="arabicPeriod"/>
            </a:pPr>
            <a:r>
              <a:rPr lang="en-NL" b="1" dirty="0"/>
              <a:t>Gradient path.</a:t>
            </a:r>
            <a:r>
              <a:rPr lang="en-NL" dirty="0"/>
              <a:t> Through $A(p)$'s </a:t>
            </a:r>
            <a:r>
              <a:rPr lang="en-NL" dirty="0" err="1"/>
              <a:t>eigenstructure</a:t>
            </a:r>
            <a:r>
              <a:rPr lang="en-NL" dirty="0"/>
              <a:t>, with zero BPTT depth.</a:t>
            </a:r>
          </a:p>
          <a:p>
            <a:pPr marL="342900" lvl="0" indent="-342900">
              <a:buFont typeface="+mj-lt"/>
              <a:buAutoNum type="arabicPeriod"/>
            </a:pPr>
            <a:r>
              <a:rPr lang="en-NL" b="1" dirty="0"/>
              <a:t>Cost.</a:t>
            </a:r>
            <a:r>
              <a:rPr lang="en-NL" dirty="0"/>
              <a:t> Negligible per step. Data collection is the cost.</a:t>
            </a:r>
          </a:p>
          <a:p>
            <a:pPr marL="342900" lvl="0" indent="-342900">
              <a:buFont typeface="+mj-lt"/>
              <a:buAutoNum type="arabicPeriod"/>
            </a:pPr>
            <a:r>
              <a:rPr lang="en-NL" b="1" dirty="0"/>
              <a:t>Failure modes.</a:t>
            </a:r>
            <a:r>
              <a:rPr lang="en-NL" dirty="0"/>
              <a:t> No usable low-frequency excitation in the archived dataset; scheduling-dependent </a:t>
            </a:r>
            <a:r>
              <a:rPr lang="en-NL" dirty="0" err="1"/>
              <a:t>linearizations</a:t>
            </a:r>
            <a:r>
              <a:rPr lang="en-NL" dirty="0"/>
              <a:t> not identifiable from the available operating points.</a:t>
            </a:r>
          </a:p>
          <a:p>
            <a:pPr marL="342900" lvl="0" indent="-342900">
              <a:buFont typeface="+mj-lt"/>
              <a:buAutoNum type="arabicPeriod"/>
            </a:pPr>
            <a:r>
              <a:rPr lang="en-NL" b="1" dirty="0"/>
              <a:t>Falsifier.</a:t>
            </a:r>
            <a:r>
              <a:rPr lang="en-NL" dirty="0"/>
              <a:t> Compute $\hat </a:t>
            </a:r>
            <a:r>
              <a:rPr lang="en-NL" dirty="0" err="1"/>
              <a:t>G_p</a:t>
            </a:r>
            <a:r>
              <a:rPr lang="en-NL" dirty="0"/>
              <a:t>$ from your existing data at the slowest available operating condition and overlay the trained model's frozen linearization. If the slow poles already match and long-term simulation is still wrong, R2 is dead and the problem is not in the linear dynamics.</a:t>
            </a:r>
          </a:p>
          <a:p>
            <a:pPr>
              <a:buNone/>
            </a:pPr>
            <a:r>
              <a:rPr lang="en-NL" b="1" dirty="0"/>
              <a:t>R3. Boundary-corrected encoder shooting with augmented </a:t>
            </a:r>
            <a:r>
              <a:rPr lang="en-NL" b="1" dirty="0" err="1"/>
              <a:t>Lagrangian</a:t>
            </a:r>
            <a:endParaRPr lang="en-NL" b="1" dirty="0"/>
          </a:p>
          <a:p>
            <a:pPr marL="342900" lvl="0" indent="-342900">
              <a:buFont typeface="+mj-lt"/>
              <a:buAutoNum type="arabicPeriod"/>
            </a:pPr>
            <a:r>
              <a:rPr lang="en-NL" b="1" dirty="0"/>
              <a:t>Reference.</a:t>
            </a:r>
            <a:r>
              <a:rPr lang="en-NL" dirty="0"/>
              <a:t> Bock &amp; Plitt (1984) for MS; Turan &amp; </a:t>
            </a:r>
            <a:r>
              <a:rPr lang="en-NL" dirty="0" err="1"/>
              <a:t>Jäschke</a:t>
            </a:r>
            <a:r>
              <a:rPr lang="en-NL" dirty="0"/>
              <a:t> (2022) for penalty/AL handling of the continuity constraints in neural DE training; Iakovlev et al. (ICLR 2023) for the amortized/encoder-generated shooting-state variant with probabilistic continuity.</a:t>
            </a:r>
          </a:p>
          <a:p>
            <a:pPr marL="342900" lvl="0" indent="-342900">
              <a:buFont typeface="+mj-lt"/>
              <a:buAutoNum type="arabicPeriod"/>
            </a:pPr>
            <a:r>
              <a:rPr lang="en-NL" b="1" dirty="0"/>
              <a:t>What they solve.</a:t>
            </a:r>
            <a:r>
              <a:rPr lang="en-NL" dirty="0"/>
              <a:t> Loss-landscape smoothing and stable training on long trajectories.</a:t>
            </a:r>
          </a:p>
          <a:p>
            <a:pPr marL="342900" lvl="0" indent="-342900">
              <a:buFont typeface="+mj-lt"/>
              <a:buAutoNum type="arabicPeriod"/>
            </a:pPr>
            <a:r>
              <a:rPr lang="en-NL" b="1" dirty="0"/>
              <a:t>Equation.</a:t>
            </a:r>
            <a:r>
              <a:rPr lang="en-NL" dirty="0"/>
              <a:t> $</a:t>
            </a:r>
            <a:r>
              <a:rPr lang="en-NL" dirty="0" err="1"/>
              <a:t>s_i</a:t>
            </a:r>
            <a:r>
              <a:rPr lang="en-NL" dirty="0"/>
              <a:t> = E_\phi(</a:t>
            </a:r>
            <a:r>
              <a:rPr lang="en-NL" dirty="0" err="1"/>
              <a:t>H_i</a:t>
            </a:r>
            <a:r>
              <a:rPr lang="en-NL" dirty="0"/>
              <a:t>) + \</a:t>
            </a:r>
            <a:r>
              <a:rPr lang="en-NL" dirty="0" err="1"/>
              <a:t>Delta_i</a:t>
            </a:r>
            <a:r>
              <a:rPr lang="en-NL" dirty="0"/>
              <a:t>$ on a coarse boundary grid; $</a:t>
            </a:r>
            <a:r>
              <a:rPr lang="en-NL" dirty="0" err="1"/>
              <a:t>d_i</a:t>
            </a:r>
            <a:r>
              <a:rPr lang="en-NL" dirty="0"/>
              <a:t> = s_{i+1} - F_\theta^{</a:t>
            </a:r>
            <a:r>
              <a:rPr lang="en-NL" dirty="0" err="1"/>
              <a:t>N_s</a:t>
            </a:r>
            <a:r>
              <a:rPr lang="en-NL" dirty="0"/>
              <a:t>}(</a:t>
            </a:r>
            <a:r>
              <a:rPr lang="en-NL" dirty="0" err="1"/>
              <a:t>s_i</a:t>
            </a:r>
            <a:r>
              <a:rPr lang="en-NL" dirty="0"/>
              <a:t>)$; $\</a:t>
            </a:r>
            <a:r>
              <a:rPr lang="en-NL" dirty="0" err="1"/>
              <a:t>mathcal</a:t>
            </a:r>
            <a:r>
              <a:rPr lang="en-NL" dirty="0"/>
              <a:t>{L} = \sum\</a:t>
            </a:r>
            <a:r>
              <a:rPr lang="en-NL" dirty="0" err="1"/>
              <a:t>ell_i</a:t>
            </a:r>
            <a:r>
              <a:rPr lang="en-NL" dirty="0"/>
              <a:t> + \sum\</a:t>
            </a:r>
            <a:r>
              <a:rPr lang="en-NL" dirty="0" err="1"/>
              <a:t>lambda_i</a:t>
            </a:r>
            <a:r>
              <a:rPr lang="en-NL" dirty="0"/>
              <a:t>^\top </a:t>
            </a:r>
            <a:r>
              <a:rPr lang="en-NL" dirty="0" err="1"/>
              <a:t>d_i</a:t>
            </a:r>
            <a:r>
              <a:rPr lang="en-NL" dirty="0"/>
              <a:t> + \</a:t>
            </a:r>
            <a:r>
              <a:rPr lang="en-NL" dirty="0" err="1"/>
              <a:t>tfrac</a:t>
            </a:r>
            <a:r>
              <a:rPr lang="en-NL" dirty="0"/>
              <a:t>{\mu}{2}\</a:t>
            </a:r>
            <a:r>
              <a:rPr lang="en-NL" dirty="0" err="1"/>
              <a:t>sum|d_i</a:t>
            </a:r>
            <a:r>
              <a:rPr lang="en-NL" dirty="0"/>
              <a:t>|^2$ with the standard multiplier update $\</a:t>
            </a:r>
            <a:r>
              <a:rPr lang="en-NL" dirty="0" err="1"/>
              <a:t>lambda_i</a:t>
            </a:r>
            <a:r>
              <a:rPr lang="en-NL" dirty="0"/>
              <a:t> \</a:t>
            </a:r>
            <a:r>
              <a:rPr lang="en-NL" dirty="0" err="1"/>
              <a:t>leftarrow</a:t>
            </a:r>
            <a:r>
              <a:rPr lang="en-NL" dirty="0"/>
              <a:t> \</a:t>
            </a:r>
            <a:r>
              <a:rPr lang="en-NL" dirty="0" err="1"/>
              <a:t>lambda_i</a:t>
            </a:r>
            <a:r>
              <a:rPr lang="en-NL" dirty="0"/>
              <a:t> + \mu </a:t>
            </a:r>
            <a:r>
              <a:rPr lang="en-NL" dirty="0" err="1"/>
              <a:t>d_i</a:t>
            </a:r>
            <a:r>
              <a:rPr lang="en-NL" dirty="0"/>
              <a:t>$. Latent scale must be pinned (fix $|C_\</a:t>
            </a:r>
            <a:r>
              <a:rPr lang="en-NL" dirty="0" err="1"/>
              <a:t>mathrm</a:t>
            </a:r>
            <a:r>
              <a:rPr lang="en-NL" dirty="0"/>
              <a:t>{</a:t>
            </a:r>
            <a:r>
              <a:rPr lang="en-NL" dirty="0" err="1"/>
              <a:t>aug</a:t>
            </a:r>
            <a:r>
              <a:rPr lang="en-NL" dirty="0"/>
              <a:t>}|$ or normalize $h_\</a:t>
            </a:r>
            <a:r>
              <a:rPr lang="en-NL" dirty="0" err="1"/>
              <a:t>mathrm</a:t>
            </a:r>
            <a:r>
              <a:rPr lang="en-NL" dirty="0"/>
              <a:t>{</a:t>
            </a:r>
            <a:r>
              <a:rPr lang="en-NL" dirty="0" err="1"/>
              <a:t>aug</a:t>
            </a:r>
            <a:r>
              <a:rPr lang="en-NL" dirty="0"/>
              <a:t>}$ variance) or see Q3.</a:t>
            </a:r>
          </a:p>
          <a:p>
            <a:pPr marL="342900" lvl="0" indent="-342900">
              <a:buFont typeface="+mj-lt"/>
              <a:buAutoNum type="arabicPeriod"/>
            </a:pPr>
            <a:r>
              <a:rPr lang="en-NL" b="1" dirty="0"/>
              <a:t>Assumptions.</a:t>
            </a:r>
            <a:r>
              <a:rPr lang="en-NL" dirty="0"/>
              <a:t> Free shooting variables; convergence to a near-feasible point.</a:t>
            </a:r>
          </a:p>
          <a:p>
            <a:pPr marL="342900" lvl="0" indent="-342900">
              <a:buFont typeface="+mj-lt"/>
              <a:buAutoNum type="arabicPeriod"/>
            </a:pPr>
            <a:r>
              <a:rPr lang="en-NL" b="1" dirty="0"/>
              <a:t>Differs.</a:t>
            </a:r>
            <a:r>
              <a:rPr lang="en-NL" dirty="0"/>
              <a:t> Yours are encoder-anchored, which is why $\</a:t>
            </a:r>
            <a:r>
              <a:rPr lang="en-NL" dirty="0" err="1"/>
              <a:t>Delta_i</a:t>
            </a:r>
            <a:r>
              <a:rPr lang="en-NL" dirty="0"/>
              <a:t>$ is needed.</a:t>
            </a:r>
          </a:p>
          <a:p>
            <a:pPr marL="342900" lvl="0" indent="-342900">
              <a:buFont typeface="+mj-lt"/>
              <a:buAutoNum type="arabicPeriod"/>
            </a:pPr>
            <a:r>
              <a:rPr lang="en-NL" b="1" dirty="0"/>
              <a:t>Transfers.</a:t>
            </a:r>
            <a:r>
              <a:rPr lang="en-NL" dirty="0"/>
              <a:t> Smoothness (Ribeiro), and with $\</a:t>
            </a:r>
            <a:r>
              <a:rPr lang="en-NL" dirty="0" err="1"/>
              <a:t>Delta_i</a:t>
            </a:r>
            <a:r>
              <a:rPr lang="en-NL" dirty="0"/>
              <a:t>$ free, the multiplier recursion.</a:t>
            </a:r>
          </a:p>
          <a:p>
            <a:pPr marL="342900" lvl="0" indent="-342900">
              <a:buFont typeface="+mj-lt"/>
              <a:buAutoNum type="arabicPeriod"/>
            </a:pPr>
            <a:r>
              <a:rPr lang="en-NL" b="1" dirty="0"/>
              <a:t>Does not transfer.</a:t>
            </a:r>
            <a:r>
              <a:rPr lang="en-NL" dirty="0"/>
              <a:t> Nothing if you keep the states fully encoder-pinned, per Q1/Q2.</a:t>
            </a:r>
          </a:p>
          <a:p>
            <a:pPr marL="342900" lvl="0" indent="-342900">
              <a:buFont typeface="+mj-lt"/>
              <a:buAutoNum type="arabicPeriod"/>
            </a:pPr>
            <a:r>
              <a:rPr lang="en-NL" b="1" dirty="0"/>
              <a:t>Gradient path.</a:t>
            </a:r>
            <a:r>
              <a:rPr lang="en-NL" dirty="0"/>
              <a:t> Through $\lambda_{i+1}$, which accumulates $\</a:t>
            </a:r>
            <a:r>
              <a:rPr lang="en-NL" dirty="0" err="1"/>
              <a:t>Phi_i</a:t>
            </a:r>
            <a:r>
              <a:rPr lang="en-NL" dirty="0"/>
              <a:t>^\top$ backwards across segments.</a:t>
            </a:r>
          </a:p>
          <a:p>
            <a:pPr marL="342900" lvl="0" indent="-342900">
              <a:buFont typeface="+mj-lt"/>
              <a:buAutoNum type="arabicPeriod"/>
            </a:pPr>
            <a:r>
              <a:rPr lang="en-NL" b="1" dirty="0"/>
              <a:t>Cost.</a:t>
            </a:r>
            <a:r>
              <a:rPr lang="en-NL" dirty="0"/>
              <a:t> $</a:t>
            </a:r>
            <a:r>
              <a:rPr lang="en-NL" dirty="0" err="1"/>
              <a:t>n_z</a:t>
            </a:r>
            <a:r>
              <a:rPr lang="en-NL" dirty="0"/>
              <a:t> \times K$ extra variables plus multipliers, $K$ = number of boundaries, not number of windows. Overlapping windows survive because they are the $\</a:t>
            </a:r>
            <a:r>
              <a:rPr lang="en-NL" dirty="0" err="1"/>
              <a:t>ell_i</a:t>
            </a:r>
            <a:r>
              <a:rPr lang="en-NL" dirty="0"/>
              <a:t>$ terms, not the boundaries.</a:t>
            </a:r>
          </a:p>
          <a:p>
            <a:pPr marL="342900" lvl="0" indent="-342900">
              <a:buFont typeface="+mj-lt"/>
              <a:buAutoNum type="arabicPeriod"/>
            </a:pPr>
            <a:r>
              <a:rPr lang="en-NL" b="1" dirty="0"/>
              <a:t>Failure modes.</a:t>
            </a:r>
            <a:r>
              <a:rPr lang="en-NL" dirty="0"/>
              <a:t> $\</a:t>
            </a:r>
            <a:r>
              <a:rPr lang="en-NL" dirty="0" err="1"/>
              <a:t>Delta_i</a:t>
            </a:r>
            <a:r>
              <a:rPr lang="en-NL" dirty="0"/>
              <a:t>$ absorbs the model error instead of exposing it if unregularized; AL is sensitive to the $\mu$ schedule; adds real implementation risk.</a:t>
            </a:r>
          </a:p>
          <a:p>
            <a:pPr marL="342900" lvl="0" indent="-342900">
              <a:buFont typeface="+mj-lt"/>
              <a:buAutoNum type="arabicPeriod"/>
            </a:pPr>
            <a:r>
              <a:rPr lang="en-NL" b="1" dirty="0"/>
              <a:t>Falsifier.</a:t>
            </a:r>
            <a:r>
              <a:rPr lang="en-NL" dirty="0"/>
              <a:t> Train on a </a:t>
            </a:r>
            <a:r>
              <a:rPr lang="en-NL" i="1" dirty="0"/>
              <a:t>synthetic</a:t>
            </a:r>
            <a:r>
              <a:rPr lang="en-NL" dirty="0"/>
              <a:t> twin with a known slow mode, deliberately mis-set, and check whether the multipliers move $\theta$ toward truth.</a:t>
            </a:r>
          </a:p>
          <a:p>
            <a:pPr>
              <a:buNone/>
            </a:pPr>
            <a:br>
              <a:rPr lang="en-NL" dirty="0"/>
            </a:br>
            <a:endParaRPr lang="en-NL" dirty="0"/>
          </a:p>
          <a:p>
            <a:pPr>
              <a:buNone/>
            </a:pPr>
            <a:r>
              <a:rPr lang="en-NL" b="1" dirty="0"/>
              <a:t>6. Ranking</a:t>
            </a:r>
          </a:p>
          <a:p>
            <a:pPr>
              <a:buNone/>
            </a:pPr>
            <a:r>
              <a:rPr lang="en-NL" b="1" dirty="0"/>
              <a:t>Honest verdict:</a:t>
            </a:r>
            <a:r>
              <a:rPr lang="en-NL" dirty="0"/>
              <a:t> no established method satisfies all seven of your requirements </a:t>
            </a:r>
            <a:r>
              <a:rPr lang="en-NL" i="1" dirty="0"/>
              <a:t>with a transferring guarantee</a:t>
            </a:r>
            <a:r>
              <a:rPr lang="en-NL" dirty="0"/>
              <a:t>. Requirements 1, 2 and 3 are close to mutually exclusive in the time domain, because the encoder reset is itself what destroys long-horizon information. Every method above escapes by relaxing something: R1 and R2 move the long-horizon information out of the time domain; R3 relaxes requirement 1 slightly. Anyone who tells you encoder-anchored multiple shooting recovers Ribeiro's long-horizon equivalence has not written down the multiplier recursion.</a:t>
            </a:r>
          </a:p>
          <a:p>
            <a:pPr>
              <a:buNone/>
            </a:pPr>
            <a:br>
              <a:rPr lang="en-NL" dirty="0"/>
            </a:br>
            <a:endParaRPr lang="en-NL" dirty="0"/>
          </a:p>
          <a:p>
            <a:pPr>
              <a:buNone/>
            </a:pPr>
            <a:r>
              <a:rPr lang="en-NL" b="1" dirty="0"/>
              <a:t>Recommended first experiment</a:t>
            </a:r>
          </a:p>
          <a:p>
            <a:pPr>
              <a:buNone/>
            </a:pPr>
            <a:r>
              <a:rPr lang="en-NL" b="1" dirty="0"/>
              <a:t>A loss-landscape slice along the slow-mode direction. No training, one afternoon.</a:t>
            </a:r>
            <a:endParaRPr lang="en-NL" dirty="0"/>
          </a:p>
          <a:p>
            <a:pPr>
              <a:buNone/>
            </a:pPr>
            <a:r>
              <a:rPr lang="en-NL" dirty="0"/>
              <a:t>Take your current trained model. Pick a scalar perturbation $\delta$ that moves only the slow augmented eigenvalue (or the corresponding $A_\</a:t>
            </a:r>
            <a:r>
              <a:rPr lang="en-NL" dirty="0" err="1"/>
              <a:t>mathrm</a:t>
            </a:r>
            <a:r>
              <a:rPr lang="en-NL" dirty="0"/>
              <a:t>{</a:t>
            </a:r>
            <a:r>
              <a:rPr lang="en-NL" dirty="0" err="1"/>
              <a:t>aug</a:t>
            </a:r>
            <a:r>
              <a:rPr lang="en-NL" dirty="0"/>
              <a:t>}$ entry), spanning a range wide enough that the 4 s autonomous simulation is visibly wrong at the ends. For each $\delta$, evaluate, with everything else frozen:</a:t>
            </a:r>
          </a:p>
          <a:p>
            <a:pPr marL="342900" lvl="0" indent="-342900">
              <a:buFont typeface="+mj-lt"/>
              <a:buAutoNum type="arabicPeriod"/>
            </a:pPr>
            <a:r>
              <a:rPr lang="en-NL" dirty="0"/>
              <a:t>the SUBNET loss at $</a:t>
            </a:r>
            <a:r>
              <a:rPr lang="en-NL" dirty="0" err="1"/>
              <a:t>n_f</a:t>
            </a:r>
            <a:r>
              <a:rPr lang="en-NL" dirty="0"/>
              <a:t> \in {100, 400, 1600}$;</a:t>
            </a:r>
          </a:p>
          <a:p>
            <a:pPr marL="342900" lvl="0" indent="-342900">
              <a:buFont typeface="+mj-lt"/>
              <a:buAutoNum type="arabicPeriod"/>
            </a:pPr>
            <a:r>
              <a:rPr lang="en-NL" dirty="0"/>
              <a:t>the same with the corrective controller on and off;</a:t>
            </a:r>
          </a:p>
          <a:p>
            <a:pPr marL="342900" lvl="0" indent="-342900">
              <a:buFont typeface="+mj-lt"/>
              <a:buAutoNum type="arabicPeriod"/>
            </a:pPr>
            <a:r>
              <a:rPr lang="en-NL" dirty="0"/>
              <a:t>the same with a low-pass prefilter $L$ applied to the residual;</a:t>
            </a:r>
          </a:p>
          <a:p>
            <a:pPr marL="342900" lvl="0" indent="-342900">
              <a:buFont typeface="+mj-lt"/>
              <a:buAutoNum type="arabicPeriod"/>
            </a:pPr>
            <a:r>
              <a:rPr lang="en-NL" dirty="0"/>
              <a:t>the true 4 s autonomous simulation error.</a:t>
            </a:r>
          </a:p>
          <a:p>
            <a:pPr>
              <a:buNone/>
            </a:pPr>
            <a:r>
              <a:rPr lang="en-NL" dirty="0"/>
              <a:t>Then compare curvatures $\partial^2 J/\partial\delta^2$ at $\delta = 0$.</a:t>
            </a:r>
          </a:p>
          <a:p>
            <a:pPr>
              <a:buNone/>
            </a:pPr>
            <a:r>
              <a:rPr lang="en-NL" dirty="0"/>
              <a:t>This single sweep separates everything. Flat SUBNET loss but sharp 4 s error means </a:t>
            </a:r>
            <a:r>
              <a:rPr lang="en-NL" b="1" dirty="0"/>
              <a:t>C</a:t>
            </a:r>
            <a:r>
              <a:rPr lang="en-NL" dirty="0"/>
              <a:t>, and A is excluded (there is nothing to optimize toward). Curvature that grows properly with $</a:t>
            </a:r>
            <a:r>
              <a:rPr lang="en-NL" dirty="0" err="1"/>
              <a:t>n_f</a:t>
            </a:r>
            <a:r>
              <a:rPr lang="en-NL" dirty="0"/>
              <a:t>$ means </a:t>
            </a:r>
            <a:r>
              <a:rPr lang="en-NL" b="1" dirty="0"/>
              <a:t>A</a:t>
            </a:r>
            <a:r>
              <a:rPr lang="en-NL" dirty="0"/>
              <a:t>. Curvature that collapses when the controller is on quantifies the masking as $|S|^2$ and settles requirement 6 empirically. Curvature that recovers under $L$ validates R1 before you implement anything. And plot $E_\</a:t>
            </a:r>
            <a:r>
              <a:rPr lang="en-NL" dirty="0" err="1"/>
              <a:t>phi$'s</a:t>
            </a:r>
            <a:r>
              <a:rPr lang="en-NL" dirty="0"/>
              <a:t> output along the sweep: if the encoder's $h_\</a:t>
            </a:r>
            <a:r>
              <a:rPr lang="en-NL" dirty="0" err="1"/>
              <a:t>mathrm</a:t>
            </a:r>
            <a:r>
              <a:rPr lang="en-NL" dirty="0"/>
              <a:t>{</a:t>
            </a:r>
            <a:r>
              <a:rPr lang="en-NL" dirty="0" err="1"/>
              <a:t>aug</a:t>
            </a:r>
            <a:r>
              <a:rPr lang="en-NL" dirty="0"/>
              <a:t>}$ estimate is uncorrelated with the true slow state of the perturbed model, you have </a:t>
            </a:r>
            <a:r>
              <a:rPr lang="en-NL" b="1" dirty="0"/>
              <a:t>B</a:t>
            </a:r>
            <a:r>
              <a:rPr lang="en-NL" dirty="0"/>
              <a:t>, and no loss-side method will help.</a:t>
            </a:r>
          </a:p>
          <a:p>
            <a:pPr>
              <a:buNone/>
            </a:pPr>
            <a:r>
              <a:rPr lang="en-NL" dirty="0"/>
              <a:t>Run the encoder-window check in the same session: re-train (or just re-fit $\phi$ with $\theta$ frozen) with the history span doubled and quadrupled, using dilated/decimated taps so the parameter count stays flat. If B is present this is the cheapest fix in the entire document.</a:t>
            </a:r>
          </a:p>
          <a:p>
            <a:pPr>
              <a:buNone/>
            </a:pPr>
            <a:r>
              <a:rPr lang="en-NL" b="1" dirty="0"/>
              <a:t>Recommended thesis-safe solution</a:t>
            </a:r>
          </a:p>
          <a:p>
            <a:pPr>
              <a:buNone/>
            </a:pPr>
            <a:r>
              <a:rPr lang="en-NL" b="1" dirty="0"/>
              <a:t>R1, plus removing the corrective controller from training (or replacing the residual by $e + G_\theta u_\</a:t>
            </a:r>
            <a:r>
              <a:rPr lang="en-NL" b="1" dirty="0" err="1"/>
              <a:t>mathrm</a:t>
            </a:r>
            <a:r>
              <a:rPr lang="en-NL" b="1" dirty="0"/>
              <a:t>{</a:t>
            </a:r>
            <a:r>
              <a:rPr lang="en-NL" b="1" dirty="0" err="1"/>
              <a:t>corr</a:t>
            </a:r>
            <a:r>
              <a:rPr lang="en-NL" b="1" dirty="0"/>
              <a:t>}$).</a:t>
            </a:r>
            <a:r>
              <a:rPr lang="en-NL" dirty="0"/>
              <a:t> It is a change to the criterion's frequency weighting, not to the training architecture. SUBNET, the encoder, overlapping windows, stride, $</a:t>
            </a:r>
            <a:r>
              <a:rPr lang="en-NL" dirty="0" err="1"/>
              <a:t>n_f</a:t>
            </a:r>
            <a:r>
              <a:rPr lang="en-NL" dirty="0"/>
              <a:t>$, memory scaling, and your LFR realization all stay exactly as they are. The justification is textbook, your supervisors work in that tradition, and the failure mode is bounded and stateable ("the window must contain at least one period of the mode being weighted"). You can write the bias-distribution argument, the sensitivity-inversion derivation, and the landscape sweep as a coherent three-part chapter that stands even if the final model is imperfect.</a:t>
            </a:r>
          </a:p>
          <a:p>
            <a:pPr>
              <a:buNone/>
            </a:pPr>
            <a:r>
              <a:rPr lang="en-NL" b="1" dirty="0"/>
              <a:t>Strongest alternative</a:t>
            </a:r>
          </a:p>
          <a:p>
            <a:pPr>
              <a:buNone/>
            </a:pPr>
            <a:r>
              <a:rPr lang="en-NL" b="1" dirty="0"/>
              <a:t>R2, the FRF/BLA-matching auxiliary loss.</a:t>
            </a:r>
            <a:r>
              <a:rPr lang="en-NL" dirty="0"/>
              <a:t> It is the only option that gives direct, gradient-bearing supervision of the augmented model's slow poles and damping with no rollout at all, and the only one that touches mechanism D. Use it as an added term rather than a replacement, weighted so it does not dominate the time-domain fit. If both R1 and R2 fail, that is itself a strong thesis result: it says the slow behaviour is not a linear-dynamics property of the augmentation, and the model-class question (D) becomes the contribution, at which point R3 on a synthetic twin is the right way to demonstrate it rather than a fix to be shipped.</a:t>
            </a:r>
          </a:p>
        </p:txBody>
      </p:sp>
    </p:spTree>
    <p:extLst>
      <p:ext uri="{BB962C8B-B14F-4D97-AF65-F5344CB8AC3E}">
        <p14:creationId xmlns:p14="http://schemas.microsoft.com/office/powerpoint/2010/main" val="1279740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855A4-D4AC-DBC4-0CAD-CD522B47F814}"/>
              </a:ext>
            </a:extLst>
          </p:cNvPr>
          <p:cNvSpPr>
            <a:spLocks noGrp="1"/>
          </p:cNvSpPr>
          <p:nvPr>
            <p:ph type="title"/>
          </p:nvPr>
        </p:nvSpPr>
        <p:spPr/>
        <p:txBody>
          <a:bodyPr>
            <a:normAutofit/>
          </a:bodyPr>
          <a:lstStyle/>
          <a:p>
            <a:r>
              <a:rPr lang="en-NL" b="1" dirty="0"/>
              <a:t>The controller was never supervision. It was stabilization.</a:t>
            </a:r>
            <a:endParaRPr lang="en-NL" dirty="0"/>
          </a:p>
        </p:txBody>
      </p:sp>
      <p:sp>
        <p:nvSpPr>
          <p:cNvPr id="3" name="Content Placeholder 2">
            <a:extLst>
              <a:ext uri="{FF2B5EF4-FFF2-40B4-BE49-F238E27FC236}">
                <a16:creationId xmlns:a16="http://schemas.microsoft.com/office/drawing/2014/main" id="{FCCD325A-3912-A8C0-0A46-0D0FB05AFDDF}"/>
              </a:ext>
            </a:extLst>
          </p:cNvPr>
          <p:cNvSpPr>
            <a:spLocks noGrp="1"/>
          </p:cNvSpPr>
          <p:nvPr>
            <p:ph idx="1"/>
          </p:nvPr>
        </p:nvSpPr>
        <p:spPr/>
        <p:txBody>
          <a:bodyPr/>
          <a:lstStyle/>
          <a:p>
            <a:r>
              <a:rPr lang="en-NL" dirty="0"/>
              <a:t>The good core idea is:</a:t>
            </a:r>
          </a:p>
          <a:p>
            <a:r>
              <a:rPr lang="en-NL" dirty="0"/>
              <a:t>If feedback mainly helps by preventing unstable training rollouts, replace it with data-independent stability.</a:t>
            </a:r>
          </a:p>
        </p:txBody>
      </p:sp>
    </p:spTree>
    <p:extLst>
      <p:ext uri="{BB962C8B-B14F-4D97-AF65-F5344CB8AC3E}">
        <p14:creationId xmlns:p14="http://schemas.microsoft.com/office/powerpoint/2010/main" val="3538428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77CF7-35C4-5385-E16F-CB24137C14DE}"/>
              </a:ext>
            </a:extLst>
          </p:cNvPr>
          <p:cNvSpPr>
            <a:spLocks noGrp="1"/>
          </p:cNvSpPr>
          <p:nvPr>
            <p:ph type="title"/>
          </p:nvPr>
        </p:nvSpPr>
        <p:spPr/>
        <p:txBody>
          <a:bodyPr/>
          <a:lstStyle/>
          <a:p>
            <a:r>
              <a:rPr lang="en-US" dirty="0"/>
              <a:t>Is encoder bias making training fail?</a:t>
            </a:r>
            <a:endParaRPr lang="en-NL" dirty="0"/>
          </a:p>
        </p:txBody>
      </p:sp>
      <p:sp>
        <p:nvSpPr>
          <p:cNvPr id="3" name="Content Placeholder 2">
            <a:extLst>
              <a:ext uri="{FF2B5EF4-FFF2-40B4-BE49-F238E27FC236}">
                <a16:creationId xmlns:a16="http://schemas.microsoft.com/office/drawing/2014/main" id="{6E716EED-9CFE-0EF0-5F2F-224DC203F99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36B90C1-F3AB-4CB1-445A-ADE78539437D}"/>
              </a:ext>
            </a:extLst>
          </p:cNvPr>
          <p:cNvPicPr>
            <a:picLocks noChangeAspect="1"/>
          </p:cNvPicPr>
          <p:nvPr/>
        </p:nvPicPr>
        <p:blipFill>
          <a:blip r:embed="rId2"/>
          <a:stretch>
            <a:fillRect/>
          </a:stretch>
        </p:blipFill>
        <p:spPr>
          <a:xfrm>
            <a:off x="2113994" y="1929763"/>
            <a:ext cx="7964011" cy="4563112"/>
          </a:xfrm>
          <a:prstGeom prst="rect">
            <a:avLst/>
          </a:prstGeom>
        </p:spPr>
      </p:pic>
    </p:spTree>
    <p:extLst>
      <p:ext uri="{BB962C8B-B14F-4D97-AF65-F5344CB8AC3E}">
        <p14:creationId xmlns:p14="http://schemas.microsoft.com/office/powerpoint/2010/main" val="540375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0CC42-4DFB-8FF9-2D8D-FE6182A6A29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8FFC28E-E1F1-8B5A-D460-DFFA916CF26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120967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A11F8-2F46-683C-E728-5E812CD57033}"/>
              </a:ext>
            </a:extLst>
          </p:cNvPr>
          <p:cNvSpPr>
            <a:spLocks noGrp="1"/>
          </p:cNvSpPr>
          <p:nvPr>
            <p:ph type="title"/>
          </p:nvPr>
        </p:nvSpPr>
        <p:spPr/>
        <p:txBody>
          <a:bodyPr/>
          <a:lstStyle/>
          <a:p>
            <a:r>
              <a:rPr lang="en-US" dirty="0"/>
              <a:t>Hypothesis causing augmentation NOT to learn</a:t>
            </a:r>
            <a:endParaRPr lang="en-NL" dirty="0"/>
          </a:p>
        </p:txBody>
      </p:sp>
      <p:sp>
        <p:nvSpPr>
          <p:cNvPr id="3" name="Content Placeholder 2">
            <a:extLst>
              <a:ext uri="{FF2B5EF4-FFF2-40B4-BE49-F238E27FC236}">
                <a16:creationId xmlns:a16="http://schemas.microsoft.com/office/drawing/2014/main" id="{BD7333D9-4D9A-7C81-6CC3-64BE3304B251}"/>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0226972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DCF3-1F33-2387-50D7-9AD12D7AB34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DA4F383-C5DD-BD26-6518-067EA77428B0}"/>
              </a:ext>
            </a:extLst>
          </p:cNvPr>
          <p:cNvSpPr>
            <a:spLocks noGrp="1"/>
          </p:cNvSpPr>
          <p:nvPr>
            <p:ph idx="1"/>
          </p:nvPr>
        </p:nvSpPr>
        <p:spPr/>
        <p:txBody>
          <a:bodyPr/>
          <a:lstStyle/>
          <a:p>
            <a:r>
              <a:rPr lang="en-US" dirty="0"/>
              <a:t>That the closed-loop objective causes bad open-loop plant estimation (380x worse than the untrained baseline) and that this is a separate failure from the window-to-free-run gap, which persists unchanged in open loop where no controller exists.</a:t>
            </a:r>
            <a:endParaRPr lang="en-NL" dirty="0"/>
          </a:p>
        </p:txBody>
      </p:sp>
    </p:spTree>
    <p:extLst>
      <p:ext uri="{BB962C8B-B14F-4D97-AF65-F5344CB8AC3E}">
        <p14:creationId xmlns:p14="http://schemas.microsoft.com/office/powerpoint/2010/main" val="4042621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E4691-5DAF-3900-ECF6-E7F7932FD802}"/>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878AE71-4B20-77CA-31A2-9A665B9548B4}"/>
              </a:ext>
            </a:extLst>
          </p:cNvPr>
          <p:cNvSpPr>
            <a:spLocks noGrp="1"/>
          </p:cNvSpPr>
          <p:nvPr>
            <p:ph idx="1"/>
          </p:nvPr>
        </p:nvSpPr>
        <p:spPr/>
        <p:txBody>
          <a:bodyPr/>
          <a:lstStyle/>
          <a:p>
            <a:r>
              <a:rPr lang="en-US" dirty="0"/>
              <a:t> how do we PROOF this?:  so a near-DC offset ε accumulates as t²/2 with no restoring force</a:t>
            </a:r>
            <a:endParaRPr lang="en-NL" dirty="0"/>
          </a:p>
        </p:txBody>
      </p:sp>
    </p:spTree>
    <p:extLst>
      <p:ext uri="{BB962C8B-B14F-4D97-AF65-F5344CB8AC3E}">
        <p14:creationId xmlns:p14="http://schemas.microsoft.com/office/powerpoint/2010/main" val="1197157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2D36A-0EC5-1782-48BA-4B3593ED771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CF17BF1-3D58-9617-7EAB-06072232687D}"/>
              </a:ext>
            </a:extLst>
          </p:cNvPr>
          <p:cNvSpPr>
            <a:spLocks noGrp="1"/>
          </p:cNvSpPr>
          <p:nvPr>
            <p:ph idx="1"/>
          </p:nvPr>
        </p:nvSpPr>
        <p:spPr/>
        <p:txBody>
          <a:bodyPr/>
          <a:lstStyle/>
          <a:p>
            <a:r>
              <a:rPr lang="en-US" dirty="0"/>
              <a:t>Established: there exists a single scalar, the time-averaged ANN output on </a:t>
            </a:r>
            <a:r>
              <a:rPr lang="en-US" dirty="0" err="1"/>
              <a:t>dX</a:t>
            </a:r>
            <a:r>
              <a:rPr lang="en-US" dirty="0"/>
              <a:t>, whose removal recovers two thirds of the open-loop degradation and which the training loss cannot see at all. That is a mechanism, measured on frozen weights.</a:t>
            </a:r>
            <a:endParaRPr lang="en-NL" dirty="0"/>
          </a:p>
        </p:txBody>
      </p:sp>
    </p:spTree>
    <p:extLst>
      <p:ext uri="{BB962C8B-B14F-4D97-AF65-F5344CB8AC3E}">
        <p14:creationId xmlns:p14="http://schemas.microsoft.com/office/powerpoint/2010/main" val="1000329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095B2-F6A3-ECB5-D605-C01EB2954CCE}"/>
              </a:ext>
            </a:extLst>
          </p:cNvPr>
          <p:cNvSpPr>
            <a:spLocks noGrp="1"/>
          </p:cNvSpPr>
          <p:nvPr>
            <p:ph type="title"/>
          </p:nvPr>
        </p:nvSpPr>
        <p:spPr/>
        <p:txBody>
          <a:bodyPr/>
          <a:lstStyle/>
          <a:p>
            <a:r>
              <a:rPr lang="en-US" dirty="0"/>
              <a:t>Verdict </a:t>
            </a:r>
            <a:r>
              <a:rPr lang="en-US" dirty="0" err="1"/>
              <a:t>hypothesises</a:t>
            </a:r>
            <a:endParaRPr lang="en-NL" dirty="0"/>
          </a:p>
        </p:txBody>
      </p:sp>
      <p:sp>
        <p:nvSpPr>
          <p:cNvPr id="3" name="Content Placeholder 2">
            <a:extLst>
              <a:ext uri="{FF2B5EF4-FFF2-40B4-BE49-F238E27FC236}">
                <a16:creationId xmlns:a16="http://schemas.microsoft.com/office/drawing/2014/main" id="{28DE4665-DCB3-DD05-79F8-9BE3468A4720}"/>
              </a:ext>
            </a:extLst>
          </p:cNvPr>
          <p:cNvSpPr>
            <a:spLocks noGrp="1"/>
          </p:cNvSpPr>
          <p:nvPr>
            <p:ph idx="1"/>
          </p:nvPr>
        </p:nvSpPr>
        <p:spPr/>
        <p:txBody>
          <a:bodyPr/>
          <a:lstStyle/>
          <a:p>
            <a:r>
              <a:rPr lang="en-US" dirty="0"/>
              <a:t>1. Short windows cannot observe long-term dynamics.</a:t>
            </a:r>
          </a:p>
          <a:p>
            <a:r>
              <a:rPr lang="en-US" dirty="0"/>
              <a:t>2. The controller was never supervision, it was </a:t>
            </a:r>
            <a:r>
              <a:rPr lang="en-US" dirty="0" err="1"/>
              <a:t>stabilisation</a:t>
            </a:r>
            <a:r>
              <a:rPr lang="en-US" dirty="0"/>
              <a:t>. Closed loop hides long-term dynamics and makes the model worse open-loop, so bad plant dynamics get learned and the controller compensates.</a:t>
            </a:r>
          </a:p>
          <a:p>
            <a:r>
              <a:rPr lang="en-US" dirty="0"/>
              <a:t>3. Bad encoder </a:t>
            </a:r>
            <a:r>
              <a:rPr lang="en-US" dirty="0" err="1"/>
              <a:t>init</a:t>
            </a:r>
            <a:r>
              <a:rPr lang="en-US" dirty="0"/>
              <a:t> on the initial states, so the model learns something bad on top of it.</a:t>
            </a:r>
            <a:endParaRPr lang="en-NL" dirty="0"/>
          </a:p>
        </p:txBody>
      </p:sp>
      <p:sp>
        <p:nvSpPr>
          <p:cNvPr id="5" name="TextBox 4">
            <a:extLst>
              <a:ext uri="{FF2B5EF4-FFF2-40B4-BE49-F238E27FC236}">
                <a16:creationId xmlns:a16="http://schemas.microsoft.com/office/drawing/2014/main" id="{3D81AAFF-6C4E-2BFF-9815-09AEDFF4A9C6}"/>
              </a:ext>
            </a:extLst>
          </p:cNvPr>
          <p:cNvSpPr txBox="1"/>
          <p:nvPr/>
        </p:nvSpPr>
        <p:spPr>
          <a:xfrm>
            <a:off x="10420110" y="733646"/>
            <a:ext cx="6094070" cy="6186309"/>
          </a:xfrm>
          <a:prstGeom prst="rect">
            <a:avLst/>
          </a:prstGeom>
          <a:noFill/>
        </p:spPr>
        <p:txBody>
          <a:bodyPr wrap="square">
            <a:spAutoFit/>
          </a:bodyPr>
          <a:lstStyle/>
          <a:p>
            <a:r>
              <a:rPr lang="en-NL" dirty="0"/>
              <a:t>Verdicts:(1) Alive, and now the best-evidenced thing in the log. It survived in a sharper form than you posed it: not "the window is too short" generically (</a:t>
            </a:r>
            <a:r>
              <a:rPr lang="en-NL" dirty="0" err="1"/>
              <a:t>nf</a:t>
            </a:r>
            <a:r>
              <a:rPr lang="en-NL" dirty="0"/>
              <a:t> sweeps to 3200 and the black-box at </a:t>
            </a:r>
            <a:r>
              <a:rPr lang="en-NL" dirty="0" err="1"/>
              <a:t>nf</a:t>
            </a:r>
            <a:r>
              <a:rPr lang="en-NL" dirty="0"/>
              <a:t>=800 both failed), but the loss is blind to a specific component. §19 proved the blindness from the plant and horizon alone, §21 found the component (</a:t>
            </a:r>
            <a:r>
              <a:rPr lang="en-NL" dirty="0" err="1"/>
              <a:t>dX</a:t>
            </a:r>
            <a:r>
              <a:rPr lang="en-NL" dirty="0"/>
              <a:t> mean, 67-68 % of the damage at a windowed cost in the third decimal), and 79573 shows the window improving 2.2x while the free run degrades 28x with no controller present. This is where the remaining work is.(2) Confirmed, and closed as a question. 79534 vs 79573, one knob: closed-loop training gives an open-loop plant 380x worse than doing nothing, at NRMS 1.80. Your phrasing was right. There is nothing left to investigate here, only to decide what objective replaces it. Note the qualifier that came out of the same pair: it is not the whole story, because the window-to-free-run failure persists in open loop.(3) Dead. Drop it. Three independent strikes: the 2026-08-02 exact-IC run, D-167 fixing the X-pair encoder up to 10.9x while X stayed the fastest-degrading axis, and now the trained encoder halving the free-run error (4.63e-3 untrained → 2.20e-3 trained). The encoder is helping.</a:t>
            </a:r>
          </a:p>
        </p:txBody>
      </p:sp>
      <p:sp>
        <p:nvSpPr>
          <p:cNvPr id="7" name="TextBox 6">
            <a:extLst>
              <a:ext uri="{FF2B5EF4-FFF2-40B4-BE49-F238E27FC236}">
                <a16:creationId xmlns:a16="http://schemas.microsoft.com/office/drawing/2014/main" id="{59D75DE2-8D9C-0C74-2531-2C9AB9BFB2DC}"/>
              </a:ext>
            </a:extLst>
          </p:cNvPr>
          <p:cNvSpPr txBox="1"/>
          <p:nvPr/>
        </p:nvSpPr>
        <p:spPr>
          <a:xfrm>
            <a:off x="610565" y="5493906"/>
            <a:ext cx="8281686" cy="1200329"/>
          </a:xfrm>
          <a:prstGeom prst="rect">
            <a:avLst/>
          </a:prstGeom>
          <a:noFill/>
        </p:spPr>
        <p:txBody>
          <a:bodyPr wrap="square">
            <a:spAutoFit/>
          </a:bodyPr>
          <a:lstStyle/>
          <a:p>
            <a:r>
              <a:rPr lang="en-NL" dirty="0"/>
              <a:t>- Established: closed-loop training wrecks the open-loop plant (one-knob intervention). The loss is blind to the </a:t>
            </a:r>
            <a:r>
              <a:rPr lang="en-NL" dirty="0" err="1"/>
              <a:t>dX</a:t>
            </a:r>
            <a:r>
              <a:rPr lang="en-NL" dirty="0"/>
              <a:t> mean, which carries ~68 % of the damage on both production-rate checkpoints.- Dead: encoder init.- Caveat on everything in §20-22: closed-loop checkpoints only.</a:t>
            </a:r>
          </a:p>
        </p:txBody>
      </p:sp>
    </p:spTree>
    <p:extLst>
      <p:ext uri="{BB962C8B-B14F-4D97-AF65-F5344CB8AC3E}">
        <p14:creationId xmlns:p14="http://schemas.microsoft.com/office/powerpoint/2010/main" val="1975642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950A7-DB44-1C5B-EAE8-CE1D809D405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F2A4BF0-565E-44C2-E42A-AB73384B430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4E7619B-3F9E-38AF-E351-AF5F5721A214}"/>
              </a:ext>
            </a:extLst>
          </p:cNvPr>
          <p:cNvPicPr>
            <a:picLocks noChangeAspect="1"/>
          </p:cNvPicPr>
          <p:nvPr/>
        </p:nvPicPr>
        <p:blipFill>
          <a:blip r:embed="rId2"/>
          <a:stretch>
            <a:fillRect/>
          </a:stretch>
        </p:blipFill>
        <p:spPr>
          <a:xfrm>
            <a:off x="1509072" y="99548"/>
            <a:ext cx="9173855" cy="6658904"/>
          </a:xfrm>
          <a:prstGeom prst="rect">
            <a:avLst/>
          </a:prstGeom>
        </p:spPr>
      </p:pic>
    </p:spTree>
    <p:extLst>
      <p:ext uri="{BB962C8B-B14F-4D97-AF65-F5344CB8AC3E}">
        <p14:creationId xmlns:p14="http://schemas.microsoft.com/office/powerpoint/2010/main" val="1803220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E6C9-F595-69C5-0757-F8D011ECC859}"/>
              </a:ext>
            </a:extLst>
          </p:cNvPr>
          <p:cNvSpPr>
            <a:spLocks noGrp="1"/>
          </p:cNvSpPr>
          <p:nvPr>
            <p:ph type="title"/>
          </p:nvPr>
        </p:nvSpPr>
        <p:spPr/>
        <p:txBody>
          <a:bodyPr/>
          <a:lstStyle/>
          <a:p>
            <a:r>
              <a:rPr lang="en-US" dirty="0"/>
              <a:t>❯ so in short what is the current status / main hypothesis?</a:t>
            </a:r>
            <a:endParaRPr lang="en-NL" dirty="0"/>
          </a:p>
        </p:txBody>
      </p:sp>
      <p:sp>
        <p:nvSpPr>
          <p:cNvPr id="3" name="Content Placeholder 2">
            <a:extLst>
              <a:ext uri="{FF2B5EF4-FFF2-40B4-BE49-F238E27FC236}">
                <a16:creationId xmlns:a16="http://schemas.microsoft.com/office/drawing/2014/main" id="{79FB8D8E-EEBF-1018-BFB1-D683D9978007}"/>
              </a:ext>
            </a:extLst>
          </p:cNvPr>
          <p:cNvSpPr>
            <a:spLocks noGrp="1"/>
          </p:cNvSpPr>
          <p:nvPr>
            <p:ph idx="1"/>
          </p:nvPr>
        </p:nvSpPr>
        <p:spPr/>
        <p:txBody>
          <a:bodyPr>
            <a:normAutofit fontScale="85000" lnSpcReduction="20000"/>
          </a:bodyPr>
          <a:lstStyle/>
          <a:p>
            <a:r>
              <a:rPr lang="en-US" dirty="0"/>
              <a:t>Two independent failures, both measured.1. Physical rows: the objective trades the plant for the window. The ANN learns here, and what it learns improves the 0.1 s loss while wrecking the 12 s free run. One scalar, the mean ANN output on </a:t>
            </a:r>
            <a:r>
              <a:rPr lang="en-US" dirty="0" err="1"/>
              <a:t>dX</a:t>
            </a:r>
            <a:r>
              <a:rPr lang="en-US" dirty="0"/>
              <a:t>, carries 67-68 % of the open-loop damage on both production-rate checkpoints and costs the loss nothing (0.8969 → 0.8972). Closed-loop training compounds it by a separate, independently established route (380x worse open-loop, one-knob intervention).2. Augmented states: structurally inert, never learned. At </a:t>
            </a:r>
            <a:r>
              <a:rPr lang="en-US" dirty="0" err="1"/>
              <a:t>init</a:t>
            </a:r>
            <a:r>
              <a:rPr lang="en-US" dirty="0"/>
              <a:t> </a:t>
            </a:r>
            <a:r>
              <a:rPr lang="en-US" dirty="0" err="1"/>
              <a:t>dy</a:t>
            </a:r>
            <a:r>
              <a:rPr lang="en-US" dirty="0"/>
              <a:t>/</a:t>
            </a:r>
            <a:r>
              <a:rPr lang="en-US" dirty="0" err="1"/>
              <a:t>dx_a</a:t>
            </a:r>
            <a:r>
              <a:rPr lang="en-US" dirty="0"/>
              <a:t> = 0 and dL/</a:t>
            </a:r>
            <a:r>
              <a:rPr lang="en-US" dirty="0" err="1"/>
              <a:t>dW^a</a:t>
            </a:r>
            <a:r>
              <a:rPr lang="en-US" dirty="0"/>
              <a:t> = 0 exactly, </a:t>
            </a:r>
            <a:r>
              <a:rPr lang="en-US" dirty="0" err="1"/>
              <a:t>x_a</a:t>
            </a:r>
            <a:r>
              <a:rPr lang="en-US" dirty="0"/>
              <a:t>[k≥1] = 0 exactly. After training, deleting them improves the free run by 2.2 % and 4.8 %. The R² of 0.63 the runs print is correlation through a common driver, not estimation, and it disappears in R2_raw (+0.002).Dead: encoder </a:t>
            </a:r>
            <a:r>
              <a:rPr lang="en-US" dirty="0" err="1"/>
              <a:t>init</a:t>
            </a:r>
            <a:r>
              <a:rPr lang="en-US" dirty="0"/>
              <a:t>, exponential growth / added unstable mode, DC accumulation as a constant </a:t>
            </a:r>
            <a:r>
              <a:rPr lang="en-US" dirty="0" err="1"/>
              <a:t>model.Main</a:t>
            </a:r>
            <a:r>
              <a:rPr lang="en-US" dirty="0"/>
              <a:t> open question: these two do not share a cause, so fixing either does nothing for the other. Which you address first is a decision, not a </a:t>
            </a:r>
            <a:r>
              <a:rPr lang="en-US" dirty="0" err="1"/>
              <a:t>measurement.Caveat</a:t>
            </a:r>
            <a:r>
              <a:rPr lang="en-US" dirty="0"/>
              <a:t> on everything except §22 (A) and (B): closed-loop checkpoints only. No open-loop run has saved trained ANN weights.</a:t>
            </a:r>
            <a:endParaRPr lang="en-NL" dirty="0"/>
          </a:p>
        </p:txBody>
      </p:sp>
    </p:spTree>
    <p:extLst>
      <p:ext uri="{BB962C8B-B14F-4D97-AF65-F5344CB8AC3E}">
        <p14:creationId xmlns:p14="http://schemas.microsoft.com/office/powerpoint/2010/main" val="5114786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C7448-48C3-4C4D-7FC8-0B5D6640345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CD8EA0A-6CCC-2640-7F46-53B5AD3E9D13}"/>
              </a:ext>
            </a:extLst>
          </p:cNvPr>
          <p:cNvSpPr>
            <a:spLocks noGrp="1"/>
          </p:cNvSpPr>
          <p:nvPr>
            <p:ph idx="1"/>
          </p:nvPr>
        </p:nvSpPr>
        <p:spPr/>
        <p:txBody>
          <a:bodyPr>
            <a:normAutofit fontScale="70000" lnSpcReduction="20000"/>
          </a:bodyPr>
          <a:lstStyle/>
          <a:p>
            <a:r>
              <a:rPr lang="en-US" dirty="0"/>
              <a:t> so in short what is the current </a:t>
            </a:r>
            <a:r>
              <a:rPr lang="en-US" dirty="0" err="1"/>
              <a:t>status.Two</a:t>
            </a:r>
            <a:r>
              <a:rPr lang="en-US" dirty="0"/>
              <a:t> independent failures, both with a measured mechanism, neither with a verified fix.1. The objective trades the plant for the window. The ANN learns on the physical rows and what it learns is harmful long-horizon: </a:t>
            </a:r>
            <a:r>
              <a:rPr lang="en-US" dirty="0" err="1"/>
              <a:t>E_nf</a:t>
            </a:r>
            <a:r>
              <a:rPr lang="en-US" dirty="0"/>
              <a:t> 0.897x bought for E_12s 84.85x. One scalar, the mean output on </a:t>
            </a:r>
            <a:r>
              <a:rPr lang="en-US" dirty="0" err="1"/>
              <a:t>dX</a:t>
            </a:r>
            <a:r>
              <a:rPr lang="en-US" dirty="0"/>
              <a:t>, carries 67.3 % and 68.4 % of that damage on the two production-rate checkpoints, at a windowed cost in the third decimal. §19 predicted the blindness from the plant and horizon before any checkpoint was opened. Closed-loop training compounds it separately (380x, one-knob intervention).2. The augmented states are architecturally inert. They are simultaneously unpopulated and unobserved. Recursion alone gives persistence with zero gradient; readout alone gives gradient with reach exactly 1. Both together give reach 100/100. At </a:t>
            </a:r>
            <a:r>
              <a:rPr lang="en-US" dirty="0" err="1"/>
              <a:t>init</a:t>
            </a:r>
            <a:r>
              <a:rPr lang="en-US" dirty="0"/>
              <a:t> dL/</a:t>
            </a:r>
            <a:r>
              <a:rPr lang="en-US" dirty="0" err="1"/>
              <a:t>dW^a</a:t>
            </a:r>
            <a:r>
              <a:rPr lang="en-US" dirty="0"/>
              <a:t> = 0 exactly; after training, deleting the states improves the free run by 2.2 % and 4.8 %.Dead: encoder </a:t>
            </a:r>
            <a:r>
              <a:rPr lang="en-US" dirty="0" err="1"/>
              <a:t>init</a:t>
            </a:r>
            <a:r>
              <a:rPr lang="en-US" dirty="0"/>
              <a:t> (three strikes), exponential growth / added mode, DC-as-a-</a:t>
            </a:r>
            <a:r>
              <a:rPr lang="en-US" dirty="0" err="1"/>
              <a:t>constant.The</a:t>
            </a:r>
            <a:r>
              <a:rPr lang="en-US" dirty="0"/>
              <a:t> one caveat on everything checkpoint-level: closed-loop trained only. No open-loop run has ever saved trained ANN </a:t>
            </a:r>
            <a:r>
              <a:rPr lang="en-US" dirty="0" err="1"/>
              <a:t>weights.What</a:t>
            </a:r>
            <a:r>
              <a:rPr lang="en-US" dirty="0"/>
              <a:t> is not answered: whether relieving the gate makes the states learn. §15 says the objective attenuated the augmented mode when it was finally given one, and that verdict was reached under the objective now known to be blind. That is the only thread connecting the two failures, and it needs a training run.</a:t>
            </a:r>
            <a:endParaRPr lang="en-NL" dirty="0"/>
          </a:p>
        </p:txBody>
      </p:sp>
    </p:spTree>
    <p:extLst>
      <p:ext uri="{BB962C8B-B14F-4D97-AF65-F5344CB8AC3E}">
        <p14:creationId xmlns:p14="http://schemas.microsoft.com/office/powerpoint/2010/main" val="2074952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CB6B9-1D55-90D6-D24B-E24F529EE51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D7AD3DA-A21A-93A6-2122-70C9E823F55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F5DAC9F-CA61-FC3C-B020-B625CC794087}"/>
              </a:ext>
            </a:extLst>
          </p:cNvPr>
          <p:cNvPicPr>
            <a:picLocks noChangeAspect="1"/>
          </p:cNvPicPr>
          <p:nvPr/>
        </p:nvPicPr>
        <p:blipFill>
          <a:blip r:embed="rId2"/>
          <a:stretch>
            <a:fillRect/>
          </a:stretch>
        </p:blipFill>
        <p:spPr>
          <a:xfrm>
            <a:off x="2523626" y="699706"/>
            <a:ext cx="7144747" cy="5458587"/>
          </a:xfrm>
          <a:prstGeom prst="rect">
            <a:avLst/>
          </a:prstGeom>
        </p:spPr>
      </p:pic>
    </p:spTree>
    <p:extLst>
      <p:ext uri="{BB962C8B-B14F-4D97-AF65-F5344CB8AC3E}">
        <p14:creationId xmlns:p14="http://schemas.microsoft.com/office/powerpoint/2010/main" val="1006813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5E068-AAFF-420E-8DCA-987A8DB37780}"/>
              </a:ext>
            </a:extLst>
          </p:cNvPr>
          <p:cNvSpPr>
            <a:spLocks noGrp="1"/>
          </p:cNvSpPr>
          <p:nvPr>
            <p:ph type="title"/>
          </p:nvPr>
        </p:nvSpPr>
        <p:spPr/>
        <p:txBody>
          <a:bodyPr/>
          <a:lstStyle/>
          <a:p>
            <a:r>
              <a:rPr lang="en-US" dirty="0"/>
              <a:t>Requirements</a:t>
            </a:r>
            <a:endParaRPr lang="en-NL" dirty="0"/>
          </a:p>
        </p:txBody>
      </p:sp>
      <p:sp>
        <p:nvSpPr>
          <p:cNvPr id="3" name="Content Placeholder 2">
            <a:extLst>
              <a:ext uri="{FF2B5EF4-FFF2-40B4-BE49-F238E27FC236}">
                <a16:creationId xmlns:a16="http://schemas.microsoft.com/office/drawing/2014/main" id="{5E919EFB-C0D3-2FC0-8E99-EC58C2A80E9C}"/>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958580AE-FB6E-FCFC-7B6D-4CF5160118C4}"/>
              </a:ext>
            </a:extLst>
          </p:cNvPr>
          <p:cNvSpPr txBox="1"/>
          <p:nvPr/>
        </p:nvSpPr>
        <p:spPr>
          <a:xfrm>
            <a:off x="3048000" y="-8941160"/>
            <a:ext cx="6096000" cy="25853231"/>
          </a:xfrm>
          <a:prstGeom prst="rect">
            <a:avLst/>
          </a:prstGeom>
          <a:noFill/>
        </p:spPr>
        <p:txBody>
          <a:bodyPr wrap="square">
            <a:spAutoFit/>
          </a:bodyPr>
          <a:lstStyle/>
          <a:p>
            <a:r>
              <a:rPr lang="en-NL" dirty="0" err="1"/>
              <a:t>i</a:t>
            </a:r>
            <a:r>
              <a:rPr lang="en-NL" dirty="0"/>
              <a:t> </a:t>
            </a:r>
            <a:r>
              <a:rPr lang="en-NL" dirty="0" err="1"/>
              <a:t>dont</a:t>
            </a:r>
            <a:r>
              <a:rPr lang="en-NL" dirty="0"/>
              <a:t> need a controller implementation per se because it only seems to hide the actual errors</a:t>
            </a:r>
          </a:p>
          <a:p>
            <a:endParaRPr lang="en-NL" dirty="0"/>
          </a:p>
          <a:p>
            <a:r>
              <a:rPr lang="en-NL" dirty="0"/>
              <a:t>Requirements, with the acceptance number where one now exists</a:t>
            </a:r>
          </a:p>
          <a:p>
            <a:endParaRPr lang="en-NL" dirty="0"/>
          </a:p>
          <a:p>
            <a:r>
              <a:rPr lang="en-NL" dirty="0"/>
              <a:t>#: 1</a:t>
            </a:r>
          </a:p>
          <a:p>
            <a:r>
              <a:rPr lang="en-NL" dirty="0"/>
              <a:t>Requirement: Long effective horizon at short BPTT</a:t>
            </a:r>
          </a:p>
          <a:p>
            <a:r>
              <a:rPr lang="en-NL" dirty="0"/>
              <a:t>Status: measured, quantified</a:t>
            </a:r>
          </a:p>
          <a:p>
            <a:r>
              <a:rPr lang="en-NL" dirty="0"/>
              <a:t>The number: effective horizon ≥ 3 s at ≤ 400-step backprop. §25: blindness tracks the evaluation/training</a:t>
            </a:r>
          </a:p>
          <a:p>
            <a:r>
              <a:rPr lang="en-NL" dirty="0"/>
              <a:t> horizon ratio and never reaches 1, so 3 s is where a 13.9x-damaging offset first costs the loss more</a:t>
            </a:r>
          </a:p>
          <a:p>
            <a:r>
              <a:rPr lang="en-NL" dirty="0"/>
              <a:t>than the 2.20x it can earn elsewhere</a:t>
            </a:r>
          </a:p>
          <a:p>
            <a:r>
              <a:rPr lang="en-NL" dirty="0"/>
              <a:t>────────────────────────────────────────</a:t>
            </a:r>
          </a:p>
          <a:p>
            <a:r>
              <a:rPr lang="en-NL" dirty="0"/>
              <a:t>#: 2</a:t>
            </a:r>
          </a:p>
          <a:p>
            <a:r>
              <a:rPr lang="en-NL" dirty="0"/>
              <a:t>Requirement: Keeps the trained encoder</a:t>
            </a:r>
          </a:p>
          <a:p>
            <a:r>
              <a:rPr lang="en-NL" dirty="0"/>
              <a:t>Status: upgraded from preference to requirement</a:t>
            </a:r>
          </a:p>
          <a:p>
            <a:r>
              <a:rPr lang="en-NL" dirty="0"/>
              <a:t>The number: the trained encoder alone halves the free-run error, 4.6251e-03 → 2.2034e-03</a:t>
            </a:r>
          </a:p>
          <a:p>
            <a:r>
              <a:rPr lang="en-NL" dirty="0"/>
              <a:t>────────────────────────────────────────</a:t>
            </a:r>
          </a:p>
          <a:p>
            <a:r>
              <a:rPr lang="en-NL" dirty="0"/>
              <a:t>#: 3</a:t>
            </a:r>
          </a:p>
          <a:p>
            <a:r>
              <a:rPr lang="en-NL" dirty="0"/>
              <a:t>Requirement: Works with latent states</a:t>
            </a:r>
          </a:p>
          <a:p>
            <a:r>
              <a:rPr lang="en-NL" dirty="0"/>
              <a:t>Status: requirement is stronger than stated</a:t>
            </a:r>
          </a:p>
          <a:p>
            <a:r>
              <a:rPr lang="en-NL" dirty="0"/>
              <a:t>The number: the latent path needs both a readout and a recursion (§23); and any defect-based method must</a:t>
            </a:r>
          </a:p>
          <a:p>
            <a:r>
              <a:rPr lang="en-NL" dirty="0"/>
              <a:t>be checked for the §15 degeneracy, where the defect on augmented rows is minimised by </a:t>
            </a:r>
            <a:r>
              <a:rPr lang="en-NL" dirty="0" err="1"/>
              <a:t>enc_a</a:t>
            </a:r>
            <a:r>
              <a:rPr lang="en-NL" dirty="0"/>
              <a:t> =  0</a:t>
            </a:r>
          </a:p>
          <a:p>
            <a:r>
              <a:rPr lang="en-NL" dirty="0"/>
              <a:t>────────────────────────────────────────</a:t>
            </a:r>
          </a:p>
          <a:p>
            <a:r>
              <a:rPr lang="en-NL" dirty="0"/>
              <a:t>#: 4</a:t>
            </a:r>
          </a:p>
          <a:p>
            <a:r>
              <a:rPr lang="en-NL" dirty="0"/>
              <a:t>Requirement: Keeps overlapping window</a:t>
            </a:r>
          </a:p>
          <a:p>
            <a:r>
              <a:rPr lang="en-NL" dirty="0"/>
              <a:t>Status: cost, not a hard requirement</a:t>
            </a:r>
          </a:p>
          <a:p>
            <a:r>
              <a:rPr lang="en-NL" dirty="0"/>
              <a:t>The number: state-carrying forces sequential processing per record and breaks shuffled batching</a:t>
            </a:r>
          </a:p>
          <a:p>
            <a:r>
              <a:rPr lang="en-NL" dirty="0"/>
              <a:t>─────────────────────────────────────</a:t>
            </a:r>
          </a:p>
          <a:p>
            <a:r>
              <a:rPr lang="en-NL" dirty="0"/>
              <a:t>#: 5</a:t>
            </a:r>
          </a:p>
          <a:p>
            <a:r>
              <a:rPr lang="en-NL" dirty="0"/>
              <a:t>Requirement: Prevents controller masking</a:t>
            </a:r>
          </a:p>
          <a:p>
            <a:r>
              <a:rPr lang="en-NL" dirty="0"/>
              <a:t>Status: measured</a:t>
            </a:r>
          </a:p>
          <a:p>
            <a:r>
              <a:rPr lang="en-NL" dirty="0"/>
              <a:t>The number: closed-loop scoring hides a 380x open-loop degradation. Restate as: the objective must</a:t>
            </a:r>
          </a:p>
          <a:p>
            <a:r>
              <a:rPr lang="en-NL" dirty="0"/>
              <a:t>contain an autonomous term, not </a:t>
            </a:r>
            <a:r>
              <a:rPr lang="en-NL" dirty="0" err="1"/>
              <a:t>merel</a:t>
            </a:r>
            <a:endParaRPr lang="en-NL" dirty="0"/>
          </a:p>
          <a:p>
            <a:r>
              <a:rPr lang="en-NL" dirty="0"/>
              <a:t>────────────────────────────────────────</a:t>
            </a:r>
          </a:p>
          <a:p>
            <a:r>
              <a:rPr lang="en-NL" dirty="0"/>
              <a:t>#: 6</a:t>
            </a:r>
          </a:p>
          <a:p>
            <a:r>
              <a:rPr lang="en-NL" dirty="0"/>
              <a:t>Requirement: Literature support</a:t>
            </a:r>
          </a:p>
          <a:p>
            <a:r>
              <a:rPr lang="en-NL" dirty="0"/>
              <a:t>Status: unchanged</a:t>
            </a:r>
          </a:p>
          <a:p>
            <a:r>
              <a:rPr lang="en-NL" dirty="0"/>
              <a:t>The number:</a:t>
            </a:r>
          </a:p>
          <a:p>
            <a:endParaRPr lang="en-NL" dirty="0"/>
          </a:p>
          <a:p>
            <a:r>
              <a:rPr lang="en-NL" dirty="0"/>
              <a:t>Four you did not have, and three of t</a:t>
            </a:r>
          </a:p>
          <a:p>
            <a:endParaRPr lang="en-NL" dirty="0"/>
          </a:p>
          <a:p>
            <a:r>
              <a:rPr lang="en-NL" dirty="0"/>
              <a:t>#: 7</a:t>
            </a:r>
          </a:p>
          <a:p>
            <a:r>
              <a:rPr lang="en-NL" dirty="0"/>
              <a:t>Requirement: Must not forbid a </a:t>
            </a:r>
            <a:r>
              <a:rPr lang="en-NL" dirty="0" err="1"/>
              <a:t>legiti</a:t>
            </a:r>
            <a:endParaRPr lang="en-NL" dirty="0"/>
          </a:p>
          <a:p>
            <a:r>
              <a:rPr lang="en-NL" dirty="0"/>
              <a:t>Why: friction on Telica and the static L0 centre-of-mass offset already in augmentation_ma50_a5 are real</a:t>
            </a:r>
          </a:p>
          <a:p>
            <a:r>
              <a:rPr lang="en-NL" dirty="0"/>
              <a:t>constants. This excludes the whole ze zeromean_pin.py. The constraint must</a:t>
            </a:r>
          </a:p>
          <a:p>
            <a:r>
              <a:rPr lang="en-NL" dirty="0"/>
              <a:t> act on the residual y - ŷ, not on the ANN output, so a correct constant is rewarded and a wrong one</a:t>
            </a:r>
          </a:p>
          <a:p>
            <a:r>
              <a:rPr lang="en-NL" dirty="0"/>
              <a:t>penalised</a:t>
            </a:r>
          </a:p>
          <a:p>
            <a:r>
              <a:rPr lang="en-NL" dirty="0"/>
              <a:t>────────────────────────────────────────</a:t>
            </a:r>
          </a:p>
          <a:p>
            <a:r>
              <a:rPr lang="en-NL" dirty="0"/>
              <a:t>#: 8</a:t>
            </a:r>
          </a:p>
          <a:p>
            <a:r>
              <a:rPr lang="en-NL" dirty="0"/>
              <a:t>Requirement: Must not require true states</a:t>
            </a:r>
          </a:p>
          <a:p>
            <a:r>
              <a:rPr lang="en-NL" dirty="0"/>
              <a:t>Why: Telica measures positions only; differencing inflates the </a:t>
            </a:r>
            <a:r>
              <a:rPr lang="en-NL" dirty="0" err="1"/>
              <a:t>dTheta</a:t>
            </a:r>
            <a:r>
              <a:rPr lang="en-NL" dirty="0"/>
              <a:t> velocity std 193x at SNR 60. No</a:t>
            </a:r>
          </a:p>
          <a:p>
            <a:r>
              <a:rPr lang="en-NL" dirty="0"/>
              <a:t>velocity supervision, no state-</a:t>
            </a:r>
            <a:r>
              <a:rPr lang="en-NL" dirty="0" err="1"/>
              <a:t>matchi</a:t>
            </a:r>
            <a:endParaRPr lang="en-NL" dirty="0"/>
          </a:p>
          <a:p>
            <a:r>
              <a:rPr lang="en-NL" dirty="0"/>
              <a:t>────────────────────────────────────────</a:t>
            </a:r>
          </a:p>
          <a:p>
            <a:r>
              <a:rPr lang="en-NL" dirty="0"/>
              <a:t>#: 9</a:t>
            </a:r>
          </a:p>
          <a:p>
            <a:r>
              <a:rPr lang="en-NL" dirty="0"/>
              <a:t>Requirement: Must be assessable before training</a:t>
            </a:r>
          </a:p>
          <a:p>
            <a:r>
              <a:rPr lang="en-NL" dirty="0"/>
              <a:t>Why: everything decisive this session came from forward and backward passes. A method whose value only</a:t>
            </a:r>
          </a:p>
          <a:p>
            <a:r>
              <a:rPr lang="en-NL" dirty="0"/>
              <a:t>shows after a multi-day run is a bad </a:t>
            </a:r>
            <a:r>
              <a:rPr lang="en-NL" dirty="0" err="1"/>
              <a:t>ect</a:t>
            </a:r>
            <a:endParaRPr lang="en-NL" dirty="0"/>
          </a:p>
          <a:p>
            <a:r>
              <a:rPr lang="en-NL" dirty="0"/>
              <a:t>────────────────────────────────────────</a:t>
            </a:r>
          </a:p>
          <a:p>
            <a:r>
              <a:rPr lang="en-NL" dirty="0"/>
              <a:t>#: 10</a:t>
            </a:r>
          </a:p>
          <a:p>
            <a:r>
              <a:rPr lang="en-NL" dirty="0"/>
              <a:t>Requirement: Preserves baseline-exactness, or prices the departure</a:t>
            </a:r>
          </a:p>
          <a:p>
            <a:r>
              <a:rPr lang="en-NL" dirty="0"/>
              <a:t>Why: D-072/D-089 make "the model </a:t>
            </a:r>
            <a:r>
              <a:rPr lang="en-NL" dirty="0" err="1"/>
              <a:t>starhe</a:t>
            </a:r>
            <a:r>
              <a:rPr lang="en-NL" dirty="0"/>
              <a:t> basis of the baseline comparison.</a:t>
            </a:r>
          </a:p>
          <a:p>
            <a:r>
              <a:rPr lang="en-NL" dirty="0"/>
              <a:t>§23 measures the cheap gate operating point at 2.2x departure and the matched one at 34300x</a:t>
            </a:r>
          </a:p>
          <a:p>
            <a:endParaRPr lang="en-US" dirty="0"/>
          </a:p>
          <a:p>
            <a:r>
              <a:rPr lang="en-US" dirty="0"/>
              <a:t>#: 11</a:t>
            </a:r>
          </a:p>
          <a:p>
            <a:r>
              <a:rPr lang="en-US" dirty="0"/>
              <a:t>Needs to be extendable to noise and real data where there is friction.</a:t>
            </a:r>
          </a:p>
          <a:p>
            <a:endParaRPr lang="en-NL" dirty="0"/>
          </a:p>
          <a:p>
            <a:r>
              <a:rPr lang="en-NL" dirty="0"/>
              <a:t>Two structural notes for the table</a:t>
            </a:r>
          </a:p>
          <a:p>
            <a:endParaRPr lang="en-NL" dirty="0"/>
          </a:p>
          <a:p>
            <a:r>
              <a:rPr lang="en-NL" dirty="0"/>
              <a:t>Requirements 1 and 5 are independent.re persists with no </a:t>
            </a:r>
            <a:r>
              <a:rPr lang="en-NL" dirty="0" err="1"/>
              <a:t>controllerpresent</a:t>
            </a:r>
            <a:r>
              <a:rPr lang="en-NL" dirty="0"/>
              <a:t>, so a method satisfying 5 does not thereby satisfy 1. Any candidate has to be scored on both.</a:t>
            </a:r>
          </a:p>
          <a:p>
            <a:endParaRPr lang="en-NL" dirty="0"/>
          </a:p>
          <a:p>
            <a:r>
              <a:rPr lang="en-NL" dirty="0"/>
              <a:t>Requirement 1 has a control, not just a target. </a:t>
            </a:r>
            <a:r>
              <a:rPr lang="en-NL" dirty="0" err="1"/>
              <a:t>nf</a:t>
            </a:r>
            <a:r>
              <a:rPr lang="en-NL" dirty="0"/>
              <a:t> = 12000 full backprop satisfies it at roughly 6.5 h/epoch. That is the number any </a:t>
            </a:r>
            <a:r>
              <a:rPr lang="en-NL" dirty="0" err="1"/>
              <a:t>cheapt</a:t>
            </a:r>
            <a:r>
              <a:rPr lang="en-NL" dirty="0"/>
              <a:t> is what the job currently running is measuring for stitched windows and multiple shooting. </a:t>
            </a:r>
          </a:p>
        </p:txBody>
      </p:sp>
    </p:spTree>
    <p:extLst>
      <p:ext uri="{BB962C8B-B14F-4D97-AF65-F5344CB8AC3E}">
        <p14:creationId xmlns:p14="http://schemas.microsoft.com/office/powerpoint/2010/main" val="12426749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A5857-762C-03BB-FDFE-B5F0FB9EB29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1C1FC60-A22B-CAAD-B517-59A6DA0C8BAB}"/>
              </a:ext>
            </a:extLst>
          </p:cNvPr>
          <p:cNvSpPr>
            <a:spLocks noGrp="1"/>
          </p:cNvSpPr>
          <p:nvPr>
            <p:ph idx="1"/>
          </p:nvPr>
        </p:nvSpPr>
        <p:spPr/>
        <p:txBody>
          <a:bodyPr>
            <a:normAutofit fontScale="55000" lnSpcReduction="20000"/>
          </a:bodyPr>
          <a:lstStyle/>
          <a:p>
            <a:r>
              <a:rPr lang="en-US" dirty="0"/>
              <a:t>what is the current </a:t>
            </a:r>
            <a:r>
              <a:rPr lang="en-US" dirty="0" err="1"/>
              <a:t>status?Running</a:t>
            </a:r>
            <a:r>
              <a:rPr lang="en-US" dirty="0"/>
              <a:t> now: the augmented-</a:t>
            </a:r>
            <a:r>
              <a:rPr lang="en-US" dirty="0" err="1"/>
              <a:t>Lagrangian</a:t>
            </a:r>
            <a:r>
              <a:rPr lang="en-US" dirty="0"/>
              <a:t> test, ~20 min. It decides whether enforcing the shooting constraints recovers the long-horizon sensitivity that a fixed penalty could </a:t>
            </a:r>
            <a:r>
              <a:rPr lang="en-US" dirty="0" err="1"/>
              <a:t>not.Diagnosis</a:t>
            </a:r>
            <a:r>
              <a:rPr lang="en-US" dirty="0"/>
              <a:t>: </a:t>
            </a:r>
            <a:r>
              <a:rPr lang="en-US" dirty="0" err="1"/>
              <a:t>completeTwo</a:t>
            </a:r>
            <a:r>
              <a:rPr lang="en-US" dirty="0"/>
              <a:t> independent failures, both measured.1. The objective trades the plant for the window. The </a:t>
            </a:r>
            <a:r>
              <a:rPr lang="en-US" dirty="0" err="1"/>
              <a:t>dX</a:t>
            </a:r>
            <a:r>
              <a:rPr lang="en-US" dirty="0"/>
              <a:t> mean output carries 67-68 % of the open-loop damage on both production-rate checkpoints, at a windowed cost in the third decimal. And the production loss's gradient in that direction has the wrong sign, so it actively rewards the offset. Closed-loop training compounds it separately (380x, one-knob intervention).2. The augmented states are architecturally inert. </a:t>
            </a:r>
            <a:r>
              <a:rPr lang="en-US" dirty="0" err="1"/>
              <a:t>dy</a:t>
            </a:r>
            <a:r>
              <a:rPr lang="en-US" dirty="0"/>
              <a:t>/</a:t>
            </a:r>
            <a:r>
              <a:rPr lang="en-US" dirty="0" err="1"/>
              <a:t>dx_a</a:t>
            </a:r>
            <a:r>
              <a:rPr lang="en-US" dirty="0"/>
              <a:t> = 0 and dL/</a:t>
            </a:r>
            <a:r>
              <a:rPr lang="en-US" dirty="0" err="1"/>
              <a:t>dW^a</a:t>
            </a:r>
            <a:r>
              <a:rPr lang="en-US" dirty="0"/>
              <a:t> = 0 exactly at </a:t>
            </a:r>
            <a:r>
              <a:rPr lang="en-US" dirty="0" err="1"/>
              <a:t>init</a:t>
            </a:r>
            <a:r>
              <a:rPr lang="en-US" dirty="0"/>
              <a:t>; deleting them after training improves the free run. Fixing this needs both a readout and a recursion; neither alone </a:t>
            </a:r>
            <a:r>
              <a:rPr lang="en-US" dirty="0" err="1"/>
              <a:t>suffices.Refuted</a:t>
            </a:r>
            <a:r>
              <a:rPr lang="en-US" dirty="0"/>
              <a:t>: encoder </a:t>
            </a:r>
            <a:r>
              <a:rPr lang="en-US" dirty="0" err="1"/>
              <a:t>init</a:t>
            </a:r>
            <a:r>
              <a:rPr lang="en-US" dirty="0"/>
              <a:t> (three strikes), exponential growth / added mode, DC-as-a-constant, zero-mean pins (physical grounds, friction and the L0 offset).Method search: one candidate left </a:t>
            </a:r>
            <a:r>
              <a:rPr lang="en-US" dirty="0" err="1"/>
              <a:t>standingConstrained</a:t>
            </a:r>
            <a:r>
              <a:rPr lang="en-US" dirty="0"/>
              <a:t> multiple shooting. Passes R1 by proof rather than measurement (Ribeiro's Theorem 2 / Corollary 3, exact and model-class-agnostic), plus R5, R7, R8, R10 cleanly. Does not touch R3, because </a:t>
            </a:r>
            <a:r>
              <a:rPr lang="en-US" dirty="0" err="1"/>
              <a:t>enc_a</a:t>
            </a:r>
            <a:r>
              <a:rPr lang="en-US" dirty="0"/>
              <a:t> = 0 is a feasible point of the equality constraint, so the augmented-state failure survives it </a:t>
            </a:r>
            <a:r>
              <a:rPr lang="en-US" dirty="0" err="1"/>
              <a:t>untouched.Measured</a:t>
            </a:r>
            <a:r>
              <a:rPr lang="en-US" dirty="0"/>
              <a:t> out: soft multiple shooting (λ = 3.34e+04 destroys the objective), your design doc's encoder-pinned variant (L400 sensitivity), MS with output-space defect (needs a </a:t>
            </a:r>
            <a:r>
              <a:rPr lang="en-US" dirty="0" err="1"/>
              <a:t>C_aug</a:t>
            </a:r>
            <a:r>
              <a:rPr lang="en-US" dirty="0"/>
              <a:t> you don't have), the Floren LFR method (periodic data, parameters linear in basis, DC conditioning).Unresolved: stateful chaining (right sign, 0.1 % strength), frequency-weighted residual (untested, the only candidate that improves under noise).The open </a:t>
            </a:r>
            <a:r>
              <a:rPr lang="en-US" dirty="0" err="1"/>
              <a:t>riskRibeiro</a:t>
            </a:r>
            <a:r>
              <a:rPr lang="en-US" dirty="0"/>
              <a:t> reaches feasibility with SQP on 300-1024 sample problems with 3 parameters. You have ~13k shooting variables in minibatch training. The running job answers whether Adam plus multipliers gets to the same place, i.e. whether the route dies on tractability rather than on </a:t>
            </a:r>
            <a:r>
              <a:rPr lang="en-US" dirty="0" err="1"/>
              <a:t>theory.Not</a:t>
            </a:r>
            <a:r>
              <a:rPr lang="en-US" dirty="0"/>
              <a:t> yet </a:t>
            </a:r>
            <a:r>
              <a:rPr lang="en-US" dirty="0" err="1"/>
              <a:t>loggedUnresolved</a:t>
            </a:r>
            <a:r>
              <a:rPr lang="en-US" dirty="0"/>
              <a:t>: stateful chaining (right sign, 0.1 % strength), frequency-weighted residual (untested, the only candidate that improves under noise).The open </a:t>
            </a:r>
            <a:r>
              <a:rPr lang="en-US" dirty="0" err="1"/>
              <a:t>riskRibeiro</a:t>
            </a:r>
            <a:r>
              <a:rPr lang="en-US" dirty="0"/>
              <a:t> reaches feasibility with SQP on 300-1024 sample problems with 3 parameters. You have ~13k shooting variables in minibatch training. The running job answers whether Adam plus multipliers gets to the same place, i.e. whether the route dies on tractability rather than on </a:t>
            </a:r>
            <a:r>
              <a:rPr lang="en-US" dirty="0" err="1"/>
              <a:t>theory.Not</a:t>
            </a:r>
            <a:r>
              <a:rPr lang="en-US" dirty="0"/>
              <a:t> yet logged§26, the window-stitching result including the wrong-sign finding, and the multi-checkpoint </a:t>
            </a:r>
            <a:r>
              <a:rPr lang="en-US" dirty="0" err="1"/>
              <a:t>dX</a:t>
            </a:r>
            <a:r>
              <a:rPr lang="en-US" dirty="0"/>
              <a:t> attribution. Both should go in before the session ends.</a:t>
            </a:r>
            <a:endParaRPr lang="en-NL" dirty="0"/>
          </a:p>
        </p:txBody>
      </p:sp>
    </p:spTree>
    <p:extLst>
      <p:ext uri="{BB962C8B-B14F-4D97-AF65-F5344CB8AC3E}">
        <p14:creationId xmlns:p14="http://schemas.microsoft.com/office/powerpoint/2010/main" val="15430635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B4E83-88C7-2414-4D80-A1F6C16B8C5B}"/>
              </a:ext>
            </a:extLst>
          </p:cNvPr>
          <p:cNvSpPr>
            <a:spLocks noGrp="1"/>
          </p:cNvSpPr>
          <p:nvPr>
            <p:ph type="title"/>
          </p:nvPr>
        </p:nvSpPr>
        <p:spPr/>
        <p:txBody>
          <a:bodyPr/>
          <a:lstStyle/>
          <a:p>
            <a:r>
              <a:rPr lang="en-US" dirty="0"/>
              <a:t>Solutions</a:t>
            </a:r>
            <a:endParaRPr lang="en-NL" dirty="0"/>
          </a:p>
        </p:txBody>
      </p:sp>
      <p:sp>
        <p:nvSpPr>
          <p:cNvPr id="3" name="Content Placeholder 2">
            <a:extLst>
              <a:ext uri="{FF2B5EF4-FFF2-40B4-BE49-F238E27FC236}">
                <a16:creationId xmlns:a16="http://schemas.microsoft.com/office/drawing/2014/main" id="{83B9699E-91EC-9F6E-BE97-BE2D1EC66452}"/>
              </a:ext>
            </a:extLst>
          </p:cNvPr>
          <p:cNvSpPr>
            <a:spLocks noGrp="1"/>
          </p:cNvSpPr>
          <p:nvPr>
            <p:ph idx="1"/>
          </p:nvPr>
        </p:nvSpPr>
        <p:spPr/>
        <p:txBody>
          <a:bodyPr/>
          <a:lstStyle/>
          <a:p>
            <a:r>
              <a:rPr lang="en-US" dirty="0"/>
              <a:t> A low-frequency or integrated residual  loss </a:t>
            </a:r>
            <a:r>
              <a:rPr lang="en-US" dirty="0" err="1"/>
              <a:t>penalises</a:t>
            </a:r>
            <a:r>
              <a:rPr lang="en-US" dirty="0"/>
              <a:t> the consequence rather than the cause</a:t>
            </a:r>
            <a:endParaRPr lang="en-NL" dirty="0"/>
          </a:p>
        </p:txBody>
      </p:sp>
    </p:spTree>
    <p:extLst>
      <p:ext uri="{BB962C8B-B14F-4D97-AF65-F5344CB8AC3E}">
        <p14:creationId xmlns:p14="http://schemas.microsoft.com/office/powerpoint/2010/main" val="650303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E7206-0921-5ECE-4625-1F06CB54CC17}"/>
              </a:ext>
            </a:extLst>
          </p:cNvPr>
          <p:cNvSpPr>
            <a:spLocks noGrp="1"/>
          </p:cNvSpPr>
          <p:nvPr>
            <p:ph type="title"/>
          </p:nvPr>
        </p:nvSpPr>
        <p:spPr/>
        <p:txBody>
          <a:bodyPr/>
          <a:lstStyle/>
          <a:p>
            <a:r>
              <a:rPr lang="en-US" dirty="0"/>
              <a:t>Slides</a:t>
            </a:r>
            <a:endParaRPr lang="en-NL" dirty="0"/>
          </a:p>
        </p:txBody>
      </p:sp>
      <p:sp>
        <p:nvSpPr>
          <p:cNvPr id="3" name="Content Placeholder 2">
            <a:extLst>
              <a:ext uri="{FF2B5EF4-FFF2-40B4-BE49-F238E27FC236}">
                <a16:creationId xmlns:a16="http://schemas.microsoft.com/office/drawing/2014/main" id="{8C3DD058-DEA6-4FBB-85D1-0F0C52866892}"/>
              </a:ext>
            </a:extLst>
          </p:cNvPr>
          <p:cNvSpPr>
            <a:spLocks noGrp="1"/>
          </p:cNvSpPr>
          <p:nvPr>
            <p:ph idx="1"/>
          </p:nvPr>
        </p:nvSpPr>
        <p:spPr/>
        <p:txBody>
          <a:bodyPr>
            <a:normAutofit fontScale="55000" lnSpcReduction="20000"/>
          </a:bodyPr>
          <a:lstStyle/>
          <a:p>
            <a:r>
              <a:rPr lang="en-US" dirty="0"/>
              <a:t> I think we should show the closed loop run where it improves.  show all the states that are learned and the correction to the existing states.  state that in open-loop training does just not work at the moment at least at this window length.  then show that this actually harms the open-loop. we also need to show an actual trajectory for this,  my supervisor </a:t>
            </a:r>
            <a:r>
              <a:rPr lang="en-US" dirty="0" err="1"/>
              <a:t>dragan</a:t>
            </a:r>
            <a:r>
              <a:rPr lang="en-US" dirty="0"/>
              <a:t> wants that. he likes visualizing it. and wants to see the </a:t>
            </a:r>
            <a:r>
              <a:rPr lang="en-US" dirty="0" err="1"/>
              <a:t>behaviour</a:t>
            </a:r>
            <a:r>
              <a:rPr lang="en-US" dirty="0"/>
              <a:t>.  We need to show the actual window required, also need to clearly show without a doubt possible.  is there still a </a:t>
            </a:r>
            <a:r>
              <a:rPr lang="en-US" dirty="0" err="1"/>
              <a:t>constent</a:t>
            </a:r>
            <a:r>
              <a:rPr lang="en-US" dirty="0"/>
              <a:t> offset that we need to show, or the velocities?  maybe discuss possible frequency methods.  but mainly we wont something to connect the shorter windows but especially subnet makes this hard and  name the requirements:</a:t>
            </a:r>
          </a:p>
          <a:p>
            <a:endParaRPr lang="en-US" dirty="0"/>
          </a:p>
          <a:p>
            <a:r>
              <a:rPr lang="en-US" dirty="0"/>
              <a:t>Controller </a:t>
            </a:r>
            <a:r>
              <a:rPr lang="en-US" dirty="0" err="1"/>
              <a:t>downsampling</a:t>
            </a:r>
            <a:r>
              <a:rPr lang="en-US" dirty="0"/>
              <a:t>??</a:t>
            </a:r>
          </a:p>
          <a:p>
            <a:r>
              <a:rPr lang="en-US" dirty="0"/>
              <a:t>Multiple shooting but doesn’t work with subnet. Somehow maybe a combination we don’t reinitialize but </a:t>
            </a:r>
            <a:r>
              <a:rPr lang="en-US" dirty="0" err="1"/>
              <a:t>upto</a:t>
            </a:r>
            <a:r>
              <a:rPr lang="en-US" dirty="0"/>
              <a:t> 3 seconds, or maybe parallel runs?</a:t>
            </a:r>
          </a:p>
          <a:p>
            <a:r>
              <a:rPr lang="en-US" dirty="0"/>
              <a:t>Slides met </a:t>
            </a:r>
            <a:r>
              <a:rPr lang="en-US" dirty="0" err="1"/>
              <a:t>roland</a:t>
            </a:r>
            <a:r>
              <a:rPr lang="en-US" dirty="0"/>
              <a:t>, </a:t>
            </a:r>
            <a:r>
              <a:rPr lang="en-US" dirty="0" err="1"/>
              <a:t>oa</a:t>
            </a:r>
            <a:r>
              <a:rPr lang="en-US" dirty="0"/>
              <a:t> linear </a:t>
            </a:r>
            <a:r>
              <a:rPr lang="en-US" dirty="0" err="1"/>
              <a:t>init</a:t>
            </a:r>
            <a:r>
              <a:rPr lang="en-US" dirty="0"/>
              <a:t> maar dan </a:t>
            </a:r>
            <a:r>
              <a:rPr lang="en-US" dirty="0" err="1"/>
              <a:t>verdwijnt</a:t>
            </a:r>
            <a:r>
              <a:rPr lang="en-US" dirty="0"/>
              <a:t> nonlinear part..?</a:t>
            </a:r>
          </a:p>
          <a:p>
            <a:r>
              <a:rPr lang="en-US" dirty="0"/>
              <a:t>Extension accepted.</a:t>
            </a:r>
          </a:p>
          <a:p>
            <a:r>
              <a:rPr lang="en-US" dirty="0"/>
              <a:t>Need to focus on orthogonality, but not that properly learning</a:t>
            </a:r>
            <a:br>
              <a:rPr lang="en-US" dirty="0"/>
            </a:br>
            <a:br>
              <a:rPr lang="en-US" dirty="0"/>
            </a:br>
            <a:r>
              <a:rPr lang="en-US" dirty="0"/>
              <a:t>can you explain why there is no variant for this:  Multiple shooting but doesn’t work with subnet. Somehow maybe a combination we don’t reinitialize but </a:t>
            </a:r>
            <a:r>
              <a:rPr lang="en-US" dirty="0" err="1"/>
              <a:t>upto</a:t>
            </a:r>
            <a:r>
              <a:rPr lang="en-US" dirty="0"/>
              <a:t> 3 seconds, or maybe parallel runs?</a:t>
            </a:r>
          </a:p>
          <a:p>
            <a:r>
              <a:rPr lang="en-US" dirty="0" err="1"/>
              <a:t>Downsampling</a:t>
            </a:r>
            <a:r>
              <a:rPr lang="en-US" dirty="0"/>
              <a:t> cant??</a:t>
            </a:r>
            <a:endParaRPr lang="en-NL" dirty="0"/>
          </a:p>
        </p:txBody>
      </p:sp>
    </p:spTree>
    <p:extLst>
      <p:ext uri="{BB962C8B-B14F-4D97-AF65-F5344CB8AC3E}">
        <p14:creationId xmlns:p14="http://schemas.microsoft.com/office/powerpoint/2010/main" val="4182726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4584</TotalTime>
  <Words>12201</Words>
  <Application>Microsoft Office PowerPoint</Application>
  <PresentationFormat>Widescreen</PresentationFormat>
  <Paragraphs>495</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Wingdings</vt:lpstr>
      <vt:lpstr>Office Theme</vt:lpstr>
      <vt:lpstr>PowerPoint Presentation</vt:lpstr>
      <vt:lpstr>Issues</vt:lpstr>
      <vt:lpstr>Reference  Thus the residual driving your controller is the difference between the model’s and system’s reference-tracking errors.</vt:lpstr>
      <vt:lpstr>PowerPoint Presentation</vt:lpstr>
      <vt:lpstr>Downsampling controller</vt:lpstr>
      <vt:lpstr>PowerPoint Presentation</vt:lpstr>
      <vt:lpstr>How similar to kessels is my controller method?</vt:lpstr>
      <vt:lpstr>Float64 issues??</vt:lpstr>
      <vt:lpstr>PowerPoint Presentation</vt:lpstr>
      <vt:lpstr>Encoder window</vt:lpstr>
      <vt:lpstr>Multi-rate-horizon</vt:lpstr>
      <vt:lpstr>Comparison to Jan</vt:lpstr>
      <vt:lpstr>Encoder + multiple shooting</vt:lpstr>
      <vt:lpstr>Worse mismatch between system and baseline model  ANN learns</vt:lpstr>
      <vt:lpstr>PowerPoint Presentation</vt:lpstr>
      <vt:lpstr>PowerPoint Presentation</vt:lpstr>
      <vt:lpstr>PowerPoint Presentation</vt:lpstr>
      <vt:lpstr>Open loop mismatch long horizon Multi-rate-horizon?? Multiple shooting: connect different windows.</vt:lpstr>
      <vt:lpstr>PowerPoint Presentation</vt:lpstr>
      <vt:lpstr>PowerPoint Presentation</vt:lpstr>
      <vt:lpstr>multi-scale time-stepping</vt:lpstr>
      <vt:lpstr>Closed loop does NOT expose long term dynamics  hides it</vt:lpstr>
      <vt:lpstr>Issue ANN not for more sampling rates</vt:lpstr>
      <vt:lpstr>Requirements</vt:lpstr>
      <vt:lpstr>PowerPoint Presentation</vt:lpstr>
      <vt:lpstr>The controller was never supervision. It was stabilization.</vt:lpstr>
      <vt:lpstr>Is encoder bias making training fail?</vt:lpstr>
      <vt:lpstr>PowerPoint Presentation</vt:lpstr>
      <vt:lpstr>Hypothesis causing augmentation NOT to learn</vt:lpstr>
      <vt:lpstr>PowerPoint Presentation</vt:lpstr>
      <vt:lpstr>PowerPoint Presentation</vt:lpstr>
      <vt:lpstr>PowerPoint Presentation</vt:lpstr>
      <vt:lpstr>Verdict hypothesises</vt:lpstr>
      <vt:lpstr>PowerPoint Presentation</vt:lpstr>
      <vt:lpstr>❯ so in short what is the current status / main hypothesis?</vt:lpstr>
      <vt:lpstr>PowerPoint Presentation</vt:lpstr>
      <vt:lpstr>PowerPoint Presentation</vt:lpstr>
      <vt:lpstr>Requirements</vt:lpstr>
      <vt:lpstr>PowerPoint Presentation</vt:lpstr>
      <vt:lpstr>Solutions</vt:lpstr>
      <vt:lpstr>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2026-08-27T07:37:01Z</dcterms:created>
  <dcterms:modified xsi:type="dcterms:W3CDTF">2026-08-31T08:11:50Z</dcterms:modified>
</cp:coreProperties>
</file>