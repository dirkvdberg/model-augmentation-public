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1"/>
  </p:sldMasterIdLst>
  <p:notesMasterIdLst>
    <p:notesMasterId r:id="rId79"/>
  </p:notesMasterIdLst>
  <p:sldIdLst>
    <p:sldId id="257" r:id="rId2"/>
    <p:sldId id="258" r:id="rId3"/>
    <p:sldId id="259" r:id="rId4"/>
    <p:sldId id="287" r:id="rId5"/>
    <p:sldId id="309" r:id="rId6"/>
    <p:sldId id="311" r:id="rId7"/>
    <p:sldId id="312" r:id="rId8"/>
    <p:sldId id="310" r:id="rId9"/>
    <p:sldId id="305" r:id="rId10"/>
    <p:sldId id="307" r:id="rId11"/>
    <p:sldId id="308" r:id="rId12"/>
    <p:sldId id="306" r:id="rId13"/>
    <p:sldId id="298" r:id="rId14"/>
    <p:sldId id="304" r:id="rId15"/>
    <p:sldId id="302" r:id="rId16"/>
    <p:sldId id="313" r:id="rId17"/>
    <p:sldId id="314" r:id="rId18"/>
    <p:sldId id="315" r:id="rId19"/>
    <p:sldId id="316" r:id="rId20"/>
    <p:sldId id="260" r:id="rId21"/>
    <p:sldId id="317" r:id="rId22"/>
    <p:sldId id="318" r:id="rId23"/>
    <p:sldId id="319" r:id="rId24"/>
    <p:sldId id="261" r:id="rId25"/>
    <p:sldId id="262" r:id="rId26"/>
    <p:sldId id="322" r:id="rId27"/>
    <p:sldId id="320" r:id="rId28"/>
    <p:sldId id="321" r:id="rId29"/>
    <p:sldId id="323" r:id="rId30"/>
    <p:sldId id="324" r:id="rId31"/>
    <p:sldId id="325" r:id="rId32"/>
    <p:sldId id="326" r:id="rId33"/>
    <p:sldId id="327" r:id="rId34"/>
    <p:sldId id="330" r:id="rId35"/>
    <p:sldId id="329" r:id="rId36"/>
    <p:sldId id="328" r:id="rId37"/>
    <p:sldId id="331" r:id="rId38"/>
    <p:sldId id="332" r:id="rId39"/>
    <p:sldId id="373" r:id="rId40"/>
    <p:sldId id="333" r:id="rId41"/>
    <p:sldId id="345" r:id="rId42"/>
    <p:sldId id="346" r:id="rId43"/>
    <p:sldId id="348" r:id="rId44"/>
    <p:sldId id="349" r:id="rId45"/>
    <p:sldId id="347" r:id="rId46"/>
    <p:sldId id="350" r:id="rId47"/>
    <p:sldId id="353" r:id="rId48"/>
    <p:sldId id="355" r:id="rId49"/>
    <p:sldId id="360" r:id="rId50"/>
    <p:sldId id="375" r:id="rId51"/>
    <p:sldId id="361" r:id="rId52"/>
    <p:sldId id="359" r:id="rId53"/>
    <p:sldId id="362" r:id="rId54"/>
    <p:sldId id="366" r:id="rId55"/>
    <p:sldId id="367" r:id="rId56"/>
    <p:sldId id="368" r:id="rId57"/>
    <p:sldId id="370" r:id="rId58"/>
    <p:sldId id="369" r:id="rId59"/>
    <p:sldId id="372" r:id="rId60"/>
    <p:sldId id="371" r:id="rId61"/>
    <p:sldId id="357" r:id="rId62"/>
    <p:sldId id="351" r:id="rId63"/>
    <p:sldId id="376" r:id="rId64"/>
    <p:sldId id="335" r:id="rId65"/>
    <p:sldId id="339" r:id="rId66"/>
    <p:sldId id="340" r:id="rId67"/>
    <p:sldId id="338" r:id="rId68"/>
    <p:sldId id="341" r:id="rId69"/>
    <p:sldId id="344" r:id="rId70"/>
    <p:sldId id="342" r:id="rId71"/>
    <p:sldId id="343" r:id="rId72"/>
    <p:sldId id="337" r:id="rId73"/>
    <p:sldId id="336" r:id="rId74"/>
    <p:sldId id="365" r:id="rId75"/>
    <p:sldId id="377" r:id="rId76"/>
    <p:sldId id="374" r:id="rId77"/>
    <p:sldId id="267" r:id="rId78"/>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DBEC5C-B332-409A-A313-37D68442F302}" v="150" dt="2026-05-13T12:38:06.148"/>
    <p1510:client id="{91D8E910-4C15-475A-913D-E93EBC1390D5}" v="6" dt="2026-05-12T17:14:09.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80523" autoAdjust="0"/>
  </p:normalViewPr>
  <p:slideViewPr>
    <p:cSldViewPr snapToGrid="0">
      <p:cViewPr>
        <p:scale>
          <a:sx n="75" d="100"/>
          <a:sy n="75" d="100"/>
        </p:scale>
        <p:origin x="883"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85"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5-13T12:49:26.540" v="3517" actId="47"/>
      <pc:docMkLst>
        <pc:docMk/>
      </pc:docMkLst>
      <pc:sldChg chg="modSp add mod">
        <pc:chgData name="Berg, Dirk van den" userId="035ecb32-01d9-4b47-a105-eacf059a4647" providerId="ADAL" clId="{F7FF961E-CF96-44AC-93C2-93612F62D46D}" dt="2026-05-13T12:02:55.024" v="2964" actId="20577"/>
        <pc:sldMkLst>
          <pc:docMk/>
          <pc:sldMk cId="431880464" sldId="267"/>
        </pc:sldMkLst>
        <pc:spChg chg="mod">
          <ac:chgData name="Berg, Dirk van den" userId="035ecb32-01d9-4b47-a105-eacf059a4647" providerId="ADAL" clId="{F7FF961E-CF96-44AC-93C2-93612F62D46D}" dt="2026-05-13T12:02:55.024" v="2964" actId="20577"/>
          <ac:spMkLst>
            <pc:docMk/>
            <pc:sldMk cId="431880464" sldId="267"/>
            <ac:spMk id="2" creationId="{1656BB93-5748-3C8A-8B99-51A2433E792C}"/>
          </ac:spMkLst>
        </pc:spChg>
      </pc:sldChg>
      <pc:sldChg chg="addSp modSp mod">
        <pc:chgData name="Berg, Dirk van den" userId="035ecb32-01d9-4b47-a105-eacf059a4647" providerId="ADAL" clId="{F7FF961E-CF96-44AC-93C2-93612F62D46D}" dt="2026-05-13T12:03:46.841" v="3013" actId="20577"/>
        <pc:sldMkLst>
          <pc:docMk/>
          <pc:sldMk cId="1909324229" sldId="333"/>
        </pc:sldMkLst>
        <pc:spChg chg="mod">
          <ac:chgData name="Berg, Dirk van den" userId="035ecb32-01d9-4b47-a105-eacf059a4647" providerId="ADAL" clId="{F7FF961E-CF96-44AC-93C2-93612F62D46D}" dt="2026-05-13T06:47:53.787" v="14" actId="20577"/>
          <ac:spMkLst>
            <pc:docMk/>
            <pc:sldMk cId="1909324229" sldId="333"/>
            <ac:spMk id="2" creationId="{DF8FBAAB-E079-0BAA-CC32-E81A3784AA48}"/>
          </ac:spMkLst>
        </pc:spChg>
        <pc:spChg chg="mod">
          <ac:chgData name="Berg, Dirk van den" userId="035ecb32-01d9-4b47-a105-eacf059a4647" providerId="ADAL" clId="{F7FF961E-CF96-44AC-93C2-93612F62D46D}" dt="2026-05-13T12:03:46.841" v="3013" actId="20577"/>
          <ac:spMkLst>
            <pc:docMk/>
            <pc:sldMk cId="1909324229" sldId="333"/>
            <ac:spMk id="3" creationId="{A4D8DD60-574F-F7CA-E03B-756CD6172FE8}"/>
          </ac:spMkLst>
        </pc:spChg>
        <pc:spChg chg="add mod">
          <ac:chgData name="Berg, Dirk van den" userId="035ecb32-01d9-4b47-a105-eacf059a4647" providerId="ADAL" clId="{F7FF961E-CF96-44AC-93C2-93612F62D46D}" dt="2026-05-13T06:50:56.459" v="21" actId="164"/>
          <ac:spMkLst>
            <pc:docMk/>
            <pc:sldMk cId="1909324229" sldId="333"/>
            <ac:spMk id="6" creationId="{6B169A72-2D44-C45F-45F9-0DC5202A6571}"/>
          </ac:spMkLst>
        </pc:spChg>
        <pc:grpChg chg="add mod">
          <ac:chgData name="Berg, Dirk van den" userId="035ecb32-01d9-4b47-a105-eacf059a4647" providerId="ADAL" clId="{F7FF961E-CF96-44AC-93C2-93612F62D46D}" dt="2026-05-13T06:51:51.406" v="130" actId="1076"/>
          <ac:grpSpMkLst>
            <pc:docMk/>
            <pc:sldMk cId="1909324229" sldId="333"/>
            <ac:grpSpMk id="7" creationId="{72B4667B-0446-43F8-6F56-0C4759AF5093}"/>
          </ac:grpSpMkLst>
        </pc:grpChg>
        <pc:picChg chg="add mod">
          <ac:chgData name="Berg, Dirk van den" userId="035ecb32-01d9-4b47-a105-eacf059a4647" providerId="ADAL" clId="{F7FF961E-CF96-44AC-93C2-93612F62D46D}" dt="2026-05-13T06:50:56.459" v="21" actId="164"/>
          <ac:picMkLst>
            <pc:docMk/>
            <pc:sldMk cId="1909324229" sldId="333"/>
            <ac:picMk id="5" creationId="{5C4FBB8D-2414-5359-435A-5D673FA2E82B}"/>
          </ac:picMkLst>
        </pc:picChg>
      </pc:sldChg>
      <pc:sldChg chg="del">
        <pc:chgData name="Berg, Dirk van den" userId="035ecb32-01d9-4b47-a105-eacf059a4647" providerId="ADAL" clId="{F7FF961E-CF96-44AC-93C2-93612F62D46D}" dt="2026-05-13T07:09:47.393" v="296" actId="47"/>
        <pc:sldMkLst>
          <pc:docMk/>
          <pc:sldMk cId="2389016504" sldId="334"/>
        </pc:sldMkLst>
      </pc:sldChg>
      <pc:sldChg chg="mod modShow">
        <pc:chgData name="Berg, Dirk van den" userId="035ecb32-01d9-4b47-a105-eacf059a4647" providerId="ADAL" clId="{F7FF961E-CF96-44AC-93C2-93612F62D46D}" dt="2026-05-13T12:31:30.212" v="3275" actId="729"/>
        <pc:sldMkLst>
          <pc:docMk/>
          <pc:sldMk cId="2604392286" sldId="335"/>
        </pc:sldMkLst>
      </pc:sldChg>
      <pc:sldChg chg="mod modShow">
        <pc:chgData name="Berg, Dirk van den" userId="035ecb32-01d9-4b47-a105-eacf059a4647" providerId="ADAL" clId="{F7FF961E-CF96-44AC-93C2-93612F62D46D}" dt="2026-05-13T12:42:08.858" v="3378" actId="729"/>
        <pc:sldMkLst>
          <pc:docMk/>
          <pc:sldMk cId="892227527" sldId="336"/>
        </pc:sldMkLst>
      </pc:sldChg>
      <pc:sldChg chg="modSp mod">
        <pc:chgData name="Berg, Dirk van den" userId="035ecb32-01d9-4b47-a105-eacf059a4647" providerId="ADAL" clId="{F7FF961E-CF96-44AC-93C2-93612F62D46D}" dt="2026-05-13T12:42:21.455" v="3387" actId="15"/>
        <pc:sldMkLst>
          <pc:docMk/>
          <pc:sldMk cId="1328650824" sldId="337"/>
        </pc:sldMkLst>
        <pc:spChg chg="mod">
          <ac:chgData name="Berg, Dirk van den" userId="035ecb32-01d9-4b47-a105-eacf059a4647" providerId="ADAL" clId="{F7FF961E-CF96-44AC-93C2-93612F62D46D}" dt="2026-05-13T12:42:12.384" v="3386" actId="20577"/>
          <ac:spMkLst>
            <pc:docMk/>
            <pc:sldMk cId="1328650824" sldId="337"/>
            <ac:spMk id="2" creationId="{464D1A29-D796-3A3E-8C7C-8917594FF0BF}"/>
          </ac:spMkLst>
        </pc:spChg>
        <pc:spChg chg="mod">
          <ac:chgData name="Berg, Dirk van den" userId="035ecb32-01d9-4b47-a105-eacf059a4647" providerId="ADAL" clId="{F7FF961E-CF96-44AC-93C2-93612F62D46D}" dt="2026-05-13T12:42:21.455" v="3387" actId="15"/>
          <ac:spMkLst>
            <pc:docMk/>
            <pc:sldMk cId="1328650824" sldId="337"/>
            <ac:spMk id="3" creationId="{1B4B295F-6797-5C60-291C-908692F791C3}"/>
          </ac:spMkLst>
        </pc:spChg>
      </pc:sldChg>
      <pc:sldChg chg="mod modShow">
        <pc:chgData name="Berg, Dirk van den" userId="035ecb32-01d9-4b47-a105-eacf059a4647" providerId="ADAL" clId="{F7FF961E-CF96-44AC-93C2-93612F62D46D}" dt="2026-05-13T12:31:30.212" v="3275" actId="729"/>
        <pc:sldMkLst>
          <pc:docMk/>
          <pc:sldMk cId="4156468339" sldId="338"/>
        </pc:sldMkLst>
      </pc:sldChg>
      <pc:sldChg chg="mod modShow">
        <pc:chgData name="Berg, Dirk van den" userId="035ecb32-01d9-4b47-a105-eacf059a4647" providerId="ADAL" clId="{F7FF961E-CF96-44AC-93C2-93612F62D46D}" dt="2026-05-13T12:31:30.212" v="3275" actId="729"/>
        <pc:sldMkLst>
          <pc:docMk/>
          <pc:sldMk cId="1523938604" sldId="339"/>
        </pc:sldMkLst>
      </pc:sldChg>
      <pc:sldChg chg="mod modShow">
        <pc:chgData name="Berg, Dirk van den" userId="035ecb32-01d9-4b47-a105-eacf059a4647" providerId="ADAL" clId="{F7FF961E-CF96-44AC-93C2-93612F62D46D}" dt="2026-05-13T12:31:30.212" v="3275" actId="729"/>
        <pc:sldMkLst>
          <pc:docMk/>
          <pc:sldMk cId="4253846143" sldId="340"/>
        </pc:sldMkLst>
      </pc:sldChg>
      <pc:sldChg chg="mod modShow">
        <pc:chgData name="Berg, Dirk van den" userId="035ecb32-01d9-4b47-a105-eacf059a4647" providerId="ADAL" clId="{F7FF961E-CF96-44AC-93C2-93612F62D46D}" dt="2026-05-13T12:31:30.212" v="3275" actId="729"/>
        <pc:sldMkLst>
          <pc:docMk/>
          <pc:sldMk cId="546136694" sldId="341"/>
        </pc:sldMkLst>
      </pc:sldChg>
      <pc:sldChg chg="modSp mod modShow">
        <pc:chgData name="Berg, Dirk van den" userId="035ecb32-01d9-4b47-a105-eacf059a4647" providerId="ADAL" clId="{F7FF961E-CF96-44AC-93C2-93612F62D46D}" dt="2026-05-13T12:31:30.212" v="3275" actId="729"/>
        <pc:sldMkLst>
          <pc:docMk/>
          <pc:sldMk cId="1935017436" sldId="342"/>
        </pc:sldMkLst>
        <pc:spChg chg="mod">
          <ac:chgData name="Berg, Dirk van den" userId="035ecb32-01d9-4b47-a105-eacf059a4647" providerId="ADAL" clId="{F7FF961E-CF96-44AC-93C2-93612F62D46D}" dt="2026-05-13T07:04:10.809" v="180" actId="20577"/>
          <ac:spMkLst>
            <pc:docMk/>
            <pc:sldMk cId="1935017436" sldId="342"/>
            <ac:spMk id="3" creationId="{443F14AB-6D79-42AB-C2CA-531B0880F31E}"/>
          </ac:spMkLst>
        </pc:spChg>
      </pc:sldChg>
      <pc:sldChg chg="mod ord modShow">
        <pc:chgData name="Berg, Dirk van den" userId="035ecb32-01d9-4b47-a105-eacf059a4647" providerId="ADAL" clId="{F7FF961E-CF96-44AC-93C2-93612F62D46D}" dt="2026-05-13T12:31:30.212" v="3275" actId="729"/>
        <pc:sldMkLst>
          <pc:docMk/>
          <pc:sldMk cId="2777906891" sldId="343"/>
        </pc:sldMkLst>
      </pc:sldChg>
      <pc:sldChg chg="mod modShow">
        <pc:chgData name="Berg, Dirk van den" userId="035ecb32-01d9-4b47-a105-eacf059a4647" providerId="ADAL" clId="{F7FF961E-CF96-44AC-93C2-93612F62D46D}" dt="2026-05-13T12:31:30.212" v="3275" actId="729"/>
        <pc:sldMkLst>
          <pc:docMk/>
          <pc:sldMk cId="1741388648" sldId="344"/>
        </pc:sldMkLst>
      </pc:sldChg>
      <pc:sldChg chg="addSp modSp new mod">
        <pc:chgData name="Berg, Dirk van den" userId="035ecb32-01d9-4b47-a105-eacf059a4647" providerId="ADAL" clId="{F7FF961E-CF96-44AC-93C2-93612F62D46D}" dt="2026-05-13T12:04:11.650" v="3023" actId="20577"/>
        <pc:sldMkLst>
          <pc:docMk/>
          <pc:sldMk cId="184289643" sldId="345"/>
        </pc:sldMkLst>
        <pc:spChg chg="mod">
          <ac:chgData name="Berg, Dirk van den" userId="035ecb32-01d9-4b47-a105-eacf059a4647" providerId="ADAL" clId="{F7FF961E-CF96-44AC-93C2-93612F62D46D}" dt="2026-05-13T06:56:48.983" v="134"/>
          <ac:spMkLst>
            <pc:docMk/>
            <pc:sldMk cId="184289643" sldId="345"/>
            <ac:spMk id="2" creationId="{FBA13DE7-36B3-2746-CD0C-1321C04A00C7}"/>
          </ac:spMkLst>
        </pc:spChg>
        <pc:spChg chg="mod">
          <ac:chgData name="Berg, Dirk van den" userId="035ecb32-01d9-4b47-a105-eacf059a4647" providerId="ADAL" clId="{F7FF961E-CF96-44AC-93C2-93612F62D46D}" dt="2026-05-13T12:04:11.650" v="3023" actId="20577"/>
          <ac:spMkLst>
            <pc:docMk/>
            <pc:sldMk cId="184289643" sldId="345"/>
            <ac:spMk id="3" creationId="{B8CD1321-325E-2BAA-B65A-1FCDDE223FBB}"/>
          </ac:spMkLst>
        </pc:spChg>
        <pc:picChg chg="add mod">
          <ac:chgData name="Berg, Dirk van den" userId="035ecb32-01d9-4b47-a105-eacf059a4647" providerId="ADAL" clId="{F7FF961E-CF96-44AC-93C2-93612F62D46D}" dt="2026-05-13T07:06:01.312" v="273" actId="1076"/>
          <ac:picMkLst>
            <pc:docMk/>
            <pc:sldMk cId="184289643" sldId="345"/>
            <ac:picMk id="5" creationId="{26CEF05D-9A18-9013-E8A6-2A98C95A5D8D}"/>
          </ac:picMkLst>
        </pc:picChg>
      </pc:sldChg>
      <pc:sldChg chg="addSp modSp new mod">
        <pc:chgData name="Berg, Dirk van den" userId="035ecb32-01d9-4b47-a105-eacf059a4647" providerId="ADAL" clId="{F7FF961E-CF96-44AC-93C2-93612F62D46D}" dt="2026-05-13T07:09:16.548" v="295" actId="1076"/>
        <pc:sldMkLst>
          <pc:docMk/>
          <pc:sldMk cId="1959993405" sldId="346"/>
        </pc:sldMkLst>
        <pc:spChg chg="mod">
          <ac:chgData name="Berg, Dirk van den" userId="035ecb32-01d9-4b47-a105-eacf059a4647" providerId="ADAL" clId="{F7FF961E-CF96-44AC-93C2-93612F62D46D}" dt="2026-05-13T07:09:09.266" v="290"/>
          <ac:spMkLst>
            <pc:docMk/>
            <pc:sldMk cId="1959993405" sldId="346"/>
            <ac:spMk id="2" creationId="{506253A6-3373-D69D-46F9-AFDE8CC1E6F6}"/>
          </ac:spMkLst>
        </pc:spChg>
        <pc:picChg chg="add mod">
          <ac:chgData name="Berg, Dirk van den" userId="035ecb32-01d9-4b47-a105-eacf059a4647" providerId="ADAL" clId="{F7FF961E-CF96-44AC-93C2-93612F62D46D}" dt="2026-05-13T07:09:16.548" v="295" actId="1076"/>
          <ac:picMkLst>
            <pc:docMk/>
            <pc:sldMk cId="1959993405" sldId="346"/>
            <ac:picMk id="5" creationId="{0C85CBE4-584F-45CC-EC8D-86204088A814}"/>
          </ac:picMkLst>
        </pc:picChg>
      </pc:sldChg>
      <pc:sldChg chg="addSp delSp modSp new del mod">
        <pc:chgData name="Berg, Dirk van den" userId="035ecb32-01d9-4b47-a105-eacf059a4647" providerId="ADAL" clId="{F7FF961E-CF96-44AC-93C2-93612F62D46D}" dt="2026-05-13T07:09:02.075" v="288" actId="680"/>
        <pc:sldMkLst>
          <pc:docMk/>
          <pc:sldMk cId="996172260" sldId="347"/>
        </pc:sldMkLst>
        <pc:picChg chg="add del mod">
          <ac:chgData name="Berg, Dirk van den" userId="035ecb32-01d9-4b47-a105-eacf059a4647" providerId="ADAL" clId="{F7FF961E-CF96-44AC-93C2-93612F62D46D}" dt="2026-05-13T07:09:01.198" v="287" actId="22"/>
          <ac:picMkLst>
            <pc:docMk/>
            <pc:sldMk cId="996172260" sldId="347"/>
            <ac:picMk id="5" creationId="{060F1048-3D5C-32E8-7B98-D7F35A4CD003}"/>
          </ac:picMkLst>
        </pc:picChg>
      </pc:sldChg>
      <pc:sldChg chg="addSp modSp new mod ord modNotesTx">
        <pc:chgData name="Berg, Dirk van den" userId="035ecb32-01d9-4b47-a105-eacf059a4647" providerId="ADAL" clId="{F7FF961E-CF96-44AC-93C2-93612F62D46D}" dt="2026-05-13T07:48:29.944" v="655" actId="6549"/>
        <pc:sldMkLst>
          <pc:docMk/>
          <pc:sldMk cId="1232960790" sldId="347"/>
        </pc:sldMkLst>
        <pc:spChg chg="mod">
          <ac:chgData name="Berg, Dirk van den" userId="035ecb32-01d9-4b47-a105-eacf059a4647" providerId="ADAL" clId="{F7FF961E-CF96-44AC-93C2-93612F62D46D}" dt="2026-05-13T07:15:31.595" v="333" actId="20577"/>
          <ac:spMkLst>
            <pc:docMk/>
            <pc:sldMk cId="1232960790" sldId="347"/>
            <ac:spMk id="2" creationId="{FBF6A7B1-22AF-6E89-5214-8ED2B4FC9BCB}"/>
          </ac:spMkLst>
        </pc:spChg>
        <pc:spChg chg="mod">
          <ac:chgData name="Berg, Dirk van den" userId="035ecb32-01d9-4b47-a105-eacf059a4647" providerId="ADAL" clId="{F7FF961E-CF96-44AC-93C2-93612F62D46D}" dt="2026-05-13T07:40:25.167" v="651"/>
          <ac:spMkLst>
            <pc:docMk/>
            <pc:sldMk cId="1232960790" sldId="347"/>
            <ac:spMk id="3" creationId="{32DCBF15-4016-67CC-09A4-E63444C17AC8}"/>
          </ac:spMkLst>
        </pc:spChg>
        <pc:spChg chg="add">
          <ac:chgData name="Berg, Dirk van den" userId="035ecb32-01d9-4b47-a105-eacf059a4647" providerId="ADAL" clId="{F7FF961E-CF96-44AC-93C2-93612F62D46D}" dt="2026-05-13T07:40:04.622" v="643"/>
          <ac:spMkLst>
            <pc:docMk/>
            <pc:sldMk cId="1232960790" sldId="347"/>
            <ac:spMk id="8" creationId="{9DA518A2-45DF-3DCD-7207-13395FC9017B}"/>
          </ac:spMkLst>
        </pc:spChg>
        <pc:spChg chg="add mod">
          <ac:chgData name="Berg, Dirk van den" userId="035ecb32-01d9-4b47-a105-eacf059a4647" providerId="ADAL" clId="{F7FF961E-CF96-44AC-93C2-93612F62D46D}" dt="2026-05-13T07:40:16.905" v="646" actId="6549"/>
          <ac:spMkLst>
            <pc:docMk/>
            <pc:sldMk cId="1232960790" sldId="347"/>
            <ac:spMk id="9" creationId="{7CBFDCA0-FA6B-2D93-2A89-97518BACAC2C}"/>
          </ac:spMkLst>
        </pc:spChg>
        <pc:picChg chg="add mod">
          <ac:chgData name="Berg, Dirk van den" userId="035ecb32-01d9-4b47-a105-eacf059a4647" providerId="ADAL" clId="{F7FF961E-CF96-44AC-93C2-93612F62D46D}" dt="2026-05-13T07:36:10.627" v="600" actId="1076"/>
          <ac:picMkLst>
            <pc:docMk/>
            <pc:sldMk cId="1232960790" sldId="347"/>
            <ac:picMk id="5" creationId="{6021D2AB-8186-BE52-F147-10451150420B}"/>
          </ac:picMkLst>
        </pc:picChg>
        <pc:picChg chg="add mod">
          <ac:chgData name="Berg, Dirk van den" userId="035ecb32-01d9-4b47-a105-eacf059a4647" providerId="ADAL" clId="{F7FF961E-CF96-44AC-93C2-93612F62D46D}" dt="2026-05-13T07:38:55.009" v="640" actId="1076"/>
          <ac:picMkLst>
            <pc:docMk/>
            <pc:sldMk cId="1232960790" sldId="347"/>
            <ac:picMk id="7" creationId="{92FD876D-631D-95B8-8DD5-03A63C10F7A7}"/>
          </ac:picMkLst>
        </pc:picChg>
      </pc:sldChg>
      <pc:sldChg chg="addSp modSp add mod">
        <pc:chgData name="Berg, Dirk van den" userId="035ecb32-01d9-4b47-a105-eacf059a4647" providerId="ADAL" clId="{F7FF961E-CF96-44AC-93C2-93612F62D46D}" dt="2026-05-13T07:17:25.668" v="407" actId="20577"/>
        <pc:sldMkLst>
          <pc:docMk/>
          <pc:sldMk cId="1477912698" sldId="348"/>
        </pc:sldMkLst>
        <pc:spChg chg="mod">
          <ac:chgData name="Berg, Dirk van den" userId="035ecb32-01d9-4b47-a105-eacf059a4647" providerId="ADAL" clId="{F7FF961E-CF96-44AC-93C2-93612F62D46D}" dt="2026-05-13T07:17:25.668" v="407" actId="20577"/>
          <ac:spMkLst>
            <pc:docMk/>
            <pc:sldMk cId="1477912698" sldId="348"/>
            <ac:spMk id="3" creationId="{B1077DF2-77ED-67BF-7152-DF428570ADC3}"/>
          </ac:spMkLst>
        </pc:spChg>
        <pc:picChg chg="add mod modCrop">
          <ac:chgData name="Berg, Dirk van den" userId="035ecb32-01d9-4b47-a105-eacf059a4647" providerId="ADAL" clId="{F7FF961E-CF96-44AC-93C2-93612F62D46D}" dt="2026-05-13T07:16:43.756" v="352" actId="1076"/>
          <ac:picMkLst>
            <pc:docMk/>
            <pc:sldMk cId="1477912698" sldId="348"/>
            <ac:picMk id="5" creationId="{C5BEC092-6955-6AF2-9F17-F479A947133A}"/>
          </ac:picMkLst>
        </pc:picChg>
        <pc:picChg chg="add mod modCrop">
          <ac:chgData name="Berg, Dirk van den" userId="035ecb32-01d9-4b47-a105-eacf059a4647" providerId="ADAL" clId="{F7FF961E-CF96-44AC-93C2-93612F62D46D}" dt="2026-05-13T07:16:45.479" v="353" actId="1076"/>
          <ac:picMkLst>
            <pc:docMk/>
            <pc:sldMk cId="1477912698" sldId="348"/>
            <ac:picMk id="6" creationId="{B7DDC847-05BF-180B-8EA3-63A12614BACF}"/>
          </ac:picMkLst>
        </pc:picChg>
      </pc:sldChg>
      <pc:sldChg chg="addSp modSp add mod modNotesTx">
        <pc:chgData name="Berg, Dirk van den" userId="035ecb32-01d9-4b47-a105-eacf059a4647" providerId="ADAL" clId="{F7FF961E-CF96-44AC-93C2-93612F62D46D}" dt="2026-05-13T07:37:03.845" v="637" actId="20577"/>
        <pc:sldMkLst>
          <pc:docMk/>
          <pc:sldMk cId="119011616" sldId="349"/>
        </pc:sldMkLst>
        <pc:spChg chg="mod">
          <ac:chgData name="Berg, Dirk van den" userId="035ecb32-01d9-4b47-a105-eacf059a4647" providerId="ADAL" clId="{F7FF961E-CF96-44AC-93C2-93612F62D46D}" dt="2026-05-13T07:18:06.253" v="410" actId="14100"/>
          <ac:spMkLst>
            <pc:docMk/>
            <pc:sldMk cId="119011616" sldId="349"/>
            <ac:spMk id="2" creationId="{BFE6B3C4-FE36-2C7E-4611-D97A1722CD68}"/>
          </ac:spMkLst>
        </pc:spChg>
        <pc:spChg chg="mod">
          <ac:chgData name="Berg, Dirk van den" userId="035ecb32-01d9-4b47-a105-eacf059a4647" providerId="ADAL" clId="{F7FF961E-CF96-44AC-93C2-93612F62D46D}" dt="2026-05-13T07:37:03.845" v="637" actId="20577"/>
          <ac:spMkLst>
            <pc:docMk/>
            <pc:sldMk cId="119011616" sldId="349"/>
            <ac:spMk id="3" creationId="{B8AE1A0F-7FA2-3DFC-2E78-F12EED1E3024}"/>
          </ac:spMkLst>
        </pc:spChg>
        <pc:picChg chg="add mod">
          <ac:chgData name="Berg, Dirk van den" userId="035ecb32-01d9-4b47-a105-eacf059a4647" providerId="ADAL" clId="{F7FF961E-CF96-44AC-93C2-93612F62D46D}" dt="2026-05-13T07:18:12.001" v="412" actId="1076"/>
          <ac:picMkLst>
            <pc:docMk/>
            <pc:sldMk cId="119011616" sldId="349"/>
            <ac:picMk id="5" creationId="{9185F870-A731-34AC-8075-18BCB96A5980}"/>
          </ac:picMkLst>
        </pc:picChg>
      </pc:sldChg>
      <pc:sldChg chg="modSp new mod">
        <pc:chgData name="Berg, Dirk van den" userId="035ecb32-01d9-4b47-a105-eacf059a4647" providerId="ADAL" clId="{F7FF961E-CF96-44AC-93C2-93612F62D46D}" dt="2026-05-13T07:49:34.740" v="665" actId="20577"/>
        <pc:sldMkLst>
          <pc:docMk/>
          <pc:sldMk cId="1216540684" sldId="350"/>
        </pc:sldMkLst>
        <pc:spChg chg="mod">
          <ac:chgData name="Berg, Dirk van den" userId="035ecb32-01d9-4b47-a105-eacf059a4647" providerId="ADAL" clId="{F7FF961E-CF96-44AC-93C2-93612F62D46D}" dt="2026-05-13T07:49:34.740" v="665" actId="20577"/>
          <ac:spMkLst>
            <pc:docMk/>
            <pc:sldMk cId="1216540684" sldId="350"/>
            <ac:spMk id="2" creationId="{96605ABD-7192-D1FE-0069-1CB632A89601}"/>
          </ac:spMkLst>
        </pc:spChg>
      </pc:sldChg>
      <pc:sldChg chg="modSp new mod">
        <pc:chgData name="Berg, Dirk van den" userId="035ecb32-01d9-4b47-a105-eacf059a4647" providerId="ADAL" clId="{F7FF961E-CF96-44AC-93C2-93612F62D46D}" dt="2026-05-13T12:31:07.750" v="3274" actId="20577"/>
        <pc:sldMkLst>
          <pc:docMk/>
          <pc:sldMk cId="1598136894" sldId="351"/>
        </pc:sldMkLst>
        <pc:spChg chg="mod">
          <ac:chgData name="Berg, Dirk van den" userId="035ecb32-01d9-4b47-a105-eacf059a4647" providerId="ADAL" clId="{F7FF961E-CF96-44AC-93C2-93612F62D46D}" dt="2026-05-13T07:49:47.863" v="682" actId="20577"/>
          <ac:spMkLst>
            <pc:docMk/>
            <pc:sldMk cId="1598136894" sldId="351"/>
            <ac:spMk id="2" creationId="{75476496-860E-7AD5-0401-A8038B15BD05}"/>
          </ac:spMkLst>
        </pc:spChg>
        <pc:spChg chg="mod">
          <ac:chgData name="Berg, Dirk van den" userId="035ecb32-01d9-4b47-a105-eacf059a4647" providerId="ADAL" clId="{F7FF961E-CF96-44AC-93C2-93612F62D46D}" dt="2026-05-13T12:31:07.750" v="3274" actId="20577"/>
          <ac:spMkLst>
            <pc:docMk/>
            <pc:sldMk cId="1598136894" sldId="351"/>
            <ac:spMk id="3" creationId="{529307EC-C6CD-7F78-0C07-A6F40AEC8AB3}"/>
          </ac:spMkLst>
        </pc:spChg>
      </pc:sldChg>
      <pc:sldChg chg="modSp new del mod">
        <pc:chgData name="Berg, Dirk van den" userId="035ecb32-01d9-4b47-a105-eacf059a4647" providerId="ADAL" clId="{F7FF961E-CF96-44AC-93C2-93612F62D46D}" dt="2026-05-13T10:56:57.934" v="2954" actId="47"/>
        <pc:sldMkLst>
          <pc:docMk/>
          <pc:sldMk cId="3473954174" sldId="352"/>
        </pc:sldMkLst>
        <pc:spChg chg="mod">
          <ac:chgData name="Berg, Dirk van den" userId="035ecb32-01d9-4b47-a105-eacf059a4647" providerId="ADAL" clId="{F7FF961E-CF96-44AC-93C2-93612F62D46D}" dt="2026-05-13T07:51:44.697" v="855" actId="20577"/>
          <ac:spMkLst>
            <pc:docMk/>
            <pc:sldMk cId="3473954174" sldId="352"/>
            <ac:spMk id="2" creationId="{0CBAC925-B7C4-4C11-3886-F4D566F9665E}"/>
          </ac:spMkLst>
        </pc:spChg>
        <pc:spChg chg="mod">
          <ac:chgData name="Berg, Dirk van den" userId="035ecb32-01d9-4b47-a105-eacf059a4647" providerId="ADAL" clId="{F7FF961E-CF96-44AC-93C2-93612F62D46D}" dt="2026-05-13T07:52:11.959" v="992" actId="5793"/>
          <ac:spMkLst>
            <pc:docMk/>
            <pc:sldMk cId="3473954174" sldId="352"/>
            <ac:spMk id="3" creationId="{B665D770-98DC-07EC-BD08-709BAFAF829D}"/>
          </ac:spMkLst>
        </pc:spChg>
      </pc:sldChg>
      <pc:sldChg chg="modSp new mod">
        <pc:chgData name="Berg, Dirk van den" userId="035ecb32-01d9-4b47-a105-eacf059a4647" providerId="ADAL" clId="{F7FF961E-CF96-44AC-93C2-93612F62D46D}" dt="2026-05-13T12:13:22.475" v="3109" actId="20577"/>
        <pc:sldMkLst>
          <pc:docMk/>
          <pc:sldMk cId="3909300151" sldId="353"/>
        </pc:sldMkLst>
        <pc:spChg chg="mod">
          <ac:chgData name="Berg, Dirk van den" userId="035ecb32-01d9-4b47-a105-eacf059a4647" providerId="ADAL" clId="{F7FF961E-CF96-44AC-93C2-93612F62D46D}" dt="2026-05-13T07:52:34.401" v="1024" actId="20577"/>
          <ac:spMkLst>
            <pc:docMk/>
            <pc:sldMk cId="3909300151" sldId="353"/>
            <ac:spMk id="2" creationId="{959B6200-6FD9-C69E-5A88-3DBD16F96425}"/>
          </ac:spMkLst>
        </pc:spChg>
        <pc:spChg chg="mod">
          <ac:chgData name="Berg, Dirk van den" userId="035ecb32-01d9-4b47-a105-eacf059a4647" providerId="ADAL" clId="{F7FF961E-CF96-44AC-93C2-93612F62D46D}" dt="2026-05-13T12:13:22.475" v="3109" actId="20577"/>
          <ac:spMkLst>
            <pc:docMk/>
            <pc:sldMk cId="3909300151" sldId="353"/>
            <ac:spMk id="3" creationId="{2E018076-CABA-0E39-B0EC-D0F449F95D45}"/>
          </ac:spMkLst>
        </pc:spChg>
      </pc:sldChg>
      <pc:sldChg chg="modSp new del mod modShow">
        <pc:chgData name="Berg, Dirk van den" userId="035ecb32-01d9-4b47-a105-eacf059a4647" providerId="ADAL" clId="{F7FF961E-CF96-44AC-93C2-93612F62D46D}" dt="2026-05-13T12:49:22.244" v="3516" actId="47"/>
        <pc:sldMkLst>
          <pc:docMk/>
          <pc:sldMk cId="242488548" sldId="354"/>
        </pc:sldMkLst>
        <pc:spChg chg="mod">
          <ac:chgData name="Berg, Dirk van den" userId="035ecb32-01d9-4b47-a105-eacf059a4647" providerId="ADAL" clId="{F7FF961E-CF96-44AC-93C2-93612F62D46D}" dt="2026-05-13T07:59:38.688" v="1391" actId="20577"/>
          <ac:spMkLst>
            <pc:docMk/>
            <pc:sldMk cId="242488548" sldId="354"/>
            <ac:spMk id="2" creationId="{A8729BB3-1E80-A6F8-DDFB-629E67B185D2}"/>
          </ac:spMkLst>
        </pc:spChg>
        <pc:spChg chg="mod">
          <ac:chgData name="Berg, Dirk van den" userId="035ecb32-01d9-4b47-a105-eacf059a4647" providerId="ADAL" clId="{F7FF961E-CF96-44AC-93C2-93612F62D46D}" dt="2026-05-13T07:58:33.661" v="1345" actId="27636"/>
          <ac:spMkLst>
            <pc:docMk/>
            <pc:sldMk cId="242488548" sldId="354"/>
            <ac:spMk id="3" creationId="{E6FDE2E7-2269-F8D8-7955-74157B4CEAFB}"/>
          </ac:spMkLst>
        </pc:spChg>
      </pc:sldChg>
      <pc:sldChg chg="modSp new mod">
        <pc:chgData name="Berg, Dirk van den" userId="035ecb32-01d9-4b47-a105-eacf059a4647" providerId="ADAL" clId="{F7FF961E-CF96-44AC-93C2-93612F62D46D}" dt="2026-05-13T08:27:44.153" v="1757" actId="20577"/>
        <pc:sldMkLst>
          <pc:docMk/>
          <pc:sldMk cId="4052195824" sldId="355"/>
        </pc:sldMkLst>
        <pc:spChg chg="mod">
          <ac:chgData name="Berg, Dirk van den" userId="035ecb32-01d9-4b47-a105-eacf059a4647" providerId="ADAL" clId="{F7FF961E-CF96-44AC-93C2-93612F62D46D}" dt="2026-05-13T08:27:44.153" v="1757" actId="20577"/>
          <ac:spMkLst>
            <pc:docMk/>
            <pc:sldMk cId="4052195824" sldId="355"/>
            <ac:spMk id="2" creationId="{D6481B8A-115B-E4EF-8F6B-4F938358E86C}"/>
          </ac:spMkLst>
        </pc:spChg>
        <pc:spChg chg="mod">
          <ac:chgData name="Berg, Dirk van den" userId="035ecb32-01d9-4b47-a105-eacf059a4647" providerId="ADAL" clId="{F7FF961E-CF96-44AC-93C2-93612F62D46D}" dt="2026-05-13T08:27:23.057" v="1739" actId="6549"/>
          <ac:spMkLst>
            <pc:docMk/>
            <pc:sldMk cId="4052195824" sldId="355"/>
            <ac:spMk id="3" creationId="{46A13FB9-84C9-D237-E5C1-86362BE8CB11}"/>
          </ac:spMkLst>
        </pc:spChg>
      </pc:sldChg>
      <pc:sldChg chg="modSp new del mod modShow">
        <pc:chgData name="Berg, Dirk van den" userId="035ecb32-01d9-4b47-a105-eacf059a4647" providerId="ADAL" clId="{F7FF961E-CF96-44AC-93C2-93612F62D46D}" dt="2026-05-13T12:49:22.244" v="3516" actId="47"/>
        <pc:sldMkLst>
          <pc:docMk/>
          <pc:sldMk cId="1166253382" sldId="356"/>
        </pc:sldMkLst>
        <pc:spChg chg="mod">
          <ac:chgData name="Berg, Dirk van den" userId="035ecb32-01d9-4b47-a105-eacf059a4647" providerId="ADAL" clId="{F7FF961E-CF96-44AC-93C2-93612F62D46D}" dt="2026-05-13T10:06:07.954" v="1977" actId="20577"/>
          <ac:spMkLst>
            <pc:docMk/>
            <pc:sldMk cId="1166253382" sldId="356"/>
            <ac:spMk id="2" creationId="{0AAE002B-C27B-49A1-FC13-8C26179A5D3D}"/>
          </ac:spMkLst>
        </pc:spChg>
        <pc:spChg chg="mod">
          <ac:chgData name="Berg, Dirk van den" userId="035ecb32-01d9-4b47-a105-eacf059a4647" providerId="ADAL" clId="{F7FF961E-CF96-44AC-93C2-93612F62D46D}" dt="2026-05-13T10:10:53.989" v="2114" actId="27636"/>
          <ac:spMkLst>
            <pc:docMk/>
            <pc:sldMk cId="1166253382" sldId="356"/>
            <ac:spMk id="3" creationId="{106D97C8-5498-00B0-ECD8-D510684B0BBC}"/>
          </ac:spMkLst>
        </pc:spChg>
      </pc:sldChg>
      <pc:sldChg chg="modSp new mod modShow">
        <pc:chgData name="Berg, Dirk van den" userId="035ecb32-01d9-4b47-a105-eacf059a4647" providerId="ADAL" clId="{F7FF961E-CF96-44AC-93C2-93612F62D46D}" dt="2026-05-13T12:29:52.165" v="3155" actId="729"/>
        <pc:sldMkLst>
          <pc:docMk/>
          <pc:sldMk cId="295960805" sldId="357"/>
        </pc:sldMkLst>
        <pc:spChg chg="mod">
          <ac:chgData name="Berg, Dirk van den" userId="035ecb32-01d9-4b47-a105-eacf059a4647" providerId="ADAL" clId="{F7FF961E-CF96-44AC-93C2-93612F62D46D}" dt="2026-05-13T08:16:16.887" v="1595" actId="20577"/>
          <ac:spMkLst>
            <pc:docMk/>
            <pc:sldMk cId="295960805" sldId="357"/>
            <ac:spMk id="2" creationId="{F721A155-F0F8-0280-D8B1-6E8A549D3C76}"/>
          </ac:spMkLst>
        </pc:spChg>
        <pc:spChg chg="mod">
          <ac:chgData name="Berg, Dirk van den" userId="035ecb32-01d9-4b47-a105-eacf059a4647" providerId="ADAL" clId="{F7FF961E-CF96-44AC-93C2-93612F62D46D}" dt="2026-05-13T08:15:58.141" v="1566" actId="20577"/>
          <ac:spMkLst>
            <pc:docMk/>
            <pc:sldMk cId="295960805" sldId="357"/>
            <ac:spMk id="3" creationId="{02E45886-974A-51BE-3D4D-E53291608C6A}"/>
          </ac:spMkLst>
        </pc:spChg>
      </pc:sldChg>
      <pc:sldChg chg="modSp new del mod modShow">
        <pc:chgData name="Berg, Dirk van den" userId="035ecb32-01d9-4b47-a105-eacf059a4647" providerId="ADAL" clId="{F7FF961E-CF96-44AC-93C2-93612F62D46D}" dt="2026-05-13T12:49:26.540" v="3517" actId="47"/>
        <pc:sldMkLst>
          <pc:docMk/>
          <pc:sldMk cId="2578785208" sldId="358"/>
        </pc:sldMkLst>
        <pc:spChg chg="mod">
          <ac:chgData name="Berg, Dirk van den" userId="035ecb32-01d9-4b47-a105-eacf059a4647" providerId="ADAL" clId="{F7FF961E-CF96-44AC-93C2-93612F62D46D}" dt="2026-05-13T08:33:49.158" v="1759"/>
          <ac:spMkLst>
            <pc:docMk/>
            <pc:sldMk cId="2578785208" sldId="358"/>
            <ac:spMk id="2" creationId="{34D6A9E0-D7FB-47F6-0AAB-D017BA765B12}"/>
          </ac:spMkLst>
        </pc:spChg>
        <pc:spChg chg="mod">
          <ac:chgData name="Berg, Dirk van den" userId="035ecb32-01d9-4b47-a105-eacf059a4647" providerId="ADAL" clId="{F7FF961E-CF96-44AC-93C2-93612F62D46D}" dt="2026-05-13T08:34:21.494" v="1765" actId="20577"/>
          <ac:spMkLst>
            <pc:docMk/>
            <pc:sldMk cId="2578785208" sldId="358"/>
            <ac:spMk id="3" creationId="{61FCD961-7045-0025-BEA1-DC5BF13423E9}"/>
          </ac:spMkLst>
        </pc:spChg>
      </pc:sldChg>
      <pc:sldChg chg="modSp new mod">
        <pc:chgData name="Berg, Dirk van den" userId="035ecb32-01d9-4b47-a105-eacf059a4647" providerId="ADAL" clId="{F7FF961E-CF96-44AC-93C2-93612F62D46D}" dt="2026-05-13T12:23:56.348" v="3154" actId="20577"/>
        <pc:sldMkLst>
          <pc:docMk/>
          <pc:sldMk cId="3499681343" sldId="359"/>
        </pc:sldMkLst>
        <pc:spChg chg="mod">
          <ac:chgData name="Berg, Dirk van den" userId="035ecb32-01d9-4b47-a105-eacf059a4647" providerId="ADAL" clId="{F7FF961E-CF96-44AC-93C2-93612F62D46D}" dt="2026-05-13T09:55:58.676" v="1914" actId="27636"/>
          <ac:spMkLst>
            <pc:docMk/>
            <pc:sldMk cId="3499681343" sldId="359"/>
            <ac:spMk id="2" creationId="{EF75452C-378A-F03E-92D8-5216A208CCA4}"/>
          </ac:spMkLst>
        </pc:spChg>
        <pc:spChg chg="mod">
          <ac:chgData name="Berg, Dirk van den" userId="035ecb32-01d9-4b47-a105-eacf059a4647" providerId="ADAL" clId="{F7FF961E-CF96-44AC-93C2-93612F62D46D}" dt="2026-05-13T12:23:56.348" v="3154" actId="20577"/>
          <ac:spMkLst>
            <pc:docMk/>
            <pc:sldMk cId="3499681343" sldId="359"/>
            <ac:spMk id="3" creationId="{CA4F536B-0078-70C3-95D0-3CBE23C4EC2B}"/>
          </ac:spMkLst>
        </pc:spChg>
      </pc:sldChg>
      <pc:sldChg chg="modSp new mod modNotesTx">
        <pc:chgData name="Berg, Dirk van den" userId="035ecb32-01d9-4b47-a105-eacf059a4647" providerId="ADAL" clId="{F7FF961E-CF96-44AC-93C2-93612F62D46D}" dt="2026-05-13T12:19:58.932" v="3142" actId="27636"/>
        <pc:sldMkLst>
          <pc:docMk/>
          <pc:sldMk cId="1788844034" sldId="360"/>
        </pc:sldMkLst>
        <pc:spChg chg="mod">
          <ac:chgData name="Berg, Dirk van den" userId="035ecb32-01d9-4b47-a105-eacf059a4647" providerId="ADAL" clId="{F7FF961E-CF96-44AC-93C2-93612F62D46D}" dt="2026-05-13T09:04:16.115" v="1811"/>
          <ac:spMkLst>
            <pc:docMk/>
            <pc:sldMk cId="1788844034" sldId="360"/>
            <ac:spMk id="2" creationId="{BD7BE48A-A4E6-C7D7-44BA-DD9377F707B2}"/>
          </ac:spMkLst>
        </pc:spChg>
        <pc:spChg chg="mod">
          <ac:chgData name="Berg, Dirk van den" userId="035ecb32-01d9-4b47-a105-eacf059a4647" providerId="ADAL" clId="{F7FF961E-CF96-44AC-93C2-93612F62D46D}" dt="2026-05-13T12:19:58.932" v="3142" actId="27636"/>
          <ac:spMkLst>
            <pc:docMk/>
            <pc:sldMk cId="1788844034" sldId="360"/>
            <ac:spMk id="3" creationId="{08C102CA-4200-8432-EAAD-163A66360AC1}"/>
          </ac:spMkLst>
        </pc:spChg>
      </pc:sldChg>
      <pc:sldChg chg="modSp new mod modNotesTx">
        <pc:chgData name="Berg, Dirk van den" userId="035ecb32-01d9-4b47-a105-eacf059a4647" providerId="ADAL" clId="{F7FF961E-CF96-44AC-93C2-93612F62D46D}" dt="2026-05-13T12:22:17.790" v="3144" actId="20577"/>
        <pc:sldMkLst>
          <pc:docMk/>
          <pc:sldMk cId="2665369197" sldId="361"/>
        </pc:sldMkLst>
        <pc:spChg chg="mod">
          <ac:chgData name="Berg, Dirk van den" userId="035ecb32-01d9-4b47-a105-eacf059a4647" providerId="ADAL" clId="{F7FF961E-CF96-44AC-93C2-93612F62D46D}" dt="2026-05-13T09:05:22.753" v="1830" actId="20577"/>
          <ac:spMkLst>
            <pc:docMk/>
            <pc:sldMk cId="2665369197" sldId="361"/>
            <ac:spMk id="2" creationId="{1110CB76-84F8-78BA-BEEF-F2B542C0582A}"/>
          </ac:spMkLst>
        </pc:spChg>
        <pc:spChg chg="mod">
          <ac:chgData name="Berg, Dirk van den" userId="035ecb32-01d9-4b47-a105-eacf059a4647" providerId="ADAL" clId="{F7FF961E-CF96-44AC-93C2-93612F62D46D}" dt="2026-05-13T09:35:07.914" v="1896" actId="27636"/>
          <ac:spMkLst>
            <pc:docMk/>
            <pc:sldMk cId="2665369197" sldId="361"/>
            <ac:spMk id="3" creationId="{BC45948B-5439-1EC5-81C0-C6FA53B77A7B}"/>
          </ac:spMkLst>
        </pc:spChg>
      </pc:sldChg>
      <pc:sldChg chg="modSp add mod modNotesTx">
        <pc:chgData name="Berg, Dirk van den" userId="035ecb32-01d9-4b47-a105-eacf059a4647" providerId="ADAL" clId="{F7FF961E-CF96-44AC-93C2-93612F62D46D}" dt="2026-05-13T12:38:02.285" v="3285" actId="27636"/>
        <pc:sldMkLst>
          <pc:docMk/>
          <pc:sldMk cId="2192594543" sldId="362"/>
        </pc:sldMkLst>
        <pc:spChg chg="mod">
          <ac:chgData name="Berg, Dirk van den" userId="035ecb32-01d9-4b47-a105-eacf059a4647" providerId="ADAL" clId="{F7FF961E-CF96-44AC-93C2-93612F62D46D}" dt="2026-05-13T12:38:02.285" v="3285" actId="27636"/>
          <ac:spMkLst>
            <pc:docMk/>
            <pc:sldMk cId="2192594543" sldId="362"/>
            <ac:spMk id="3" creationId="{CE1A1689-0D2C-FF0B-1490-3AE335737368}"/>
          </ac:spMkLst>
        </pc:spChg>
      </pc:sldChg>
      <pc:sldChg chg="modSp new del mod modShow">
        <pc:chgData name="Berg, Dirk van den" userId="035ecb32-01d9-4b47-a105-eacf059a4647" providerId="ADAL" clId="{F7FF961E-CF96-44AC-93C2-93612F62D46D}" dt="2026-05-13T12:49:22.244" v="3516" actId="47"/>
        <pc:sldMkLst>
          <pc:docMk/>
          <pc:sldMk cId="4153012747" sldId="363"/>
        </pc:sldMkLst>
        <pc:spChg chg="mod">
          <ac:chgData name="Berg, Dirk van den" userId="035ecb32-01d9-4b47-a105-eacf059a4647" providerId="ADAL" clId="{F7FF961E-CF96-44AC-93C2-93612F62D46D}" dt="2026-05-13T10:12:59.390" v="2137" actId="20577"/>
          <ac:spMkLst>
            <pc:docMk/>
            <pc:sldMk cId="4153012747" sldId="363"/>
            <ac:spMk id="3" creationId="{173A88D7-2C01-ADCF-981E-BBC7C73819B2}"/>
          </ac:spMkLst>
        </pc:spChg>
      </pc:sldChg>
      <pc:sldChg chg="modSp new del mod">
        <pc:chgData name="Berg, Dirk van den" userId="035ecb32-01d9-4b47-a105-eacf059a4647" providerId="ADAL" clId="{F7FF961E-CF96-44AC-93C2-93612F62D46D}" dt="2026-05-13T12:02:45.205" v="2959" actId="47"/>
        <pc:sldMkLst>
          <pc:docMk/>
          <pc:sldMk cId="2659348347" sldId="364"/>
        </pc:sldMkLst>
        <pc:spChg chg="mod">
          <ac:chgData name="Berg, Dirk van den" userId="035ecb32-01d9-4b47-a105-eacf059a4647" providerId="ADAL" clId="{F7FF961E-CF96-44AC-93C2-93612F62D46D}" dt="2026-05-13T10:08:39.283" v="2076" actId="20577"/>
          <ac:spMkLst>
            <pc:docMk/>
            <pc:sldMk cId="2659348347" sldId="364"/>
            <ac:spMk id="2" creationId="{9A4A68F1-DE64-AAA1-7B6F-0A77F44A54B1}"/>
          </ac:spMkLst>
        </pc:spChg>
      </pc:sldChg>
      <pc:sldChg chg="modSp new mod ord">
        <pc:chgData name="Berg, Dirk van den" userId="035ecb32-01d9-4b47-a105-eacf059a4647" providerId="ADAL" clId="{F7FF961E-CF96-44AC-93C2-93612F62D46D}" dt="2026-05-13T10:08:51.202" v="2096" actId="20577"/>
        <pc:sldMkLst>
          <pc:docMk/>
          <pc:sldMk cId="1493684968" sldId="365"/>
        </pc:sldMkLst>
        <pc:spChg chg="mod">
          <ac:chgData name="Berg, Dirk van den" userId="035ecb32-01d9-4b47-a105-eacf059a4647" providerId="ADAL" clId="{F7FF961E-CF96-44AC-93C2-93612F62D46D}" dt="2026-05-13T10:08:51.202" v="2096" actId="20577"/>
          <ac:spMkLst>
            <pc:docMk/>
            <pc:sldMk cId="1493684968" sldId="365"/>
            <ac:spMk id="2" creationId="{B3C6F7C2-D719-3E8A-F118-6D36B7EA70BC}"/>
          </ac:spMkLst>
        </pc:spChg>
      </pc:sldChg>
      <pc:sldChg chg="addSp delSp modSp new mod">
        <pc:chgData name="Berg, Dirk van den" userId="035ecb32-01d9-4b47-a105-eacf059a4647" providerId="ADAL" clId="{F7FF961E-CF96-44AC-93C2-93612F62D46D}" dt="2026-05-13T10:31:29.528" v="2393" actId="27636"/>
        <pc:sldMkLst>
          <pc:docMk/>
          <pc:sldMk cId="52614646" sldId="366"/>
        </pc:sldMkLst>
        <pc:spChg chg="mod">
          <ac:chgData name="Berg, Dirk van den" userId="035ecb32-01d9-4b47-a105-eacf059a4647" providerId="ADAL" clId="{F7FF961E-CF96-44AC-93C2-93612F62D46D}" dt="2026-05-13T10:30:19.437" v="2315"/>
          <ac:spMkLst>
            <pc:docMk/>
            <pc:sldMk cId="52614646" sldId="366"/>
            <ac:spMk id="2" creationId="{A0A1A521-4932-FF07-94C3-FCD84E1D0C0E}"/>
          </ac:spMkLst>
        </pc:spChg>
        <pc:spChg chg="add del mod">
          <ac:chgData name="Berg, Dirk van den" userId="035ecb32-01d9-4b47-a105-eacf059a4647" providerId="ADAL" clId="{F7FF961E-CF96-44AC-93C2-93612F62D46D}" dt="2026-05-13T10:31:29.528" v="2393" actId="27636"/>
          <ac:spMkLst>
            <pc:docMk/>
            <pc:sldMk cId="52614646" sldId="366"/>
            <ac:spMk id="3" creationId="{98D12571-A637-A0B3-0493-9163114B2206}"/>
          </ac:spMkLst>
        </pc:spChg>
        <pc:spChg chg="add del mod">
          <ac:chgData name="Berg, Dirk van den" userId="035ecb32-01d9-4b47-a105-eacf059a4647" providerId="ADAL" clId="{F7FF961E-CF96-44AC-93C2-93612F62D46D}" dt="2026-05-13T10:31:24.123" v="2391" actId="478"/>
          <ac:spMkLst>
            <pc:docMk/>
            <pc:sldMk cId="52614646" sldId="366"/>
            <ac:spMk id="5" creationId="{6C6B520D-7A7E-144F-AA8B-017D12DA43E1}"/>
          </ac:spMkLst>
        </pc:spChg>
      </pc:sldChg>
      <pc:sldChg chg="modSp new mod">
        <pc:chgData name="Berg, Dirk van den" userId="035ecb32-01d9-4b47-a105-eacf059a4647" providerId="ADAL" clId="{F7FF961E-CF96-44AC-93C2-93612F62D46D}" dt="2026-05-13T10:35:25.386" v="2438" actId="27636"/>
        <pc:sldMkLst>
          <pc:docMk/>
          <pc:sldMk cId="4265429733" sldId="367"/>
        </pc:sldMkLst>
        <pc:spChg chg="mod">
          <ac:chgData name="Berg, Dirk van den" userId="035ecb32-01d9-4b47-a105-eacf059a4647" providerId="ADAL" clId="{F7FF961E-CF96-44AC-93C2-93612F62D46D}" dt="2026-05-13T10:31:38.278" v="2395"/>
          <ac:spMkLst>
            <pc:docMk/>
            <pc:sldMk cId="4265429733" sldId="367"/>
            <ac:spMk id="2" creationId="{3B240D3B-23B4-9682-88C1-12335BBB2AE5}"/>
          </ac:spMkLst>
        </pc:spChg>
        <pc:spChg chg="mod">
          <ac:chgData name="Berg, Dirk van den" userId="035ecb32-01d9-4b47-a105-eacf059a4647" providerId="ADAL" clId="{F7FF961E-CF96-44AC-93C2-93612F62D46D}" dt="2026-05-13T10:35:25.386" v="2438" actId="27636"/>
          <ac:spMkLst>
            <pc:docMk/>
            <pc:sldMk cId="4265429733" sldId="367"/>
            <ac:spMk id="3" creationId="{6FD506DE-0415-6527-0108-60F81E848889}"/>
          </ac:spMkLst>
        </pc:spChg>
      </pc:sldChg>
      <pc:sldChg chg="modSp add mod">
        <pc:chgData name="Berg, Dirk van den" userId="035ecb32-01d9-4b47-a105-eacf059a4647" providerId="ADAL" clId="{F7FF961E-CF96-44AC-93C2-93612F62D46D}" dt="2026-05-13T10:36:35.446" v="2461" actId="27636"/>
        <pc:sldMkLst>
          <pc:docMk/>
          <pc:sldMk cId="2589641945" sldId="368"/>
        </pc:sldMkLst>
        <pc:spChg chg="mod">
          <ac:chgData name="Berg, Dirk van den" userId="035ecb32-01d9-4b47-a105-eacf059a4647" providerId="ADAL" clId="{F7FF961E-CF96-44AC-93C2-93612F62D46D}" dt="2026-05-13T10:35:49" v="2443" actId="113"/>
          <ac:spMkLst>
            <pc:docMk/>
            <pc:sldMk cId="2589641945" sldId="368"/>
            <ac:spMk id="2" creationId="{DBE6209B-7D76-4801-EEEB-5EFF407D6D8D}"/>
          </ac:spMkLst>
        </pc:spChg>
        <pc:spChg chg="mod">
          <ac:chgData name="Berg, Dirk van den" userId="035ecb32-01d9-4b47-a105-eacf059a4647" providerId="ADAL" clId="{F7FF961E-CF96-44AC-93C2-93612F62D46D}" dt="2026-05-13T10:36:35.446" v="2461" actId="27636"/>
          <ac:spMkLst>
            <pc:docMk/>
            <pc:sldMk cId="2589641945" sldId="368"/>
            <ac:spMk id="3" creationId="{D25B89DD-927D-E72C-1152-EB5DC9C8FE9C}"/>
          </ac:spMkLst>
        </pc:spChg>
      </pc:sldChg>
      <pc:sldChg chg="modSp add mod">
        <pc:chgData name="Berg, Dirk van den" userId="035ecb32-01d9-4b47-a105-eacf059a4647" providerId="ADAL" clId="{F7FF961E-CF96-44AC-93C2-93612F62D46D}" dt="2026-05-13T12:49:12.993" v="3515" actId="20577"/>
        <pc:sldMkLst>
          <pc:docMk/>
          <pc:sldMk cId="3350092738" sldId="369"/>
        </pc:sldMkLst>
        <pc:spChg chg="mod">
          <ac:chgData name="Berg, Dirk van den" userId="035ecb32-01d9-4b47-a105-eacf059a4647" providerId="ADAL" clId="{F7FF961E-CF96-44AC-93C2-93612F62D46D}" dt="2026-05-13T12:49:12.993" v="3515" actId="20577"/>
          <ac:spMkLst>
            <pc:docMk/>
            <pc:sldMk cId="3350092738" sldId="369"/>
            <ac:spMk id="3" creationId="{0320C35E-415D-8D66-186B-BA968403EEC5}"/>
          </ac:spMkLst>
        </pc:spChg>
      </pc:sldChg>
      <pc:sldChg chg="modSp add mod ord">
        <pc:chgData name="Berg, Dirk van den" userId="035ecb32-01d9-4b47-a105-eacf059a4647" providerId="ADAL" clId="{F7FF961E-CF96-44AC-93C2-93612F62D46D}" dt="2026-05-13T10:40:16.769" v="2507"/>
        <pc:sldMkLst>
          <pc:docMk/>
          <pc:sldMk cId="4254499222" sldId="370"/>
        </pc:sldMkLst>
        <pc:spChg chg="mod">
          <ac:chgData name="Berg, Dirk van den" userId="035ecb32-01d9-4b47-a105-eacf059a4647" providerId="ADAL" clId="{F7FF961E-CF96-44AC-93C2-93612F62D46D}" dt="2026-05-13T10:37:00.887" v="2465"/>
          <ac:spMkLst>
            <pc:docMk/>
            <pc:sldMk cId="4254499222" sldId="370"/>
            <ac:spMk id="2" creationId="{00D9F162-9AFF-B469-5BD2-2CE74E6A5CCE}"/>
          </ac:spMkLst>
        </pc:spChg>
        <pc:spChg chg="mod">
          <ac:chgData name="Berg, Dirk van den" userId="035ecb32-01d9-4b47-a105-eacf059a4647" providerId="ADAL" clId="{F7FF961E-CF96-44AC-93C2-93612F62D46D}" dt="2026-05-13T10:38:28.546" v="2505" actId="27636"/>
          <ac:spMkLst>
            <pc:docMk/>
            <pc:sldMk cId="4254499222" sldId="370"/>
            <ac:spMk id="3" creationId="{EEFC2C49-FA34-4262-AD07-2C5EB5D45F3F}"/>
          </ac:spMkLst>
        </pc:spChg>
      </pc:sldChg>
      <pc:sldChg chg="add mod modShow">
        <pc:chgData name="Berg, Dirk van den" userId="035ecb32-01d9-4b47-a105-eacf059a4647" providerId="ADAL" clId="{F7FF961E-CF96-44AC-93C2-93612F62D46D}" dt="2026-05-13T12:29:53.586" v="3156" actId="729"/>
        <pc:sldMkLst>
          <pc:docMk/>
          <pc:sldMk cId="3702479413" sldId="371"/>
        </pc:sldMkLst>
      </pc:sldChg>
      <pc:sldChg chg="modSp add mod">
        <pc:chgData name="Berg, Dirk van den" userId="035ecb32-01d9-4b47-a105-eacf059a4647" providerId="ADAL" clId="{F7FF961E-CF96-44AC-93C2-93612F62D46D}" dt="2026-05-13T10:47:53.903" v="2561" actId="20577"/>
        <pc:sldMkLst>
          <pc:docMk/>
          <pc:sldMk cId="553263469" sldId="372"/>
        </pc:sldMkLst>
        <pc:spChg chg="mod">
          <ac:chgData name="Berg, Dirk van den" userId="035ecb32-01d9-4b47-a105-eacf059a4647" providerId="ADAL" clId="{F7FF961E-CF96-44AC-93C2-93612F62D46D}" dt="2026-05-13T10:47:53.903" v="2561" actId="20577"/>
          <ac:spMkLst>
            <pc:docMk/>
            <pc:sldMk cId="553263469" sldId="372"/>
            <ac:spMk id="2" creationId="{14D91429-7982-FD0F-C252-62470CE5037E}"/>
          </ac:spMkLst>
        </pc:spChg>
        <pc:spChg chg="mod">
          <ac:chgData name="Berg, Dirk van den" userId="035ecb32-01d9-4b47-a105-eacf059a4647" providerId="ADAL" clId="{F7FF961E-CF96-44AC-93C2-93612F62D46D}" dt="2026-05-13T10:47:47.006" v="2531"/>
          <ac:spMkLst>
            <pc:docMk/>
            <pc:sldMk cId="553263469" sldId="372"/>
            <ac:spMk id="3" creationId="{E46A6818-BD52-80CD-9629-4CA83248F548}"/>
          </ac:spMkLst>
        </pc:spChg>
      </pc:sldChg>
      <pc:sldChg chg="modSp new mod">
        <pc:chgData name="Berg, Dirk van den" userId="035ecb32-01d9-4b47-a105-eacf059a4647" providerId="ADAL" clId="{F7FF961E-CF96-44AC-93C2-93612F62D46D}" dt="2026-05-13T12:02:26.454" v="2958" actId="20577"/>
        <pc:sldMkLst>
          <pc:docMk/>
          <pc:sldMk cId="4126221700" sldId="373"/>
        </pc:sldMkLst>
        <pc:spChg chg="mod">
          <ac:chgData name="Berg, Dirk van den" userId="035ecb32-01d9-4b47-a105-eacf059a4647" providerId="ADAL" clId="{F7FF961E-CF96-44AC-93C2-93612F62D46D}" dt="2026-05-13T12:02:26.454" v="2958" actId="20577"/>
          <ac:spMkLst>
            <pc:docMk/>
            <pc:sldMk cId="4126221700" sldId="373"/>
            <ac:spMk id="2" creationId="{4B653051-3B05-993F-5508-EF54849D3150}"/>
          </ac:spMkLst>
        </pc:spChg>
        <pc:spChg chg="mod">
          <ac:chgData name="Berg, Dirk van den" userId="035ecb32-01d9-4b47-a105-eacf059a4647" providerId="ADAL" clId="{F7FF961E-CF96-44AC-93C2-93612F62D46D}" dt="2026-05-13T10:54:05.752" v="2953" actId="20577"/>
          <ac:spMkLst>
            <pc:docMk/>
            <pc:sldMk cId="4126221700" sldId="373"/>
            <ac:spMk id="3" creationId="{F5F4B137-3180-E1F5-F1A5-4BF8DAF3DC7C}"/>
          </ac:spMkLst>
        </pc:spChg>
      </pc:sldChg>
      <pc:sldChg chg="add del">
        <pc:chgData name="Berg, Dirk van den" userId="035ecb32-01d9-4b47-a105-eacf059a4647" providerId="ADAL" clId="{F7FF961E-CF96-44AC-93C2-93612F62D46D}" dt="2026-05-13T12:00:42.227" v="2957" actId="47"/>
        <pc:sldMkLst>
          <pc:docMk/>
          <pc:sldMk cId="3005795714" sldId="374"/>
        </pc:sldMkLst>
      </pc:sldChg>
      <pc:sldChg chg="modSp add mod">
        <pc:chgData name="Berg, Dirk van den" userId="035ecb32-01d9-4b47-a105-eacf059a4647" providerId="ADAL" clId="{F7FF961E-CF96-44AC-93C2-93612F62D46D}" dt="2026-05-13T12:02:51.383" v="2962" actId="20577"/>
        <pc:sldMkLst>
          <pc:docMk/>
          <pc:sldMk cId="4088629589" sldId="374"/>
        </pc:sldMkLst>
        <pc:spChg chg="mod">
          <ac:chgData name="Berg, Dirk van den" userId="035ecb32-01d9-4b47-a105-eacf059a4647" providerId="ADAL" clId="{F7FF961E-CF96-44AC-93C2-93612F62D46D}" dt="2026-05-13T12:02:51.383" v="2962" actId="20577"/>
          <ac:spMkLst>
            <pc:docMk/>
            <pc:sldMk cId="4088629589" sldId="374"/>
            <ac:spMk id="2" creationId="{E87AE796-708B-909C-F9F8-D1C4E09DB0F7}"/>
          </ac:spMkLst>
        </pc:spChg>
      </pc:sldChg>
      <pc:sldChg chg="modSp add mod">
        <pc:chgData name="Berg, Dirk van den" userId="035ecb32-01d9-4b47-a105-eacf059a4647" providerId="ADAL" clId="{F7FF961E-CF96-44AC-93C2-93612F62D46D}" dt="2026-05-13T12:16:21.419" v="3137" actId="403"/>
        <pc:sldMkLst>
          <pc:docMk/>
          <pc:sldMk cId="1845687551" sldId="375"/>
        </pc:sldMkLst>
        <pc:spChg chg="mod">
          <ac:chgData name="Berg, Dirk van den" userId="035ecb32-01d9-4b47-a105-eacf059a4647" providerId="ADAL" clId="{F7FF961E-CF96-44AC-93C2-93612F62D46D}" dt="2026-05-13T12:16:21.419" v="3137" actId="403"/>
          <ac:spMkLst>
            <pc:docMk/>
            <pc:sldMk cId="1845687551" sldId="375"/>
            <ac:spMk id="3" creationId="{9990FBB5-58E2-B636-9D16-4427CFBBE625}"/>
          </ac:spMkLst>
        </pc:spChg>
      </pc:sldChg>
      <pc:sldChg chg="add mod modShow">
        <pc:chgData name="Berg, Dirk van den" userId="035ecb32-01d9-4b47-a105-eacf059a4647" providerId="ADAL" clId="{F7FF961E-CF96-44AC-93C2-93612F62D46D}" dt="2026-05-13T12:30:28.609" v="3170" actId="729"/>
        <pc:sldMkLst>
          <pc:docMk/>
          <pc:sldMk cId="4139860065" sldId="376"/>
        </pc:sldMkLst>
      </pc:sldChg>
      <pc:sldChg chg="modSp new mod">
        <pc:chgData name="Berg, Dirk van den" userId="035ecb32-01d9-4b47-a105-eacf059a4647" providerId="ADAL" clId="{F7FF961E-CF96-44AC-93C2-93612F62D46D}" dt="2026-05-13T12:41:56.586" v="3377" actId="20577"/>
        <pc:sldMkLst>
          <pc:docMk/>
          <pc:sldMk cId="3042697024" sldId="377"/>
        </pc:sldMkLst>
        <pc:spChg chg="mod">
          <ac:chgData name="Berg, Dirk van den" userId="035ecb32-01d9-4b47-a105-eacf059a4647" providerId="ADAL" clId="{F7FF961E-CF96-44AC-93C2-93612F62D46D}" dt="2026-05-13T12:41:36.731" v="3291" actId="20577"/>
          <ac:spMkLst>
            <pc:docMk/>
            <pc:sldMk cId="3042697024" sldId="377"/>
            <ac:spMk id="2" creationId="{47CA81FC-4338-BB64-13D8-F62CFA90299F}"/>
          </ac:spMkLst>
        </pc:spChg>
        <pc:spChg chg="mod">
          <ac:chgData name="Berg, Dirk van den" userId="035ecb32-01d9-4b47-a105-eacf059a4647" providerId="ADAL" clId="{F7FF961E-CF96-44AC-93C2-93612F62D46D}" dt="2026-05-13T12:41:56.586" v="3377" actId="20577"/>
          <ac:spMkLst>
            <pc:docMk/>
            <pc:sldMk cId="3042697024" sldId="377"/>
            <ac:spMk id="3" creationId="{5D2D58C6-6689-2ABD-F747-5ABD32E873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A04EC3-6134-466E-91BB-7B7890962997}" type="datetimeFigureOut">
              <a:rPr lang="en-NL" smtClean="0"/>
              <a:t>13/05/2026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C62EE-A230-40F7-A6E2-7784DE8EB742}" type="slidenum">
              <a:rPr lang="en-NL" smtClean="0"/>
              <a:t>‹#›</a:t>
            </a:fld>
            <a:endParaRPr lang="en-NL"/>
          </a:p>
        </p:txBody>
      </p:sp>
    </p:spTree>
    <p:extLst>
      <p:ext uri="{BB962C8B-B14F-4D97-AF65-F5344CB8AC3E}">
        <p14:creationId xmlns:p14="http://schemas.microsoft.com/office/powerpoint/2010/main" val="1191499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 = </a:t>
            </a:r>
            <a:r>
              <a:rPr lang="en-US" dirty="0" err="1"/>
              <a:t>sum_i</a:t>
            </a:r>
            <a:r>
              <a:rPr lang="en-US" dirty="0"/>
              <a:t> cos(2*pi*</a:t>
            </a:r>
            <a:r>
              <a:rPr lang="en-US" dirty="0" err="1"/>
              <a:t>f_i</a:t>
            </a:r>
            <a:r>
              <a:rPr lang="en-US" dirty="0"/>
              <a:t>*t + </a:t>
            </a:r>
            <a:r>
              <a:rPr lang="en-US" dirty="0" err="1"/>
              <a:t>phi_i</a:t>
            </a:r>
            <a:r>
              <a:rPr lang="en-US" dirty="0"/>
              <a:t>)</a:t>
            </a:r>
          </a:p>
          <a:p>
            <a:r>
              <a:rPr lang="en-US" dirty="0"/>
              <a:t>  </a:t>
            </a:r>
            <a:r>
              <a:rPr lang="en-US" dirty="0" err="1"/>
              <a:t>phi_i</a:t>
            </a:r>
            <a:r>
              <a:rPr lang="en-US" dirty="0"/>
              <a:t> = -</a:t>
            </a:r>
            <a:r>
              <a:rPr lang="en-US" dirty="0" err="1"/>
              <a:t>i</a:t>
            </a:r>
            <a:r>
              <a:rPr lang="en-US" dirty="0"/>
              <a:t>(i-1)pi/F</a:t>
            </a:r>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13</a:t>
            </a:fld>
            <a:endParaRPr lang="en-NL"/>
          </a:p>
        </p:txBody>
      </p:sp>
    </p:spTree>
    <p:extLst>
      <p:ext uri="{BB962C8B-B14F-4D97-AF65-F5344CB8AC3E}">
        <p14:creationId xmlns:p14="http://schemas.microsoft.com/office/powerpoint/2010/main" val="3132850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B1A94820-1407-41AC-9CBC-636E7E1F9743}" type="slidenum">
              <a:rPr lang="en-NL" smtClean="0"/>
              <a:t>14</a:t>
            </a:fld>
            <a:endParaRPr lang="en-NL"/>
          </a:p>
        </p:txBody>
      </p:sp>
    </p:spTree>
    <p:extLst>
      <p:ext uri="{BB962C8B-B14F-4D97-AF65-F5344CB8AC3E}">
        <p14:creationId xmlns:p14="http://schemas.microsoft.com/office/powerpoint/2010/main" val="2406985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and T6 excite only the Y direction, with T6 using a more aggressive motion</a:t>
            </a:r>
          </a:p>
          <a:p>
            <a:r>
              <a:rPr lang="en-US" dirty="0"/>
              <a:t>profile than T1. T2 and T3 excite common X motion at two fixed Y positions,</a:t>
            </a:r>
          </a:p>
          <a:p>
            <a:r>
              <a:rPr lang="en-US" dirty="0"/>
              <a:t>allowing the effect of the Y-dependent dynamics to be compared. T4 excites the</a:t>
            </a:r>
          </a:p>
          <a:p>
            <a:r>
              <a:rPr lang="en-US" dirty="0"/>
              <a:t>differential X direction at a fixed Y position, producing yaw motion.</a:t>
            </a:r>
          </a:p>
          <a:p>
            <a:endParaRPr lang="en-US" dirty="0"/>
          </a:p>
          <a:p>
            <a:r>
              <a:rPr lang="en-US" dirty="0"/>
              <a:t>T5 combines common X motion with a Y sweep, while T7 combines differential X</a:t>
            </a:r>
          </a:p>
          <a:p>
            <a:r>
              <a:rPr lang="en-US" dirty="0"/>
              <a:t>motion with a Y sweep. T8 combines common and differential X components during</a:t>
            </a:r>
          </a:p>
          <a:p>
            <a:r>
              <a:rPr lang="en-US" dirty="0"/>
              <a:t>the same Y sweep. In this case both X stages move in the same overall direction,</a:t>
            </a:r>
          </a:p>
          <a:p>
            <a:r>
              <a:rPr lang="en-US" dirty="0"/>
              <a:t>but with different amplitudes: $X_1$ moves to $0.120$ m and $X_2$ moves to</a:t>
            </a:r>
          </a:p>
          <a:p>
            <a:r>
              <a:rPr lang="en-US" dirty="0"/>
              <a:t>$0.080$ m. This gives simultaneous X translation, yaw, and Y motion.</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41</a:t>
            </a:fld>
            <a:endParaRPr lang="en-NL"/>
          </a:p>
        </p:txBody>
      </p:sp>
    </p:spTree>
    <p:extLst>
      <p:ext uri="{BB962C8B-B14F-4D97-AF65-F5344CB8AC3E}">
        <p14:creationId xmlns:p14="http://schemas.microsoft.com/office/powerpoint/2010/main" val="2823694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added d </a:t>
            </a:r>
            <a:endParaRPr lang="en-NL" dirty="0"/>
          </a:p>
          <a:p>
            <a:r>
              <a:rPr lang="en-US" dirty="0"/>
              <a:t>Initially left out because a geometric but definitely recoverable</a:t>
            </a:r>
          </a:p>
          <a:p>
            <a:r>
              <a:rPr lang="en-US" dirty="0" err="1"/>
              <a:t>Lb</a:t>
            </a:r>
            <a:r>
              <a:rPr lang="en-US" dirty="0"/>
              <a:t> is still left out but that one is used to decouple the system</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44</a:t>
            </a:fld>
            <a:endParaRPr lang="en-NL"/>
          </a:p>
        </p:txBody>
      </p:sp>
    </p:spTree>
    <p:extLst>
      <p:ext uri="{BB962C8B-B14F-4D97-AF65-F5344CB8AC3E}">
        <p14:creationId xmlns:p14="http://schemas.microsoft.com/office/powerpoint/2010/main" val="1486392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lim.diff</a:t>
            </a:r>
            <a:r>
              <a:rPr lang="en-US" dirty="0"/>
              <a:t> = sin(0.1) * </a:t>
            </a:r>
            <a:r>
              <a:rPr lang="en-US" dirty="0" err="1"/>
              <a:t>Lb</a:t>
            </a:r>
            <a:r>
              <a:rPr lang="en-US" dirty="0"/>
              <a:t>;  % max |X1-X2| yaw limit (Garcia 2013)</a:t>
            </a:r>
          </a:p>
          <a:p>
            <a:r>
              <a:rPr lang="en-US" dirty="0"/>
              <a:t>With </a:t>
            </a:r>
            <a:r>
              <a:rPr lang="en-US" dirty="0" err="1"/>
              <a:t>Lb</a:t>
            </a:r>
            <a:r>
              <a:rPr lang="en-US" dirty="0"/>
              <a:t> = 0.725 m:</a:t>
            </a:r>
          </a:p>
          <a:p>
            <a:endParaRPr lang="en-US" dirty="0"/>
          </a:p>
          <a:p>
            <a:r>
              <a:rPr lang="en-US" dirty="0"/>
              <a:t>text</a:t>
            </a:r>
          </a:p>
          <a:p>
            <a:endParaRPr lang="en-US" dirty="0"/>
          </a:p>
          <a:p>
            <a:endParaRPr lang="en-US" dirty="0"/>
          </a:p>
          <a:p>
            <a:r>
              <a:rPr lang="en-US" dirty="0"/>
              <a:t>|X1 - X2|max = sin(0.1) * 0.725 = 0.0724 m = 72.4 mm</a:t>
            </a:r>
          </a:p>
          <a:p>
            <a:endParaRPr lang="en-US" dirty="0"/>
          </a:p>
          <a:p>
            <a:endParaRPr lang="en-US" dirty="0"/>
          </a:p>
          <a:p>
            <a:r>
              <a:rPr lang="en-US" sz="1200" b="0" i="0" kern="1200" dirty="0">
                <a:solidFill>
                  <a:schemeClr val="tx1"/>
                </a:solidFill>
                <a:effectLst/>
                <a:latin typeface="+mn-lt"/>
                <a:ea typeface="+mn-ea"/>
                <a:cs typeface="+mn-cs"/>
              </a:rPr>
              <a:t>current anti-symmetric trajectory amplitudes are:</a:t>
            </a:r>
          </a:p>
          <a:p>
            <a:pPr rtl="0"/>
            <a:r>
              <a:rPr lang="en-US" sz="1200" b="0" i="0" kern="1200" dirty="0">
                <a:solidFill>
                  <a:schemeClr val="tx1"/>
                </a:solidFill>
                <a:effectLst/>
                <a:latin typeface="+mn-lt"/>
                <a:ea typeface="+mn-ea"/>
                <a:cs typeface="+mn-cs"/>
              </a:rPr>
              <a:t>T4/T7: </a:t>
            </a:r>
            <a:r>
              <a:rPr lang="en-US" sz="1200" b="0" i="0" kern="1200" dirty="0" err="1">
                <a:solidFill>
                  <a:schemeClr val="tx1"/>
                </a:solidFill>
                <a:effectLst/>
                <a:latin typeface="+mn-lt"/>
                <a:ea typeface="+mn-ea"/>
                <a:cs typeface="+mn-cs"/>
              </a:rPr>
              <a:t>X_anti_amp</a:t>
            </a:r>
            <a:r>
              <a:rPr lang="en-US" sz="1200" b="0" i="0" kern="1200" dirty="0">
                <a:solidFill>
                  <a:schemeClr val="tx1"/>
                </a:solidFill>
                <a:effectLst/>
                <a:latin typeface="+mn-lt"/>
                <a:ea typeface="+mn-ea"/>
                <a:cs typeface="+mn-cs"/>
              </a:rPr>
              <a:t> = 30 mm -&gt; |X1-X2| = 60 mm -&gt; theta ≈ 0.083 rad T8: </a:t>
            </a:r>
            <a:r>
              <a:rPr lang="en-US" sz="1200" b="0" i="0" kern="1200" dirty="0" err="1">
                <a:solidFill>
                  <a:schemeClr val="tx1"/>
                </a:solidFill>
                <a:effectLst/>
                <a:latin typeface="+mn-lt"/>
                <a:ea typeface="+mn-ea"/>
                <a:cs typeface="+mn-cs"/>
              </a:rPr>
              <a:t>X_anti_amp</a:t>
            </a:r>
            <a:r>
              <a:rPr lang="en-US" sz="1200" b="0" i="0" kern="1200" dirty="0">
                <a:solidFill>
                  <a:schemeClr val="tx1"/>
                </a:solidFill>
                <a:effectLst/>
                <a:latin typeface="+mn-lt"/>
                <a:ea typeface="+mn-ea"/>
                <a:cs typeface="+mn-cs"/>
              </a:rPr>
              <a:t> = 20 mm -&gt; |X1-X2| = 40 mm -&gt; theta ≈ 0.055 rad </a:t>
            </a:r>
          </a:p>
          <a:p>
            <a:r>
              <a:rPr lang="en-US" sz="1200" b="0" i="0" kern="1200" dirty="0">
                <a:solidFill>
                  <a:schemeClr val="tx1"/>
                </a:solidFill>
                <a:effectLst/>
                <a:latin typeface="+mn-lt"/>
                <a:ea typeface="+mn-ea"/>
                <a:cs typeface="+mn-cs"/>
              </a:rPr>
              <a:t>So yes, you are staying below the 0.1 rad limit with some headroom for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/response overshoot.</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45</a:t>
            </a:fld>
            <a:endParaRPr lang="en-NL"/>
          </a:p>
        </p:txBody>
      </p:sp>
    </p:spTree>
    <p:extLst>
      <p:ext uri="{BB962C8B-B14F-4D97-AF65-F5344CB8AC3E}">
        <p14:creationId xmlns:p14="http://schemas.microsoft.com/office/powerpoint/2010/main" val="786410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odd frequencies from 1 Hz up to just below Nyquist</a:t>
            </a:r>
          </a:p>
          <a:p>
            <a:endParaRPr lang="en-US" dirty="0">
              <a:effectLst/>
            </a:endParaRPr>
          </a:p>
          <a:p>
            <a:endParaRPr lang="en-US" dirty="0">
              <a:effectLst/>
            </a:endParaRPr>
          </a:p>
          <a:p>
            <a:r>
              <a:rPr lang="en-US" dirty="0">
                <a:effectLst/>
              </a:rPr>
              <a:t>If you take an FFT of a signal segment with length </a:t>
            </a:r>
            <a:r>
              <a:rPr lang="en-US" sz="1200" kern="1200" dirty="0">
                <a:solidFill>
                  <a:schemeClr val="tx1"/>
                </a:solidFill>
                <a:effectLst/>
                <a:latin typeface="+mn-lt"/>
                <a:ea typeface="+mn-ea"/>
                <a:cs typeface="+mn-cs"/>
              </a:rPr>
              <a:t>T</a:t>
            </a:r>
            <a:r>
              <a:rPr lang="en-US" dirty="0">
                <a:effectLst/>
              </a:rPr>
              <a:t> seconds, the FFT frequency spacing is:</a:t>
            </a:r>
            <a:endParaRPr lang="en-US" dirty="0"/>
          </a:p>
          <a:p>
            <a:r>
              <a:rPr lang="el-GR" dirty="0"/>
              <a:t>Δ</a:t>
            </a:r>
            <a:r>
              <a:rPr lang="en-US" dirty="0"/>
              <a:t>f = 1 / T</a:t>
            </a:r>
          </a:p>
          <a:p>
            <a:endParaRPr lang="en-US" dirty="0"/>
          </a:p>
          <a:p>
            <a:r>
              <a:rPr lang="en-US" dirty="0">
                <a:effectLst/>
              </a:rPr>
              <a:t>Your diagnostic </a:t>
            </a:r>
            <a:r>
              <a:rPr lang="en-US" dirty="0" err="1">
                <a:effectLst/>
              </a:rPr>
              <a:t>multisine</a:t>
            </a:r>
            <a:r>
              <a:rPr lang="en-US" dirty="0">
                <a:effectLst/>
              </a:rPr>
              <a:t> excites odd frequencies:</a:t>
            </a:r>
          </a:p>
          <a:p>
            <a:br>
              <a:rPr lang="en-US" dirty="0">
                <a:effectLst/>
              </a:rPr>
            </a:br>
            <a:r>
              <a:rPr lang="en-US" dirty="0">
                <a:effectLst/>
              </a:rPr>
              <a:t>The FFT grid is the set of frequency points returned by the FFT. With a 1 s analysis window, these points are spaced by 1 Hz. The </a:t>
            </a:r>
            <a:r>
              <a:rPr lang="en-US" dirty="0" err="1">
                <a:effectLst/>
              </a:rPr>
              <a:t>multisine</a:t>
            </a:r>
            <a:r>
              <a:rPr lang="en-US" dirty="0">
                <a:effectLst/>
              </a:rPr>
              <a:t> is designed to excite frequencies that lie exactly on this grid.</a:t>
            </a:r>
          </a:p>
          <a:p>
            <a:endParaRPr lang="en-US" dirty="0">
              <a:effectLst/>
            </a:endParaRPr>
          </a:p>
          <a:p>
            <a:endParaRPr lang="en-US" dirty="0">
              <a:effectLst/>
            </a:endParaRPr>
          </a:p>
          <a:p>
            <a:r>
              <a:rPr lang="en-US" dirty="0">
                <a:effectLst/>
              </a:rPr>
              <a:t>The same 1 s </a:t>
            </a:r>
            <a:r>
              <a:rPr lang="en-US" dirty="0" err="1">
                <a:effectLst/>
              </a:rPr>
              <a:t>multisine</a:t>
            </a:r>
            <a:r>
              <a:rPr lang="en-US" dirty="0">
                <a:effectLst/>
              </a:rPr>
              <a:t> is repeated twice. The first repetition is not used for the estimate, because the system may still be reacting to the sudden start of the excitation. The second repetition is used for the FFT, because the response is closer to the steady response to the repeated </a:t>
            </a:r>
            <a:r>
              <a:rPr lang="en-US" dirty="0" err="1">
                <a:effectLst/>
              </a:rPr>
              <a:t>multisine</a:t>
            </a:r>
            <a:r>
              <a:rPr lang="en-US" dirty="0">
                <a:effectLst/>
              </a:rPr>
              <a:t>.</a:t>
            </a:r>
          </a:p>
          <a:p>
            <a:endParaRPr lang="en-US" dirty="0">
              <a:effectLst/>
            </a:endParaRP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49</a:t>
            </a:fld>
            <a:endParaRPr lang="en-NL"/>
          </a:p>
        </p:txBody>
      </p:sp>
    </p:spTree>
    <p:extLst>
      <p:ext uri="{BB962C8B-B14F-4D97-AF65-F5344CB8AC3E}">
        <p14:creationId xmlns:p14="http://schemas.microsoft.com/office/powerpoint/2010/main" val="902578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7BDDC-04F2-7512-58A9-D4F048910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84019-8587-2EED-DF3E-9B2A6DE167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239055-5EC0-8D54-AA0D-DBC50981EE76}"/>
              </a:ext>
            </a:extLst>
          </p:cNvPr>
          <p:cNvSpPr>
            <a:spLocks noGrp="1"/>
          </p:cNvSpPr>
          <p:nvPr>
            <p:ph type="body" idx="1"/>
          </p:nvPr>
        </p:nvSpPr>
        <p:spPr/>
        <p:txBody>
          <a:bodyPr/>
          <a:lstStyle/>
          <a:p>
            <a:r>
              <a:rPr lang="en-US" dirty="0">
                <a:effectLst/>
              </a:rPr>
              <a:t>odd frequencies from 1 Hz up to just below Nyquist</a:t>
            </a:r>
          </a:p>
          <a:p>
            <a:endParaRPr lang="en-US" dirty="0">
              <a:effectLst/>
            </a:endParaRPr>
          </a:p>
          <a:p>
            <a:endParaRPr lang="en-US" dirty="0">
              <a:effectLst/>
            </a:endParaRPr>
          </a:p>
          <a:p>
            <a:r>
              <a:rPr lang="en-US" dirty="0">
                <a:effectLst/>
              </a:rPr>
              <a:t>If you take an FFT of a signal segment with length </a:t>
            </a:r>
            <a:r>
              <a:rPr lang="en-US" sz="1200" kern="1200" dirty="0">
                <a:solidFill>
                  <a:schemeClr val="tx1"/>
                </a:solidFill>
                <a:effectLst/>
                <a:latin typeface="+mn-lt"/>
                <a:ea typeface="+mn-ea"/>
                <a:cs typeface="+mn-cs"/>
              </a:rPr>
              <a:t>T</a:t>
            </a:r>
            <a:r>
              <a:rPr lang="en-US" dirty="0">
                <a:effectLst/>
              </a:rPr>
              <a:t> seconds, the FFT frequency spacing is:</a:t>
            </a:r>
            <a:endParaRPr lang="en-US" dirty="0"/>
          </a:p>
          <a:p>
            <a:r>
              <a:rPr lang="el-GR" dirty="0"/>
              <a:t>Δ</a:t>
            </a:r>
            <a:r>
              <a:rPr lang="en-US" dirty="0"/>
              <a:t>f = 1 / T</a:t>
            </a:r>
          </a:p>
          <a:p>
            <a:endParaRPr lang="en-US" dirty="0"/>
          </a:p>
          <a:p>
            <a:r>
              <a:rPr lang="en-US" dirty="0">
                <a:effectLst/>
              </a:rPr>
              <a:t>Your diagnostic </a:t>
            </a:r>
            <a:r>
              <a:rPr lang="en-US" dirty="0" err="1">
                <a:effectLst/>
              </a:rPr>
              <a:t>multisine</a:t>
            </a:r>
            <a:r>
              <a:rPr lang="en-US" dirty="0">
                <a:effectLst/>
              </a:rPr>
              <a:t> excites odd frequencies:</a:t>
            </a:r>
          </a:p>
          <a:p>
            <a:br>
              <a:rPr lang="en-US" dirty="0">
                <a:effectLst/>
              </a:rPr>
            </a:br>
            <a:r>
              <a:rPr lang="en-US" dirty="0">
                <a:effectLst/>
              </a:rPr>
              <a:t>The FFT grid is the set of frequency points returned by the FFT. With a 1 s analysis window, these points are spaced by 1 Hz. The </a:t>
            </a:r>
            <a:r>
              <a:rPr lang="en-US" dirty="0" err="1">
                <a:effectLst/>
              </a:rPr>
              <a:t>multisine</a:t>
            </a:r>
            <a:r>
              <a:rPr lang="en-US" dirty="0">
                <a:effectLst/>
              </a:rPr>
              <a:t> is designed to excite frequencies that lie exactly on this grid.</a:t>
            </a:r>
          </a:p>
          <a:p>
            <a:endParaRPr lang="en-NL" dirty="0"/>
          </a:p>
        </p:txBody>
      </p:sp>
      <p:sp>
        <p:nvSpPr>
          <p:cNvPr id="4" name="Slide Number Placeholder 3">
            <a:extLst>
              <a:ext uri="{FF2B5EF4-FFF2-40B4-BE49-F238E27FC236}">
                <a16:creationId xmlns:a16="http://schemas.microsoft.com/office/drawing/2014/main" id="{E91FDC23-8D26-5FD1-A55F-BF347EBBAE6E}"/>
              </a:ext>
            </a:extLst>
          </p:cNvPr>
          <p:cNvSpPr>
            <a:spLocks noGrp="1"/>
          </p:cNvSpPr>
          <p:nvPr>
            <p:ph type="sldNum" sz="quarter" idx="5"/>
          </p:nvPr>
        </p:nvSpPr>
        <p:spPr/>
        <p:txBody>
          <a:bodyPr/>
          <a:lstStyle/>
          <a:p>
            <a:fld id="{F35C62EE-A230-40F7-A6E2-7784DE8EB742}" type="slidenum">
              <a:rPr lang="en-NL" smtClean="0"/>
              <a:t>50</a:t>
            </a:fld>
            <a:endParaRPr lang="en-NL"/>
          </a:p>
        </p:txBody>
      </p:sp>
    </p:spTree>
    <p:extLst>
      <p:ext uri="{BB962C8B-B14F-4D97-AF65-F5344CB8AC3E}">
        <p14:creationId xmlns:p14="http://schemas.microsoft.com/office/powerpoint/2010/main" val="3696099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Because the two ratios share the middle term,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a:t>
            </a:r>
          </a:p>
          <a:p>
            <a:r>
              <a:rPr lang="en-US" sz="1200" b="0" i="0" kern="1200" dirty="0">
                <a:solidFill>
                  <a:schemeClr val="tx1"/>
                </a:solidFill>
                <a:effectLst/>
                <a:latin typeface="+mn-lt"/>
                <a:ea typeface="+mn-ea"/>
                <a:cs typeface="+mn-cs"/>
              </a:rPr>
              <a:t>You define:</a:t>
            </a:r>
          </a:p>
          <a:p>
            <a:pPr rtl="0"/>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F_m,inj</a:t>
            </a:r>
            <a:r>
              <a:rPr lang="en-US" sz="1200" b="0" i="0" kern="1200" dirty="0">
                <a:solidFill>
                  <a:schemeClr val="tx1"/>
                </a:solidFill>
                <a:effectLst/>
                <a:latin typeface="+mn-lt"/>
                <a:ea typeface="+mn-ea"/>
                <a:cs typeface="+mn-cs"/>
              </a:rPr>
              <a:t>(f) </a:t>
            </a:r>
          </a:p>
          <a:p>
            <a:r>
              <a:rPr lang="en-US" sz="1200" b="0" i="0" kern="1200" dirty="0">
                <a:solidFill>
                  <a:schemeClr val="tx1"/>
                </a:solidFill>
                <a:effectLst/>
                <a:latin typeface="+mn-lt"/>
                <a:ea typeface="+mn-ea"/>
                <a:cs typeface="+mn-cs"/>
              </a:rPr>
              <a:t>and:</a:t>
            </a:r>
          </a:p>
          <a:p>
            <a:pPr rtl="0"/>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a:t>
            </a:r>
          </a:p>
          <a:p>
            <a:r>
              <a:rPr lang="en-US" sz="1200" b="0" i="0" kern="1200" dirty="0">
                <a:solidFill>
                  <a:schemeClr val="tx1"/>
                </a:solidFill>
                <a:effectLst/>
                <a:latin typeface="+mn-lt"/>
                <a:ea typeface="+mn-ea"/>
                <a:cs typeface="+mn-cs"/>
              </a:rPr>
              <a:t>Now multiply them:</a:t>
            </a:r>
          </a:p>
          <a:p>
            <a:pPr rtl="0"/>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F_m,inj</a:t>
            </a:r>
            <a:r>
              <a:rPr lang="en-US" sz="1200" b="0" i="0" kern="1200" dirty="0">
                <a:solidFill>
                  <a:schemeClr val="tx1"/>
                </a:solidFill>
                <a:effectLst/>
                <a:latin typeface="+mn-lt"/>
                <a:ea typeface="+mn-ea"/>
                <a:cs typeface="+mn-cs"/>
              </a:rPr>
              <a:t>(f)]</a:t>
            </a:r>
          </a:p>
          <a:p>
            <a:endParaRPr lang="en-US" dirty="0"/>
          </a:p>
          <a:p>
            <a:endParaRPr lang="en-US" dirty="0"/>
          </a:p>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cancels:</a:t>
            </a:r>
          </a:p>
          <a:p>
            <a:pPr rtl="0"/>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F_m,inj</a:t>
            </a:r>
            <a:r>
              <a:rPr lang="en-US" sz="1200" b="0" i="0" kern="1200" dirty="0">
                <a:solidFill>
                  <a:schemeClr val="tx1"/>
                </a:solidFill>
                <a:effectLst/>
                <a:latin typeface="+mn-lt"/>
                <a:ea typeface="+mn-ea"/>
                <a:cs typeface="+mn-cs"/>
              </a:rPr>
              <a:t>(f) </a:t>
            </a:r>
          </a:p>
          <a:p>
            <a:r>
              <a:rPr lang="en-US" sz="1200" b="0" i="0" kern="1200" dirty="0">
                <a:solidFill>
                  <a:schemeClr val="tx1"/>
                </a:solidFill>
                <a:effectLst/>
                <a:latin typeface="+mn-lt"/>
                <a:ea typeface="+mn-ea"/>
                <a:cs typeface="+mn-cs"/>
              </a:rPr>
              <a:t>So the product tells directly:</a:t>
            </a:r>
          </a:p>
          <a:p>
            <a:pPr rtl="0"/>
            <a:r>
              <a:rPr lang="en-US" sz="1200" b="0" i="0" kern="1200" dirty="0">
                <a:solidFill>
                  <a:schemeClr val="tx1"/>
                </a:solidFill>
                <a:effectLst/>
                <a:latin typeface="+mn-lt"/>
                <a:ea typeface="+mn-ea"/>
                <a:cs typeface="+mn-cs"/>
              </a:rPr>
              <a:t>how much measured motion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 you get per injected force </a:t>
            </a:r>
            <a:r>
              <a:rPr lang="en-US" sz="1200" b="0" i="0" kern="1200" dirty="0" err="1">
                <a:solidFill>
                  <a:schemeClr val="tx1"/>
                </a:solidFill>
                <a:effectLst/>
                <a:latin typeface="+mn-lt"/>
                <a:ea typeface="+mn-ea"/>
                <a:cs typeface="+mn-cs"/>
              </a:rPr>
              <a:t>F_m,inj</a:t>
            </a:r>
            <a:endParaRPr lang="en-US" sz="1200" b="0" i="0" kern="1200" dirty="0">
              <a:solidFill>
                <a:schemeClr val="tx1"/>
              </a:solidFill>
              <a:effectLst/>
              <a:latin typeface="+mn-lt"/>
              <a:ea typeface="+mn-ea"/>
              <a:cs typeface="+mn-cs"/>
            </a:endParaRP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51</a:t>
            </a:fld>
            <a:endParaRPr lang="en-NL"/>
          </a:p>
        </p:txBody>
      </p:sp>
    </p:spTree>
    <p:extLst>
      <p:ext uri="{BB962C8B-B14F-4D97-AF65-F5344CB8AC3E}">
        <p14:creationId xmlns:p14="http://schemas.microsoft.com/office/powerpoint/2010/main" val="3005234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That means at least about 10% of injected force power survives, or equivalently:</a:t>
            </a:r>
          </a:p>
          <a:p>
            <a:br>
              <a:rPr lang="en-US" dirty="0">
                <a:effectLst/>
              </a:rPr>
            </a:br>
            <a:r>
              <a:rPr lang="en-US" sz="1200" b="0" i="0" kern="1200" dirty="0">
                <a:solidFill>
                  <a:schemeClr val="tx1"/>
                </a:solidFill>
                <a:effectLst/>
                <a:latin typeface="+mn-lt"/>
                <a:ea typeface="+mn-ea"/>
                <a:cs typeface="+mn-cs"/>
              </a:rPr>
              <a:t>means the </a:t>
            </a:r>
            <a:r>
              <a:rPr lang="en-US" sz="1200" b="1" i="0" kern="1200" dirty="0">
                <a:solidFill>
                  <a:schemeClr val="tx1"/>
                </a:solidFill>
                <a:effectLst/>
                <a:latin typeface="+mn-lt"/>
                <a:ea typeface="+mn-ea"/>
                <a:cs typeface="+mn-cs"/>
              </a:rPr>
              <a:t>power-like ratio</a:t>
            </a:r>
            <a:r>
              <a:rPr lang="en-US" sz="1200" b="0" i="0" kern="1200" dirty="0">
                <a:solidFill>
                  <a:schemeClr val="tx1"/>
                </a:solidFill>
                <a:effectLst/>
                <a:latin typeface="+mn-lt"/>
                <a:ea typeface="+mn-ea"/>
                <a:cs typeface="+mn-cs"/>
              </a:rPr>
              <a:t> is larger than 0.1, or 10%.</a:t>
            </a:r>
          </a:p>
          <a:p>
            <a:br>
              <a:rPr lang="en-US" dirty="0"/>
            </a:br>
            <a:r>
              <a:rPr lang="en-US" dirty="0" err="1"/>
              <a:t>f_low</a:t>
            </a:r>
            <a:r>
              <a:rPr lang="en-US" dirty="0"/>
              <a:t> is the first frequency where at least 10% of the injected force power, or about 32% of the force amplitude, remains in the total plant input.</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52</a:t>
            </a:fld>
            <a:endParaRPr lang="en-NL"/>
          </a:p>
        </p:txBody>
      </p:sp>
    </p:spTree>
    <p:extLst>
      <p:ext uri="{BB962C8B-B14F-4D97-AF65-F5344CB8AC3E}">
        <p14:creationId xmlns:p14="http://schemas.microsoft.com/office/powerpoint/2010/main" val="1220413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9429-551B-5673-984E-9096BCF9A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6D8377-37BE-9124-960A-1C9AFBE46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7AEED-D072-1DB7-4A02-943A4FDB83E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Because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only tells you:</a:t>
            </a:r>
          </a:p>
          <a:p>
            <a:pPr rtl="0"/>
            <a:r>
              <a:rPr lang="en-US" sz="1200" b="0" i="0" kern="1200" dirty="0">
                <a:solidFill>
                  <a:schemeClr val="tx1"/>
                </a:solidFill>
                <a:effectLst/>
                <a:latin typeface="+mn-lt"/>
                <a:ea typeface="+mn-ea"/>
                <a:cs typeface="+mn-cs"/>
              </a:rPr>
              <a:t>motion per actual plant input force </a:t>
            </a:r>
          </a:p>
          <a:p>
            <a:r>
              <a:rPr lang="en-US" sz="1200" b="0" i="0" kern="1200" dirty="0">
                <a:solidFill>
                  <a:schemeClr val="tx1"/>
                </a:solidFill>
                <a:effectLst/>
                <a:latin typeface="+mn-lt"/>
                <a:ea typeface="+mn-ea"/>
                <a:cs typeface="+mn-cs"/>
              </a:rPr>
              <a:t>but it does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tell you whether your injected force actually reaches the plant.</a:t>
            </a:r>
          </a:p>
          <a:p>
            <a:r>
              <a:rPr lang="en-US" sz="1200" b="0" i="0" kern="1200" dirty="0">
                <a:solidFill>
                  <a:schemeClr val="tx1"/>
                </a:solidFill>
                <a:effectLst/>
                <a:latin typeface="+mn-lt"/>
                <a:ea typeface="+mn-ea"/>
                <a:cs typeface="+mn-cs"/>
              </a:rPr>
              <a:t>Recall:</a:t>
            </a:r>
          </a:p>
          <a:p>
            <a:pPr rtl="0"/>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a:t>
            </a:r>
          </a:p>
          <a:p>
            <a:r>
              <a:rPr lang="en-US" sz="1200" b="0" i="0" kern="1200" dirty="0">
                <a:solidFill>
                  <a:schemeClr val="tx1"/>
                </a:solidFill>
                <a:effectLst/>
                <a:latin typeface="+mn-lt"/>
                <a:ea typeface="+mn-ea"/>
                <a:cs typeface="+mn-cs"/>
              </a:rPr>
              <a:t>So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answers:</a:t>
            </a:r>
          </a:p>
          <a:p>
            <a:pPr rtl="0"/>
            <a:r>
              <a:rPr lang="en-US" sz="1200" b="0" i="0" kern="1200" dirty="0">
                <a:solidFill>
                  <a:schemeClr val="tx1"/>
                </a:solidFill>
                <a:effectLst/>
                <a:latin typeface="+mn-lt"/>
                <a:ea typeface="+mn-ea"/>
                <a:cs typeface="+mn-cs"/>
              </a:rPr>
              <a:t>If the plant receives force at this frequency, how much motion does it produce? </a:t>
            </a:r>
          </a:p>
          <a:p>
            <a:r>
              <a:rPr lang="en-US" sz="1200" b="0" i="0" kern="1200" dirty="0">
                <a:solidFill>
                  <a:schemeClr val="tx1"/>
                </a:solidFill>
                <a:effectLst/>
                <a:latin typeface="+mn-lt"/>
                <a:ea typeface="+mn-ea"/>
                <a:cs typeface="+mn-cs"/>
              </a:rPr>
              <a:t>But your design question is different:</a:t>
            </a:r>
          </a:p>
          <a:p>
            <a:pPr rtl="0"/>
            <a:r>
              <a:rPr lang="en-US" sz="1200" b="0" i="0" kern="1200" dirty="0">
                <a:solidFill>
                  <a:schemeClr val="tx1"/>
                </a:solidFill>
                <a:effectLst/>
                <a:latin typeface="+mn-lt"/>
                <a:ea typeface="+mn-ea"/>
                <a:cs typeface="+mn-cs"/>
              </a:rPr>
              <a:t>If I inject force after the controller, how much motion do I get? </a:t>
            </a:r>
          </a:p>
          <a:p>
            <a:r>
              <a:rPr lang="en-US" sz="1200" b="0" i="0" kern="1200" dirty="0">
                <a:solidFill>
                  <a:schemeClr val="tx1"/>
                </a:solidFill>
                <a:effectLst/>
                <a:latin typeface="+mn-lt"/>
                <a:ea typeface="+mn-ea"/>
                <a:cs typeface="+mn-cs"/>
              </a:rPr>
              <a:t>For that, you need the full path:</a:t>
            </a:r>
          </a:p>
          <a:p>
            <a:pPr rtl="0"/>
            <a:r>
              <a:rPr lang="en-US" sz="1200" b="0" i="0" kern="1200" dirty="0" err="1">
                <a:solidFill>
                  <a:schemeClr val="tx1"/>
                </a:solidFill>
                <a:effectLst/>
                <a:latin typeface="+mn-lt"/>
                <a:ea typeface="+mn-ea"/>
                <a:cs typeface="+mn-cs"/>
              </a:rPr>
              <a:t>F_m,inj</a:t>
            </a:r>
            <a:r>
              <a:rPr lang="en-US" sz="1200" b="0" i="0" kern="1200" dirty="0">
                <a:solidFill>
                  <a:schemeClr val="tx1"/>
                </a:solidFill>
                <a:effectLst/>
                <a:latin typeface="+mn-lt"/>
                <a:ea typeface="+mn-ea"/>
                <a:cs typeface="+mn-cs"/>
              </a:rPr>
              <a:t> -&gt;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 -&gt;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That is:</a:t>
            </a:r>
          </a:p>
          <a:p>
            <a:pPr rtl="0"/>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F_m,inj</a:t>
            </a:r>
            <a:r>
              <a:rPr lang="en-US" sz="1200" b="0" i="0" kern="1200" dirty="0">
                <a:solidFill>
                  <a:schemeClr val="tx1"/>
                </a:solidFill>
                <a:effectLst/>
                <a:latin typeface="+mn-lt"/>
                <a:ea typeface="+mn-ea"/>
                <a:cs typeface="+mn-cs"/>
              </a:rPr>
              <a:t>(f)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U_m,total</a:t>
            </a:r>
            <a:r>
              <a:rPr lang="en-US" sz="1200" b="0" i="0" kern="1200" dirty="0">
                <a:solidFill>
                  <a:schemeClr val="tx1"/>
                </a:solidFill>
                <a:effectLst/>
                <a:latin typeface="+mn-lt"/>
                <a:ea typeface="+mn-ea"/>
                <a:cs typeface="+mn-cs"/>
              </a:rPr>
              <a:t>(f) </a:t>
            </a:r>
          </a:p>
          <a:p>
            <a:r>
              <a:rPr lang="en-US" sz="1200" b="0" i="0" kern="1200" dirty="0">
                <a:solidFill>
                  <a:schemeClr val="tx1"/>
                </a:solidFill>
                <a:effectLst/>
                <a:latin typeface="+mn-lt"/>
                <a:ea typeface="+mn-ea"/>
                <a:cs typeface="+mn-cs"/>
              </a:rPr>
              <a:t>So:</a:t>
            </a:r>
          </a:p>
          <a:p>
            <a:pPr rtl="0"/>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(f)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Q_m</a:t>
            </a:r>
            <a:r>
              <a:rPr lang="en-US" sz="1200" b="0" i="0" kern="1200" dirty="0">
                <a:solidFill>
                  <a:schemeClr val="tx1"/>
                </a:solidFill>
                <a:effectLst/>
                <a:latin typeface="+mn-lt"/>
                <a:ea typeface="+mn-ea"/>
                <a:cs typeface="+mn-cs"/>
              </a:rPr>
              <a:t>(f) / </a:t>
            </a:r>
            <a:r>
              <a:rPr lang="en-US" sz="1200" b="0" i="0" kern="1200" dirty="0" err="1">
                <a:solidFill>
                  <a:schemeClr val="tx1"/>
                </a:solidFill>
                <a:effectLst/>
                <a:latin typeface="+mn-lt"/>
                <a:ea typeface="+mn-ea"/>
                <a:cs typeface="+mn-cs"/>
              </a:rPr>
              <a:t>F_m,inj</a:t>
            </a:r>
            <a:r>
              <a:rPr lang="en-US" sz="1200" b="0" i="0" kern="1200" dirty="0">
                <a:solidFill>
                  <a:schemeClr val="tx1"/>
                </a:solidFill>
                <a:effectLst/>
                <a:latin typeface="+mn-lt"/>
                <a:ea typeface="+mn-ea"/>
                <a:cs typeface="+mn-cs"/>
              </a:rPr>
              <a:t>(f) </a:t>
            </a:r>
          </a:p>
          <a:p>
            <a:r>
              <a:rPr lang="en-US" sz="1200" b="0" i="0" kern="1200" dirty="0">
                <a:solidFill>
                  <a:schemeClr val="tx1"/>
                </a:solidFill>
                <a:effectLst/>
                <a:latin typeface="+mn-lt"/>
                <a:ea typeface="+mn-ea"/>
                <a:cs typeface="+mn-cs"/>
              </a:rPr>
              <a:t>Example:</a:t>
            </a:r>
          </a:p>
          <a:p>
            <a:pPr rtl="0"/>
            <a:r>
              <a:rPr lang="en-US" sz="1200" b="0" i="0" kern="1200" dirty="0">
                <a:solidFill>
                  <a:schemeClr val="tx1"/>
                </a:solidFill>
                <a:effectLst/>
                <a:latin typeface="+mn-lt"/>
                <a:ea typeface="+mn-ea"/>
                <a:cs typeface="+mn-cs"/>
              </a:rPr>
              <a:t>Frequency A: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is large, but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 is near zero. The plant would move if force reached it, but the controller cancels the injected force. So injected force gives little motion. Frequency B: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is moderate, and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 is large. The injected force survives and produces measurable motion. This is more useful for the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So for choosing </a:t>
            </a:r>
            <a:r>
              <a:rPr lang="en-US" sz="1200" b="0" i="0" kern="1200" dirty="0" err="1">
                <a:solidFill>
                  <a:schemeClr val="tx1"/>
                </a:solidFill>
                <a:effectLst/>
                <a:latin typeface="+mn-lt"/>
                <a:ea typeface="+mn-ea"/>
                <a:cs typeface="+mn-cs"/>
              </a:rPr>
              <a:t>f_high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alone is incomplete. You need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 because the final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 is not directly choosing </a:t>
            </a:r>
            <a:r>
              <a:rPr lang="en-US" sz="1200" b="0" i="0" kern="1200" dirty="0" err="1">
                <a:solidFill>
                  <a:schemeClr val="tx1"/>
                </a:solidFill>
                <a:effectLst/>
                <a:latin typeface="+mn-lt"/>
                <a:ea typeface="+mn-ea"/>
                <a:cs typeface="+mn-cs"/>
              </a:rPr>
              <a:t>U_total</a:t>
            </a:r>
            <a:r>
              <a:rPr lang="en-US" sz="1200" b="0" i="0" kern="1200" dirty="0">
                <a:solidFill>
                  <a:schemeClr val="tx1"/>
                </a:solidFill>
                <a:effectLst/>
                <a:latin typeface="+mn-lt"/>
                <a:ea typeface="+mn-ea"/>
                <a:cs typeface="+mn-cs"/>
              </a:rPr>
              <a:t>; it is choosing </a:t>
            </a:r>
            <a:r>
              <a:rPr lang="en-US" sz="1200" b="0" i="0" kern="1200" dirty="0" err="1">
                <a:solidFill>
                  <a:schemeClr val="tx1"/>
                </a:solidFill>
                <a:effectLst/>
                <a:latin typeface="+mn-lt"/>
                <a:ea typeface="+mn-ea"/>
                <a:cs typeface="+mn-cs"/>
              </a:rPr>
              <a:t>F_inj</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Simple wording:</a:t>
            </a:r>
          </a:p>
          <a:p>
            <a:pPr rtl="0"/>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only describes the plant once force reaches it. </a:t>
            </a:r>
            <a:r>
              <a:rPr lang="en-US" sz="1200" b="0" i="0" kern="1200" dirty="0" err="1">
                <a:solidFill>
                  <a:schemeClr val="tx1"/>
                </a:solidFill>
                <a:effectLst/>
                <a:latin typeface="+mn-lt"/>
                <a:ea typeface="+mn-ea"/>
                <a:cs typeface="+mn-cs"/>
              </a:rPr>
              <a:t>G_m</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S_in,m</a:t>
            </a:r>
            <a:r>
              <a:rPr lang="en-US" sz="1200" b="0" i="0" kern="1200" dirty="0">
                <a:solidFill>
                  <a:schemeClr val="tx1"/>
                </a:solidFill>
                <a:effectLst/>
                <a:latin typeface="+mn-lt"/>
                <a:ea typeface="+mn-ea"/>
                <a:cs typeface="+mn-cs"/>
              </a:rPr>
              <a:t> describes the full closed-loop path from the injected force to the measured motion, which is the quantity relevant for designing the injected </a:t>
            </a:r>
            <a:r>
              <a:rPr lang="en-US" sz="1200" b="0" i="0" kern="1200" dirty="0" err="1">
                <a:solidFill>
                  <a:schemeClr val="tx1"/>
                </a:solidFill>
                <a:effectLst/>
                <a:latin typeface="+mn-lt"/>
                <a:ea typeface="+mn-ea"/>
                <a:cs typeface="+mn-cs"/>
              </a:rPr>
              <a:t>multisine</a:t>
            </a:r>
            <a:r>
              <a:rPr lang="en-US" sz="1200" b="0" i="0" kern="1200" dirty="0">
                <a:solidFill>
                  <a:schemeClr val="tx1"/>
                </a:solidFill>
                <a:effectLst/>
                <a:latin typeface="+mn-lt"/>
                <a:ea typeface="+mn-ea"/>
                <a:cs typeface="+mn-cs"/>
              </a:rPr>
              <a:t>.</a:t>
            </a:r>
          </a:p>
          <a:p>
            <a:endParaRPr lang="en-US" dirty="0">
              <a:effectLst/>
            </a:endParaRPr>
          </a:p>
          <a:p>
            <a:endParaRPr lang="en-US" dirty="0">
              <a:effectLst/>
            </a:endParaRPr>
          </a:p>
          <a:p>
            <a:r>
              <a:rPr lang="en-US" dirty="0" err="1">
                <a:effectLst/>
              </a:rPr>
              <a:t>response_energy</a:t>
            </a:r>
            <a:r>
              <a:rPr lang="en-US" dirty="0">
                <a:effectLst/>
              </a:rPr>
              <a:t>(f) = |</a:t>
            </a:r>
            <a:r>
              <a:rPr lang="en-US" dirty="0" err="1">
                <a:effectLst/>
              </a:rPr>
              <a:t>G_m</a:t>
            </a:r>
            <a:r>
              <a:rPr lang="en-US" dirty="0">
                <a:effectLst/>
              </a:rPr>
              <a:t>(f) </a:t>
            </a:r>
            <a:r>
              <a:rPr lang="en-US" dirty="0" err="1">
                <a:effectLst/>
              </a:rPr>
              <a:t>S_in,m</a:t>
            </a:r>
            <a:r>
              <a:rPr lang="en-US" dirty="0">
                <a:effectLst/>
              </a:rPr>
              <a:t>(f)|²</a:t>
            </a:r>
          </a:p>
          <a:p>
            <a:r>
              <a:rPr lang="en-US" dirty="0">
                <a:effectLst/>
              </a:rPr>
              <a:t>Since:</a:t>
            </a:r>
          </a:p>
          <a:p>
            <a:endParaRPr lang="en-US" dirty="0">
              <a:effectLst/>
            </a:endParaRPr>
          </a:p>
          <a:p>
            <a:r>
              <a:rPr lang="en-US" dirty="0">
                <a:effectLst/>
              </a:rPr>
              <a:t>text</a:t>
            </a:r>
          </a:p>
          <a:p>
            <a:endParaRPr lang="en-US" dirty="0">
              <a:effectLst/>
            </a:endParaRPr>
          </a:p>
          <a:p>
            <a:endParaRPr lang="en-US" dirty="0">
              <a:effectLst/>
            </a:endParaRPr>
          </a:p>
          <a:p>
            <a:r>
              <a:rPr lang="en-US" dirty="0" err="1">
                <a:effectLst/>
              </a:rPr>
              <a:t>G_m</a:t>
            </a:r>
            <a:r>
              <a:rPr lang="en-US" dirty="0">
                <a:effectLst/>
              </a:rPr>
              <a:t>(f) </a:t>
            </a:r>
            <a:r>
              <a:rPr lang="en-US" dirty="0" err="1">
                <a:effectLst/>
              </a:rPr>
              <a:t>S_in,m</a:t>
            </a:r>
            <a:r>
              <a:rPr lang="en-US" dirty="0">
                <a:effectLst/>
              </a:rPr>
              <a:t>(f) = </a:t>
            </a:r>
            <a:r>
              <a:rPr lang="en-US" dirty="0" err="1">
                <a:effectLst/>
              </a:rPr>
              <a:t>Q_m</a:t>
            </a:r>
            <a:r>
              <a:rPr lang="en-US" dirty="0">
                <a:effectLst/>
              </a:rPr>
              <a:t>(f) / </a:t>
            </a:r>
            <a:r>
              <a:rPr lang="en-US" dirty="0" err="1">
                <a:effectLst/>
              </a:rPr>
              <a:t>F_m,inj</a:t>
            </a:r>
            <a:r>
              <a:rPr lang="en-US" dirty="0">
                <a:effectLst/>
              </a:rPr>
              <a:t>(f)</a:t>
            </a:r>
          </a:p>
          <a:p>
            <a:r>
              <a:rPr lang="en-US" dirty="0">
                <a:effectLst/>
              </a:rPr>
              <a:t>this means:</a:t>
            </a:r>
          </a:p>
          <a:p>
            <a:endParaRPr lang="en-US" dirty="0">
              <a:effectLst/>
            </a:endParaRPr>
          </a:p>
          <a:p>
            <a:r>
              <a:rPr lang="en-US" dirty="0">
                <a:effectLst/>
              </a:rPr>
              <a:t>text</a:t>
            </a:r>
          </a:p>
          <a:p>
            <a:endParaRPr lang="en-US" dirty="0">
              <a:effectLst/>
            </a:endParaRPr>
          </a:p>
          <a:p>
            <a:endParaRPr lang="en-US" dirty="0">
              <a:effectLst/>
            </a:endParaRPr>
          </a:p>
          <a:p>
            <a:r>
              <a:rPr lang="en-US" dirty="0" err="1">
                <a:effectLst/>
              </a:rPr>
              <a:t>response_energy</a:t>
            </a:r>
            <a:r>
              <a:rPr lang="en-US" dirty="0">
                <a:effectLst/>
              </a:rPr>
              <a:t>(f) = |</a:t>
            </a:r>
            <a:r>
              <a:rPr lang="en-US" dirty="0" err="1">
                <a:effectLst/>
              </a:rPr>
              <a:t>Q_m</a:t>
            </a:r>
            <a:r>
              <a:rPr lang="en-US" dirty="0">
                <a:effectLst/>
              </a:rPr>
              <a:t>(f) / </a:t>
            </a:r>
            <a:r>
              <a:rPr lang="en-US" dirty="0" err="1">
                <a:effectLst/>
              </a:rPr>
              <a:t>F_m,inj</a:t>
            </a:r>
            <a:r>
              <a:rPr lang="en-US" dirty="0">
                <a:effectLst/>
              </a:rPr>
              <a:t>(f)|²</a:t>
            </a:r>
          </a:p>
          <a:p>
            <a:endParaRPr lang="en-US" dirty="0">
              <a:effectLst/>
            </a:endParaRPr>
          </a:p>
          <a:p>
            <a:r>
              <a:rPr lang="en-US" dirty="0">
                <a:effectLst/>
              </a:rPr>
              <a:t>The script defines a usefulness measure per frequency as |</a:t>
            </a:r>
            <a:r>
              <a:rPr lang="en-US" dirty="0" err="1">
                <a:effectLst/>
              </a:rPr>
              <a:t>G_m</a:t>
            </a:r>
            <a:r>
              <a:rPr lang="en-US" dirty="0">
                <a:effectLst/>
              </a:rPr>
              <a:t> S_in,m|², i.e. squared motion response per injected force. It then computes the cumulative remaining high-frequency contribution. </a:t>
            </a:r>
            <a:r>
              <a:rPr lang="en-US" dirty="0" err="1">
                <a:effectLst/>
              </a:rPr>
              <a:t>f_high</a:t>
            </a:r>
            <a:r>
              <a:rPr lang="en-US" dirty="0">
                <a:effectLst/>
              </a:rPr>
              <a:t> is chosen so that frequencies above </a:t>
            </a:r>
            <a:r>
              <a:rPr lang="en-US" dirty="0" err="1">
                <a:effectLst/>
              </a:rPr>
              <a:t>f_high</a:t>
            </a:r>
            <a:r>
              <a:rPr lang="en-US" dirty="0">
                <a:effectLst/>
              </a:rPr>
              <a:t> contain only about 5% of the total contribution, meaning the selected band from </a:t>
            </a:r>
            <a:r>
              <a:rPr lang="en-US" dirty="0" err="1">
                <a:effectLst/>
              </a:rPr>
              <a:t>f_low</a:t>
            </a:r>
            <a:r>
              <a:rPr lang="en-US" dirty="0">
                <a:effectLst/>
              </a:rPr>
              <a:t> to </a:t>
            </a:r>
            <a:r>
              <a:rPr lang="en-US" dirty="0" err="1">
                <a:effectLst/>
              </a:rPr>
              <a:t>f_high</a:t>
            </a:r>
            <a:r>
              <a:rPr lang="en-US" dirty="0">
                <a:effectLst/>
              </a:rPr>
              <a:t> contains about 95%.</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effectLst/>
              </a:rPr>
            </a:br>
            <a:r>
              <a:rPr lang="en-US" dirty="0"/>
              <a:t>Therefore, </a:t>
            </a:r>
            <a:r>
              <a:rPr lang="en-US" dirty="0" err="1"/>
              <a:t>f_high</a:t>
            </a:r>
            <a:r>
              <a:rPr lang="en-US" dirty="0"/>
              <a:t> is an energy-based cutoff, not an explicit resonance-peak detector.</a:t>
            </a:r>
          </a:p>
          <a:p>
            <a:endParaRPr lang="en-NL" dirty="0"/>
          </a:p>
        </p:txBody>
      </p:sp>
      <p:sp>
        <p:nvSpPr>
          <p:cNvPr id="4" name="Slide Number Placeholder 3">
            <a:extLst>
              <a:ext uri="{FF2B5EF4-FFF2-40B4-BE49-F238E27FC236}">
                <a16:creationId xmlns:a16="http://schemas.microsoft.com/office/drawing/2014/main" id="{6772DEC3-C43E-D476-6DFA-E514B57358B3}"/>
              </a:ext>
            </a:extLst>
          </p:cNvPr>
          <p:cNvSpPr>
            <a:spLocks noGrp="1"/>
          </p:cNvSpPr>
          <p:nvPr>
            <p:ph type="sldNum" sz="quarter" idx="5"/>
          </p:nvPr>
        </p:nvSpPr>
        <p:spPr/>
        <p:txBody>
          <a:bodyPr/>
          <a:lstStyle/>
          <a:p>
            <a:fld id="{F35C62EE-A230-40F7-A6E2-7784DE8EB742}" type="slidenum">
              <a:rPr lang="en-NL" smtClean="0"/>
              <a:t>53</a:t>
            </a:fld>
            <a:endParaRPr lang="en-NL"/>
          </a:p>
        </p:txBody>
      </p:sp>
    </p:spTree>
    <p:extLst>
      <p:ext uri="{BB962C8B-B14F-4D97-AF65-F5344CB8AC3E}">
        <p14:creationId xmlns:p14="http://schemas.microsoft.com/office/powerpoint/2010/main" val="29721373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Meaning:</a:t>
            </a:r>
          </a:p>
          <a:p>
            <a:pPr marL="0" indent="0">
              <a:buNone/>
            </a:pPr>
            <a:r>
              <a:rPr lang="en-US" dirty="0"/>
              <a:t>r(t) defines the intended motion</a:t>
            </a:r>
          </a:p>
          <a:p>
            <a:pPr marL="0" indent="0">
              <a:buNone/>
            </a:pPr>
            <a:r>
              <a:rPr lang="en-US" dirty="0" err="1"/>
              <a:t>f_sim</a:t>
            </a:r>
            <a:r>
              <a:rPr lang="en-US" dirty="0"/>
              <a:t>(t) adds extra force excitation for identification</a:t>
            </a:r>
          </a:p>
          <a:p>
            <a:pPr marL="0" indent="0">
              <a:buNone/>
            </a:pPr>
            <a:r>
              <a:rPr lang="en-US" dirty="0"/>
              <a:t>q1(t) is the simulated plant response</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55</a:t>
            </a:fld>
            <a:endParaRPr lang="en-NL"/>
          </a:p>
        </p:txBody>
      </p:sp>
    </p:spTree>
    <p:extLst>
      <p:ext uri="{BB962C8B-B14F-4D97-AF65-F5344CB8AC3E}">
        <p14:creationId xmlns:p14="http://schemas.microsoft.com/office/powerpoint/2010/main" val="2033752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Padding extends the final hold of the reference trajectory. The commanded position remains constant, but the force </a:t>
            </a:r>
            <a:r>
              <a:rPr lang="en-US" dirty="0" err="1"/>
              <a:t>multisine</a:t>
            </a:r>
            <a:r>
              <a:rPr lang="en-US" dirty="0"/>
              <a:t> continues, so the experiment ends after a complete </a:t>
            </a:r>
            <a:r>
              <a:rPr lang="en-US" dirty="0" err="1"/>
              <a:t>multisine</a:t>
            </a:r>
            <a:r>
              <a:rPr lang="en-US" dirty="0"/>
              <a:t> period.</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57</a:t>
            </a:fld>
            <a:endParaRPr lang="en-NL"/>
          </a:p>
        </p:txBody>
      </p:sp>
    </p:spTree>
    <p:extLst>
      <p:ext uri="{BB962C8B-B14F-4D97-AF65-F5344CB8AC3E}">
        <p14:creationId xmlns:p14="http://schemas.microsoft.com/office/powerpoint/2010/main" val="33936360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base Schroeder phase is:</a:t>
            </a:r>
          </a:p>
          <a:p>
            <a:pPr rtl="0"/>
            <a:r>
              <a:rPr lang="en-US" sz="1200" b="0" i="0" kern="1200" dirty="0">
                <a:solidFill>
                  <a:schemeClr val="tx1"/>
                </a:solidFill>
                <a:effectLst/>
                <a:latin typeface="+mn-lt"/>
                <a:ea typeface="+mn-ea"/>
                <a:cs typeface="+mn-cs"/>
              </a:rPr>
              <a:t>phi = -pi * </a:t>
            </a:r>
            <a:r>
              <a:rPr lang="en-US" sz="1200" b="0" i="0" kern="1200" dirty="0" err="1">
                <a:solidFill>
                  <a:schemeClr val="tx1"/>
                </a:solidFill>
                <a:effectLst/>
                <a:latin typeface="+mn-lt"/>
                <a:ea typeface="+mn-ea"/>
                <a:cs typeface="+mn-cs"/>
              </a:rPr>
              <a:t>idx</a:t>
            </a:r>
            <a:r>
              <a:rPr lang="en-US" sz="1200" b="0" i="0" kern="1200" dirty="0">
                <a:solidFill>
                  <a:schemeClr val="tx1"/>
                </a:solidFill>
                <a:effectLst/>
                <a:latin typeface="+mn-lt"/>
                <a:ea typeface="+mn-ea"/>
                <a:cs typeface="+mn-cs"/>
              </a:rPr>
              <a:t> .* (idx-1) / F; </a:t>
            </a:r>
          </a:p>
          <a:p>
            <a:r>
              <a:rPr lang="en-US" sz="1200" b="0" i="0" kern="1200" dirty="0">
                <a:solidFill>
                  <a:schemeClr val="tx1"/>
                </a:solidFill>
                <a:effectLst/>
                <a:latin typeface="+mn-lt"/>
                <a:ea typeface="+mn-ea"/>
                <a:cs typeface="+mn-cs"/>
              </a:rPr>
              <a:t>Then the script adds a seed-dependent phase shift:</a:t>
            </a:r>
          </a:p>
          <a:p>
            <a:pPr rtl="0"/>
            <a:r>
              <a:rPr lang="en-US" sz="1200" b="0" i="0" kern="1200" dirty="0">
                <a:solidFill>
                  <a:schemeClr val="tx1"/>
                </a:solidFill>
                <a:effectLst/>
                <a:latin typeface="+mn-lt"/>
                <a:ea typeface="+mn-ea"/>
                <a:cs typeface="+mn-cs"/>
              </a:rPr>
              <a:t>phi = phi + 2*pi*(k*f0)*(seed-1)/(7*</a:t>
            </a:r>
            <a:r>
              <a:rPr lang="en-US" sz="1200" b="0" i="0" kern="1200" dirty="0" err="1">
                <a:solidFill>
                  <a:schemeClr val="tx1"/>
                </a:solidFill>
                <a:effectLst/>
                <a:latin typeface="+mn-lt"/>
                <a:ea typeface="+mn-ea"/>
                <a:cs typeface="+mn-cs"/>
              </a:rPr>
              <a:t>f_high</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So the frequencies stay the same, but the phases change.</a:t>
            </a:r>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58</a:t>
            </a:fld>
            <a:endParaRPr lang="en-NL"/>
          </a:p>
        </p:txBody>
      </p:sp>
    </p:spTree>
    <p:extLst>
      <p:ext uri="{BB962C8B-B14F-4D97-AF65-F5344CB8AC3E}">
        <p14:creationId xmlns:p14="http://schemas.microsoft.com/office/powerpoint/2010/main" val="23259995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Currently not using a proper method to find best segment length</a:t>
            </a:r>
          </a:p>
          <a:p>
            <a:pPr lvl="1"/>
            <a:r>
              <a:rPr lang="en-US" dirty="0"/>
              <a:t>Step response hard time because…</a:t>
            </a:r>
          </a:p>
          <a:p>
            <a:pPr lvl="1"/>
            <a:r>
              <a:rPr lang="en-US" dirty="0"/>
              <a:t>FFT not used currently</a:t>
            </a:r>
          </a:p>
          <a:p>
            <a:pPr lvl="1"/>
            <a:r>
              <a:rPr lang="en-US" dirty="0"/>
              <a:t>Planning on using FRFs instead..</a:t>
            </a:r>
            <a:endParaRPr lang="en-NL" dirty="0"/>
          </a:p>
          <a:p>
            <a:endParaRPr lang="en-NL" dirty="0"/>
          </a:p>
        </p:txBody>
      </p:sp>
      <p:sp>
        <p:nvSpPr>
          <p:cNvPr id="4" name="Slide Number Placeholder 3"/>
          <p:cNvSpPr>
            <a:spLocks noGrp="1"/>
          </p:cNvSpPr>
          <p:nvPr>
            <p:ph type="sldNum" sz="quarter" idx="5"/>
          </p:nvPr>
        </p:nvSpPr>
        <p:spPr/>
        <p:txBody>
          <a:bodyPr/>
          <a:lstStyle/>
          <a:p>
            <a:fld id="{F35C62EE-A230-40F7-A6E2-7784DE8EB742}" type="slidenum">
              <a:rPr lang="en-NL" smtClean="0"/>
              <a:t>62</a:t>
            </a:fld>
            <a:endParaRPr lang="en-NL"/>
          </a:p>
        </p:txBody>
      </p:sp>
    </p:spTree>
    <p:extLst>
      <p:ext uri="{BB962C8B-B14F-4D97-AF65-F5344CB8AC3E}">
        <p14:creationId xmlns:p14="http://schemas.microsoft.com/office/powerpoint/2010/main" val="597291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2136-9E98-7644-16A5-E54C45AB7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48B895-6416-EE69-E0FF-BC400D853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38FD8-668A-41B1-D43E-3D7237CCF909}"/>
              </a:ext>
            </a:extLst>
          </p:cNvPr>
          <p:cNvSpPr>
            <a:spLocks noGrp="1"/>
          </p:cNvSpPr>
          <p:nvPr>
            <p:ph type="body" idx="1"/>
          </p:nvPr>
        </p:nvSpPr>
        <p:spPr/>
        <p:txBody>
          <a:bodyPr/>
          <a:lstStyle/>
          <a:p>
            <a:r>
              <a:rPr lang="en-US" dirty="0"/>
              <a:t>Currently not using a proper method to find best segment length</a:t>
            </a:r>
          </a:p>
          <a:p>
            <a:pPr lvl="1"/>
            <a:r>
              <a:rPr lang="en-US" dirty="0"/>
              <a:t>Step response hard time because…</a:t>
            </a:r>
          </a:p>
          <a:p>
            <a:pPr lvl="1"/>
            <a:r>
              <a:rPr lang="en-US" dirty="0"/>
              <a:t>FFT not used currently</a:t>
            </a:r>
          </a:p>
          <a:p>
            <a:pPr lvl="1"/>
            <a:r>
              <a:rPr lang="en-US" dirty="0"/>
              <a:t>Planning on using FRFs instead..</a:t>
            </a:r>
            <a:endParaRPr lang="en-NL" dirty="0"/>
          </a:p>
          <a:p>
            <a:endParaRPr lang="en-NL" dirty="0"/>
          </a:p>
        </p:txBody>
      </p:sp>
      <p:sp>
        <p:nvSpPr>
          <p:cNvPr id="4" name="Slide Number Placeholder 3">
            <a:extLst>
              <a:ext uri="{FF2B5EF4-FFF2-40B4-BE49-F238E27FC236}">
                <a16:creationId xmlns:a16="http://schemas.microsoft.com/office/drawing/2014/main" id="{55567C08-9C98-46C9-16CC-65A01B5CA2D7}"/>
              </a:ext>
            </a:extLst>
          </p:cNvPr>
          <p:cNvSpPr>
            <a:spLocks noGrp="1"/>
          </p:cNvSpPr>
          <p:nvPr>
            <p:ph type="sldNum" sz="quarter" idx="5"/>
          </p:nvPr>
        </p:nvSpPr>
        <p:spPr/>
        <p:txBody>
          <a:bodyPr/>
          <a:lstStyle/>
          <a:p>
            <a:fld id="{F35C62EE-A230-40F7-A6E2-7784DE8EB742}" type="slidenum">
              <a:rPr lang="en-NL" smtClean="0"/>
              <a:t>63</a:t>
            </a:fld>
            <a:endParaRPr lang="en-NL"/>
          </a:p>
        </p:txBody>
      </p:sp>
    </p:spTree>
    <p:extLst>
      <p:ext uri="{BB962C8B-B14F-4D97-AF65-F5344CB8AC3E}">
        <p14:creationId xmlns:p14="http://schemas.microsoft.com/office/powerpoint/2010/main" val="258173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A9B0A-21A9-11D8-6AC0-0853C7FE8D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12E18FFD-A4E2-0D4E-7BCD-58E1748D8E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8DCB645C-4A53-6DC7-25C3-9688B7178E8C}"/>
              </a:ext>
            </a:extLst>
          </p:cNvPr>
          <p:cNvSpPr>
            <a:spLocks noGrp="1"/>
          </p:cNvSpPr>
          <p:nvPr>
            <p:ph type="dt" sz="half" idx="10"/>
          </p:nvPr>
        </p:nvSpPr>
        <p:spPr/>
        <p:txBody>
          <a:bodyPr/>
          <a:lstStyle/>
          <a:p>
            <a:fld id="{488B314D-8566-407C-8138-35BC3B95AB82}" type="datetimeFigureOut">
              <a:rPr lang="en-NL" smtClean="0"/>
              <a:t>13/05/2026</a:t>
            </a:fld>
            <a:endParaRPr lang="en-NL"/>
          </a:p>
        </p:txBody>
      </p:sp>
      <p:sp>
        <p:nvSpPr>
          <p:cNvPr id="5" name="Footer Placeholder 4">
            <a:extLst>
              <a:ext uri="{FF2B5EF4-FFF2-40B4-BE49-F238E27FC236}">
                <a16:creationId xmlns:a16="http://schemas.microsoft.com/office/drawing/2014/main" id="{2A582621-D3E9-86E1-A821-53772827292D}"/>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0611C98C-0F73-A8F2-02F4-2AB4973CDAC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818716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0BA0-583D-0185-EE69-28099DAEC32E}"/>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E6D8891D-C30A-9834-578C-76F335D9CFF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B586B7C-AB90-7DAA-F0EA-C7122F775E42}"/>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BB6BD878-B8D5-9BF6-B119-CB8E2FBA687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DC1A9D23-71DC-CC7B-17C0-5E08C967D942}"/>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3801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55E79-0500-A1A2-6D30-0F0DFDD600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05B6914D-49A9-E97D-2C4E-18FAAF7260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FDA4EA-60CD-56E7-0DAD-21A6159BCBB8}"/>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C77721A8-BB79-306A-08AB-EFFF7B85E33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6A46C38-EEEE-5592-0604-AA374F8CCAE0}"/>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459230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5D4E-F716-266C-EB44-F320FF044FC4}"/>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20FA0776-C324-EFAB-A946-10C85364B98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53F9D3D4-7D3D-D1F4-CD2A-A518E5469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CE693131-FB94-2B88-8093-B6F21E860B47}"/>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6" name="Footer Placeholder 5">
            <a:extLst>
              <a:ext uri="{FF2B5EF4-FFF2-40B4-BE49-F238E27FC236}">
                <a16:creationId xmlns:a16="http://schemas.microsoft.com/office/drawing/2014/main" id="{4BD21B79-6DB2-349F-C356-71774F673FC1}"/>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85CBD36-D0DC-8F43-ACFD-1E9E357E7EB4}"/>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26783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3BC18-D101-9213-B897-8851FE7C3D56}"/>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325E5057-8AB1-D931-F79F-0D54E845ED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C2EF1A-2434-D230-33B4-D17316B77A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3C0C9925-AAE9-B6AC-9461-0917219EA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E5211-4325-D275-EE19-9984E66A82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57FEE0D-2772-4FE7-99AD-4C1D3AC628AD}"/>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8" name="Footer Placeholder 7">
            <a:extLst>
              <a:ext uri="{FF2B5EF4-FFF2-40B4-BE49-F238E27FC236}">
                <a16:creationId xmlns:a16="http://schemas.microsoft.com/office/drawing/2014/main" id="{993169B9-CD5B-369C-DBC2-925297EB21EB}"/>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3E0BA7D5-A78A-09BB-A363-994BD9A02F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86980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9777B-F5E7-C08C-590D-ACFBE4C45424}"/>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300CC399-4A6B-4593-9E74-B6F8CA3DC207}"/>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4" name="Footer Placeholder 3">
            <a:extLst>
              <a:ext uri="{FF2B5EF4-FFF2-40B4-BE49-F238E27FC236}">
                <a16:creationId xmlns:a16="http://schemas.microsoft.com/office/drawing/2014/main" id="{48EE88BE-564F-9BC9-D256-883FCC2992C9}"/>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A197D54D-0C50-C773-E94C-9E2D30D9305C}"/>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74526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994506-3D43-84EA-E881-39D633077381}"/>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3" name="Footer Placeholder 2">
            <a:extLst>
              <a:ext uri="{FF2B5EF4-FFF2-40B4-BE49-F238E27FC236}">
                <a16:creationId xmlns:a16="http://schemas.microsoft.com/office/drawing/2014/main" id="{981C55CA-8DBE-9019-86DA-AEBED897E0C9}"/>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2159772A-9555-52DB-D4E9-75AF3C15D25A}"/>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874220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D3A6E-DBBE-812E-85F2-A38B5249B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5AFB2DEC-7E11-7FE1-3C8F-AB40257CCC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CA67515C-82D6-C8CD-79FD-0E6A1C9B19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08F352-32B7-00FA-4DA5-12E23612C097}"/>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6" name="Footer Placeholder 5">
            <a:extLst>
              <a:ext uri="{FF2B5EF4-FFF2-40B4-BE49-F238E27FC236}">
                <a16:creationId xmlns:a16="http://schemas.microsoft.com/office/drawing/2014/main" id="{77D78EF5-AAF6-9556-0DA1-762E1477F249}"/>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3A06DC-6CC1-26FA-41F2-FA573F7A35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358767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5C77B-CBEF-A395-D0FA-1C65A9CE2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E3E17272-008C-028F-3164-75FD0D3FA4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6FCEFC27-BE0A-B312-4CAE-0D22A173E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841F1B-BF0C-E7EE-C200-6ACDD52E8532}"/>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6" name="Footer Placeholder 5">
            <a:extLst>
              <a:ext uri="{FF2B5EF4-FFF2-40B4-BE49-F238E27FC236}">
                <a16:creationId xmlns:a16="http://schemas.microsoft.com/office/drawing/2014/main" id="{E33DBEA7-5C08-D5DF-326D-402497EEC0EB}"/>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128AB07C-EC9D-1E6E-88BF-08CF4DC29F79}"/>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2313419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2113-B4D5-3AA6-7F42-D0DF7E554A28}"/>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327AC1B1-B636-EC3C-8268-7CF0D78B63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13308ECA-F03E-2322-8AB9-FF1B3570AC0C}"/>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0A560E39-73E9-DBC5-E7A0-57B5094635D8}"/>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91BBA569-67AF-6D26-BB44-6C9DA6C33646}"/>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915785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80FA20-7E26-5811-0F8E-E937CD7F6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CBC0AB59-9859-7F7C-9F9C-9BFEA1EF0F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C6583E10-4C21-18B0-80CE-477CC93505A1}"/>
              </a:ext>
            </a:extLst>
          </p:cNvPr>
          <p:cNvSpPr>
            <a:spLocks noGrp="1"/>
          </p:cNvSpPr>
          <p:nvPr>
            <p:ph type="dt" sz="half" idx="10"/>
          </p:nvPr>
        </p:nvSpPr>
        <p:spPr/>
        <p:txBody>
          <a:body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38CB85F3-CF9A-29D5-DEA3-31B6193373A6}"/>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E6122B00-4173-AFD9-EDBF-57D15872F595}"/>
              </a:ext>
            </a:extLst>
          </p:cNvPr>
          <p:cNvSpPr>
            <a:spLocks noGrp="1"/>
          </p:cNvSpPr>
          <p:nvPr>
            <p:ph type="sldNum" sz="quarter" idx="12"/>
          </p:nvPr>
        </p:nvSpPr>
        <p:spPr/>
        <p:txBody>
          <a:bodyPr/>
          <a:lstStyle/>
          <a:p>
            <a:fld id="{4A9C285A-41FD-47C8-9B13-D40BAB452FEE}" type="slidenum">
              <a:rPr lang="en-NL" smtClean="0"/>
              <a:t>‹#›</a:t>
            </a:fld>
            <a:endParaRPr lang="en-NL"/>
          </a:p>
        </p:txBody>
      </p:sp>
    </p:spTree>
    <p:extLst>
      <p:ext uri="{BB962C8B-B14F-4D97-AF65-F5344CB8AC3E}">
        <p14:creationId xmlns:p14="http://schemas.microsoft.com/office/powerpoint/2010/main" val="1318455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4814AA-CC4F-26EF-0940-42AD31BA46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498EE76C-C9DD-829C-0E04-FD727D9368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EEA92AA8-31FA-1538-0020-A6770000A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B07CE9-C8DF-41DF-BDBB-830B84D62F5B}" type="datetimeFigureOut">
              <a:rPr lang="en-NL" smtClean="0"/>
              <a:t>13/05/2026</a:t>
            </a:fld>
            <a:endParaRPr lang="en-NL"/>
          </a:p>
        </p:txBody>
      </p:sp>
      <p:sp>
        <p:nvSpPr>
          <p:cNvPr id="5" name="Footer Placeholder 4">
            <a:extLst>
              <a:ext uri="{FF2B5EF4-FFF2-40B4-BE49-F238E27FC236}">
                <a16:creationId xmlns:a16="http://schemas.microsoft.com/office/drawing/2014/main" id="{852936D0-EF18-388D-6CDB-4886CBEB09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3600218A-4CD5-B355-2F90-F63E2428D7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9C285A-41FD-47C8-9B13-D40BAB452FEE}" type="slidenum">
              <a:rPr lang="en-NL" smtClean="0"/>
              <a:t>‹#›</a:t>
            </a:fld>
            <a:endParaRPr lang="en-NL"/>
          </a:p>
        </p:txBody>
      </p:sp>
    </p:spTree>
    <p:extLst>
      <p:ext uri="{BB962C8B-B14F-4D97-AF65-F5344CB8AC3E}">
        <p14:creationId xmlns:p14="http://schemas.microsoft.com/office/powerpoint/2010/main" val="380842706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58346-11EF-AF16-3F7E-D4AE642D6182}"/>
              </a:ext>
            </a:extLst>
          </p:cNvPr>
          <p:cNvSpPr>
            <a:spLocks noGrp="1"/>
          </p:cNvSpPr>
          <p:nvPr>
            <p:ph type="title"/>
          </p:nvPr>
        </p:nvSpPr>
        <p:spPr/>
        <p:txBody>
          <a:bodyPr/>
          <a:lstStyle/>
          <a:p>
            <a:r>
              <a:rPr lang="en-US" dirty="0"/>
              <a:t>Meeting Week 1</a:t>
            </a:r>
            <a:endParaRPr lang="en-NL" dirty="0"/>
          </a:p>
        </p:txBody>
      </p:sp>
      <p:sp>
        <p:nvSpPr>
          <p:cNvPr id="3" name="Content Placeholder 2">
            <a:extLst>
              <a:ext uri="{FF2B5EF4-FFF2-40B4-BE49-F238E27FC236}">
                <a16:creationId xmlns:a16="http://schemas.microsoft.com/office/drawing/2014/main" id="{DAAEF679-3C39-E36C-B710-9B50CBAE487E}"/>
              </a:ext>
            </a:extLst>
          </p:cNvPr>
          <p:cNvSpPr>
            <a:spLocks noGrp="1"/>
          </p:cNvSpPr>
          <p:nvPr>
            <p:ph idx="1"/>
          </p:nvPr>
        </p:nvSpPr>
        <p:spPr/>
        <p:txBody>
          <a:bodyPr/>
          <a:lstStyle/>
          <a:p>
            <a:r>
              <a:rPr lang="en-US" dirty="0"/>
              <a:t>Last week summary</a:t>
            </a:r>
          </a:p>
          <a:p>
            <a:r>
              <a:rPr lang="en-US" dirty="0"/>
              <a:t>Action point 1</a:t>
            </a:r>
          </a:p>
          <a:p>
            <a:r>
              <a:rPr lang="en-US" dirty="0"/>
              <a:t>…</a:t>
            </a:r>
          </a:p>
          <a:p>
            <a:r>
              <a:rPr lang="en-US" dirty="0"/>
              <a:t>Question 1</a:t>
            </a:r>
          </a:p>
          <a:p>
            <a:r>
              <a:rPr lang="en-US" dirty="0"/>
              <a:t>…</a:t>
            </a:r>
          </a:p>
          <a:p>
            <a:r>
              <a:rPr lang="en-US" dirty="0"/>
              <a:t>Outline </a:t>
            </a:r>
            <a:r>
              <a:rPr lang="en-US" dirty="0" err="1"/>
              <a:t>ToDo</a:t>
            </a:r>
            <a:r>
              <a:rPr lang="en-US" dirty="0"/>
              <a:t> next week</a:t>
            </a:r>
            <a:endParaRPr lang="en-NL" dirty="0"/>
          </a:p>
        </p:txBody>
      </p:sp>
      <p:sp>
        <p:nvSpPr>
          <p:cNvPr id="4" name="TextBox 3">
            <a:extLst>
              <a:ext uri="{FF2B5EF4-FFF2-40B4-BE49-F238E27FC236}">
                <a16:creationId xmlns:a16="http://schemas.microsoft.com/office/drawing/2014/main" id="{465EFC2D-66CC-A333-8AD7-17BCBCDB18BB}"/>
              </a:ext>
            </a:extLst>
          </p:cNvPr>
          <p:cNvSpPr txBox="1"/>
          <p:nvPr/>
        </p:nvSpPr>
        <p:spPr>
          <a:xfrm>
            <a:off x="7026876" y="681037"/>
            <a:ext cx="5008606" cy="646331"/>
          </a:xfrm>
          <a:prstGeom prst="rect">
            <a:avLst/>
          </a:prstGeom>
          <a:noFill/>
        </p:spPr>
        <p:txBody>
          <a:bodyPr wrap="square" rtlCol="0">
            <a:spAutoFit/>
          </a:bodyPr>
          <a:lstStyle/>
          <a:p>
            <a:r>
              <a:rPr lang="en-US" i="1" dirty="0"/>
              <a:t>This lets you steer the meeting to what you require out of the meeting to make progress.</a:t>
            </a:r>
            <a:endParaRPr lang="en-NL" i="1" dirty="0"/>
          </a:p>
        </p:txBody>
      </p:sp>
    </p:spTree>
    <p:extLst>
      <p:ext uri="{BB962C8B-B14F-4D97-AF65-F5344CB8AC3E}">
        <p14:creationId xmlns:p14="http://schemas.microsoft.com/office/powerpoint/2010/main" val="2679595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9700D-FF42-415C-9519-CE16CBBB575A}"/>
              </a:ext>
            </a:extLst>
          </p:cNvPr>
          <p:cNvSpPr>
            <a:spLocks noGrp="1"/>
          </p:cNvSpPr>
          <p:nvPr>
            <p:ph type="title"/>
          </p:nvPr>
        </p:nvSpPr>
        <p:spPr/>
        <p:txBody>
          <a:bodyPr/>
          <a:lstStyle/>
          <a:p>
            <a:r>
              <a:rPr lang="en-US" dirty="0"/>
              <a:t>Last week summary</a:t>
            </a:r>
            <a:endParaRPr lang="en-NL" dirty="0"/>
          </a:p>
        </p:txBody>
      </p:sp>
      <p:sp>
        <p:nvSpPr>
          <p:cNvPr id="3" name="Content Placeholder 2">
            <a:extLst>
              <a:ext uri="{FF2B5EF4-FFF2-40B4-BE49-F238E27FC236}">
                <a16:creationId xmlns:a16="http://schemas.microsoft.com/office/drawing/2014/main" id="{1B16F991-22E1-98ED-FDA2-6483679AE450}"/>
              </a:ext>
            </a:extLst>
          </p:cNvPr>
          <p:cNvSpPr>
            <a:spLocks noGrp="1"/>
          </p:cNvSpPr>
          <p:nvPr>
            <p:ph idx="1"/>
          </p:nvPr>
        </p:nvSpPr>
        <p:spPr/>
        <p:txBody>
          <a:bodyPr/>
          <a:lstStyle/>
          <a:p>
            <a:r>
              <a:rPr lang="en-US" dirty="0"/>
              <a:t>Theory or research discussed last week summarized. What was discussed last week.  Professor and PhD only work on this project 1-2hrs per week not 40hrs like you.</a:t>
            </a:r>
            <a:endParaRPr lang="en-NL" dirty="0"/>
          </a:p>
        </p:txBody>
      </p:sp>
      <p:sp>
        <p:nvSpPr>
          <p:cNvPr id="5" name="Rectangle 4">
            <a:extLst>
              <a:ext uri="{FF2B5EF4-FFF2-40B4-BE49-F238E27FC236}">
                <a16:creationId xmlns:a16="http://schemas.microsoft.com/office/drawing/2014/main" id="{7CFFA8B5-4335-A79D-381E-82C9B8A52E4E}"/>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1617226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CBB4-4332-CC27-31DC-1118749DC9EE}"/>
              </a:ext>
            </a:extLst>
          </p:cNvPr>
          <p:cNvSpPr>
            <a:spLocks noGrp="1"/>
          </p:cNvSpPr>
          <p:nvPr>
            <p:ph type="title"/>
          </p:nvPr>
        </p:nvSpPr>
        <p:spPr/>
        <p:txBody>
          <a:bodyPr/>
          <a:lstStyle/>
          <a:p>
            <a:r>
              <a:rPr lang="en-US" dirty="0"/>
              <a:t>Action point 1</a:t>
            </a:r>
            <a:endParaRPr lang="en-NL" dirty="0"/>
          </a:p>
        </p:txBody>
      </p:sp>
      <p:sp>
        <p:nvSpPr>
          <p:cNvPr id="3" name="Content Placeholder 2">
            <a:extLst>
              <a:ext uri="{FF2B5EF4-FFF2-40B4-BE49-F238E27FC236}">
                <a16:creationId xmlns:a16="http://schemas.microsoft.com/office/drawing/2014/main" id="{EF5F3971-08E2-AD39-C334-D1FA58F77EB2}"/>
              </a:ext>
            </a:extLst>
          </p:cNvPr>
          <p:cNvSpPr>
            <a:spLocks noGrp="1"/>
          </p:cNvSpPr>
          <p:nvPr>
            <p:ph idx="1"/>
          </p:nvPr>
        </p:nvSpPr>
        <p:spPr/>
        <p:txBody>
          <a:bodyPr/>
          <a:lstStyle/>
          <a:p>
            <a:r>
              <a:rPr lang="en-US" dirty="0"/>
              <a:t>You should have a Gantt-chart or some other planning with what should be the next steps in the research.</a:t>
            </a:r>
          </a:p>
          <a:p>
            <a:r>
              <a:rPr lang="en-US" dirty="0"/>
              <a:t>Questions can also be put here</a:t>
            </a:r>
            <a:endParaRPr lang="en-NL" dirty="0"/>
          </a:p>
        </p:txBody>
      </p:sp>
      <p:sp>
        <p:nvSpPr>
          <p:cNvPr id="4" name="Rectangle 3">
            <a:extLst>
              <a:ext uri="{FF2B5EF4-FFF2-40B4-BE49-F238E27FC236}">
                <a16:creationId xmlns:a16="http://schemas.microsoft.com/office/drawing/2014/main" id="{B119E904-9495-8CB1-E838-D562CF8BB5D9}"/>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showing the result achieved like a plot or some theory.</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38626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650E-3506-7F89-6C9F-2985419E12D1}"/>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46DF010D-CA64-CF75-261D-B695E923D25F}"/>
              </a:ext>
            </a:extLst>
          </p:cNvPr>
          <p:cNvSpPr>
            <a:spLocks noGrp="1"/>
          </p:cNvSpPr>
          <p:nvPr>
            <p:ph idx="1"/>
          </p:nvPr>
        </p:nvSpPr>
        <p:spPr>
          <a:xfrm>
            <a:off x="669071" y="5162212"/>
            <a:ext cx="10515600" cy="4351338"/>
          </a:xfrm>
        </p:spPr>
        <p:txBody>
          <a:bodyPr/>
          <a:lstStyle/>
          <a:p>
            <a:pPr marL="0" indent="0">
              <a:buNone/>
            </a:pPr>
            <a:r>
              <a:rPr lang="en-US" dirty="0"/>
              <a:t>T1-T6 isolate simple motion types</a:t>
            </a:r>
          </a:p>
          <a:p>
            <a:pPr marL="0" indent="0">
              <a:buNone/>
            </a:pPr>
            <a:r>
              <a:rPr lang="en-US" dirty="0"/>
              <a:t>Added T7 and T8 to improve coupling terms identifiability</a:t>
            </a:r>
            <a:endParaRPr lang="en-NL" dirty="0"/>
          </a:p>
        </p:txBody>
      </p:sp>
      <p:pic>
        <p:nvPicPr>
          <p:cNvPr id="7" name="Picture 6">
            <a:extLst>
              <a:ext uri="{FF2B5EF4-FFF2-40B4-BE49-F238E27FC236}">
                <a16:creationId xmlns:a16="http://schemas.microsoft.com/office/drawing/2014/main" id="{707EBB45-1E13-A40B-605A-4DC52B5306C0}"/>
              </a:ext>
            </a:extLst>
          </p:cNvPr>
          <p:cNvPicPr>
            <a:picLocks noChangeAspect="1"/>
          </p:cNvPicPr>
          <p:nvPr/>
        </p:nvPicPr>
        <p:blipFill>
          <a:blip r:embed="rId2"/>
          <a:stretch>
            <a:fillRect/>
          </a:stretch>
        </p:blipFill>
        <p:spPr>
          <a:xfrm>
            <a:off x="299420" y="1690688"/>
            <a:ext cx="11362949" cy="3096570"/>
          </a:xfrm>
          <a:prstGeom prst="rect">
            <a:avLst/>
          </a:prstGeom>
        </p:spPr>
      </p:pic>
    </p:spTree>
    <p:extLst>
      <p:ext uri="{BB962C8B-B14F-4D97-AF65-F5344CB8AC3E}">
        <p14:creationId xmlns:p14="http://schemas.microsoft.com/office/powerpoint/2010/main" val="3253796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05AF5-D021-2DAC-2E9D-5C6D5A8724C3}"/>
              </a:ext>
            </a:extLst>
          </p:cNvPr>
          <p:cNvSpPr>
            <a:spLocks noGrp="1"/>
          </p:cNvSpPr>
          <p:nvPr>
            <p:ph type="title"/>
          </p:nvPr>
        </p:nvSpPr>
        <p:spPr/>
        <p:txBody>
          <a:bodyPr/>
          <a:lstStyle/>
          <a:p>
            <a:r>
              <a:rPr lang="en-US" dirty="0"/>
              <a:t>Why </a:t>
            </a:r>
            <a:r>
              <a:rPr lang="en-US" dirty="0" err="1"/>
              <a:t>multisine</a:t>
            </a:r>
            <a:r>
              <a:rPr lang="en-US" dirty="0"/>
              <a:t>?</a:t>
            </a:r>
            <a:endParaRPr lang="en-NL" dirty="0"/>
          </a:p>
        </p:txBody>
      </p:sp>
      <p:sp>
        <p:nvSpPr>
          <p:cNvPr id="3" name="Content Placeholder 2">
            <a:extLst>
              <a:ext uri="{FF2B5EF4-FFF2-40B4-BE49-F238E27FC236}">
                <a16:creationId xmlns:a16="http://schemas.microsoft.com/office/drawing/2014/main" id="{666BA52B-FC7D-F040-6914-DADFA87F1E68}"/>
              </a:ext>
            </a:extLst>
          </p:cNvPr>
          <p:cNvSpPr>
            <a:spLocks noGrp="1"/>
          </p:cNvSpPr>
          <p:nvPr>
            <p:ph idx="1"/>
          </p:nvPr>
        </p:nvSpPr>
        <p:spPr/>
        <p:txBody>
          <a:bodyPr>
            <a:normAutofit fontScale="47500" lnSpcReduction="20000"/>
          </a:bodyPr>
          <a:lstStyle/>
          <a:p>
            <a:pPr marL="0" indent="0">
              <a:buNone/>
            </a:pPr>
            <a:r>
              <a:rPr lang="en-US" dirty="0"/>
              <a:t>Goal: improve parameter identifiability</a:t>
            </a:r>
          </a:p>
          <a:p>
            <a:pPr marL="0" indent="0">
              <a:buNone/>
            </a:pPr>
            <a:endParaRPr lang="en-US" dirty="0"/>
          </a:p>
          <a:p>
            <a:pPr marL="0" indent="0">
              <a:buNone/>
            </a:pPr>
            <a:r>
              <a:rPr lang="en-US" dirty="0"/>
              <a:t>What</a:t>
            </a:r>
          </a:p>
          <a:p>
            <a:pPr marL="0" indent="0">
              <a:buNone/>
            </a:pPr>
            <a:r>
              <a:rPr lang="en-US" dirty="0"/>
              <a:t>- Add broadband excitation to the nominal trajectories.</a:t>
            </a:r>
          </a:p>
          <a:p>
            <a:pPr marL="0" indent="0">
              <a:buNone/>
            </a:pPr>
            <a:r>
              <a:rPr lang="en-US" dirty="0"/>
              <a:t>- Inject as plant-input force after the controller:</a:t>
            </a:r>
          </a:p>
          <a:p>
            <a:pPr marL="0" indent="0">
              <a:buNone/>
            </a:pPr>
            <a:r>
              <a:rPr lang="en-US" dirty="0"/>
              <a:t>  </a:t>
            </a:r>
            <a:r>
              <a:rPr lang="en-US" dirty="0" err="1"/>
              <a:t>u_total</a:t>
            </a:r>
            <a:r>
              <a:rPr lang="en-US" dirty="0"/>
              <a:t> = </a:t>
            </a:r>
            <a:r>
              <a:rPr lang="en-US" dirty="0" err="1"/>
              <a:t>u_fb</a:t>
            </a:r>
            <a:r>
              <a:rPr lang="en-US" dirty="0"/>
              <a:t> + </a:t>
            </a:r>
            <a:r>
              <a:rPr lang="en-US" dirty="0" err="1"/>
              <a:t>f_ms</a:t>
            </a:r>
            <a:endParaRPr lang="en-US" dirty="0"/>
          </a:p>
          <a:p>
            <a:pPr marL="0" indent="0">
              <a:buNone/>
            </a:pPr>
            <a:endParaRPr lang="en-US" dirty="0"/>
          </a:p>
          <a:p>
            <a:pPr marL="0" indent="0">
              <a:buNone/>
            </a:pPr>
            <a:r>
              <a:rPr lang="en-US" dirty="0"/>
              <a:t>Why</a:t>
            </a:r>
          </a:p>
          <a:p>
            <a:pPr marL="0" indent="0">
              <a:buNone/>
            </a:pPr>
            <a:r>
              <a:rPr lang="en-US" dirty="0"/>
              <a:t>- Smooth trajectories mainly excite low-frequency motion.</a:t>
            </a:r>
          </a:p>
          <a:p>
            <a:pPr marL="0" indent="0">
              <a:buNone/>
            </a:pPr>
            <a:r>
              <a:rPr lang="en-US" dirty="0"/>
              <a:t>- Some parameters are weakly visible from the nominal motion alone.</a:t>
            </a:r>
          </a:p>
          <a:p>
            <a:pPr marL="0" indent="0">
              <a:buNone/>
            </a:pPr>
            <a:r>
              <a:rPr lang="en-US" dirty="0"/>
              <a:t>- Force injection keeps the reference trajectory clean.</a:t>
            </a:r>
          </a:p>
          <a:p>
            <a:pPr marL="0" indent="0">
              <a:buNone/>
            </a:pPr>
            <a:endParaRPr lang="en-US" dirty="0"/>
          </a:p>
          <a:p>
            <a:pPr marL="0" indent="0">
              <a:buNone/>
            </a:pPr>
            <a:r>
              <a:rPr lang="en-US" dirty="0"/>
              <a:t>How</a:t>
            </a:r>
          </a:p>
          <a:p>
            <a:pPr marL="0" indent="0">
              <a:buNone/>
            </a:pPr>
            <a:r>
              <a:rPr lang="en-US" dirty="0"/>
              <a:t>- Use the same nominal trajectory </a:t>
            </a:r>
            <a:r>
              <a:rPr lang="en-US" dirty="0" err="1"/>
              <a:t>r_traj</a:t>
            </a:r>
            <a:r>
              <a:rPr lang="en-US" dirty="0"/>
              <a:t>.</a:t>
            </a:r>
          </a:p>
          <a:p>
            <a:pPr marL="0" indent="0">
              <a:buNone/>
            </a:pPr>
            <a:r>
              <a:rPr lang="en-US" dirty="0"/>
              <a:t>- Add </a:t>
            </a:r>
            <a:r>
              <a:rPr lang="en-US" dirty="0" err="1"/>
              <a:t>f_ms</a:t>
            </a:r>
            <a:r>
              <a:rPr lang="en-US" dirty="0"/>
              <a:t> to the plant input.</a:t>
            </a:r>
          </a:p>
          <a:p>
            <a:pPr marL="0" indent="0">
              <a:buNone/>
            </a:pPr>
            <a:r>
              <a:rPr lang="en-US" dirty="0"/>
              <a:t>- Save </a:t>
            </a:r>
            <a:r>
              <a:rPr lang="en-US" dirty="0" err="1"/>
              <a:t>u_total</a:t>
            </a:r>
            <a:r>
              <a:rPr lang="en-US" dirty="0"/>
              <a:t> and q1 for identification.</a:t>
            </a:r>
          </a:p>
          <a:p>
            <a:pPr marL="0" indent="0">
              <a:buNone/>
            </a:pPr>
            <a:endParaRPr lang="en-NL" dirty="0"/>
          </a:p>
        </p:txBody>
      </p:sp>
    </p:spTree>
    <p:extLst>
      <p:ext uri="{BB962C8B-B14F-4D97-AF65-F5344CB8AC3E}">
        <p14:creationId xmlns:p14="http://schemas.microsoft.com/office/powerpoint/2010/main" val="2368359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EBD58-EF81-1707-DAF6-B5087390545B}"/>
              </a:ext>
            </a:extLst>
          </p:cNvPr>
          <p:cNvSpPr>
            <a:spLocks noGrp="1"/>
          </p:cNvSpPr>
          <p:nvPr>
            <p:ph type="title"/>
          </p:nvPr>
        </p:nvSpPr>
        <p:spPr/>
        <p:txBody>
          <a:bodyPr/>
          <a:lstStyle/>
          <a:p>
            <a:r>
              <a:rPr lang="en-US" dirty="0"/>
              <a:t>How The </a:t>
            </a:r>
            <a:r>
              <a:rPr lang="en-US" dirty="0" err="1"/>
              <a:t>Multisine</a:t>
            </a:r>
            <a:r>
              <a:rPr lang="en-US" dirty="0"/>
              <a:t> Is Built</a:t>
            </a:r>
            <a:endParaRPr lang="en-NL" dirty="0"/>
          </a:p>
        </p:txBody>
      </p:sp>
      <p:sp>
        <p:nvSpPr>
          <p:cNvPr id="3" name="Content Placeholder 2">
            <a:extLst>
              <a:ext uri="{FF2B5EF4-FFF2-40B4-BE49-F238E27FC236}">
                <a16:creationId xmlns:a16="http://schemas.microsoft.com/office/drawing/2014/main" id="{2B08B99E-EA4A-1F05-CAF1-53C5FA098902}"/>
              </a:ext>
            </a:extLst>
          </p:cNvPr>
          <p:cNvSpPr>
            <a:spLocks noGrp="1"/>
          </p:cNvSpPr>
          <p:nvPr>
            <p:ph idx="1"/>
          </p:nvPr>
        </p:nvSpPr>
        <p:spPr/>
        <p:txBody>
          <a:bodyPr>
            <a:normAutofit fontScale="55000" lnSpcReduction="20000"/>
          </a:bodyPr>
          <a:lstStyle/>
          <a:p>
            <a:pPr marL="0" indent="0">
              <a:buNone/>
            </a:pPr>
            <a:r>
              <a:rPr lang="en-US" dirty="0"/>
              <a:t>Periodic Schroeder-phase </a:t>
            </a:r>
            <a:r>
              <a:rPr lang="en-US" dirty="0" err="1"/>
              <a:t>multisine</a:t>
            </a:r>
            <a:endParaRPr lang="en-US" dirty="0"/>
          </a:p>
          <a:p>
            <a:pPr marL="0" indent="0">
              <a:buNone/>
            </a:pPr>
            <a:endParaRPr lang="en-US" dirty="0"/>
          </a:p>
          <a:p>
            <a:pPr marL="0" indent="0">
              <a:buNone/>
            </a:pPr>
            <a:r>
              <a:rPr lang="en-US" dirty="0"/>
              <a:t>What</a:t>
            </a:r>
          </a:p>
          <a:p>
            <a:pPr marL="0" indent="0">
              <a:buNone/>
            </a:pPr>
            <a:r>
              <a:rPr lang="en-US" dirty="0"/>
              <a:t>- s(t) = </a:t>
            </a:r>
            <a:r>
              <a:rPr lang="en-US" dirty="0" err="1"/>
              <a:t>sum_i</a:t>
            </a:r>
            <a:r>
              <a:rPr lang="en-US" dirty="0"/>
              <a:t> cos(2*pi*</a:t>
            </a:r>
            <a:r>
              <a:rPr lang="en-US" dirty="0" err="1"/>
              <a:t>f_i</a:t>
            </a:r>
            <a:r>
              <a:rPr lang="en-US" dirty="0"/>
              <a:t>*t + </a:t>
            </a:r>
            <a:r>
              <a:rPr lang="en-US" dirty="0" err="1"/>
              <a:t>phi_i</a:t>
            </a:r>
            <a:r>
              <a:rPr lang="en-US" dirty="0"/>
              <a:t>)</a:t>
            </a:r>
          </a:p>
          <a:p>
            <a:pPr marL="0" indent="0">
              <a:buNone/>
            </a:pPr>
            <a:r>
              <a:rPr lang="en-US" dirty="0"/>
              <a:t>- </a:t>
            </a:r>
            <a:r>
              <a:rPr lang="en-US" dirty="0" err="1"/>
              <a:t>phi_i</a:t>
            </a:r>
            <a:r>
              <a:rPr lang="en-US" dirty="0"/>
              <a:t> = -</a:t>
            </a:r>
            <a:r>
              <a:rPr lang="en-US" dirty="0" err="1"/>
              <a:t>i</a:t>
            </a:r>
            <a:r>
              <a:rPr lang="en-US" dirty="0"/>
              <a:t>(i-1)pi/F</a:t>
            </a:r>
          </a:p>
          <a:p>
            <a:pPr marL="0" indent="0">
              <a:buNone/>
            </a:pPr>
            <a:endParaRPr lang="en-US" dirty="0"/>
          </a:p>
          <a:p>
            <a:pPr marL="0" indent="0">
              <a:buNone/>
            </a:pPr>
            <a:r>
              <a:rPr lang="en-US" dirty="0"/>
              <a:t>Why</a:t>
            </a:r>
          </a:p>
          <a:p>
            <a:pPr marL="0" indent="0">
              <a:buNone/>
            </a:pPr>
            <a:r>
              <a:rPr lang="en-US" dirty="0"/>
              <a:t>- </a:t>
            </a:r>
            <a:r>
              <a:rPr lang="en-US" dirty="0" err="1"/>
              <a:t>Multisine</a:t>
            </a:r>
            <a:r>
              <a:rPr lang="en-US" dirty="0"/>
              <a:t> excites many frequencies in one simulation.</a:t>
            </a:r>
          </a:p>
          <a:p>
            <a:pPr marL="0" indent="0">
              <a:buNone/>
            </a:pPr>
            <a:r>
              <a:rPr lang="en-US" dirty="0"/>
              <a:t>- Schroeder phases reduce crest factor: peak/RMS.</a:t>
            </a:r>
          </a:p>
          <a:p>
            <a:pPr marL="0" indent="0">
              <a:buNone/>
            </a:pPr>
            <a:r>
              <a:rPr lang="en-US" dirty="0"/>
              <a:t>- Lower peaks make the excitation safer for the same RMS force.</a:t>
            </a:r>
          </a:p>
          <a:p>
            <a:pPr marL="0" indent="0">
              <a:buNone/>
            </a:pPr>
            <a:endParaRPr lang="en-US" dirty="0"/>
          </a:p>
          <a:p>
            <a:pPr marL="0" indent="0">
              <a:buNone/>
            </a:pPr>
            <a:r>
              <a:rPr lang="en-US" dirty="0"/>
              <a:t>How</a:t>
            </a:r>
          </a:p>
          <a:p>
            <a:pPr marL="0" indent="0">
              <a:buNone/>
            </a:pPr>
            <a:r>
              <a:rPr lang="en-US" dirty="0"/>
              <a:t>- 1 s period -&gt; 1 Hz frequency grid.</a:t>
            </a:r>
          </a:p>
          <a:p>
            <a:pPr marL="0" indent="0">
              <a:buNone/>
            </a:pPr>
            <a:r>
              <a:rPr lang="en-US" dirty="0"/>
              <a:t>- Select odd frequency lines inside the candidate band.</a:t>
            </a:r>
          </a:p>
          <a:p>
            <a:pPr marL="0" indent="0">
              <a:buNone/>
            </a:pPr>
            <a:r>
              <a:rPr lang="en-US" dirty="0"/>
              <a:t>- Normalize to unit RMS, then scale to candidate force RMS.</a:t>
            </a:r>
          </a:p>
          <a:p>
            <a:pPr marL="0" indent="0">
              <a:buNone/>
            </a:pPr>
            <a:endParaRPr lang="en-NL" dirty="0"/>
          </a:p>
        </p:txBody>
      </p:sp>
    </p:spTree>
    <p:extLst>
      <p:ext uri="{BB962C8B-B14F-4D97-AF65-F5344CB8AC3E}">
        <p14:creationId xmlns:p14="http://schemas.microsoft.com/office/powerpoint/2010/main" val="39824842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C8E47-E1AC-78A9-1082-7AF8A8AE78D5}"/>
              </a:ext>
            </a:extLst>
          </p:cNvPr>
          <p:cNvSpPr>
            <a:spLocks noGrp="1"/>
          </p:cNvSpPr>
          <p:nvPr>
            <p:ph type="title"/>
          </p:nvPr>
        </p:nvSpPr>
        <p:spPr/>
        <p:txBody>
          <a:bodyPr/>
          <a:lstStyle/>
          <a:p>
            <a:r>
              <a:rPr lang="en-US" dirty="0"/>
              <a:t>How It Is Applied And Selected</a:t>
            </a:r>
            <a:endParaRPr lang="en-NL" dirty="0"/>
          </a:p>
        </p:txBody>
      </p:sp>
      <p:sp>
        <p:nvSpPr>
          <p:cNvPr id="3" name="Content Placeholder 2">
            <a:extLst>
              <a:ext uri="{FF2B5EF4-FFF2-40B4-BE49-F238E27FC236}">
                <a16:creationId xmlns:a16="http://schemas.microsoft.com/office/drawing/2014/main" id="{D6B757D6-C080-C644-1F31-FFD2D885642C}"/>
              </a:ext>
            </a:extLst>
          </p:cNvPr>
          <p:cNvSpPr>
            <a:spLocks noGrp="1"/>
          </p:cNvSpPr>
          <p:nvPr>
            <p:ph idx="1"/>
          </p:nvPr>
        </p:nvSpPr>
        <p:spPr/>
        <p:txBody>
          <a:bodyPr>
            <a:normAutofit fontScale="92500" lnSpcReduction="10000"/>
          </a:bodyPr>
          <a:lstStyle/>
          <a:p>
            <a:pPr marL="0" indent="0">
              <a:buNone/>
            </a:pPr>
            <a:r>
              <a:rPr lang="en-US" sz="1400" dirty="0"/>
              <a:t>Modal mapping and diagnostic selection</a:t>
            </a:r>
          </a:p>
          <a:p>
            <a:pPr marL="0" indent="0">
              <a:buNone/>
            </a:pPr>
            <a:r>
              <a:rPr lang="en-US" sz="1400" dirty="0"/>
              <a:t>What</a:t>
            </a:r>
          </a:p>
          <a:p>
            <a:pPr marL="0" indent="0">
              <a:buNone/>
            </a:pPr>
            <a:r>
              <a:rPr lang="en-US" sz="1400" dirty="0"/>
              <a:t>- common: [s,  s, 0] -&gt; X translation</a:t>
            </a:r>
          </a:p>
          <a:p>
            <a:pPr marL="0" indent="0">
              <a:buNone/>
            </a:pPr>
            <a:r>
              <a:rPr lang="en-US" sz="1400" dirty="0"/>
              <a:t>- diff:   [s, -s, 0] -&gt; rotation/yaw</a:t>
            </a:r>
          </a:p>
          <a:p>
            <a:pPr marL="0" indent="0">
              <a:buNone/>
            </a:pPr>
            <a:r>
              <a:rPr lang="en-US" sz="1400" dirty="0"/>
              <a:t>- y:      [0,  0, s] -&gt; Y motion</a:t>
            </a:r>
          </a:p>
          <a:p>
            <a:pPr marL="0" indent="0">
              <a:buNone/>
            </a:pPr>
            <a:r>
              <a:rPr lang="en-US" sz="1400" dirty="0"/>
              <a:t>Why</a:t>
            </a:r>
          </a:p>
          <a:p>
            <a:pPr marL="0" indent="0">
              <a:buNone/>
            </a:pPr>
            <a:r>
              <a:rPr lang="en-US" sz="1400" dirty="0"/>
              <a:t>- Each mode excites a physically meaningful direction.</a:t>
            </a:r>
          </a:p>
          <a:p>
            <a:pPr marL="0" indent="0">
              <a:buNone/>
            </a:pPr>
            <a:r>
              <a:rPr lang="en-US" sz="1400" dirty="0"/>
              <a:t>- The feedback controller can reject injected force.</a:t>
            </a:r>
          </a:p>
          <a:p>
            <a:pPr marL="0" indent="0">
              <a:buNone/>
            </a:pPr>
            <a:r>
              <a:rPr lang="en-US" sz="1400" dirty="0"/>
              <a:t>- Therefore amplitude/frequency must be selected in closed loop.</a:t>
            </a:r>
          </a:p>
          <a:p>
            <a:pPr marL="0" indent="0">
              <a:buNone/>
            </a:pPr>
            <a:r>
              <a:rPr lang="en-US" sz="1400" dirty="0"/>
              <a:t>How</a:t>
            </a:r>
          </a:p>
          <a:p>
            <a:pPr marL="0" indent="0">
              <a:buNone/>
            </a:pPr>
            <a:r>
              <a:rPr lang="en-US" sz="1400" dirty="0"/>
              <a:t>- First simulate baseline with </a:t>
            </a:r>
            <a:r>
              <a:rPr lang="en-US" sz="1400" dirty="0" err="1"/>
              <a:t>f_ms</a:t>
            </a:r>
            <a:r>
              <a:rPr lang="en-US" sz="1400" dirty="0"/>
              <a:t> = 0.</a:t>
            </a:r>
          </a:p>
          <a:p>
            <a:pPr marL="0" indent="0">
              <a:buNone/>
            </a:pPr>
            <a:r>
              <a:rPr lang="en-US" sz="1400" dirty="0"/>
              <a:t>- Test candidate frequency band and RMS force combinations.</a:t>
            </a:r>
          </a:p>
          <a:p>
            <a:pPr marL="0" indent="0">
              <a:buNone/>
            </a:pPr>
            <a:r>
              <a:rPr lang="en-US" sz="1400" dirty="0"/>
              <a:t>- Rank by:</a:t>
            </a:r>
          </a:p>
          <a:p>
            <a:pPr marL="0" indent="0">
              <a:buNone/>
            </a:pPr>
            <a:r>
              <a:rPr lang="en-US" sz="1400" dirty="0"/>
              <a:t>  survival x extra motion x bandwidth</a:t>
            </a:r>
          </a:p>
          <a:p>
            <a:pPr marL="0" indent="0">
              <a:buNone/>
            </a:pPr>
            <a:r>
              <a:rPr lang="en-US" sz="1400" dirty="0"/>
              <a:t>- Accept only if force and motion limits are respected.</a:t>
            </a:r>
          </a:p>
        </p:txBody>
      </p:sp>
    </p:spTree>
    <p:extLst>
      <p:ext uri="{BB962C8B-B14F-4D97-AF65-F5344CB8AC3E}">
        <p14:creationId xmlns:p14="http://schemas.microsoft.com/office/powerpoint/2010/main" val="3297025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BDD75-45FF-B439-4D87-2FA9E95D7D8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128A653F-9E7B-DAF6-A57B-9FC181A1BA3B}"/>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75760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B6E24-D38D-6840-8529-F10258ED9161}"/>
              </a:ext>
            </a:extLst>
          </p:cNvPr>
          <p:cNvSpPr>
            <a:spLocks noGrp="1"/>
          </p:cNvSpPr>
          <p:nvPr>
            <p:ph type="title"/>
          </p:nvPr>
        </p:nvSpPr>
        <p:spPr/>
        <p:txBody>
          <a:bodyPr/>
          <a:lstStyle/>
          <a:p>
            <a:r>
              <a:rPr lang="en-US" dirty="0" err="1"/>
              <a:t>Multisine</a:t>
            </a:r>
            <a:r>
              <a:rPr lang="en-US" dirty="0"/>
              <a:t> Signal Construction</a:t>
            </a:r>
            <a:endParaRPr lang="en-NL" dirty="0"/>
          </a:p>
        </p:txBody>
      </p:sp>
      <p:sp>
        <p:nvSpPr>
          <p:cNvPr id="3" name="Content Placeholder 2">
            <a:extLst>
              <a:ext uri="{FF2B5EF4-FFF2-40B4-BE49-F238E27FC236}">
                <a16:creationId xmlns:a16="http://schemas.microsoft.com/office/drawing/2014/main" id="{7B80A49D-67B4-AF8B-F33A-541AB99D2B18}"/>
              </a:ext>
            </a:extLst>
          </p:cNvPr>
          <p:cNvSpPr>
            <a:spLocks noGrp="1"/>
          </p:cNvSpPr>
          <p:nvPr>
            <p:ph idx="1"/>
          </p:nvPr>
        </p:nvSpPr>
        <p:spPr/>
        <p:txBody>
          <a:bodyPr>
            <a:normAutofit fontScale="55000" lnSpcReduction="20000"/>
          </a:bodyPr>
          <a:lstStyle/>
          <a:p>
            <a:pPr marL="0" indent="0">
              <a:buNone/>
            </a:pPr>
            <a:r>
              <a:rPr lang="en-US" dirty="0"/>
              <a:t>Periodic Schroeder-Phase </a:t>
            </a:r>
            <a:r>
              <a:rPr lang="en-US" dirty="0" err="1"/>
              <a:t>Multisine</a:t>
            </a:r>
            <a:r>
              <a:rPr lang="en-US" dirty="0"/>
              <a:t>, Injected as force after controller</a:t>
            </a:r>
          </a:p>
          <a:p>
            <a:pPr marL="0" indent="0">
              <a:buNone/>
            </a:pPr>
            <a:endParaRPr lang="en-US" dirty="0"/>
          </a:p>
          <a:p>
            <a:pPr marL="0" indent="0">
              <a:buNone/>
            </a:pPr>
            <a:r>
              <a:rPr lang="en-US" dirty="0"/>
              <a:t>s(t) = </a:t>
            </a:r>
            <a:r>
              <a:rPr lang="en-US" dirty="0" err="1"/>
              <a:t>sum_i</a:t>
            </a:r>
            <a:r>
              <a:rPr lang="en-US" dirty="0"/>
              <a:t> cos(2*pi*</a:t>
            </a:r>
            <a:r>
              <a:rPr lang="en-US" dirty="0" err="1"/>
              <a:t>f_i</a:t>
            </a:r>
            <a:r>
              <a:rPr lang="en-US" dirty="0"/>
              <a:t>*t + </a:t>
            </a:r>
            <a:r>
              <a:rPr lang="en-US" dirty="0" err="1"/>
              <a:t>phi_i</a:t>
            </a:r>
            <a:r>
              <a:rPr lang="en-US" dirty="0"/>
              <a:t>)</a:t>
            </a:r>
          </a:p>
          <a:p>
            <a:pPr marL="0" indent="0">
              <a:buNone/>
            </a:pPr>
            <a:endParaRPr lang="en-US" dirty="0"/>
          </a:p>
          <a:p>
            <a:pPr marL="0" indent="0">
              <a:buNone/>
            </a:pPr>
            <a:r>
              <a:rPr lang="en-US" dirty="0"/>
              <a:t>Frequency design</a:t>
            </a:r>
          </a:p>
          <a:p>
            <a:pPr marL="0" indent="0">
              <a:buNone/>
            </a:pPr>
            <a:r>
              <a:rPr lang="en-US" dirty="0"/>
              <a:t>- 1 s period -&gt; </a:t>
            </a:r>
            <a:r>
              <a:rPr lang="el-GR" dirty="0"/>
              <a:t>Δ</a:t>
            </a:r>
            <a:r>
              <a:rPr lang="en-US" dirty="0"/>
              <a:t>f = 1 Hz</a:t>
            </a:r>
          </a:p>
          <a:p>
            <a:pPr marL="0" indent="0">
              <a:buNone/>
            </a:pPr>
            <a:r>
              <a:rPr lang="en-US" dirty="0"/>
              <a:t>- selected bins inside candidate band</a:t>
            </a:r>
          </a:p>
          <a:p>
            <a:pPr marL="0" indent="0">
              <a:buNone/>
            </a:pPr>
            <a:r>
              <a:rPr lang="en-US" dirty="0"/>
              <a:t>- odd harmonic lines only</a:t>
            </a:r>
          </a:p>
          <a:p>
            <a:pPr marL="0" indent="0">
              <a:buNone/>
            </a:pPr>
            <a:r>
              <a:rPr lang="en-US" dirty="0"/>
              <a:t>- trajectory padded to complete periods</a:t>
            </a:r>
          </a:p>
          <a:p>
            <a:pPr marL="0" indent="0">
              <a:buNone/>
            </a:pPr>
            <a:endParaRPr lang="en-US" dirty="0"/>
          </a:p>
          <a:p>
            <a:pPr marL="0" indent="0">
              <a:buNone/>
            </a:pPr>
            <a:r>
              <a:rPr lang="en-US" dirty="0"/>
              <a:t>Phase design</a:t>
            </a:r>
          </a:p>
          <a:p>
            <a:pPr marL="0" indent="0">
              <a:buNone/>
            </a:pPr>
            <a:r>
              <a:rPr lang="en-US" dirty="0"/>
              <a:t>- Schroeder phases:</a:t>
            </a:r>
          </a:p>
          <a:p>
            <a:pPr marL="0" indent="0">
              <a:buNone/>
            </a:pPr>
            <a:r>
              <a:rPr lang="en-US" dirty="0"/>
              <a:t>  </a:t>
            </a:r>
            <a:r>
              <a:rPr lang="en-US" dirty="0" err="1"/>
              <a:t>phi_i</a:t>
            </a:r>
            <a:r>
              <a:rPr lang="en-US" dirty="0"/>
              <a:t> = -</a:t>
            </a:r>
            <a:r>
              <a:rPr lang="en-US" dirty="0" err="1"/>
              <a:t>i</a:t>
            </a:r>
            <a:r>
              <a:rPr lang="en-US" dirty="0"/>
              <a:t>(i-1)pi/F</a:t>
            </a:r>
          </a:p>
          <a:p>
            <a:pPr marL="0" indent="0">
              <a:buNone/>
            </a:pPr>
            <a:r>
              <a:rPr lang="en-US" dirty="0"/>
              <a:t>- reduces crest factor = peak / RMS</a:t>
            </a:r>
          </a:p>
        </p:txBody>
      </p:sp>
    </p:spTree>
    <p:extLst>
      <p:ext uri="{BB962C8B-B14F-4D97-AF65-F5344CB8AC3E}">
        <p14:creationId xmlns:p14="http://schemas.microsoft.com/office/powerpoint/2010/main" val="3314004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3C1D8-8634-3ED4-BA01-ED39679D7798}"/>
              </a:ext>
            </a:extLst>
          </p:cNvPr>
          <p:cNvSpPr>
            <a:spLocks noGrp="1"/>
          </p:cNvSpPr>
          <p:nvPr>
            <p:ph type="title"/>
          </p:nvPr>
        </p:nvSpPr>
        <p:spPr/>
        <p:txBody>
          <a:bodyPr/>
          <a:lstStyle/>
          <a:p>
            <a:r>
              <a:rPr lang="en-US" dirty="0"/>
              <a:t>Amplitude And Modal Mapping</a:t>
            </a:r>
            <a:endParaRPr lang="en-NL" dirty="0"/>
          </a:p>
        </p:txBody>
      </p:sp>
      <p:sp>
        <p:nvSpPr>
          <p:cNvPr id="3" name="Content Placeholder 2">
            <a:extLst>
              <a:ext uri="{FF2B5EF4-FFF2-40B4-BE49-F238E27FC236}">
                <a16:creationId xmlns:a16="http://schemas.microsoft.com/office/drawing/2014/main" id="{7D077C3B-26DC-2C08-86A7-7F4BB43BE141}"/>
              </a:ext>
            </a:extLst>
          </p:cNvPr>
          <p:cNvSpPr>
            <a:spLocks noGrp="1"/>
          </p:cNvSpPr>
          <p:nvPr>
            <p:ph idx="1"/>
          </p:nvPr>
        </p:nvSpPr>
        <p:spPr/>
        <p:txBody>
          <a:bodyPr>
            <a:normAutofit fontScale="55000" lnSpcReduction="20000"/>
          </a:bodyPr>
          <a:lstStyle/>
          <a:p>
            <a:pPr marL="0" indent="0">
              <a:buNone/>
            </a:pPr>
            <a:r>
              <a:rPr lang="en-US" dirty="0"/>
              <a:t>Amplitude and Force Modes</a:t>
            </a:r>
          </a:p>
          <a:p>
            <a:pPr marL="0" indent="0">
              <a:buNone/>
            </a:pPr>
            <a:endParaRPr lang="en-US" dirty="0"/>
          </a:p>
          <a:p>
            <a:pPr marL="0" indent="0">
              <a:buNone/>
            </a:pPr>
            <a:r>
              <a:rPr lang="en-US" dirty="0"/>
              <a:t>Amplitude</a:t>
            </a:r>
          </a:p>
          <a:p>
            <a:pPr marL="0" indent="0">
              <a:buNone/>
            </a:pPr>
            <a:r>
              <a:rPr lang="en-US" dirty="0"/>
              <a:t>- normalize to unit RMS</a:t>
            </a:r>
          </a:p>
          <a:p>
            <a:pPr marL="0" indent="0">
              <a:buNone/>
            </a:pPr>
            <a:r>
              <a:rPr lang="en-US" dirty="0"/>
              <a:t>- scale to candidate force RMS</a:t>
            </a:r>
          </a:p>
          <a:p>
            <a:pPr marL="0" indent="0">
              <a:buNone/>
            </a:pPr>
            <a:r>
              <a:rPr lang="en-US" dirty="0"/>
              <a:t>- 0.1 s cosine ramp avoids startup force jump</a:t>
            </a:r>
          </a:p>
          <a:p>
            <a:pPr marL="0" indent="0">
              <a:buNone/>
            </a:pPr>
            <a:endParaRPr lang="en-US" dirty="0"/>
          </a:p>
          <a:p>
            <a:pPr marL="0" indent="0">
              <a:buNone/>
            </a:pPr>
            <a:r>
              <a:rPr lang="en-US" dirty="0"/>
              <a:t>Modal mapping</a:t>
            </a:r>
          </a:p>
          <a:p>
            <a:pPr marL="0" indent="0">
              <a:buNone/>
            </a:pPr>
            <a:r>
              <a:rPr lang="en-US" dirty="0"/>
              <a:t>- common: [s,  s, 0] -&gt; X translation</a:t>
            </a:r>
          </a:p>
          <a:p>
            <a:pPr marL="0" indent="0">
              <a:buNone/>
            </a:pPr>
            <a:r>
              <a:rPr lang="en-US" dirty="0"/>
              <a:t>- diff:   [s, -s, 0] -&gt; rotation/yaw</a:t>
            </a:r>
          </a:p>
          <a:p>
            <a:pPr marL="0" indent="0">
              <a:buNone/>
            </a:pPr>
            <a:r>
              <a:rPr lang="en-US" dirty="0"/>
              <a:t>- y:      [0,  0, s] -&gt; Y motion</a:t>
            </a:r>
          </a:p>
          <a:p>
            <a:pPr marL="0" indent="0">
              <a:buNone/>
            </a:pPr>
            <a:endParaRPr lang="en-US" dirty="0"/>
          </a:p>
          <a:p>
            <a:pPr marL="0" indent="0">
              <a:buNone/>
            </a:pPr>
            <a:r>
              <a:rPr lang="en-US" dirty="0"/>
              <a:t>MIMO detail</a:t>
            </a:r>
          </a:p>
          <a:p>
            <a:pPr marL="0" indent="0">
              <a:buNone/>
            </a:pPr>
            <a:r>
              <a:rPr lang="en-US" dirty="0"/>
              <a:t>- mode-dependent phase shift</a:t>
            </a:r>
          </a:p>
          <a:p>
            <a:pPr marL="0" indent="0">
              <a:buNone/>
            </a:pPr>
            <a:r>
              <a:rPr lang="en-US" dirty="0"/>
              <a:t>- reduces correlation when modes are combined</a:t>
            </a:r>
          </a:p>
          <a:p>
            <a:pPr marL="0" indent="0">
              <a:buNone/>
            </a:pPr>
            <a:endParaRPr lang="en-NL" dirty="0"/>
          </a:p>
        </p:txBody>
      </p:sp>
    </p:spTree>
    <p:extLst>
      <p:ext uri="{BB962C8B-B14F-4D97-AF65-F5344CB8AC3E}">
        <p14:creationId xmlns:p14="http://schemas.microsoft.com/office/powerpoint/2010/main" val="923123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56A58-DF8C-DC5E-3E66-F0C5C70428E3}"/>
              </a:ext>
            </a:extLst>
          </p:cNvPr>
          <p:cNvSpPr>
            <a:spLocks noGrp="1"/>
          </p:cNvSpPr>
          <p:nvPr>
            <p:ph type="title"/>
          </p:nvPr>
        </p:nvSpPr>
        <p:spPr/>
        <p:txBody>
          <a:bodyPr>
            <a:normAutofit/>
          </a:bodyPr>
          <a:lstStyle/>
          <a:p>
            <a:r>
              <a:rPr lang="en-US" dirty="0"/>
              <a:t>Closed-Loop Diagnostic Selection</a:t>
            </a:r>
            <a:endParaRPr lang="en-NL" dirty="0"/>
          </a:p>
        </p:txBody>
      </p:sp>
      <p:sp>
        <p:nvSpPr>
          <p:cNvPr id="3" name="Content Placeholder 2">
            <a:extLst>
              <a:ext uri="{FF2B5EF4-FFF2-40B4-BE49-F238E27FC236}">
                <a16:creationId xmlns:a16="http://schemas.microsoft.com/office/drawing/2014/main" id="{082BF8EE-6108-D59A-470D-9B94EC0E5974}"/>
              </a:ext>
            </a:extLst>
          </p:cNvPr>
          <p:cNvSpPr>
            <a:spLocks noGrp="1"/>
          </p:cNvSpPr>
          <p:nvPr>
            <p:ph idx="1"/>
          </p:nvPr>
        </p:nvSpPr>
        <p:spPr/>
        <p:txBody>
          <a:bodyPr>
            <a:normAutofit fontScale="32500" lnSpcReduction="20000"/>
          </a:bodyPr>
          <a:lstStyle/>
          <a:p>
            <a:pPr marL="0" indent="0">
              <a:buNone/>
            </a:pPr>
            <a:r>
              <a:rPr lang="en-US" dirty="0"/>
              <a:t>Closed-Loop Diagnostic Selection</a:t>
            </a:r>
          </a:p>
          <a:p>
            <a:pPr marL="0" indent="0">
              <a:buNone/>
            </a:pPr>
            <a:endParaRPr lang="en-US" dirty="0"/>
          </a:p>
          <a:p>
            <a:pPr marL="0" indent="0">
              <a:buNone/>
            </a:pPr>
            <a:r>
              <a:rPr lang="en-US" dirty="0"/>
              <a:t>Why diagnostic?</a:t>
            </a:r>
          </a:p>
          <a:p>
            <a:pPr marL="0" indent="0">
              <a:buNone/>
            </a:pPr>
            <a:r>
              <a:rPr lang="en-US" dirty="0"/>
              <a:t>- Feedback controller can reject injected force.</a:t>
            </a:r>
          </a:p>
          <a:p>
            <a:pPr marL="0" indent="0">
              <a:buNone/>
            </a:pPr>
            <a:r>
              <a:rPr lang="en-US" dirty="0"/>
              <a:t>- Large force does not guarantee useful plant excitation.</a:t>
            </a:r>
          </a:p>
          <a:p>
            <a:pPr marL="0" indent="0">
              <a:buNone/>
            </a:pPr>
            <a:endParaRPr lang="en-US" dirty="0"/>
          </a:p>
          <a:p>
            <a:pPr marL="0" indent="0">
              <a:buNone/>
            </a:pPr>
            <a:r>
              <a:rPr lang="en-US" dirty="0"/>
              <a:t>Procedure</a:t>
            </a:r>
          </a:p>
          <a:p>
            <a:pPr marL="0" indent="0">
              <a:buNone/>
            </a:pPr>
            <a:r>
              <a:rPr lang="en-US" dirty="0"/>
              <a:t>1. Simulate clean trajectory: </a:t>
            </a:r>
            <a:r>
              <a:rPr lang="en-US" dirty="0" err="1"/>
              <a:t>f_ms</a:t>
            </a:r>
            <a:r>
              <a:rPr lang="en-US" dirty="0"/>
              <a:t> = 0</a:t>
            </a:r>
          </a:p>
          <a:p>
            <a:pPr marL="0" indent="0">
              <a:buNone/>
            </a:pPr>
            <a:r>
              <a:rPr lang="en-US" dirty="0"/>
              <a:t>2. Test candidate band / RMS force combinations</a:t>
            </a:r>
          </a:p>
          <a:p>
            <a:pPr marL="0" indent="0">
              <a:buNone/>
            </a:pPr>
            <a:r>
              <a:rPr lang="en-US" dirty="0"/>
              <a:t>3. Compare with baseline:</a:t>
            </a:r>
          </a:p>
          <a:p>
            <a:pPr marL="0" indent="0">
              <a:buNone/>
            </a:pPr>
            <a:r>
              <a:rPr lang="en-US" dirty="0"/>
              <a:t>   extra motion </a:t>
            </a:r>
            <a:r>
              <a:rPr lang="el-GR" dirty="0"/>
              <a:t>Δ</a:t>
            </a:r>
            <a:r>
              <a:rPr lang="en-US" dirty="0"/>
              <a:t>q</a:t>
            </a:r>
          </a:p>
          <a:p>
            <a:pPr marL="0" indent="0">
              <a:buNone/>
            </a:pPr>
            <a:r>
              <a:rPr lang="en-US" dirty="0"/>
              <a:t>   surviving force </a:t>
            </a:r>
            <a:r>
              <a:rPr lang="el-GR" dirty="0"/>
              <a:t>Δ</a:t>
            </a:r>
            <a:r>
              <a:rPr lang="en-US" dirty="0"/>
              <a:t>u</a:t>
            </a:r>
          </a:p>
          <a:p>
            <a:pPr marL="0" indent="0">
              <a:buNone/>
            </a:pPr>
            <a:r>
              <a:rPr lang="en-US" dirty="0"/>
              <a:t>4. Rank:</a:t>
            </a:r>
          </a:p>
          <a:p>
            <a:pPr marL="0" indent="0">
              <a:buNone/>
            </a:pPr>
            <a:r>
              <a:rPr lang="en-US" dirty="0"/>
              <a:t>   score = survival x extra motion x bandwidth</a:t>
            </a:r>
          </a:p>
          <a:p>
            <a:pPr marL="0" indent="0">
              <a:buNone/>
            </a:pPr>
            <a:r>
              <a:rPr lang="en-US" dirty="0"/>
              <a:t>5. Accept only within:</a:t>
            </a:r>
          </a:p>
          <a:p>
            <a:pPr marL="0" indent="0">
              <a:buNone/>
            </a:pPr>
            <a:r>
              <a:rPr lang="en-US" dirty="0"/>
              <a:t>   force peak/RMS limits</a:t>
            </a:r>
          </a:p>
          <a:p>
            <a:pPr marL="0" indent="0">
              <a:buNone/>
            </a:pPr>
            <a:r>
              <a:rPr lang="en-US" dirty="0"/>
              <a:t>   position/yaw limits</a:t>
            </a:r>
          </a:p>
          <a:p>
            <a:pPr marL="0" indent="0">
              <a:buNone/>
            </a:pPr>
            <a:r>
              <a:rPr lang="en-US" dirty="0"/>
              <a:t>   velocity limits</a:t>
            </a:r>
          </a:p>
        </p:txBody>
      </p:sp>
    </p:spTree>
    <p:extLst>
      <p:ext uri="{BB962C8B-B14F-4D97-AF65-F5344CB8AC3E}">
        <p14:creationId xmlns:p14="http://schemas.microsoft.com/office/powerpoint/2010/main" val="221311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35F36-0AA3-80BF-592C-C6F06C75200B}"/>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35C50F6-D781-18AB-E06C-2426E99D9EB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700752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0D361-6547-FA4F-8894-642F032D0AD0}"/>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4F44A523-27F8-78D7-2672-27FDB82B2B38}"/>
              </a:ext>
            </a:extLst>
          </p:cNvPr>
          <p:cNvSpPr>
            <a:spLocks noGrp="1"/>
          </p:cNvSpPr>
          <p:nvPr>
            <p:ph idx="1"/>
          </p:nvPr>
        </p:nvSpPr>
        <p:spPr/>
        <p:txBody>
          <a:bodyPr/>
          <a:lstStyle/>
          <a:p>
            <a:r>
              <a:rPr lang="en-US" dirty="0"/>
              <a:t>Injected as force after controller</a:t>
            </a:r>
          </a:p>
          <a:p>
            <a:r>
              <a:rPr lang="en-US" dirty="0"/>
              <a:t>Schroeder-phase periodic </a:t>
            </a:r>
            <a:r>
              <a:rPr lang="en-US" dirty="0" err="1"/>
              <a:t>multisine</a:t>
            </a:r>
            <a:endParaRPr lang="en-US" dirty="0"/>
          </a:p>
          <a:p>
            <a:pPr lvl="1"/>
            <a:r>
              <a:rPr lang="en-US" dirty="0"/>
              <a:t>Resolution and padding</a:t>
            </a:r>
          </a:p>
          <a:p>
            <a:pPr lvl="1"/>
            <a:r>
              <a:rPr lang="en-US" dirty="0"/>
              <a:t>Frequency bins</a:t>
            </a:r>
          </a:p>
          <a:p>
            <a:pPr lvl="1"/>
            <a:r>
              <a:rPr lang="en-US" dirty="0"/>
              <a:t>Crest factor </a:t>
            </a:r>
            <a:r>
              <a:rPr lang="en-US" dirty="0">
                <a:sym typeface="Wingdings" panose="05000000000000000000" pitchFamily="2" charset="2"/>
              </a:rPr>
              <a:t> </a:t>
            </a:r>
            <a:r>
              <a:rPr lang="en-US" dirty="0"/>
              <a:t>Schroeder phase rule</a:t>
            </a:r>
          </a:p>
          <a:p>
            <a:r>
              <a:rPr lang="en-US" dirty="0"/>
              <a:t>Odd Harmonic Selection</a:t>
            </a:r>
          </a:p>
          <a:p>
            <a:r>
              <a:rPr lang="en-US" dirty="0"/>
              <a:t>Normalize </a:t>
            </a:r>
            <a:r>
              <a:rPr lang="en-US" dirty="0" err="1"/>
              <a:t>multisine</a:t>
            </a:r>
            <a:endParaRPr lang="en-US" dirty="0"/>
          </a:p>
          <a:p>
            <a:r>
              <a:rPr lang="en-US" dirty="0"/>
              <a:t>Scale to candidate force level</a:t>
            </a:r>
          </a:p>
        </p:txBody>
      </p:sp>
    </p:spTree>
    <p:extLst>
      <p:ext uri="{BB962C8B-B14F-4D97-AF65-F5344CB8AC3E}">
        <p14:creationId xmlns:p14="http://schemas.microsoft.com/office/powerpoint/2010/main" val="2106631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19FD-73A2-9C5D-6054-EC0AB94584F1}"/>
              </a:ext>
            </a:extLst>
          </p:cNvPr>
          <p:cNvSpPr>
            <a:spLocks noGrp="1"/>
          </p:cNvSpPr>
          <p:nvPr>
            <p:ph type="title"/>
          </p:nvPr>
        </p:nvSpPr>
        <p:spPr/>
        <p:txBody>
          <a:bodyPr/>
          <a:lstStyle/>
          <a:p>
            <a:r>
              <a:rPr lang="en-US" dirty="0" err="1"/>
              <a:t>Multisine</a:t>
            </a:r>
            <a:r>
              <a:rPr lang="en-US" dirty="0"/>
              <a:t> Signal Construction</a:t>
            </a:r>
            <a:endParaRPr lang="en-NL" dirty="0"/>
          </a:p>
        </p:txBody>
      </p:sp>
      <p:sp>
        <p:nvSpPr>
          <p:cNvPr id="3" name="Content Placeholder 2">
            <a:extLst>
              <a:ext uri="{FF2B5EF4-FFF2-40B4-BE49-F238E27FC236}">
                <a16:creationId xmlns:a16="http://schemas.microsoft.com/office/drawing/2014/main" id="{DCF89760-30B6-1867-ED17-30D805D67035}"/>
              </a:ext>
            </a:extLst>
          </p:cNvPr>
          <p:cNvSpPr>
            <a:spLocks noGrp="1"/>
          </p:cNvSpPr>
          <p:nvPr>
            <p:ph idx="1"/>
          </p:nvPr>
        </p:nvSpPr>
        <p:spPr/>
        <p:txBody>
          <a:bodyPr>
            <a:normAutofit fontScale="55000" lnSpcReduction="20000"/>
          </a:bodyPr>
          <a:lstStyle/>
          <a:p>
            <a:pPr marL="0" indent="0">
              <a:buNone/>
            </a:pPr>
            <a:r>
              <a:rPr lang="en-US" dirty="0"/>
              <a:t>Goal:</a:t>
            </a:r>
          </a:p>
          <a:p>
            <a:pPr marL="0" indent="0">
              <a:buNone/>
            </a:pPr>
            <a:r>
              <a:rPr lang="en-US" dirty="0"/>
              <a:t>- Broadband excitation for parameter recovery in one simulation.</a:t>
            </a:r>
          </a:p>
          <a:p>
            <a:pPr marL="0" indent="0">
              <a:buNone/>
            </a:pPr>
            <a:endParaRPr lang="en-US" dirty="0"/>
          </a:p>
          <a:p>
            <a:pPr marL="0" indent="0">
              <a:buNone/>
            </a:pPr>
            <a:r>
              <a:rPr lang="en-US" dirty="0"/>
              <a:t>Periodic Schroeder-phase </a:t>
            </a:r>
            <a:r>
              <a:rPr lang="en-US" dirty="0" err="1"/>
              <a:t>multisine</a:t>
            </a:r>
            <a:r>
              <a:rPr lang="en-US" dirty="0"/>
              <a:t>:</a:t>
            </a:r>
          </a:p>
          <a:p>
            <a:pPr marL="0" indent="0">
              <a:buNone/>
            </a:pPr>
            <a:r>
              <a:rPr lang="en-US" dirty="0"/>
              <a:t>s(t) = </a:t>
            </a:r>
            <a:r>
              <a:rPr lang="en-US" dirty="0" err="1"/>
              <a:t>sum_i</a:t>
            </a:r>
            <a:r>
              <a:rPr lang="en-US" dirty="0"/>
              <a:t> cos(2*pi*</a:t>
            </a:r>
            <a:r>
              <a:rPr lang="en-US" dirty="0" err="1"/>
              <a:t>f_i</a:t>
            </a:r>
            <a:r>
              <a:rPr lang="en-US" dirty="0"/>
              <a:t>*t + </a:t>
            </a:r>
            <a:r>
              <a:rPr lang="en-US" dirty="0" err="1"/>
              <a:t>phi_i</a:t>
            </a:r>
            <a:r>
              <a:rPr lang="en-US" dirty="0"/>
              <a:t>)</a:t>
            </a:r>
          </a:p>
          <a:p>
            <a:pPr marL="0" indent="0">
              <a:buNone/>
            </a:pPr>
            <a:endParaRPr lang="en-US" dirty="0"/>
          </a:p>
          <a:p>
            <a:pPr marL="0" indent="0">
              <a:buNone/>
            </a:pPr>
            <a:r>
              <a:rPr lang="en-US" dirty="0"/>
              <a:t>Schroeder phases:</a:t>
            </a:r>
          </a:p>
          <a:p>
            <a:pPr marL="0" indent="0">
              <a:buNone/>
            </a:pPr>
            <a:r>
              <a:rPr lang="en-US" dirty="0" err="1"/>
              <a:t>phi_i</a:t>
            </a:r>
            <a:r>
              <a:rPr lang="en-US" dirty="0"/>
              <a:t> = -</a:t>
            </a:r>
            <a:r>
              <a:rPr lang="en-US" dirty="0" err="1"/>
              <a:t>i</a:t>
            </a:r>
            <a:r>
              <a:rPr lang="en-US" dirty="0"/>
              <a:t>(i-1)pi/F</a:t>
            </a:r>
          </a:p>
          <a:p>
            <a:pPr marL="0" indent="0">
              <a:buNone/>
            </a:pPr>
            <a:endParaRPr lang="en-US" dirty="0"/>
          </a:p>
          <a:p>
            <a:pPr marL="0" indent="0">
              <a:buNone/>
            </a:pPr>
            <a:r>
              <a:rPr lang="en-US" dirty="0"/>
              <a:t>Design choices:</a:t>
            </a:r>
          </a:p>
          <a:p>
            <a:pPr marL="0" indent="0">
              <a:buNone/>
            </a:pPr>
            <a:r>
              <a:rPr lang="en-US" dirty="0"/>
              <a:t>- 1 s period </a:t>
            </a:r>
            <a:r>
              <a:rPr lang="en-US" dirty="0">
                <a:sym typeface="Wingdings" panose="05000000000000000000" pitchFamily="2" charset="2"/>
              </a:rPr>
              <a:t></a:t>
            </a:r>
            <a:r>
              <a:rPr lang="en-US" dirty="0"/>
              <a:t> 1 Hz frequency resolution</a:t>
            </a:r>
          </a:p>
          <a:p>
            <a:pPr marL="0" indent="0">
              <a:buNone/>
            </a:pPr>
            <a:r>
              <a:rPr lang="en-US" dirty="0"/>
              <a:t>- integer-period padding </a:t>
            </a:r>
            <a:r>
              <a:rPr lang="en-US" dirty="0">
                <a:sym typeface="Wingdings" panose="05000000000000000000" pitchFamily="2" charset="2"/>
              </a:rPr>
              <a:t></a:t>
            </a:r>
            <a:r>
              <a:rPr lang="en-US" dirty="0"/>
              <a:t> leakage-free signal</a:t>
            </a:r>
          </a:p>
          <a:p>
            <a:pPr marL="0" indent="0">
              <a:buNone/>
            </a:pPr>
            <a:r>
              <a:rPr lang="en-US" dirty="0"/>
              <a:t>- selected frequency bins within candidate band</a:t>
            </a:r>
          </a:p>
          <a:p>
            <a:pPr marL="0" indent="0">
              <a:buNone/>
            </a:pPr>
            <a:r>
              <a:rPr lang="en-US" dirty="0"/>
              <a:t>- odd harmonics only </a:t>
            </a:r>
            <a:r>
              <a:rPr lang="en-US" dirty="0">
                <a:sym typeface="Wingdings" panose="05000000000000000000" pitchFamily="2" charset="2"/>
              </a:rPr>
              <a:t></a:t>
            </a:r>
            <a:r>
              <a:rPr lang="en-US" dirty="0"/>
              <a:t> even lines left unexcited</a:t>
            </a:r>
          </a:p>
          <a:p>
            <a:pPr marL="0" indent="0">
              <a:buNone/>
            </a:pPr>
            <a:r>
              <a:rPr lang="en-US" dirty="0"/>
              <a:t>- Schroeder phases </a:t>
            </a:r>
            <a:r>
              <a:rPr lang="en-US" dirty="0">
                <a:sym typeface="Wingdings" panose="05000000000000000000" pitchFamily="2" charset="2"/>
              </a:rPr>
              <a:t></a:t>
            </a:r>
            <a:r>
              <a:rPr lang="en-US" dirty="0"/>
              <a:t> lower crest factor</a:t>
            </a:r>
          </a:p>
          <a:p>
            <a:pPr marL="0" indent="0">
              <a:buNone/>
            </a:pPr>
            <a:endParaRPr lang="en-NL" dirty="0"/>
          </a:p>
        </p:txBody>
      </p:sp>
    </p:spTree>
    <p:extLst>
      <p:ext uri="{BB962C8B-B14F-4D97-AF65-F5344CB8AC3E}">
        <p14:creationId xmlns:p14="http://schemas.microsoft.com/office/powerpoint/2010/main" val="2875568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4D72-3124-CA1D-2B8D-A69C0571CB59}"/>
              </a:ext>
            </a:extLst>
          </p:cNvPr>
          <p:cNvSpPr>
            <a:spLocks noGrp="1"/>
          </p:cNvSpPr>
          <p:nvPr>
            <p:ph type="title"/>
          </p:nvPr>
        </p:nvSpPr>
        <p:spPr/>
        <p:txBody>
          <a:bodyPr/>
          <a:lstStyle/>
          <a:p>
            <a:r>
              <a:rPr lang="en-US" dirty="0"/>
              <a:t>Mode-Dependent Phase Offset</a:t>
            </a:r>
            <a:endParaRPr lang="en-NL" dirty="0"/>
          </a:p>
        </p:txBody>
      </p:sp>
      <p:sp>
        <p:nvSpPr>
          <p:cNvPr id="3" name="Content Placeholder 2">
            <a:extLst>
              <a:ext uri="{FF2B5EF4-FFF2-40B4-BE49-F238E27FC236}">
                <a16:creationId xmlns:a16="http://schemas.microsoft.com/office/drawing/2014/main" id="{D44FD8B3-83E6-D0C6-5057-67144F96763B}"/>
              </a:ext>
            </a:extLst>
          </p:cNvPr>
          <p:cNvSpPr>
            <a:spLocks noGrp="1"/>
          </p:cNvSpPr>
          <p:nvPr>
            <p:ph idx="1"/>
          </p:nvPr>
        </p:nvSpPr>
        <p:spPr/>
        <p:txBody>
          <a:bodyPr/>
          <a:lstStyle/>
          <a:p>
            <a:r>
              <a:rPr lang="en-US" dirty="0"/>
              <a:t>Modes</a:t>
            </a:r>
          </a:p>
          <a:p>
            <a:r>
              <a:rPr lang="en-US" dirty="0"/>
              <a:t>And: That is why the script adds the mode-dependent phase/time shift. So the concept is:</a:t>
            </a:r>
          </a:p>
          <a:p>
            <a:endParaRPr lang="en-US" dirty="0"/>
          </a:p>
          <a:p>
            <a:r>
              <a:rPr lang="en-US" dirty="0"/>
              <a:t>is equivalent to a time shift by \(\tau\). In your script:</a:t>
            </a:r>
          </a:p>
          <a:p>
            <a:r>
              <a:rPr lang="en-US" dirty="0"/>
              <a:t>common: [</a:t>
            </a:r>
            <a:r>
              <a:rPr lang="en-US" dirty="0" err="1"/>
              <a:t>s_common</a:t>
            </a:r>
            <a:r>
              <a:rPr lang="en-US" dirty="0"/>
              <a:t>,  </a:t>
            </a:r>
            <a:r>
              <a:rPr lang="en-US" dirty="0" err="1"/>
              <a:t>s_common</a:t>
            </a:r>
            <a:r>
              <a:rPr lang="en-US" dirty="0"/>
              <a:t>, 0]</a:t>
            </a:r>
          </a:p>
          <a:p>
            <a:r>
              <a:rPr lang="en-US" dirty="0"/>
              <a:t>diff:   [</a:t>
            </a:r>
            <a:r>
              <a:rPr lang="en-US" dirty="0" err="1"/>
              <a:t>s_diff</a:t>
            </a:r>
            <a:r>
              <a:rPr lang="en-US" dirty="0"/>
              <a:t>,   -</a:t>
            </a:r>
            <a:r>
              <a:rPr lang="en-US" dirty="0" err="1"/>
              <a:t>s_diff</a:t>
            </a:r>
            <a:r>
              <a:rPr lang="en-US" dirty="0"/>
              <a:t>,   0]</a:t>
            </a:r>
          </a:p>
          <a:p>
            <a:r>
              <a:rPr lang="en-US" dirty="0"/>
              <a:t>y:      [0,         0,        </a:t>
            </a:r>
            <a:r>
              <a:rPr lang="en-US" dirty="0" err="1"/>
              <a:t>s_y</a:t>
            </a:r>
            <a:r>
              <a:rPr lang="en-US" dirty="0"/>
              <a:t>]</a:t>
            </a:r>
          </a:p>
          <a:p>
            <a:endParaRPr lang="en-NL" dirty="0"/>
          </a:p>
        </p:txBody>
      </p:sp>
    </p:spTree>
    <p:extLst>
      <p:ext uri="{BB962C8B-B14F-4D97-AF65-F5344CB8AC3E}">
        <p14:creationId xmlns:p14="http://schemas.microsoft.com/office/powerpoint/2010/main" val="2493812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1EC84-2D8F-40C6-EBB6-FF7C606E459B}"/>
              </a:ext>
            </a:extLst>
          </p:cNvPr>
          <p:cNvSpPr>
            <a:spLocks noGrp="1"/>
          </p:cNvSpPr>
          <p:nvPr>
            <p:ph type="title"/>
          </p:nvPr>
        </p:nvSpPr>
        <p:spPr/>
        <p:txBody>
          <a:bodyPr/>
          <a:lstStyle/>
          <a:p>
            <a:r>
              <a:rPr lang="en-US" dirty="0"/>
              <a:t>Trajectory analysis</a:t>
            </a:r>
            <a:endParaRPr lang="en-NL" dirty="0"/>
          </a:p>
        </p:txBody>
      </p:sp>
      <p:sp>
        <p:nvSpPr>
          <p:cNvPr id="3" name="Content Placeholder 2">
            <a:extLst>
              <a:ext uri="{FF2B5EF4-FFF2-40B4-BE49-F238E27FC236}">
                <a16:creationId xmlns:a16="http://schemas.microsoft.com/office/drawing/2014/main" id="{7C8D05FD-43E5-476E-27F5-338D2BB4BA0A}"/>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925DF776-3A56-4C90-CF18-A990E185670B}"/>
              </a:ext>
            </a:extLst>
          </p:cNvPr>
          <p:cNvPicPr>
            <a:picLocks noChangeAspect="1"/>
          </p:cNvPicPr>
          <p:nvPr/>
        </p:nvPicPr>
        <p:blipFill>
          <a:blip r:embed="rId2"/>
          <a:stretch>
            <a:fillRect/>
          </a:stretch>
        </p:blipFill>
        <p:spPr>
          <a:xfrm>
            <a:off x="4831774" y="1027906"/>
            <a:ext cx="7043074" cy="5190407"/>
          </a:xfrm>
          <a:prstGeom prst="rect">
            <a:avLst/>
          </a:prstGeom>
        </p:spPr>
      </p:pic>
    </p:spTree>
    <p:extLst>
      <p:ext uri="{BB962C8B-B14F-4D97-AF65-F5344CB8AC3E}">
        <p14:creationId xmlns:p14="http://schemas.microsoft.com/office/powerpoint/2010/main" val="4099492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ABF5E-A802-6FD5-529C-D20557338A5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BE93E2F-D1C2-413B-DAD5-BC2C826195A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5D0C8D9-707A-62CE-B0C5-167454C96691}"/>
              </a:ext>
            </a:extLst>
          </p:cNvPr>
          <p:cNvPicPr>
            <a:picLocks noChangeAspect="1"/>
          </p:cNvPicPr>
          <p:nvPr/>
        </p:nvPicPr>
        <p:blipFill>
          <a:blip r:embed="rId2"/>
          <a:stretch>
            <a:fillRect/>
          </a:stretch>
        </p:blipFill>
        <p:spPr>
          <a:xfrm>
            <a:off x="1609099" y="137653"/>
            <a:ext cx="8973802" cy="6582694"/>
          </a:xfrm>
          <a:prstGeom prst="rect">
            <a:avLst/>
          </a:prstGeom>
        </p:spPr>
      </p:pic>
    </p:spTree>
    <p:extLst>
      <p:ext uri="{BB962C8B-B14F-4D97-AF65-F5344CB8AC3E}">
        <p14:creationId xmlns:p14="http://schemas.microsoft.com/office/powerpoint/2010/main" val="1347050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38D4-253A-9723-A10B-DED595611EDC}"/>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FB54EBB6-0241-B578-0989-6E4C6C28D55E}"/>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C084DB9B-F8A7-DFB4-413C-D6A4CDCF0970}"/>
              </a:ext>
            </a:extLst>
          </p:cNvPr>
          <p:cNvPicPr>
            <a:picLocks noChangeAspect="1"/>
          </p:cNvPicPr>
          <p:nvPr/>
        </p:nvPicPr>
        <p:blipFill>
          <a:blip r:embed="rId2"/>
          <a:stretch>
            <a:fillRect/>
          </a:stretch>
        </p:blipFill>
        <p:spPr>
          <a:xfrm>
            <a:off x="1542414" y="142416"/>
            <a:ext cx="9107171" cy="6573167"/>
          </a:xfrm>
          <a:prstGeom prst="rect">
            <a:avLst/>
          </a:prstGeom>
        </p:spPr>
      </p:pic>
    </p:spTree>
    <p:extLst>
      <p:ext uri="{BB962C8B-B14F-4D97-AF65-F5344CB8AC3E}">
        <p14:creationId xmlns:p14="http://schemas.microsoft.com/office/powerpoint/2010/main" val="40365312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5657D-E5BD-426B-CA25-6F9E456BBED7}"/>
              </a:ext>
            </a:extLst>
          </p:cNvPr>
          <p:cNvSpPr>
            <a:spLocks noGrp="1"/>
          </p:cNvSpPr>
          <p:nvPr>
            <p:ph type="title"/>
          </p:nvPr>
        </p:nvSpPr>
        <p:spPr/>
        <p:txBody>
          <a:bodyPr/>
          <a:lstStyle/>
          <a:p>
            <a:r>
              <a:rPr lang="en-US" dirty="0"/>
              <a:t>Problem </a:t>
            </a:r>
            <a:r>
              <a:rPr lang="en-US" dirty="0" err="1"/>
              <a:t>inbetween</a:t>
            </a:r>
            <a:r>
              <a:rPr lang="en-US" dirty="0"/>
              <a:t> parametric and nonparametric model closed-loop</a:t>
            </a:r>
            <a:endParaRPr lang="en-NL" dirty="0"/>
          </a:p>
        </p:txBody>
      </p:sp>
      <p:sp>
        <p:nvSpPr>
          <p:cNvPr id="3" name="Content Placeholder 2">
            <a:extLst>
              <a:ext uri="{FF2B5EF4-FFF2-40B4-BE49-F238E27FC236}">
                <a16:creationId xmlns:a16="http://schemas.microsoft.com/office/drawing/2014/main" id="{35A79D1E-D153-3B55-8E12-0FFD85B2F3B5}"/>
              </a:ext>
            </a:extLst>
          </p:cNvPr>
          <p:cNvSpPr>
            <a:spLocks noGrp="1"/>
          </p:cNvSpPr>
          <p:nvPr>
            <p:ph idx="1"/>
          </p:nvPr>
        </p:nvSpPr>
        <p:spPr/>
        <p:txBody>
          <a:bodyPr>
            <a:normAutofit fontScale="92500" lnSpcReduction="20000"/>
          </a:bodyPr>
          <a:lstStyle/>
          <a:p>
            <a:r>
              <a:rPr lang="en-US" dirty="0"/>
              <a:t>FIM parametric. Model incomplete how to deal with augmentation/not modeled</a:t>
            </a:r>
          </a:p>
          <a:p>
            <a:r>
              <a:rPr lang="en-US" dirty="0"/>
              <a:t>Nonparametric approach</a:t>
            </a:r>
          </a:p>
          <a:p>
            <a:endParaRPr lang="en-US" dirty="0"/>
          </a:p>
          <a:p>
            <a:pPr marL="0" indent="0">
              <a:buNone/>
            </a:pPr>
            <a:r>
              <a:rPr lang="en-US" dirty="0"/>
              <a:t>The cleanest defensible split:</a:t>
            </a:r>
          </a:p>
          <a:p>
            <a:pPr marL="0" indent="0">
              <a:buNone/>
            </a:pPr>
            <a:r>
              <a:rPr lang="en-US" dirty="0"/>
              <a:t>  - Phase 1 (parametric only): FIM-driven </a:t>
            </a:r>
            <a:r>
              <a:rPr lang="en-US" dirty="0" err="1"/>
              <a:t>multisine</a:t>
            </a:r>
            <a:r>
              <a:rPr lang="en-US" dirty="0"/>
              <a:t> for the 14 physical params — justified by Gevers et al. (2011)</a:t>
            </a:r>
          </a:p>
          <a:p>
            <a:pPr marL="0" indent="0">
              <a:buNone/>
            </a:pPr>
            <a:r>
              <a:rPr lang="en-US" dirty="0"/>
              <a:t>  - Phase 2 (augmented model): broadband excitation with uniform spectral coverage over full bandwidth, so the NN has signal everywhere.</a:t>
            </a:r>
          </a:p>
          <a:p>
            <a:pPr marL="0" indent="0">
              <a:buNone/>
            </a:pPr>
            <a:r>
              <a:rPr lang="en-US" dirty="0"/>
              <a:t>  This is the standard input design for nonlinear grey-box: Ljung (1999) §13 recommends informative inputs over the full operating range</a:t>
            </a:r>
            <a:endParaRPr lang="en-NL" dirty="0"/>
          </a:p>
        </p:txBody>
      </p:sp>
    </p:spTree>
    <p:extLst>
      <p:ext uri="{BB962C8B-B14F-4D97-AF65-F5344CB8AC3E}">
        <p14:creationId xmlns:p14="http://schemas.microsoft.com/office/powerpoint/2010/main" val="1499017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DA82-033F-A5A9-8242-2D5896D94857}"/>
              </a:ext>
            </a:extLst>
          </p:cNvPr>
          <p:cNvSpPr>
            <a:spLocks noGrp="1"/>
          </p:cNvSpPr>
          <p:nvPr>
            <p:ph type="title"/>
          </p:nvPr>
        </p:nvSpPr>
        <p:spPr/>
        <p:txBody>
          <a:bodyPr/>
          <a:lstStyle/>
          <a:p>
            <a:r>
              <a:rPr lang="en-US" dirty="0"/>
              <a:t>Question 1</a:t>
            </a:r>
            <a:endParaRPr lang="en-NL" dirty="0"/>
          </a:p>
        </p:txBody>
      </p:sp>
      <p:sp>
        <p:nvSpPr>
          <p:cNvPr id="3" name="Content Placeholder 2">
            <a:extLst>
              <a:ext uri="{FF2B5EF4-FFF2-40B4-BE49-F238E27FC236}">
                <a16:creationId xmlns:a16="http://schemas.microsoft.com/office/drawing/2014/main" id="{07C68050-ABAC-21A7-30BB-2C997CD155E6}"/>
              </a:ext>
            </a:extLst>
          </p:cNvPr>
          <p:cNvSpPr>
            <a:spLocks noGrp="1"/>
          </p:cNvSpPr>
          <p:nvPr>
            <p:ph idx="1"/>
          </p:nvPr>
        </p:nvSpPr>
        <p:spPr/>
        <p:txBody>
          <a:bodyPr/>
          <a:lstStyle/>
          <a:p>
            <a:r>
              <a:rPr lang="en-US" dirty="0"/>
              <a:t>If a question needs to be answered. Make clear here what the problem/question is that needs to be answered. Questions can always be asked outside the meeting, but we may say prepare to explain what you really mean.</a:t>
            </a:r>
            <a:endParaRPr lang="en-NL" dirty="0"/>
          </a:p>
        </p:txBody>
      </p:sp>
      <p:sp>
        <p:nvSpPr>
          <p:cNvPr id="4" name="Rectangle 3">
            <a:extLst>
              <a:ext uri="{FF2B5EF4-FFF2-40B4-BE49-F238E27FC236}">
                <a16:creationId xmlns:a16="http://schemas.microsoft.com/office/drawing/2014/main" id="{C22B2196-272F-FC1F-4220-C87739CBF73F}"/>
              </a:ext>
            </a:extLst>
          </p:cNvPr>
          <p:cNvSpPr/>
          <p:nvPr/>
        </p:nvSpPr>
        <p:spPr>
          <a:xfrm>
            <a:off x="6985686" y="3273553"/>
            <a:ext cx="4827373" cy="303834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Some figure explaining the concept</a:t>
            </a:r>
          </a:p>
          <a:p>
            <a:pPr algn="ctr"/>
            <a:r>
              <a:rPr lang="en-US" dirty="0"/>
              <a:t>When applicable, the same as will go in final report. Otherwise just take screenshots from relevant papers.</a:t>
            </a:r>
            <a:endParaRPr lang="en-NL" dirty="0"/>
          </a:p>
        </p:txBody>
      </p:sp>
    </p:spTree>
    <p:extLst>
      <p:ext uri="{BB962C8B-B14F-4D97-AF65-F5344CB8AC3E}">
        <p14:creationId xmlns:p14="http://schemas.microsoft.com/office/powerpoint/2010/main" val="2175299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63080-949D-4DBD-FD28-0326C74424B2}"/>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DFA36D8-931D-15CB-53DA-98B9C3952F54}"/>
              </a:ext>
            </a:extLst>
          </p:cNvPr>
          <p:cNvSpPr>
            <a:spLocks noGrp="1"/>
          </p:cNvSpPr>
          <p:nvPr>
            <p:ph idx="1"/>
          </p:nvPr>
        </p:nvSpPr>
        <p:spPr/>
        <p:txBody>
          <a:bodyPr/>
          <a:lstStyle/>
          <a:p>
            <a:r>
              <a:rPr lang="en-US" dirty="0"/>
              <a:t>Previous questions from other slides</a:t>
            </a:r>
            <a:endParaRPr lang="en-NL" dirty="0"/>
          </a:p>
        </p:txBody>
      </p:sp>
    </p:spTree>
    <p:extLst>
      <p:ext uri="{BB962C8B-B14F-4D97-AF65-F5344CB8AC3E}">
        <p14:creationId xmlns:p14="http://schemas.microsoft.com/office/powerpoint/2010/main" val="2295290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B961A-A954-7242-AF9B-154554F674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C18105D-D1E1-3EC5-BB19-271257EBB241}"/>
              </a:ext>
            </a:extLst>
          </p:cNvPr>
          <p:cNvSpPr>
            <a:spLocks noGrp="1"/>
          </p:cNvSpPr>
          <p:nvPr>
            <p:ph idx="1"/>
          </p:nvPr>
        </p:nvSpPr>
        <p:spPr/>
        <p:txBody>
          <a:bodyPr/>
          <a:lstStyle/>
          <a:p>
            <a:r>
              <a:rPr lang="en-US" dirty="0"/>
              <a:t>Should I use </a:t>
            </a:r>
            <a:r>
              <a:rPr lang="en-US" dirty="0" err="1"/>
              <a:t>u_recorded</a:t>
            </a:r>
            <a:endParaRPr lang="en-US" dirty="0"/>
          </a:p>
          <a:p>
            <a:r>
              <a:rPr lang="en-US" dirty="0"/>
              <a:t>Helps with determining to use reference or force injection</a:t>
            </a:r>
          </a:p>
          <a:p>
            <a:r>
              <a:rPr lang="en-US" dirty="0"/>
              <a:t>Is there any benefit between the two</a:t>
            </a:r>
            <a:endParaRPr lang="en-NL" dirty="0"/>
          </a:p>
        </p:txBody>
      </p:sp>
      <p:pic>
        <p:nvPicPr>
          <p:cNvPr id="5" name="Picture 4">
            <a:extLst>
              <a:ext uri="{FF2B5EF4-FFF2-40B4-BE49-F238E27FC236}">
                <a16:creationId xmlns:a16="http://schemas.microsoft.com/office/drawing/2014/main" id="{35C59F87-BBB0-33A8-1374-316FD78D0767}"/>
              </a:ext>
            </a:extLst>
          </p:cNvPr>
          <p:cNvPicPr>
            <a:picLocks noChangeAspect="1"/>
          </p:cNvPicPr>
          <p:nvPr/>
        </p:nvPicPr>
        <p:blipFill>
          <a:blip r:embed="rId2"/>
          <a:stretch>
            <a:fillRect/>
          </a:stretch>
        </p:blipFill>
        <p:spPr>
          <a:xfrm>
            <a:off x="13177770" y="1381553"/>
            <a:ext cx="9364382" cy="5239481"/>
          </a:xfrm>
          <a:prstGeom prst="rect">
            <a:avLst/>
          </a:prstGeom>
        </p:spPr>
      </p:pic>
    </p:spTree>
    <p:extLst>
      <p:ext uri="{BB962C8B-B14F-4D97-AF65-F5344CB8AC3E}">
        <p14:creationId xmlns:p14="http://schemas.microsoft.com/office/powerpoint/2010/main" val="4147950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B15E-F4CE-824F-D5AE-DF8CDDF94E5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0908C73-D07B-8A66-6190-628A02BF687F}"/>
              </a:ext>
            </a:extLst>
          </p:cNvPr>
          <p:cNvSpPr>
            <a:spLocks noGrp="1"/>
          </p:cNvSpPr>
          <p:nvPr>
            <p:ph idx="1"/>
          </p:nvPr>
        </p:nvSpPr>
        <p:spPr/>
        <p:txBody>
          <a:bodyPr/>
          <a:lstStyle/>
          <a:p>
            <a:r>
              <a:rPr lang="en-US" dirty="0"/>
              <a:t> But if we use the data generated with the use of the FIM approach, will this not be uninformative for the unmodeled dynamics? and is a    </a:t>
            </a:r>
          </a:p>
          <a:p>
            <a:r>
              <a:rPr lang="en-US" dirty="0"/>
              <a:t>more general nonparametric approach then not better?                                                                                        </a:t>
            </a:r>
          </a:p>
          <a:p>
            <a:r>
              <a:rPr lang="en-US" dirty="0"/>
              <a:t>Or could we focus on the coupling somehow? </a:t>
            </a:r>
            <a:endParaRPr lang="en-NL" dirty="0"/>
          </a:p>
        </p:txBody>
      </p:sp>
    </p:spTree>
    <p:extLst>
      <p:ext uri="{BB962C8B-B14F-4D97-AF65-F5344CB8AC3E}">
        <p14:creationId xmlns:p14="http://schemas.microsoft.com/office/powerpoint/2010/main" val="4148058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22FA-98D7-2929-D27F-810CECE6E8CA}"/>
              </a:ext>
            </a:extLst>
          </p:cNvPr>
          <p:cNvSpPr>
            <a:spLocks noGrp="1"/>
          </p:cNvSpPr>
          <p:nvPr>
            <p:ph type="title"/>
          </p:nvPr>
        </p:nvSpPr>
        <p:spPr/>
        <p:txBody>
          <a:bodyPr/>
          <a:lstStyle/>
          <a:p>
            <a:r>
              <a:rPr lang="en-US" dirty="0"/>
              <a:t>Outline next week</a:t>
            </a:r>
            <a:endParaRPr lang="en-NL" dirty="0"/>
          </a:p>
        </p:txBody>
      </p:sp>
      <p:sp>
        <p:nvSpPr>
          <p:cNvPr id="3" name="Content Placeholder 2">
            <a:extLst>
              <a:ext uri="{FF2B5EF4-FFF2-40B4-BE49-F238E27FC236}">
                <a16:creationId xmlns:a16="http://schemas.microsoft.com/office/drawing/2014/main" id="{78179DB8-2509-8E4F-14E4-B0B6B2FE756A}"/>
              </a:ext>
            </a:extLst>
          </p:cNvPr>
          <p:cNvSpPr>
            <a:spLocks noGrp="1"/>
          </p:cNvSpPr>
          <p:nvPr>
            <p:ph idx="1"/>
          </p:nvPr>
        </p:nvSpPr>
        <p:spPr/>
        <p:txBody>
          <a:bodyPr/>
          <a:lstStyle/>
          <a:p>
            <a:r>
              <a:rPr lang="en-US" dirty="0"/>
              <a:t>What is next on the planning and how is that going to be solved</a:t>
            </a:r>
          </a:p>
          <a:p>
            <a:r>
              <a:rPr lang="en-US" dirty="0"/>
              <a:t>This is also where new action points are formulated. What are you going to do next week.</a:t>
            </a:r>
          </a:p>
        </p:txBody>
      </p:sp>
    </p:spTree>
    <p:extLst>
      <p:ext uri="{BB962C8B-B14F-4D97-AF65-F5344CB8AC3E}">
        <p14:creationId xmlns:p14="http://schemas.microsoft.com/office/powerpoint/2010/main" val="41339758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Possible Gantt-chart or Planning</a:t>
            </a:r>
            <a:endParaRPr lang="en-NL" dirty="0"/>
          </a:p>
        </p:txBody>
      </p:sp>
      <p:sp>
        <p:nvSpPr>
          <p:cNvPr id="3" name="Content Placeholder 2">
            <a:extLst>
              <a:ext uri="{FF2B5EF4-FFF2-40B4-BE49-F238E27FC236}">
                <a16:creationId xmlns:a16="http://schemas.microsoft.com/office/drawing/2014/main" id="{322F13D6-AF08-9392-A25C-ED43A705A9E8}"/>
              </a:ext>
            </a:extLst>
          </p:cNvPr>
          <p:cNvSpPr>
            <a:spLocks noGrp="1"/>
          </p:cNvSpPr>
          <p:nvPr>
            <p:ph idx="1"/>
          </p:nvPr>
        </p:nvSpPr>
        <p:spPr/>
        <p:txBody>
          <a:bodyPr/>
          <a:lstStyle/>
          <a:p>
            <a:r>
              <a:rPr lang="en-US" dirty="0"/>
              <a:t>To keep an overview of what the progress overall is.</a:t>
            </a:r>
            <a:endParaRPr lang="en-NL" dirty="0"/>
          </a:p>
        </p:txBody>
      </p:sp>
    </p:spTree>
    <p:extLst>
      <p:ext uri="{BB962C8B-B14F-4D97-AF65-F5344CB8AC3E}">
        <p14:creationId xmlns:p14="http://schemas.microsoft.com/office/powerpoint/2010/main" val="35038973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9AFC7-FB48-9D83-AE3E-49008DFF83B8}"/>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DA4B1886-08CC-5F7C-9A2A-9BD8CAA8FE6D}"/>
              </a:ext>
            </a:extLst>
          </p:cNvPr>
          <p:cNvSpPr>
            <a:spLocks noGrp="1"/>
          </p:cNvSpPr>
          <p:nvPr>
            <p:ph idx="1"/>
          </p:nvPr>
        </p:nvSpPr>
        <p:spPr/>
        <p:txBody>
          <a:bodyPr/>
          <a:lstStyle/>
          <a:p>
            <a:r>
              <a:rPr lang="en-US" dirty="0"/>
              <a:t>8 trajectories</a:t>
            </a:r>
          </a:p>
          <a:p>
            <a:r>
              <a:rPr lang="en-US" dirty="0"/>
              <a:t>Plus test and validation</a:t>
            </a:r>
            <a:endParaRPr lang="en-NL" dirty="0"/>
          </a:p>
        </p:txBody>
      </p:sp>
    </p:spTree>
    <p:extLst>
      <p:ext uri="{BB962C8B-B14F-4D97-AF65-F5344CB8AC3E}">
        <p14:creationId xmlns:p14="http://schemas.microsoft.com/office/powerpoint/2010/main" val="2901349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BC755-55A0-279D-ADEC-63ACE08E3FF7}"/>
              </a:ext>
            </a:extLst>
          </p:cNvPr>
          <p:cNvSpPr>
            <a:spLocks noGrp="1"/>
          </p:cNvSpPr>
          <p:nvPr>
            <p:ph type="title"/>
          </p:nvPr>
        </p:nvSpPr>
        <p:spPr/>
        <p:txBody>
          <a:bodyPr/>
          <a:lstStyle/>
          <a:p>
            <a:r>
              <a:rPr lang="en-US" dirty="0"/>
              <a:t>Pre-analysis</a:t>
            </a:r>
            <a:endParaRPr lang="en-NL" dirty="0"/>
          </a:p>
        </p:txBody>
      </p:sp>
      <p:sp>
        <p:nvSpPr>
          <p:cNvPr id="3" name="Content Placeholder 2">
            <a:extLst>
              <a:ext uri="{FF2B5EF4-FFF2-40B4-BE49-F238E27FC236}">
                <a16:creationId xmlns:a16="http://schemas.microsoft.com/office/drawing/2014/main" id="{FA697B1C-6244-9076-F2C5-4F81F04E9F9B}"/>
              </a:ext>
            </a:extLst>
          </p:cNvPr>
          <p:cNvSpPr>
            <a:spLocks noGrp="1"/>
          </p:cNvSpPr>
          <p:nvPr>
            <p:ph idx="1"/>
          </p:nvPr>
        </p:nvSpPr>
        <p:spPr/>
        <p:txBody>
          <a:bodyPr/>
          <a:lstStyle/>
          <a:p>
            <a:r>
              <a:rPr lang="en-US" dirty="0"/>
              <a:t> </a:t>
            </a:r>
            <a:r>
              <a:rPr lang="en-US" dirty="0" err="1"/>
              <a:t>diagnostics_system.m</a:t>
            </a:r>
            <a:r>
              <a:rPr lang="en-US" dirty="0"/>
              <a:t> gives you a clean, theoretically grounded</a:t>
            </a:r>
          </a:p>
          <a:p>
            <a:r>
              <a:rPr lang="en-US" dirty="0"/>
              <a:t>  argument:</a:t>
            </a:r>
          </a:p>
          <a:p>
            <a:r>
              <a:rPr lang="en-US" dirty="0"/>
              <a:t>  - "We inject at frequencies where |Ŝ|² &gt; 0.1 — below that the</a:t>
            </a:r>
          </a:p>
          <a:p>
            <a:r>
              <a:rPr lang="en-US" dirty="0"/>
              <a:t>  controller suppresses the force before it reaches the plant"</a:t>
            </a:r>
          </a:p>
          <a:p>
            <a:r>
              <a:rPr lang="en-US" dirty="0"/>
              <a:t>  (</a:t>
            </a:r>
            <a:r>
              <a:rPr lang="en-US" dirty="0" err="1"/>
              <a:t>f_low</a:t>
            </a:r>
            <a:r>
              <a:rPr lang="en-US" dirty="0"/>
              <a:t>)</a:t>
            </a:r>
          </a:p>
          <a:p>
            <a:r>
              <a:rPr lang="en-US" dirty="0"/>
              <a:t>  - "We inject up to the last resonance in |Ĝ| — above that the</a:t>
            </a:r>
          </a:p>
          <a:p>
            <a:r>
              <a:rPr lang="en-US" dirty="0"/>
              <a:t>  plant dynamics no longer carry parameter information" (</a:t>
            </a:r>
            <a:r>
              <a:rPr lang="en-US" dirty="0" err="1"/>
              <a:t>f_high</a:t>
            </a:r>
            <a:r>
              <a:rPr lang="en-US" dirty="0"/>
              <a:t>)</a:t>
            </a:r>
          </a:p>
          <a:p>
            <a:r>
              <a:rPr lang="en-US" dirty="0"/>
              <a:t>  - "We sample at 10 × </a:t>
            </a:r>
            <a:r>
              <a:rPr lang="en-US" dirty="0" err="1"/>
              <a:t>f_high</a:t>
            </a:r>
            <a:r>
              <a:rPr lang="en-US" dirty="0"/>
              <a:t> for BPTT" (</a:t>
            </a:r>
            <a:r>
              <a:rPr lang="en-US" dirty="0" err="1"/>
              <a:t>fs_new</a:t>
            </a:r>
            <a:r>
              <a:rPr lang="en-US" dirty="0"/>
              <a:t>, D)</a:t>
            </a:r>
            <a:endParaRPr lang="en-NL" dirty="0"/>
          </a:p>
        </p:txBody>
      </p:sp>
      <p:pic>
        <p:nvPicPr>
          <p:cNvPr id="7" name="Picture 6">
            <a:extLst>
              <a:ext uri="{FF2B5EF4-FFF2-40B4-BE49-F238E27FC236}">
                <a16:creationId xmlns:a16="http://schemas.microsoft.com/office/drawing/2014/main" id="{0CA0F744-BE7B-5672-66E0-8548715D8F21}"/>
              </a:ext>
            </a:extLst>
          </p:cNvPr>
          <p:cNvPicPr>
            <a:picLocks noChangeAspect="1"/>
          </p:cNvPicPr>
          <p:nvPr/>
        </p:nvPicPr>
        <p:blipFill>
          <a:blip r:embed="rId2"/>
          <a:stretch>
            <a:fillRect/>
          </a:stretch>
        </p:blipFill>
        <p:spPr>
          <a:xfrm>
            <a:off x="9424438" y="2520167"/>
            <a:ext cx="7051580" cy="3379751"/>
          </a:xfrm>
          <a:prstGeom prst="rect">
            <a:avLst/>
          </a:prstGeom>
        </p:spPr>
      </p:pic>
    </p:spTree>
    <p:extLst>
      <p:ext uri="{BB962C8B-B14F-4D97-AF65-F5344CB8AC3E}">
        <p14:creationId xmlns:p14="http://schemas.microsoft.com/office/powerpoint/2010/main" val="707892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E3F6-D724-DEA8-327F-972C1716664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C058551-BAAB-5A1C-CC2D-E8BFA57F198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FB847879-107B-2287-FD47-F7107652D23B}"/>
              </a:ext>
            </a:extLst>
          </p:cNvPr>
          <p:cNvPicPr>
            <a:picLocks noChangeAspect="1"/>
          </p:cNvPicPr>
          <p:nvPr/>
        </p:nvPicPr>
        <p:blipFill>
          <a:blip r:embed="rId2"/>
          <a:stretch>
            <a:fillRect/>
          </a:stretch>
        </p:blipFill>
        <p:spPr>
          <a:xfrm>
            <a:off x="3804918" y="618733"/>
            <a:ext cx="4582164" cy="5620534"/>
          </a:xfrm>
          <a:prstGeom prst="rect">
            <a:avLst/>
          </a:prstGeom>
        </p:spPr>
      </p:pic>
    </p:spTree>
    <p:extLst>
      <p:ext uri="{BB962C8B-B14F-4D97-AF65-F5344CB8AC3E}">
        <p14:creationId xmlns:p14="http://schemas.microsoft.com/office/powerpoint/2010/main" val="2886376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29364-E4F4-28D8-858F-1E26A3B437D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F84AF6E-F548-6E80-1E4F-888D6FE68521}"/>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84617881-7329-E297-C70D-E54A799D3720}"/>
              </a:ext>
            </a:extLst>
          </p:cNvPr>
          <p:cNvSpPr txBox="1"/>
          <p:nvPr/>
        </p:nvSpPr>
        <p:spPr>
          <a:xfrm>
            <a:off x="3047134" y="-7143125"/>
            <a:ext cx="6094268" cy="21144250"/>
          </a:xfrm>
          <a:prstGeom prst="rect">
            <a:avLst/>
          </a:prstGeom>
          <a:noFill/>
        </p:spPr>
        <p:txBody>
          <a:bodyPr wrap="square">
            <a:spAutoFit/>
          </a:bodyPr>
          <a:lstStyle/>
          <a:p>
            <a:r>
              <a:rPr lang="en-NL" dirty="0"/>
              <a:t> Here is what you need to explain, structured as a supervisor conversation:                                            </a:t>
            </a:r>
          </a:p>
          <a:p>
            <a:r>
              <a:rPr lang="en-NL" dirty="0"/>
              <a:t>                                                                                                                        </a:t>
            </a:r>
          </a:p>
          <a:p>
            <a:r>
              <a:rPr lang="en-NL" dirty="0"/>
              <a:t>  ---                                                                                                                   </a:t>
            </a:r>
          </a:p>
          <a:p>
            <a:r>
              <a:rPr lang="en-NL" dirty="0"/>
              <a:t>  Why a pre-analysis at all?                                                                                            </a:t>
            </a:r>
          </a:p>
          <a:p>
            <a:r>
              <a:rPr lang="en-NL" dirty="0"/>
              <a:t>  The identification </a:t>
            </a:r>
            <a:r>
              <a:rPr lang="en-NL" dirty="0" err="1"/>
              <a:t>multisine</a:t>
            </a:r>
            <a:r>
              <a:rPr lang="en-NL" dirty="0"/>
              <a:t> requires three design choices: frequency band [</a:t>
            </a:r>
            <a:r>
              <a:rPr lang="en-NL" dirty="0" err="1"/>
              <a:t>f_low</a:t>
            </a:r>
            <a:r>
              <a:rPr lang="en-NL" dirty="0"/>
              <a:t>, </a:t>
            </a:r>
            <a:r>
              <a:rPr lang="en-NL" dirty="0" err="1"/>
              <a:t>f_high</a:t>
            </a:r>
            <a:r>
              <a:rPr lang="en-NL" dirty="0"/>
              <a:t>], injection amplitude, and  </a:t>
            </a:r>
          </a:p>
          <a:p>
            <a:r>
              <a:rPr lang="en-NL" dirty="0"/>
              <a:t>  phase. Without pre-analysis these are found by trial and error (scanning). On hardware you cannot scan — you need     </a:t>
            </a:r>
          </a:p>
          <a:p>
            <a:r>
              <a:rPr lang="en-NL" dirty="0"/>
              <a:t>  correct parameters before touching the machine. The pre-analysis determines them from a short closed-loop probe    </a:t>
            </a:r>
          </a:p>
          <a:p>
            <a:r>
              <a:rPr lang="en-NL" dirty="0"/>
              <a:t>  simulation.</a:t>
            </a:r>
          </a:p>
          <a:p>
            <a:endParaRPr lang="en-NL" dirty="0"/>
          </a:p>
          <a:p>
            <a:r>
              <a:rPr lang="en-NL" dirty="0"/>
              <a:t>  ---</a:t>
            </a:r>
          </a:p>
          <a:p>
            <a:r>
              <a:rPr lang="en-NL" dirty="0"/>
              <a:t>  The probe signal — and yes, Schroeder is here:</a:t>
            </a:r>
          </a:p>
          <a:p>
            <a:r>
              <a:rPr lang="en-NL" dirty="0"/>
              <a:t>  The probe is a Schroeder-phase odd-harmonic </a:t>
            </a:r>
            <a:r>
              <a:rPr lang="en-NL" dirty="0" err="1"/>
              <a:t>multisine</a:t>
            </a:r>
            <a:r>
              <a:rPr lang="en-NL" dirty="0"/>
              <a:t> (Schroeder 1970). Schroeder phases minimize the crest factor —</a:t>
            </a:r>
          </a:p>
          <a:p>
            <a:r>
              <a:rPr lang="en-NL" dirty="0"/>
              <a:t>  the ratio of peak to RMS amplitude. With ~10000 harmonics, zero-phase cosines all sum coherently at t=0, producing a</a:t>
            </a:r>
          </a:p>
          <a:p>
            <a:r>
              <a:rPr lang="en-NL" dirty="0"/>
              <a:t>  peak force of order sqrt(</a:t>
            </a:r>
            <a:r>
              <a:rPr lang="en-NL" dirty="0" err="1"/>
              <a:t>N_harmonics</a:t>
            </a:r>
            <a:r>
              <a:rPr lang="en-NL" dirty="0"/>
              <a:t>) × RMS — far above the hardware limit. Schroeder phases spread the peaks so the</a:t>
            </a:r>
          </a:p>
          <a:p>
            <a:r>
              <a:rPr lang="en-NL" dirty="0"/>
              <a:t>  crest factor stays close to 1. The FRF ratios Ŝ and Ĝ are phase-invariant — phase cancels in the ratio — so Schroeder</a:t>
            </a:r>
          </a:p>
          <a:p>
            <a:r>
              <a:rPr lang="en-NL" dirty="0"/>
              <a:t>  phases do not affect the estimates, only the force peaks.</a:t>
            </a:r>
          </a:p>
          <a:p>
            <a:endParaRPr lang="en-NL" dirty="0"/>
          </a:p>
          <a:p>
            <a:r>
              <a:rPr lang="en-NL" dirty="0"/>
              <a:t>  ---</a:t>
            </a:r>
          </a:p>
          <a:p>
            <a:r>
              <a:rPr lang="en-NL" dirty="0"/>
              <a:t>  What the probe estimates:</a:t>
            </a:r>
          </a:p>
          <a:p>
            <a:r>
              <a:rPr lang="en-NL" dirty="0"/>
              <a:t>  Two nonparametric frequency response functions, derived from signal ratios at the excited frequencies:</a:t>
            </a:r>
          </a:p>
          <a:p>
            <a:r>
              <a:rPr lang="en-NL" dirty="0"/>
              <a:t>  - </a:t>
            </a:r>
            <a:r>
              <a:rPr lang="en-NL" dirty="0" err="1"/>
              <a:t>Ŝ_c</a:t>
            </a:r>
            <a:r>
              <a:rPr lang="en-NL" dirty="0"/>
              <a:t>(</a:t>
            </a:r>
            <a:r>
              <a:rPr lang="en-NL" dirty="0" err="1"/>
              <a:t>jω</a:t>
            </a:r>
            <a:r>
              <a:rPr lang="en-NL" dirty="0"/>
              <a:t>) = FFT(</a:t>
            </a:r>
            <a:r>
              <a:rPr lang="en-NL" dirty="0" err="1"/>
              <a:t>u_modal</a:t>
            </a:r>
            <a:r>
              <a:rPr lang="en-NL" dirty="0"/>
              <a:t>) / FFT(</a:t>
            </a:r>
            <a:r>
              <a:rPr lang="en-NL" dirty="0" err="1"/>
              <a:t>f_modal</a:t>
            </a:r>
            <a:r>
              <a:rPr lang="en-NL" dirty="0"/>
              <a:t>) — feedback algebra: how much of the injected force survives the controller</a:t>
            </a:r>
          </a:p>
          <a:p>
            <a:r>
              <a:rPr lang="en-NL" dirty="0"/>
              <a:t>  - </a:t>
            </a:r>
            <a:r>
              <a:rPr lang="en-NL" dirty="0" err="1"/>
              <a:t>Ĝ_c</a:t>
            </a:r>
            <a:r>
              <a:rPr lang="en-NL" dirty="0"/>
              <a:t>(</a:t>
            </a:r>
            <a:r>
              <a:rPr lang="en-NL" dirty="0" err="1"/>
              <a:t>jω</a:t>
            </a:r>
            <a:r>
              <a:rPr lang="en-NL" dirty="0"/>
              <a:t>) = FFT(</a:t>
            </a:r>
            <a:r>
              <a:rPr lang="en-NL" dirty="0" err="1"/>
              <a:t>q_modal</a:t>
            </a:r>
            <a:r>
              <a:rPr lang="en-NL" dirty="0"/>
              <a:t>) / FFT(</a:t>
            </a:r>
            <a:r>
              <a:rPr lang="en-NL" dirty="0" err="1"/>
              <a:t>u_modal</a:t>
            </a:r>
            <a:r>
              <a:rPr lang="en-NL" dirty="0"/>
              <a:t>) — plant equation: how much the plant position responds per unit of surviving</a:t>
            </a:r>
          </a:p>
          <a:p>
            <a:r>
              <a:rPr lang="en-NL" dirty="0"/>
              <a:t>  force</a:t>
            </a:r>
          </a:p>
          <a:p>
            <a:endParaRPr lang="en-NL" dirty="0"/>
          </a:p>
          <a:p>
            <a:r>
              <a:rPr lang="en-NL" dirty="0"/>
              <a:t>  Both are directional </a:t>
            </a:r>
            <a:r>
              <a:rPr lang="en-NL" dirty="0" err="1"/>
              <a:t>FRFs</a:t>
            </a:r>
            <a:r>
              <a:rPr lang="en-NL" dirty="0"/>
              <a:t> projected onto each mode direction. Not claimed as modal </a:t>
            </a:r>
            <a:r>
              <a:rPr lang="en-NL" dirty="0" err="1"/>
              <a:t>FRFs</a:t>
            </a:r>
            <a:r>
              <a:rPr lang="en-NL" dirty="0"/>
              <a:t>.</a:t>
            </a:r>
          </a:p>
          <a:p>
            <a:endParaRPr lang="en-NL" dirty="0"/>
          </a:p>
          <a:p>
            <a:r>
              <a:rPr lang="en-NL" dirty="0"/>
              <a:t>  ---</a:t>
            </a:r>
          </a:p>
          <a:p>
            <a:r>
              <a:rPr lang="en-NL" dirty="0"/>
              <a:t>  </a:t>
            </a:r>
            <a:r>
              <a:rPr lang="en-NL" dirty="0" err="1"/>
              <a:t>f_low</a:t>
            </a:r>
            <a:r>
              <a:rPr lang="en-NL" dirty="0"/>
              <a:t> — sensitivity survival threshold:</a:t>
            </a:r>
          </a:p>
          <a:p>
            <a:r>
              <a:rPr lang="en-NL" dirty="0"/>
              <a:t>  Lowest frequency where |Ŝ|² &gt; 0.1 (-10 dB), worst-case across all modes and Y. Below </a:t>
            </a:r>
            <a:r>
              <a:rPr lang="en-NL" dirty="0" err="1"/>
              <a:t>f_low</a:t>
            </a:r>
            <a:r>
              <a:rPr lang="en-NL" dirty="0"/>
              <a:t> the controller suppresses</a:t>
            </a:r>
          </a:p>
          <a:p>
            <a:r>
              <a:rPr lang="en-NL" dirty="0"/>
              <a:t>  more than 90% of injected force — no point injecting there. Threshold 0.1 is a declared engineering choice.</a:t>
            </a:r>
          </a:p>
          <a:p>
            <a:endParaRPr lang="en-NL" dirty="0"/>
          </a:p>
          <a:p>
            <a:r>
              <a:rPr lang="en-NL" dirty="0"/>
              <a:t>  ---</a:t>
            </a:r>
          </a:p>
          <a:p>
            <a:r>
              <a:rPr lang="en-NL" dirty="0"/>
              <a:t>  </a:t>
            </a:r>
            <a:r>
              <a:rPr lang="en-NL" dirty="0" err="1"/>
              <a:t>f_high</a:t>
            </a:r>
            <a:r>
              <a:rPr lang="en-NL" dirty="0"/>
              <a:t> — cumulative energy criterion:</a:t>
            </a:r>
          </a:p>
          <a:p>
            <a:r>
              <a:rPr lang="en-NL" dirty="0"/>
              <a:t>  The closed-loop force-to-position response is Q/</a:t>
            </a:r>
            <a:r>
              <a:rPr lang="en-NL" dirty="0" err="1"/>
              <a:t>F_sim</a:t>
            </a:r>
            <a:r>
              <a:rPr lang="en-NL" dirty="0"/>
              <a:t> = Ĝ × Ŝ (feedback algebra). </a:t>
            </a:r>
            <a:r>
              <a:rPr lang="en-NL" dirty="0" err="1"/>
              <a:t>f_high</a:t>
            </a:r>
            <a:r>
              <a:rPr lang="en-NL" dirty="0"/>
              <a:t> is the highest frequency</a:t>
            </a:r>
          </a:p>
          <a:p>
            <a:r>
              <a:rPr lang="en-NL" dirty="0"/>
              <a:t>  where the tail energy above that frequency still contains more than 5% of the total response energy in the usable</a:t>
            </a:r>
          </a:p>
          <a:p>
            <a:r>
              <a:rPr lang="en-NL" dirty="0"/>
              <a:t>  band. Above </a:t>
            </a:r>
            <a:r>
              <a:rPr lang="en-NL" dirty="0" err="1"/>
              <a:t>f_high</a:t>
            </a:r>
            <a:r>
              <a:rPr lang="en-NL" dirty="0"/>
              <a:t> the plant response is negligible — the injected force produces no measurable output. The 5%</a:t>
            </a:r>
          </a:p>
          <a:p>
            <a:r>
              <a:rPr lang="en-NL" dirty="0"/>
              <a:t>  tolerance is a declared engineering choice.</a:t>
            </a:r>
          </a:p>
          <a:p>
            <a:endParaRPr lang="en-NL" dirty="0"/>
          </a:p>
          <a:p>
            <a:r>
              <a:rPr lang="en-NL" dirty="0"/>
              <a:t>  ---</a:t>
            </a:r>
          </a:p>
          <a:p>
            <a:r>
              <a:rPr lang="en-NL" dirty="0"/>
              <a:t>  </a:t>
            </a:r>
            <a:r>
              <a:rPr lang="en-NL" dirty="0" err="1"/>
              <a:t>A_max</a:t>
            </a:r>
            <a:r>
              <a:rPr lang="en-NL" dirty="0"/>
              <a:t> — 40% of hardware actuator limit:</a:t>
            </a:r>
          </a:p>
          <a:p>
            <a:r>
              <a:rPr lang="en-NL" dirty="0"/>
              <a:t>  Declared engineering choice. Leaves 60% actuator capacity for trajectory tracking and safety margin. Same for all</a:t>
            </a:r>
          </a:p>
          <a:p>
            <a:r>
              <a:rPr lang="en-NL" dirty="0"/>
              <a:t>  trajectories — conservative by construction.</a:t>
            </a:r>
          </a:p>
          <a:p>
            <a:endParaRPr lang="en-NL" dirty="0"/>
          </a:p>
          <a:p>
            <a:r>
              <a:rPr lang="en-NL" dirty="0"/>
              <a:t>  ---</a:t>
            </a:r>
          </a:p>
          <a:p>
            <a:r>
              <a:rPr lang="en-NL" dirty="0"/>
              <a:t>  What this replaces:</a:t>
            </a:r>
          </a:p>
          <a:p>
            <a:r>
              <a:rPr lang="en-NL" dirty="0"/>
              <a:t>  The export script scanned candidate bands [5-400 Hz] and amplitudes [10-800 N] on actual trajectory simulations and</a:t>
            </a:r>
          </a:p>
          <a:p>
            <a:r>
              <a:rPr lang="en-NL" dirty="0"/>
              <a:t>  picked winners by a scoring formula. The pre-analysis recovers the same result ([43, 195] Hz, ~300 N) directly from</a:t>
            </a:r>
          </a:p>
          <a:p>
            <a:r>
              <a:rPr lang="en-NL" dirty="0"/>
              <a:t>  the probe data without any scanning or scoring.</a:t>
            </a:r>
          </a:p>
          <a:p>
            <a:r>
              <a:rPr lang="en-NL" dirty="0"/>
              <a:t> </a:t>
            </a:r>
          </a:p>
        </p:txBody>
      </p:sp>
    </p:spTree>
    <p:extLst>
      <p:ext uri="{BB962C8B-B14F-4D97-AF65-F5344CB8AC3E}">
        <p14:creationId xmlns:p14="http://schemas.microsoft.com/office/powerpoint/2010/main" val="873693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F2959-0064-50D6-DBB0-7EF5D895BC7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F00CFBD-3E1D-AA72-76FB-CBCC7A82E60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16359F15-3466-40F5-48D6-DD6B0D16B52B}"/>
              </a:ext>
            </a:extLst>
          </p:cNvPr>
          <p:cNvPicPr>
            <a:picLocks noChangeAspect="1"/>
          </p:cNvPicPr>
          <p:nvPr/>
        </p:nvPicPr>
        <p:blipFill>
          <a:blip r:embed="rId2"/>
          <a:stretch>
            <a:fillRect/>
          </a:stretch>
        </p:blipFill>
        <p:spPr>
          <a:xfrm>
            <a:off x="0" y="382887"/>
            <a:ext cx="12192000" cy="6092226"/>
          </a:xfrm>
          <a:prstGeom prst="rect">
            <a:avLst/>
          </a:prstGeom>
        </p:spPr>
      </p:pic>
    </p:spTree>
    <p:extLst>
      <p:ext uri="{BB962C8B-B14F-4D97-AF65-F5344CB8AC3E}">
        <p14:creationId xmlns:p14="http://schemas.microsoft.com/office/powerpoint/2010/main" val="230563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13CED-A52E-1729-4A19-AFC275D72468}"/>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767EA849-9876-EBFF-CF1C-25EEB20B57EC}"/>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828957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666A-4170-C6BF-67D6-5CD7B6A3A56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65C778E-FEA4-EE3C-9CAD-2EBD12EE0C1F}"/>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F1D8B97F-15FC-E3DB-CBE7-884137D04467}"/>
              </a:ext>
            </a:extLst>
          </p:cNvPr>
          <p:cNvSpPr txBox="1"/>
          <p:nvPr/>
        </p:nvSpPr>
        <p:spPr>
          <a:xfrm>
            <a:off x="3047134" y="-13237101"/>
            <a:ext cx="6094268" cy="33332202"/>
          </a:xfrm>
          <a:prstGeom prst="rect">
            <a:avLst/>
          </a:prstGeom>
          <a:noFill/>
        </p:spPr>
        <p:txBody>
          <a:bodyPr wrap="square">
            <a:spAutoFit/>
          </a:bodyPr>
          <a:lstStyle/>
          <a:p>
            <a:r>
              <a:rPr lang="en-NL" dirty="0"/>
              <a:t>● Let me go through every design element needed for Step 1 and whether it is justified.                                 </a:t>
            </a:r>
          </a:p>
          <a:p>
            <a:r>
              <a:rPr lang="en-NL" dirty="0"/>
              <a:t>                                                                                                                        </a:t>
            </a:r>
          </a:p>
          <a:p>
            <a:r>
              <a:rPr lang="en-NL" dirty="0"/>
              <a:t>  ---                                                                                                                   </a:t>
            </a:r>
          </a:p>
          <a:p>
            <a:r>
              <a:rPr lang="en-NL" dirty="0"/>
              <a:t>  1. Trajectory reference design                                                                                        </a:t>
            </a:r>
          </a:p>
          <a:p>
            <a:r>
              <a:rPr lang="en-NL" dirty="0"/>
              <a:t>  Smooth third-order setpoint profiles (jerk-limited). Already implemented in </a:t>
            </a:r>
            <a:r>
              <a:rPr lang="en-NL" dirty="0" err="1"/>
              <a:t>thirdOrderSetpointETEL</a:t>
            </a:r>
            <a:r>
              <a:rPr lang="en-NL" dirty="0"/>
              <a:t>. Hardware limits   </a:t>
            </a:r>
          </a:p>
          <a:p>
            <a:r>
              <a:rPr lang="en-NL" dirty="0"/>
              <a:t>  (position, velocity, acceleration) applied to </a:t>
            </a:r>
            <a:r>
              <a:rPr lang="en-NL" dirty="0" err="1"/>
              <a:t>r_total</a:t>
            </a:r>
            <a:r>
              <a:rPr lang="en-NL" dirty="0"/>
              <a:t> at design time.                                                 </a:t>
            </a:r>
          </a:p>
          <a:p>
            <a:r>
              <a:rPr lang="en-NL" dirty="0"/>
              <a:t>  Theory: standard motion control practice, hardware constraints. Clean.                                             </a:t>
            </a:r>
          </a:p>
          <a:p>
            <a:endParaRPr lang="en-NL" dirty="0"/>
          </a:p>
          <a:p>
            <a:r>
              <a:rPr lang="en-NL" dirty="0"/>
              <a:t>  ---</a:t>
            </a:r>
          </a:p>
          <a:p>
            <a:r>
              <a:rPr lang="en-NL" dirty="0"/>
              <a:t>  2. Leakage-free period alignment</a:t>
            </a:r>
          </a:p>
          <a:p>
            <a:r>
              <a:rPr lang="en-NL" dirty="0"/>
              <a:t>  Trajectory length padded to integer multiples of </a:t>
            </a:r>
            <a:r>
              <a:rPr lang="en-NL" dirty="0" err="1"/>
              <a:t>T_p</a:t>
            </a:r>
            <a:r>
              <a:rPr lang="en-NL" dirty="0"/>
              <a:t> = 1 s so the </a:t>
            </a:r>
            <a:r>
              <a:rPr lang="en-NL" dirty="0" err="1"/>
              <a:t>multisine</a:t>
            </a:r>
            <a:r>
              <a:rPr lang="en-NL" dirty="0"/>
              <a:t> is periodic within the simulation window.</a:t>
            </a:r>
          </a:p>
          <a:p>
            <a:r>
              <a:rPr lang="en-NL" dirty="0"/>
              <a:t>  Theory: P&amp;S Ch.2 §2.2.3 — leakage-free DFT requires integer periods. Already in export script. Clean.</a:t>
            </a:r>
          </a:p>
          <a:p>
            <a:endParaRPr lang="en-NL" dirty="0"/>
          </a:p>
          <a:p>
            <a:r>
              <a:rPr lang="en-NL" dirty="0"/>
              <a:t>  ---</a:t>
            </a:r>
          </a:p>
          <a:p>
            <a:r>
              <a:rPr lang="en-NL" dirty="0"/>
              <a:t>  3. Odd harmonics only</a:t>
            </a:r>
          </a:p>
          <a:p>
            <a:r>
              <a:rPr lang="en-NL" dirty="0"/>
              <a:t>  Theory: P&amp;S Ch.4 §4.3.2 — odd harmonics allow detection of even nonlinearities. PE condition: F ≥ 7 odd bins in</a:t>
            </a:r>
          </a:p>
          <a:p>
            <a:r>
              <a:rPr lang="en-NL" dirty="0"/>
              <a:t>  [</a:t>
            </a:r>
            <a:r>
              <a:rPr lang="en-NL" dirty="0" err="1"/>
              <a:t>f_low</a:t>
            </a:r>
            <a:r>
              <a:rPr lang="en-NL" dirty="0"/>
              <a:t>, </a:t>
            </a:r>
            <a:r>
              <a:rPr lang="en-NL" dirty="0" err="1"/>
              <a:t>f_high</a:t>
            </a:r>
            <a:r>
              <a:rPr lang="en-NL" dirty="0"/>
              <a:t>]. With [43, 195] Hz and f0=1 Hz there are ~76 odd bins. Clean.</a:t>
            </a:r>
          </a:p>
          <a:p>
            <a:endParaRPr lang="en-NL" dirty="0"/>
          </a:p>
          <a:p>
            <a:r>
              <a:rPr lang="en-NL" dirty="0"/>
              <a:t>  ---</a:t>
            </a:r>
          </a:p>
          <a:p>
            <a:r>
              <a:rPr lang="en-NL" dirty="0"/>
              <a:t>  4. Schroeder phases</a:t>
            </a:r>
          </a:p>
          <a:p>
            <a:r>
              <a:rPr lang="en-NL" dirty="0"/>
              <a:t>  Theory: Schroeder 1970 — minimizes crest factor for a given set of harmonics. Formula: </a:t>
            </a:r>
            <a:r>
              <a:rPr lang="en-NL" dirty="0" err="1"/>
              <a:t>φ_k</a:t>
            </a:r>
            <a:r>
              <a:rPr lang="en-NL" dirty="0"/>
              <a:t> = -π·k·(k-1)/F. Clean,</a:t>
            </a:r>
          </a:p>
          <a:p>
            <a:r>
              <a:rPr lang="en-NL" dirty="0"/>
              <a:t>  citable.</a:t>
            </a:r>
          </a:p>
          <a:p>
            <a:endParaRPr lang="en-NL" dirty="0"/>
          </a:p>
          <a:p>
            <a:r>
              <a:rPr lang="en-NL" dirty="0"/>
              <a:t>  ---</a:t>
            </a:r>
          </a:p>
          <a:p>
            <a:r>
              <a:rPr lang="en-NL" dirty="0"/>
              <a:t>  5. Different seed per mode</a:t>
            </a:r>
          </a:p>
          <a:p>
            <a:r>
              <a:rPr lang="en-NL" dirty="0"/>
              <a:t>  The export script uses a different phase offset per mode to reduce cross-correlation between simultaneously injected</a:t>
            </a:r>
          </a:p>
          <a:p>
            <a:r>
              <a:rPr lang="en-NL" dirty="0"/>
              <a:t>  modes. This is practical but:</a:t>
            </a:r>
          </a:p>
          <a:p>
            <a:r>
              <a:rPr lang="en-NL" dirty="0"/>
              <a:t>  - It is NOT the rigorous orthogonal MIMO excitation from Pintelon et al. (2011)</a:t>
            </a:r>
          </a:p>
          <a:p>
            <a:r>
              <a:rPr lang="en-NL" dirty="0"/>
              <a:t>  - Declared limitation: signals are low-correlation, not strictly orthogonal</a:t>
            </a:r>
          </a:p>
          <a:p>
            <a:r>
              <a:rPr lang="en-NL" dirty="0"/>
              <a:t>  - For BPTT identification (not FRF estimation) strict orthogonality is not required</a:t>
            </a:r>
          </a:p>
          <a:p>
            <a:endParaRPr lang="en-NL" dirty="0"/>
          </a:p>
          <a:p>
            <a:r>
              <a:rPr lang="en-NL" dirty="0"/>
              <a:t>  Honest framing: declared engineering choice, not theory-mandated.</a:t>
            </a:r>
          </a:p>
          <a:p>
            <a:endParaRPr lang="en-NL" dirty="0"/>
          </a:p>
          <a:p>
            <a:r>
              <a:rPr lang="en-NL" dirty="0"/>
              <a:t>  ---</a:t>
            </a:r>
          </a:p>
          <a:p>
            <a:r>
              <a:rPr lang="en-NL" dirty="0"/>
              <a:t>  6. Force injection post-controller</a:t>
            </a:r>
          </a:p>
          <a:p>
            <a:r>
              <a:rPr lang="en-NL" dirty="0"/>
              <a:t>  Theory: D-048, feedback algebra — </a:t>
            </a:r>
            <a:r>
              <a:rPr lang="en-NL" dirty="0" err="1"/>
              <a:t>U_total</a:t>
            </a:r>
            <a:r>
              <a:rPr lang="en-NL" dirty="0"/>
              <a:t> = S × </a:t>
            </a:r>
            <a:r>
              <a:rPr lang="en-NL" dirty="0" err="1"/>
              <a:t>F_sim</a:t>
            </a:r>
            <a:r>
              <a:rPr lang="en-NL" dirty="0"/>
              <a:t>. Keeps reference clean, excites plant directly. Clean.</a:t>
            </a:r>
          </a:p>
          <a:p>
            <a:endParaRPr lang="en-NL" dirty="0"/>
          </a:p>
          <a:p>
            <a:r>
              <a:rPr lang="en-NL" dirty="0"/>
              <a:t>  ---</a:t>
            </a:r>
          </a:p>
          <a:p>
            <a:r>
              <a:rPr lang="en-NL" dirty="0"/>
              <a:t>  7. Band [</a:t>
            </a:r>
            <a:r>
              <a:rPr lang="en-NL" dirty="0" err="1"/>
              <a:t>f_low</a:t>
            </a:r>
            <a:r>
              <a:rPr lang="en-NL" dirty="0"/>
              <a:t>, </a:t>
            </a:r>
            <a:r>
              <a:rPr lang="en-NL" dirty="0" err="1"/>
              <a:t>f_high</a:t>
            </a:r>
            <a:r>
              <a:rPr lang="en-NL" dirty="0"/>
              <a:t>] and </a:t>
            </a:r>
            <a:r>
              <a:rPr lang="en-NL" dirty="0" err="1"/>
              <a:t>A_max</a:t>
            </a:r>
            <a:r>
              <a:rPr lang="en-NL" dirty="0"/>
              <a:t> from step0_outputs.mat</a:t>
            </a:r>
          </a:p>
          <a:p>
            <a:r>
              <a:rPr lang="en-NL" dirty="0"/>
              <a:t>  Already justified by the pre-analysis. Clean.</a:t>
            </a:r>
          </a:p>
          <a:p>
            <a:endParaRPr lang="en-NL" dirty="0"/>
          </a:p>
          <a:p>
            <a:r>
              <a:rPr lang="en-NL" dirty="0"/>
              <a:t>  ---</a:t>
            </a:r>
          </a:p>
          <a:p>
            <a:r>
              <a:rPr lang="en-NL" dirty="0"/>
              <a:t>  8. Mode assignments per trajectory</a:t>
            </a:r>
          </a:p>
          <a:p>
            <a:r>
              <a:rPr lang="en-NL" dirty="0"/>
              <a:t>  This is the one piece with no theory. Which modes to inject into which trajectories (T4 diff only, T1 y only, etc.) is</a:t>
            </a:r>
          </a:p>
          <a:p>
            <a:r>
              <a:rPr lang="en-NL" dirty="0"/>
              <a:t>   driven by which parameters each trajectory is designed to excite. This is experiment design reasoning — physically</a:t>
            </a:r>
          </a:p>
          <a:p>
            <a:r>
              <a:rPr lang="en-NL" dirty="0"/>
              <a:t>  motivated but not from a paper.</a:t>
            </a:r>
          </a:p>
          <a:p>
            <a:endParaRPr lang="en-NL" dirty="0"/>
          </a:p>
          <a:p>
            <a:r>
              <a:rPr lang="en-NL" dirty="0"/>
              <a:t>  ---</a:t>
            </a:r>
          </a:p>
          <a:p>
            <a:r>
              <a:rPr lang="en-NL" dirty="0"/>
              <a:t>  Honest summary:</a:t>
            </a:r>
          </a:p>
          <a:p>
            <a:endParaRPr lang="en-NL" dirty="0"/>
          </a:p>
          <a:p>
            <a:r>
              <a:rPr lang="en-NL" dirty="0"/>
              <a:t>  ┌─────────────────────────────────┬───────────┬───────────────────────────────────────┐</a:t>
            </a:r>
          </a:p>
          <a:p>
            <a:r>
              <a:rPr lang="en-NL" dirty="0"/>
              <a:t>  │             Element             │ Justified │                Source                 │</a:t>
            </a:r>
          </a:p>
          <a:p>
            <a:r>
              <a:rPr lang="en-NL" dirty="0"/>
              <a:t>  ├─────────────────────────────────┼───────────┼───────────────────────────────────────┤</a:t>
            </a:r>
          </a:p>
          <a:p>
            <a:r>
              <a:rPr lang="en-NL" dirty="0"/>
              <a:t>  │ Schroeder phases                │ Yes       │ Schroeder 1970                        │</a:t>
            </a:r>
          </a:p>
          <a:p>
            <a:r>
              <a:rPr lang="en-NL" dirty="0"/>
              <a:t>  ├─────────────────────────────────┼───────────┼───────────────────────────────────────┤</a:t>
            </a:r>
          </a:p>
          <a:p>
            <a:r>
              <a:rPr lang="en-NL" dirty="0"/>
              <a:t>  │ Odd harmonics                   │ Yes       │ P&amp;S Ch.4 §4.3.2                       │</a:t>
            </a:r>
          </a:p>
          <a:p>
            <a:r>
              <a:rPr lang="en-NL" dirty="0"/>
              <a:t>  ├─────────────────────────────────┼───────────┼───────────────────────────────────────┤</a:t>
            </a:r>
          </a:p>
          <a:p>
            <a:r>
              <a:rPr lang="en-NL" dirty="0"/>
              <a:t>  │ Leakage-free periods            │ Yes       │ P&amp;S Ch.2 §2.2.3                       │</a:t>
            </a:r>
          </a:p>
          <a:p>
            <a:r>
              <a:rPr lang="en-NL" dirty="0"/>
              <a:t>  ├─────────────────────────────────┼───────────┼───────────────────────────────────────┤</a:t>
            </a:r>
          </a:p>
          <a:p>
            <a:r>
              <a:rPr lang="en-NL" dirty="0"/>
              <a:t>  │ Band [</a:t>
            </a:r>
            <a:r>
              <a:rPr lang="en-NL" dirty="0" err="1"/>
              <a:t>f_low</a:t>
            </a:r>
            <a:r>
              <a:rPr lang="en-NL" dirty="0"/>
              <a:t>, </a:t>
            </a:r>
            <a:r>
              <a:rPr lang="en-NL" dirty="0" err="1"/>
              <a:t>f_high</a:t>
            </a:r>
            <a:r>
              <a:rPr lang="en-NL" dirty="0"/>
              <a:t>]            │ Yes       │ Pre-analysis (this session)           │</a:t>
            </a:r>
          </a:p>
          <a:p>
            <a:r>
              <a:rPr lang="en-NL" dirty="0"/>
              <a:t>  ├─────────────────────────────────┼───────────┼───────────────────────────────────────┤</a:t>
            </a:r>
          </a:p>
          <a:p>
            <a:r>
              <a:rPr lang="en-NL" dirty="0"/>
              <a:t>  │ Amplitude </a:t>
            </a:r>
            <a:r>
              <a:rPr lang="en-NL" dirty="0" err="1"/>
              <a:t>A_max</a:t>
            </a:r>
            <a:r>
              <a:rPr lang="en-NL" dirty="0"/>
              <a:t>                 │ Partly    │ 40% rule declared                     │</a:t>
            </a:r>
          </a:p>
          <a:p>
            <a:r>
              <a:rPr lang="en-NL" dirty="0"/>
              <a:t>  ├─────────────────────────────────┼───────────┼───────────────────────────────────────┤</a:t>
            </a:r>
          </a:p>
          <a:p>
            <a:r>
              <a:rPr lang="en-NL" dirty="0"/>
              <a:t>  │ Force injection post-controller │ Yes       │ Feedback algebra                      │</a:t>
            </a:r>
          </a:p>
          <a:p>
            <a:r>
              <a:rPr lang="en-NL" dirty="0"/>
              <a:t>  ├─────────────────────────────────┼───────────┼───────────────────────────────────────┤</a:t>
            </a:r>
          </a:p>
          <a:p>
            <a:r>
              <a:rPr lang="en-NL" dirty="0"/>
              <a:t>  │ Simultaneous multi-mode         │ Partly    │ Hardware limit check, not MIMO theory │</a:t>
            </a:r>
          </a:p>
          <a:p>
            <a:r>
              <a:rPr lang="en-NL" dirty="0"/>
              <a:t>  ├─────────────────────────────────┼───────────┼───────────────────────────────────────┤</a:t>
            </a:r>
          </a:p>
          <a:p>
            <a:r>
              <a:rPr lang="en-NL" dirty="0"/>
              <a:t>  │ Mode assignments per trajectory │ No theory │ Physics-motivated engineering choice  │</a:t>
            </a:r>
          </a:p>
          <a:p>
            <a:r>
              <a:rPr lang="en-NL" dirty="0"/>
              <a:t>  └─────────────────────────────────┴───────────┴───────────────────────────────────────┘</a:t>
            </a:r>
          </a:p>
          <a:p>
            <a:endParaRPr lang="en-NL" dirty="0"/>
          </a:p>
          <a:p>
            <a:r>
              <a:rPr lang="en-NL" dirty="0"/>
              <a:t>  Everything is implementable and honestly frameable. The weak points are declared heuristics, not hidden assumptions.</a:t>
            </a:r>
          </a:p>
          <a:p>
            <a:endParaRPr lang="en-NL" dirty="0"/>
          </a:p>
          <a:p>
            <a:r>
              <a:rPr lang="en-NL" dirty="0"/>
              <a:t>  Ready to write the new file?</a:t>
            </a:r>
          </a:p>
        </p:txBody>
      </p:sp>
    </p:spTree>
    <p:extLst>
      <p:ext uri="{BB962C8B-B14F-4D97-AF65-F5344CB8AC3E}">
        <p14:creationId xmlns:p14="http://schemas.microsoft.com/office/powerpoint/2010/main" val="1683369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2CA15-EBF7-35D9-8C16-83ACE506E893}"/>
              </a:ext>
            </a:extLst>
          </p:cNvPr>
          <p:cNvSpPr>
            <a:spLocks noGrp="1"/>
          </p:cNvSpPr>
          <p:nvPr>
            <p:ph type="title"/>
          </p:nvPr>
        </p:nvSpPr>
        <p:spPr/>
        <p:txBody>
          <a:bodyPr/>
          <a:lstStyle/>
          <a:p>
            <a:r>
              <a:rPr lang="en-US" dirty="0"/>
              <a:t>Segment length</a:t>
            </a:r>
            <a:endParaRPr lang="en-NL" dirty="0"/>
          </a:p>
        </p:txBody>
      </p:sp>
      <p:sp>
        <p:nvSpPr>
          <p:cNvPr id="3" name="Content Placeholder 2">
            <a:extLst>
              <a:ext uri="{FF2B5EF4-FFF2-40B4-BE49-F238E27FC236}">
                <a16:creationId xmlns:a16="http://schemas.microsoft.com/office/drawing/2014/main" id="{84529D59-0077-C917-20D6-98039EBC8A46}"/>
              </a:ext>
            </a:extLst>
          </p:cNvPr>
          <p:cNvSpPr>
            <a:spLocks noGrp="1"/>
          </p:cNvSpPr>
          <p:nvPr>
            <p:ph idx="1"/>
          </p:nvPr>
        </p:nvSpPr>
        <p:spPr/>
        <p:txBody>
          <a:bodyPr/>
          <a:lstStyle/>
          <a:p>
            <a:r>
              <a:rPr lang="en-US" dirty="0"/>
              <a:t># THEORY: Lecture 3 periodic measurement (5SMB0) — integer periods required</a:t>
            </a:r>
          </a:p>
          <a:p>
            <a:r>
              <a:rPr lang="en-US" dirty="0"/>
              <a:t>  </a:t>
            </a:r>
            <a:r>
              <a:rPr lang="en-US" dirty="0" err="1"/>
              <a:t>seg_period</a:t>
            </a:r>
            <a:r>
              <a:rPr lang="en-US" dirty="0"/>
              <a:t> = ceil(N_PERIODS / </a:t>
            </a:r>
            <a:r>
              <a:rPr lang="en-US" dirty="0" err="1"/>
              <a:t>f_osc_min</a:t>
            </a:r>
            <a:r>
              <a:rPr lang="en-US" dirty="0"/>
              <a:t> × </a:t>
            </a:r>
            <a:r>
              <a:rPr lang="en-US" dirty="0" err="1"/>
              <a:t>fs_new</a:t>
            </a:r>
            <a:r>
              <a:rPr lang="en-US" dirty="0"/>
              <a:t>)</a:t>
            </a:r>
          </a:p>
          <a:p>
            <a:endParaRPr lang="en-US" dirty="0"/>
          </a:p>
          <a:p>
            <a:r>
              <a:rPr lang="en-US" dirty="0"/>
              <a:t>Resampling _</a:t>
            </a:r>
            <a:r>
              <a:rPr lang="en-US" dirty="0" err="1"/>
              <a:t>diag_fft</a:t>
            </a:r>
            <a:endParaRPr lang="en-NL" dirty="0"/>
          </a:p>
        </p:txBody>
      </p:sp>
    </p:spTree>
    <p:extLst>
      <p:ext uri="{BB962C8B-B14F-4D97-AF65-F5344CB8AC3E}">
        <p14:creationId xmlns:p14="http://schemas.microsoft.com/office/powerpoint/2010/main" val="16353304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CE6F-A85E-06C0-F224-3266C0B1B264}"/>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ACEF7EF-1788-EC95-AB94-1F967F93C06B}"/>
              </a:ext>
            </a:extLst>
          </p:cNvPr>
          <p:cNvSpPr>
            <a:spLocks noGrp="1"/>
          </p:cNvSpPr>
          <p:nvPr>
            <p:ph idx="1"/>
          </p:nvPr>
        </p:nvSpPr>
        <p:spPr/>
        <p:txBody>
          <a:bodyPr/>
          <a:lstStyle/>
          <a:p>
            <a:endParaRPr lang="en-NL" dirty="0"/>
          </a:p>
        </p:txBody>
      </p:sp>
      <p:sp>
        <p:nvSpPr>
          <p:cNvPr id="5" name="TextBox 4">
            <a:extLst>
              <a:ext uri="{FF2B5EF4-FFF2-40B4-BE49-F238E27FC236}">
                <a16:creationId xmlns:a16="http://schemas.microsoft.com/office/drawing/2014/main" id="{4E5ABF67-2212-0C4E-5753-49A5BFBE3349}"/>
              </a:ext>
            </a:extLst>
          </p:cNvPr>
          <p:cNvSpPr txBox="1"/>
          <p:nvPr/>
        </p:nvSpPr>
        <p:spPr>
          <a:xfrm>
            <a:off x="3048000" y="-3678180"/>
            <a:ext cx="6096000" cy="14219277"/>
          </a:xfrm>
          <a:prstGeom prst="rect">
            <a:avLst/>
          </a:prstGeom>
          <a:noFill/>
        </p:spPr>
        <p:txBody>
          <a:bodyPr wrap="square">
            <a:spAutoFit/>
          </a:bodyPr>
          <a:lstStyle/>
          <a:p>
            <a:r>
              <a:rPr lang="en-NL" dirty="0"/>
              <a:t> Yes, pure heuristic. Breaking it down:                                          </a:t>
            </a:r>
          </a:p>
          <a:p>
            <a:r>
              <a:rPr lang="en-NL" dirty="0"/>
              <a:t>                                                                                  </a:t>
            </a:r>
          </a:p>
          <a:p>
            <a:r>
              <a:rPr lang="en-NL" dirty="0"/>
              <a:t>  - N_PERIODS / </a:t>
            </a:r>
            <a:r>
              <a:rPr lang="en-NL" dirty="0" err="1"/>
              <a:t>f_osc_min</a:t>
            </a:r>
            <a:r>
              <a:rPr lang="en-NL" dirty="0"/>
              <a:t> — "observe the slowest mode for N_PERIODS complete      </a:t>
            </a:r>
          </a:p>
          <a:p>
            <a:r>
              <a:rPr lang="en-NL" dirty="0"/>
              <a:t>  cycles." No primary source derives this as a BPTT segment length criterion. It  </a:t>
            </a:r>
          </a:p>
          <a:p>
            <a:r>
              <a:rPr lang="en-NL" dirty="0"/>
              <a:t>  is a physically motivated engineering choice.                                   </a:t>
            </a:r>
          </a:p>
          <a:p>
            <a:r>
              <a:rPr lang="en-NL" dirty="0"/>
              <a:t>  - N_PERIODS = 3 — completely arbitrary. The theory doc says this explicitly: "No</a:t>
            </a:r>
          </a:p>
          <a:p>
            <a:r>
              <a:rPr lang="en-NL" dirty="0"/>
              <a:t>   primary source. 3 × </a:t>
            </a:r>
            <a:r>
              <a:rPr lang="en-NL" dirty="0" err="1"/>
              <a:t>T_p</a:t>
            </a:r>
            <a:r>
              <a:rPr lang="en-NL" dirty="0"/>
              <a:t> at </a:t>
            </a:r>
            <a:r>
              <a:rPr lang="en-NL" dirty="0" err="1"/>
              <a:t>f_osc_min</a:t>
            </a:r>
            <a:r>
              <a:rPr lang="en-NL" dirty="0"/>
              <a:t> = 3 × 0.2 s = 0.6 s."                    </a:t>
            </a:r>
          </a:p>
          <a:p>
            <a:r>
              <a:rPr lang="en-NL" dirty="0"/>
              <a:t>  - </a:t>
            </a:r>
            <a:r>
              <a:rPr lang="en-NL" dirty="0" err="1"/>
              <a:t>f_osc_min</a:t>
            </a:r>
            <a:r>
              <a:rPr lang="en-NL" dirty="0"/>
              <a:t> from FFT — makes it nonparametric, but does not add theoretical</a:t>
            </a:r>
          </a:p>
          <a:p>
            <a:r>
              <a:rPr lang="en-NL" dirty="0"/>
              <a:t>  backing to the formula itself.</a:t>
            </a:r>
          </a:p>
          <a:p>
            <a:endParaRPr lang="en-NL" dirty="0"/>
          </a:p>
          <a:p>
            <a:r>
              <a:rPr lang="en-NL" dirty="0"/>
              <a:t>  The formula sounds reasonable but has no derivation. The only BPTT-specific</a:t>
            </a:r>
          </a:p>
          <a:p>
            <a:r>
              <a:rPr lang="en-NL" dirty="0"/>
              <a:t>  theory with a derivation in the theory doc is Aicher et al. (2019): bias decays</a:t>
            </a:r>
          </a:p>
          <a:p>
            <a:r>
              <a:rPr lang="en-NL" dirty="0"/>
              <a:t>  as β^(K−τ)/(1−β), giving T ≳ 3–5 × </a:t>
            </a:r>
            <a:r>
              <a:rPr lang="en-NL" dirty="0" err="1"/>
              <a:t>τ_max</a:t>
            </a:r>
            <a:r>
              <a:rPr lang="en-NL" dirty="0"/>
              <a:t> ≈ 4700 samples.</a:t>
            </a:r>
          </a:p>
          <a:p>
            <a:endParaRPr lang="en-NL" dirty="0"/>
          </a:p>
          <a:p>
            <a:r>
              <a:rPr lang="en-NL" dirty="0"/>
              <a:t>  So the honest situation is:</a:t>
            </a:r>
          </a:p>
          <a:p>
            <a:endParaRPr lang="en-NL" dirty="0"/>
          </a:p>
          <a:p>
            <a:r>
              <a:rPr lang="en-NL" dirty="0"/>
              <a:t>  ┌────────────────────────────┬────────────────────────┬────────────────────┐</a:t>
            </a:r>
          </a:p>
          <a:p>
            <a:r>
              <a:rPr lang="en-NL" dirty="0"/>
              <a:t>  │          Formula           │         Source         │       Gives        │</a:t>
            </a:r>
          </a:p>
          <a:p>
            <a:r>
              <a:rPr lang="en-NL" dirty="0"/>
              <a:t>  ├────────────────────────────┼────────────────────────┼────────────────────┤</a:t>
            </a:r>
          </a:p>
          <a:p>
            <a:r>
              <a:rPr lang="en-NL" dirty="0"/>
              <a:t>  │ N_PERIODS / </a:t>
            </a:r>
            <a:r>
              <a:rPr lang="en-NL" dirty="0" err="1"/>
              <a:t>f_osc_min</a:t>
            </a:r>
            <a:r>
              <a:rPr lang="en-NL" dirty="0"/>
              <a:t> ×    │ HEURISTIC — no primary │ ~600 samples, fast │</a:t>
            </a:r>
          </a:p>
          <a:p>
            <a:r>
              <a:rPr lang="en-NL" dirty="0"/>
              <a:t>  │ </a:t>
            </a:r>
            <a:r>
              <a:rPr lang="en-NL" dirty="0" err="1"/>
              <a:t>fs_new</a:t>
            </a:r>
            <a:r>
              <a:rPr lang="en-NL" dirty="0"/>
              <a:t>                     │  source                │  training          │</a:t>
            </a:r>
          </a:p>
          <a:p>
            <a:r>
              <a:rPr lang="en-NL" dirty="0"/>
              <a:t>  ├────────────────────────────┼────────────────────────┼────────────────────┤</a:t>
            </a:r>
          </a:p>
          <a:p>
            <a:r>
              <a:rPr lang="en-NL" dirty="0"/>
              <a:t>  │ 3–5 × </a:t>
            </a:r>
            <a:r>
              <a:rPr lang="en-NL" dirty="0" err="1"/>
              <a:t>τ_max</a:t>
            </a:r>
            <a:r>
              <a:rPr lang="en-NL" dirty="0"/>
              <a:t> × </a:t>
            </a:r>
            <a:r>
              <a:rPr lang="en-NL" dirty="0" err="1"/>
              <a:t>fs_new</a:t>
            </a:r>
            <a:r>
              <a:rPr lang="en-NL" dirty="0"/>
              <a:t>       │ THEORY — Theorem 1     │ ~5000 samples,     │</a:t>
            </a:r>
          </a:p>
          <a:p>
            <a:r>
              <a:rPr lang="en-NL" dirty="0"/>
              <a:t>  │ (Aicher et al. 2019)       │ with derivation        │ slow training      │</a:t>
            </a:r>
          </a:p>
          <a:p>
            <a:r>
              <a:rPr lang="en-NL" dirty="0"/>
              <a:t>  └────────────────────────────┴────────────────────────┴────────────────────┘</a:t>
            </a:r>
          </a:p>
          <a:p>
            <a:endParaRPr lang="en-NL" dirty="0"/>
          </a:p>
          <a:p>
            <a:r>
              <a:rPr lang="en-NL" dirty="0"/>
              <a:t>  You are choosing the heuristic for speed, with empirical evidence (4000 samples</a:t>
            </a:r>
          </a:p>
          <a:p>
            <a:r>
              <a:rPr lang="en-NL" dirty="0"/>
              <a:t>  recovers parameters) that the system is identifiable, and you declare the 600 as</a:t>
            </a:r>
          </a:p>
          <a:p>
            <a:r>
              <a:rPr lang="en-NL" dirty="0"/>
              <a:t>   a computational trade-off. That is a defensible position for a supervisor</a:t>
            </a:r>
          </a:p>
          <a:p>
            <a:r>
              <a:rPr lang="en-NL" dirty="0"/>
              <a:t>  conversation — as long as it is </a:t>
            </a:r>
            <a:r>
              <a:rPr lang="en-NL" dirty="0" err="1"/>
              <a:t>labeled</a:t>
            </a:r>
            <a:r>
              <a:rPr lang="en-NL" dirty="0"/>
              <a:t> HEURISTIC and not presented as theory.</a:t>
            </a:r>
          </a:p>
        </p:txBody>
      </p:sp>
    </p:spTree>
    <p:extLst>
      <p:ext uri="{BB962C8B-B14F-4D97-AF65-F5344CB8AC3E}">
        <p14:creationId xmlns:p14="http://schemas.microsoft.com/office/powerpoint/2010/main" val="811776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9D1C2-1DD3-6541-7D0B-34B08AC1497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2B9362E-2C4D-C908-A017-0FA32B2DD337}"/>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9236230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D363-287C-DF83-24D1-BC62809A982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826F01B-ED6A-1BB1-6007-519B128BF39C}"/>
              </a:ext>
            </a:extLst>
          </p:cNvPr>
          <p:cNvSpPr>
            <a:spLocks noGrp="1"/>
          </p:cNvSpPr>
          <p:nvPr>
            <p:ph idx="1"/>
          </p:nvPr>
        </p:nvSpPr>
        <p:spPr/>
        <p:txBody>
          <a:bodyPr/>
          <a:lstStyle/>
          <a:p>
            <a:endParaRPr lang="en-NL"/>
          </a:p>
        </p:txBody>
      </p:sp>
      <p:sp>
        <p:nvSpPr>
          <p:cNvPr id="5" name="TextBox 4">
            <a:extLst>
              <a:ext uri="{FF2B5EF4-FFF2-40B4-BE49-F238E27FC236}">
                <a16:creationId xmlns:a16="http://schemas.microsoft.com/office/drawing/2014/main" id="{E45C2B72-1DEE-05A4-D916-C13CB535187B}"/>
              </a:ext>
            </a:extLst>
          </p:cNvPr>
          <p:cNvSpPr txBox="1"/>
          <p:nvPr/>
        </p:nvSpPr>
        <p:spPr>
          <a:xfrm>
            <a:off x="3048000" y="-3262682"/>
            <a:ext cx="6096000" cy="13388280"/>
          </a:xfrm>
          <a:prstGeom prst="rect">
            <a:avLst/>
          </a:prstGeom>
          <a:noFill/>
        </p:spPr>
        <p:txBody>
          <a:bodyPr wrap="square">
            <a:spAutoFit/>
          </a:bodyPr>
          <a:lstStyle/>
          <a:p>
            <a:r>
              <a:rPr lang="en-NL" dirty="0"/>
              <a:t> Is this actually verified to be in the lecture?: # THEORY: Lecture 3 periodic   </a:t>
            </a:r>
          </a:p>
          <a:p>
            <a:r>
              <a:rPr lang="en-NL" dirty="0"/>
              <a:t>measurement (5SMB0) — integer periods required                                    </a:t>
            </a:r>
          </a:p>
          <a:p>
            <a:r>
              <a:rPr lang="en-NL" dirty="0"/>
              <a:t>  </a:t>
            </a:r>
            <a:r>
              <a:rPr lang="en-NL" dirty="0" err="1"/>
              <a:t>seg_period</a:t>
            </a:r>
            <a:r>
              <a:rPr lang="en-NL" dirty="0"/>
              <a:t> = ceil(N_PERIODS / </a:t>
            </a:r>
            <a:r>
              <a:rPr lang="en-NL" dirty="0" err="1"/>
              <a:t>f_osc_min</a:t>
            </a:r>
            <a:r>
              <a:rPr lang="en-NL" dirty="0"/>
              <a:t> × </a:t>
            </a:r>
            <a:r>
              <a:rPr lang="en-NL" dirty="0" err="1"/>
              <a:t>fs_new</a:t>
            </a:r>
            <a:r>
              <a:rPr lang="en-NL" dirty="0"/>
              <a:t>)                               </a:t>
            </a:r>
          </a:p>
          <a:p>
            <a:endParaRPr lang="en-NL" dirty="0"/>
          </a:p>
          <a:p>
            <a:r>
              <a:rPr lang="en-NL" dirty="0"/>
              <a:t>● No, it is not verified. Applying the CLAUDE.md rule: "Literature validates only</a:t>
            </a:r>
          </a:p>
          <a:p>
            <a:r>
              <a:rPr lang="en-NL" dirty="0"/>
              <a:t>  if the formula, variable, and context match — not just the numeric constant."</a:t>
            </a:r>
          </a:p>
          <a:p>
            <a:r>
              <a:rPr lang="en-NL" dirty="0"/>
              <a:t>                                                                                  </a:t>
            </a:r>
          </a:p>
          <a:p>
            <a:r>
              <a:rPr lang="en-NL" dirty="0"/>
              <a:t>  Lecture 3 (5SMB0) "integer periods required" refers to: the measurement window </a:t>
            </a:r>
          </a:p>
          <a:p>
            <a:r>
              <a:rPr lang="en-NL" dirty="0"/>
              <a:t>  must be an integer multiple of the excitation period </a:t>
            </a:r>
            <a:r>
              <a:rPr lang="en-NL" dirty="0" err="1"/>
              <a:t>T_p</a:t>
            </a:r>
            <a:r>
              <a:rPr lang="en-NL" dirty="0"/>
              <a:t> to avoid spectral      </a:t>
            </a:r>
          </a:p>
          <a:p>
            <a:r>
              <a:rPr lang="en-NL" dirty="0"/>
              <a:t>  leakage in the FFT. That is a statement about </a:t>
            </a:r>
            <a:r>
              <a:rPr lang="en-NL" dirty="0" err="1"/>
              <a:t>T_p</a:t>
            </a:r>
            <a:r>
              <a:rPr lang="en-NL" dirty="0"/>
              <a:t> = 1/f0 (the </a:t>
            </a:r>
            <a:r>
              <a:rPr lang="en-NL" dirty="0" err="1"/>
              <a:t>multisine</a:t>
            </a:r>
            <a:r>
              <a:rPr lang="en-NL" dirty="0"/>
              <a:t> period),</a:t>
            </a:r>
          </a:p>
          <a:p>
            <a:r>
              <a:rPr lang="en-NL" dirty="0"/>
              <a:t>   not about </a:t>
            </a:r>
            <a:r>
              <a:rPr lang="en-NL" dirty="0" err="1"/>
              <a:t>f_osc_min</a:t>
            </a:r>
            <a:r>
              <a:rPr lang="en-NL" dirty="0"/>
              <a:t>.                                                          </a:t>
            </a:r>
          </a:p>
          <a:p>
            <a:endParaRPr lang="en-NL" dirty="0"/>
          </a:p>
          <a:p>
            <a:r>
              <a:rPr lang="en-NL" dirty="0"/>
              <a:t>  The formula ceil(N_PERIODS / </a:t>
            </a:r>
            <a:r>
              <a:rPr lang="en-NL" dirty="0" err="1"/>
              <a:t>f_osc_min</a:t>
            </a:r>
            <a:r>
              <a:rPr lang="en-NL" dirty="0"/>
              <a:t> × </a:t>
            </a:r>
            <a:r>
              <a:rPr lang="en-NL" dirty="0" err="1"/>
              <a:t>fs_new</a:t>
            </a:r>
            <a:r>
              <a:rPr lang="en-NL" dirty="0"/>
              <a:t>) is about covering N_PERIODS</a:t>
            </a:r>
          </a:p>
          <a:p>
            <a:r>
              <a:rPr lang="en-NL" dirty="0"/>
              <a:t>  full oscillations of the slowest natural frequency of the plant. That is a</a:t>
            </a:r>
          </a:p>
          <a:p>
            <a:r>
              <a:rPr lang="en-NL" dirty="0"/>
              <a:t>  different concept — it is not stated in Lecture 3. The variable is different</a:t>
            </a:r>
          </a:p>
          <a:p>
            <a:r>
              <a:rPr lang="en-NL" dirty="0"/>
              <a:t>  (</a:t>
            </a:r>
            <a:r>
              <a:rPr lang="en-NL" dirty="0" err="1"/>
              <a:t>f_osc_min</a:t>
            </a:r>
            <a:r>
              <a:rPr lang="en-NL" dirty="0"/>
              <a:t> vs f0), the motivation is different (observing system dynamics vs</a:t>
            </a:r>
          </a:p>
          <a:p>
            <a:r>
              <a:rPr lang="en-NL" dirty="0"/>
              <a:t>  leakage-free FFT).</a:t>
            </a:r>
          </a:p>
          <a:p>
            <a:endParaRPr lang="en-NL" dirty="0"/>
          </a:p>
          <a:p>
            <a:r>
              <a:rPr lang="en-NL" dirty="0"/>
              <a:t>  So the label is wrong. The formula is either:</a:t>
            </a:r>
          </a:p>
          <a:p>
            <a:endParaRPr lang="en-NL" dirty="0"/>
          </a:p>
          <a:p>
            <a:r>
              <a:rPr lang="en-NL" dirty="0"/>
              <a:t>  - HEURISTIC — "observe the slowest mode for 3 full cycles" is a reasonable</a:t>
            </a:r>
          </a:p>
          <a:p>
            <a:r>
              <a:rPr lang="en-NL" dirty="0"/>
              <a:t>  engineering rule but has no direct literature source in this exact form for BPTT</a:t>
            </a:r>
          </a:p>
          <a:p>
            <a:r>
              <a:rPr lang="en-NL" dirty="0"/>
              <a:t>  - Or needs a different, correct source if one exists</a:t>
            </a:r>
          </a:p>
          <a:p>
            <a:endParaRPr lang="en-NL" dirty="0"/>
          </a:p>
          <a:p>
            <a:r>
              <a:rPr lang="en-NL" dirty="0"/>
              <a:t>  The honest label would be:</a:t>
            </a:r>
          </a:p>
          <a:p>
            <a:r>
              <a:rPr lang="en-NL" dirty="0"/>
              <a:t>  # HEURISTIC: segment spans N_PERIODS cycles of the slowest plant mode —</a:t>
            </a:r>
          </a:p>
          <a:p>
            <a:r>
              <a:rPr lang="en-NL" dirty="0"/>
              <a:t>  #   ensures BPTT gradient sees complete oscillations of torsional parameters.</a:t>
            </a:r>
          </a:p>
          <a:p>
            <a:r>
              <a:rPr lang="en-NL" dirty="0"/>
              <a:t>  #   N_PERIODS=3 is an engineering choice with no direct BPTT literature source.</a:t>
            </a:r>
          </a:p>
          <a:p>
            <a:r>
              <a:rPr lang="en-NL" dirty="0"/>
              <a:t>  </a:t>
            </a:r>
            <a:r>
              <a:rPr lang="en-NL" dirty="0" err="1"/>
              <a:t>seg_period</a:t>
            </a:r>
            <a:r>
              <a:rPr lang="en-NL" dirty="0"/>
              <a:t> = ceil(N_PERIODS / </a:t>
            </a:r>
            <a:r>
              <a:rPr lang="en-NL" dirty="0" err="1"/>
              <a:t>f_osc_min</a:t>
            </a:r>
            <a:r>
              <a:rPr lang="en-NL" dirty="0"/>
              <a:t> × </a:t>
            </a:r>
            <a:r>
              <a:rPr lang="en-NL" dirty="0" err="1"/>
              <a:t>fs_new</a:t>
            </a:r>
            <a:r>
              <a:rPr lang="en-NL" dirty="0"/>
              <a:t>)</a:t>
            </a:r>
          </a:p>
          <a:p>
            <a:endParaRPr lang="en-NL" dirty="0"/>
          </a:p>
          <a:p>
            <a:r>
              <a:rPr lang="en-NL" dirty="0"/>
              <a:t>  Does the supervisor point to a specific paper or lecture for the FFT-based</a:t>
            </a:r>
          </a:p>
          <a:p>
            <a:r>
              <a:rPr lang="en-NL" dirty="0"/>
              <a:t>  segment criterion?</a:t>
            </a:r>
          </a:p>
        </p:txBody>
      </p:sp>
    </p:spTree>
    <p:extLst>
      <p:ext uri="{BB962C8B-B14F-4D97-AF65-F5344CB8AC3E}">
        <p14:creationId xmlns:p14="http://schemas.microsoft.com/office/powerpoint/2010/main" val="22745196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9ED26-E70E-FC3C-8841-0F19F30E5ACF}"/>
              </a:ext>
            </a:extLst>
          </p:cNvPr>
          <p:cNvSpPr>
            <a:spLocks noGrp="1"/>
          </p:cNvSpPr>
          <p:nvPr>
            <p:ph type="title"/>
          </p:nvPr>
        </p:nvSpPr>
        <p:spPr/>
        <p:txBody>
          <a:bodyPr/>
          <a:lstStyle/>
          <a:p>
            <a:r>
              <a:rPr lang="en-US" dirty="0"/>
              <a:t>Pre-analysis</a:t>
            </a:r>
            <a:endParaRPr lang="en-NL" dirty="0"/>
          </a:p>
        </p:txBody>
      </p:sp>
      <p:sp>
        <p:nvSpPr>
          <p:cNvPr id="3" name="Content Placeholder 2">
            <a:extLst>
              <a:ext uri="{FF2B5EF4-FFF2-40B4-BE49-F238E27FC236}">
                <a16:creationId xmlns:a16="http://schemas.microsoft.com/office/drawing/2014/main" id="{71F8F881-8A46-4197-6E9B-737AC39F6D59}"/>
              </a:ext>
            </a:extLst>
          </p:cNvPr>
          <p:cNvSpPr>
            <a:spLocks noGrp="1"/>
          </p:cNvSpPr>
          <p:nvPr>
            <p:ph idx="1"/>
          </p:nvPr>
        </p:nvSpPr>
        <p:spPr/>
        <p:txBody>
          <a:bodyPr>
            <a:normAutofit fontScale="70000" lnSpcReduction="20000"/>
          </a:bodyPr>
          <a:lstStyle/>
          <a:p>
            <a:r>
              <a:rPr lang="en-US" dirty="0" err="1"/>
              <a:t>f_low</a:t>
            </a:r>
            <a:r>
              <a:rPr lang="en-US" dirty="0"/>
              <a:t> — loop over all 3 modes × 5 Y points, run closed-loop simulation with</a:t>
            </a:r>
          </a:p>
          <a:p>
            <a:r>
              <a:rPr lang="en-US" dirty="0"/>
              <a:t>  broadband Schroeder </a:t>
            </a:r>
            <a:r>
              <a:rPr lang="en-US" dirty="0" err="1"/>
              <a:t>multisine</a:t>
            </a:r>
            <a:r>
              <a:rPr lang="en-US" dirty="0"/>
              <a:t> probe, compute Ŝ = FFT(</a:t>
            </a:r>
            <a:r>
              <a:rPr lang="en-US" dirty="0" err="1"/>
              <a:t>u_total</a:t>
            </a:r>
            <a:r>
              <a:rPr lang="en-US" dirty="0"/>
              <a:t>) / FFT(</a:t>
            </a:r>
            <a:r>
              <a:rPr lang="en-US" dirty="0" err="1"/>
              <a:t>f_sim</a:t>
            </a:r>
            <a:r>
              <a:rPr lang="en-US" dirty="0"/>
              <a:t>). Find the</a:t>
            </a:r>
          </a:p>
          <a:p>
            <a:r>
              <a:rPr lang="en-US" dirty="0"/>
              <a:t>   first frequency where |Ŝ|² &gt; 0.1. Worst-case across all modes and Y points.</a:t>
            </a:r>
          </a:p>
          <a:p>
            <a:endParaRPr lang="en-US" dirty="0"/>
          </a:p>
          <a:p>
            <a:r>
              <a:rPr lang="en-US" dirty="0"/>
              <a:t>  </a:t>
            </a:r>
            <a:r>
              <a:rPr lang="en-US" dirty="0" err="1"/>
              <a:t>f_high</a:t>
            </a:r>
            <a:r>
              <a:rPr lang="en-US" dirty="0"/>
              <a:t> — from the same simulations, compute |Ĝ × Ŝ|² = |Q/F_sim|² (closed-loop</a:t>
            </a:r>
          </a:p>
          <a:p>
            <a:r>
              <a:rPr lang="en-US" dirty="0"/>
              <a:t>  force-to-position). Build the cumulative tail energy from high to low frequency.</a:t>
            </a:r>
          </a:p>
          <a:p>
            <a:r>
              <a:rPr lang="en-US" dirty="0"/>
              <a:t>  Find the last frequency where the tail still contains ≥ 5% of total energy.</a:t>
            </a:r>
          </a:p>
          <a:p>
            <a:r>
              <a:rPr lang="en-US" dirty="0"/>
              <a:t>  Worst-case across all modes and Y points.</a:t>
            </a:r>
          </a:p>
          <a:p>
            <a:endParaRPr lang="en-US" dirty="0"/>
          </a:p>
          <a:p>
            <a:r>
              <a:rPr lang="en-US" dirty="0"/>
              <a:t>  </a:t>
            </a:r>
            <a:r>
              <a:rPr lang="en-US" dirty="0" err="1"/>
              <a:t>A_max</a:t>
            </a:r>
            <a:r>
              <a:rPr lang="en-US" dirty="0"/>
              <a:t> — no simulation needed. Just 0.4 × [min(F_X1, F_X2), min(F_X1, F_X2), F_Y]</a:t>
            </a:r>
          </a:p>
          <a:p>
            <a:r>
              <a:rPr lang="en-US" dirty="0"/>
              <a:t>  where the hardware RMS limits are [916, 916, 656] N. Gives [366, 366, 262] N RMS per</a:t>
            </a:r>
          </a:p>
          <a:p>
            <a:r>
              <a:rPr lang="en-US" dirty="0"/>
              <a:t>   mode.</a:t>
            </a:r>
          </a:p>
          <a:p>
            <a:endParaRPr lang="en-NL" dirty="0"/>
          </a:p>
        </p:txBody>
      </p:sp>
    </p:spTree>
    <p:extLst>
      <p:ext uri="{BB962C8B-B14F-4D97-AF65-F5344CB8AC3E}">
        <p14:creationId xmlns:p14="http://schemas.microsoft.com/office/powerpoint/2010/main" val="5964823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859C2-5739-0171-76C9-A9786CE0581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1724611-24B9-B1D7-46FA-BD3B17E305F6}"/>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3649653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53051-3B05-993F-5508-EF54849D3150}"/>
              </a:ext>
            </a:extLst>
          </p:cNvPr>
          <p:cNvSpPr>
            <a:spLocks noGrp="1"/>
          </p:cNvSpPr>
          <p:nvPr>
            <p:ph type="title"/>
          </p:nvPr>
        </p:nvSpPr>
        <p:spPr/>
        <p:txBody>
          <a:bodyPr/>
          <a:lstStyle/>
          <a:p>
            <a:r>
              <a:rPr lang="en-US" dirty="0"/>
              <a:t>Meeting Week 15</a:t>
            </a:r>
            <a:endParaRPr lang="en-NL" dirty="0"/>
          </a:p>
        </p:txBody>
      </p:sp>
      <p:sp>
        <p:nvSpPr>
          <p:cNvPr id="3" name="Content Placeholder 2">
            <a:extLst>
              <a:ext uri="{FF2B5EF4-FFF2-40B4-BE49-F238E27FC236}">
                <a16:creationId xmlns:a16="http://schemas.microsoft.com/office/drawing/2014/main" id="{F5F4B137-3180-E1F5-F1A5-4BF8DAF3DC7C}"/>
              </a:ext>
            </a:extLst>
          </p:cNvPr>
          <p:cNvSpPr>
            <a:spLocks noGrp="1"/>
          </p:cNvSpPr>
          <p:nvPr>
            <p:ph idx="1"/>
          </p:nvPr>
        </p:nvSpPr>
        <p:spPr/>
        <p:txBody>
          <a:bodyPr/>
          <a:lstStyle/>
          <a:p>
            <a:r>
              <a:rPr lang="en-US" dirty="0"/>
              <a:t>Parameter recovery</a:t>
            </a:r>
          </a:p>
          <a:p>
            <a:pPr lvl="1"/>
            <a:r>
              <a:rPr lang="en-US" dirty="0"/>
              <a:t>The system matches the model exactly </a:t>
            </a:r>
          </a:p>
          <a:p>
            <a:pPr lvl="2"/>
            <a:r>
              <a:rPr lang="en-US" dirty="0"/>
              <a:t>Only difference the parameters of the model are detuned with + / - 10% </a:t>
            </a:r>
          </a:p>
          <a:p>
            <a:r>
              <a:rPr lang="en-US" dirty="0"/>
              <a:t>Experiment</a:t>
            </a:r>
          </a:p>
          <a:p>
            <a:pPr lvl="1"/>
            <a:r>
              <a:rPr lang="en-US" dirty="0"/>
              <a:t>Trajectories without </a:t>
            </a:r>
            <a:r>
              <a:rPr lang="en-US" dirty="0" err="1"/>
              <a:t>multisine</a:t>
            </a:r>
            <a:endParaRPr lang="en-US" dirty="0"/>
          </a:p>
          <a:p>
            <a:pPr lvl="2"/>
            <a:r>
              <a:rPr lang="en-US" dirty="0"/>
              <a:t>Are able to recover the parameters</a:t>
            </a:r>
          </a:p>
          <a:p>
            <a:pPr lvl="1"/>
            <a:r>
              <a:rPr lang="en-US" dirty="0"/>
              <a:t>Current problem:</a:t>
            </a:r>
          </a:p>
          <a:p>
            <a:pPr lvl="2"/>
            <a:r>
              <a:rPr lang="en-US" dirty="0"/>
              <a:t>Adding </a:t>
            </a:r>
            <a:r>
              <a:rPr lang="en-US" dirty="0" err="1"/>
              <a:t>multisines</a:t>
            </a:r>
            <a:r>
              <a:rPr lang="en-US" dirty="0"/>
              <a:t> on top of the current trajectories</a:t>
            </a:r>
          </a:p>
          <a:p>
            <a:pPr lvl="1"/>
            <a:endParaRPr lang="en-NL" dirty="0"/>
          </a:p>
        </p:txBody>
      </p:sp>
    </p:spTree>
    <p:extLst>
      <p:ext uri="{BB962C8B-B14F-4D97-AF65-F5344CB8AC3E}">
        <p14:creationId xmlns:p14="http://schemas.microsoft.com/office/powerpoint/2010/main" val="41262217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FBAAB-E079-0BAA-CC32-E81A3784AA48}"/>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A4D8DD60-574F-F7CA-E03B-756CD6172FE8}"/>
              </a:ext>
            </a:extLst>
          </p:cNvPr>
          <p:cNvSpPr>
            <a:spLocks noGrp="1"/>
          </p:cNvSpPr>
          <p:nvPr>
            <p:ph idx="1"/>
          </p:nvPr>
        </p:nvSpPr>
        <p:spPr/>
        <p:txBody>
          <a:bodyPr/>
          <a:lstStyle/>
          <a:p>
            <a:r>
              <a:rPr lang="en-US" dirty="0"/>
              <a:t>The different modes concept is taken from </a:t>
            </a:r>
            <a:r>
              <a:rPr lang="en-US" dirty="0" err="1"/>
              <a:t>Garciá</a:t>
            </a:r>
            <a:r>
              <a:rPr lang="en-US" dirty="0"/>
              <a:t> </a:t>
            </a:r>
          </a:p>
        </p:txBody>
      </p:sp>
      <p:grpSp>
        <p:nvGrpSpPr>
          <p:cNvPr id="7" name="Group 6">
            <a:extLst>
              <a:ext uri="{FF2B5EF4-FFF2-40B4-BE49-F238E27FC236}">
                <a16:creationId xmlns:a16="http://schemas.microsoft.com/office/drawing/2014/main" id="{72B4667B-0446-43F8-6F56-0C4759AF5093}"/>
              </a:ext>
            </a:extLst>
          </p:cNvPr>
          <p:cNvGrpSpPr/>
          <p:nvPr/>
        </p:nvGrpSpPr>
        <p:grpSpPr>
          <a:xfrm>
            <a:off x="661220" y="2562685"/>
            <a:ext cx="10515600" cy="3081030"/>
            <a:chOff x="912058" y="3749317"/>
            <a:chExt cx="9345329" cy="2562583"/>
          </a:xfrm>
        </p:grpSpPr>
        <p:pic>
          <p:nvPicPr>
            <p:cNvPr id="5" name="Picture 4">
              <a:extLst>
                <a:ext uri="{FF2B5EF4-FFF2-40B4-BE49-F238E27FC236}">
                  <a16:creationId xmlns:a16="http://schemas.microsoft.com/office/drawing/2014/main" id="{5C4FBB8D-2414-5359-435A-5D673FA2E82B}"/>
                </a:ext>
              </a:extLst>
            </p:cNvPr>
            <p:cNvPicPr>
              <a:picLocks noChangeAspect="1"/>
            </p:cNvPicPr>
            <p:nvPr/>
          </p:nvPicPr>
          <p:blipFill>
            <a:blip r:embed="rId2"/>
            <a:stretch>
              <a:fillRect/>
            </a:stretch>
          </p:blipFill>
          <p:spPr>
            <a:xfrm>
              <a:off x="912058" y="3749317"/>
              <a:ext cx="9345329" cy="2562583"/>
            </a:xfrm>
            <a:prstGeom prst="rect">
              <a:avLst/>
            </a:prstGeom>
            <a:solidFill>
              <a:schemeClr val="bg1"/>
            </a:solidFill>
            <a:ln>
              <a:solidFill>
                <a:schemeClr val="bg1"/>
              </a:solidFill>
            </a:ln>
          </p:spPr>
        </p:pic>
        <p:sp>
          <p:nvSpPr>
            <p:cNvPr id="6" name="Rectangle 5">
              <a:extLst>
                <a:ext uri="{FF2B5EF4-FFF2-40B4-BE49-F238E27FC236}">
                  <a16:creationId xmlns:a16="http://schemas.microsoft.com/office/drawing/2014/main" id="{6B169A72-2D44-C45F-45F9-0DC5202A6571}"/>
                </a:ext>
              </a:extLst>
            </p:cNvPr>
            <p:cNvSpPr/>
            <p:nvPr/>
          </p:nvSpPr>
          <p:spPr>
            <a:xfrm>
              <a:off x="9419303" y="4532671"/>
              <a:ext cx="717755" cy="5506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Tree>
    <p:extLst>
      <p:ext uri="{BB962C8B-B14F-4D97-AF65-F5344CB8AC3E}">
        <p14:creationId xmlns:p14="http://schemas.microsoft.com/office/powerpoint/2010/main" val="19093242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13DE7-36B3-2746-CD0C-1321C04A00C7}"/>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B8CD1321-325E-2BAA-B65A-1FCDDE223FBB}"/>
              </a:ext>
            </a:extLst>
          </p:cNvPr>
          <p:cNvSpPr>
            <a:spLocks noGrp="1"/>
          </p:cNvSpPr>
          <p:nvPr>
            <p:ph idx="1"/>
          </p:nvPr>
        </p:nvSpPr>
        <p:spPr>
          <a:xfrm>
            <a:off x="838200" y="6179292"/>
            <a:ext cx="10515600" cy="4351338"/>
          </a:xfrm>
        </p:spPr>
        <p:txBody>
          <a:bodyPr/>
          <a:lstStyle/>
          <a:p>
            <a:r>
              <a:rPr lang="en-US" dirty="0"/>
              <a:t>Note: T8, X moves in the same direction, but also creates an offset</a:t>
            </a:r>
            <a:endParaRPr lang="en-NL" dirty="0"/>
          </a:p>
        </p:txBody>
      </p:sp>
      <p:pic>
        <p:nvPicPr>
          <p:cNvPr id="5" name="Picture 4">
            <a:extLst>
              <a:ext uri="{FF2B5EF4-FFF2-40B4-BE49-F238E27FC236}">
                <a16:creationId xmlns:a16="http://schemas.microsoft.com/office/drawing/2014/main" id="{26CEF05D-9A18-9013-E8A6-2A98C95A5D8D}"/>
              </a:ext>
            </a:extLst>
          </p:cNvPr>
          <p:cNvPicPr>
            <a:picLocks noChangeAspect="1"/>
          </p:cNvPicPr>
          <p:nvPr/>
        </p:nvPicPr>
        <p:blipFill>
          <a:blip r:embed="rId3"/>
          <a:stretch>
            <a:fillRect/>
          </a:stretch>
        </p:blipFill>
        <p:spPr>
          <a:xfrm>
            <a:off x="687742" y="1358606"/>
            <a:ext cx="10324904" cy="4820686"/>
          </a:xfrm>
          <a:prstGeom prst="rect">
            <a:avLst/>
          </a:prstGeom>
        </p:spPr>
      </p:pic>
    </p:spTree>
    <p:extLst>
      <p:ext uri="{BB962C8B-B14F-4D97-AF65-F5344CB8AC3E}">
        <p14:creationId xmlns:p14="http://schemas.microsoft.com/office/powerpoint/2010/main" val="184289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53A6-3373-D69D-46F9-AFDE8CC1E6F6}"/>
              </a:ext>
            </a:extLst>
          </p:cNvPr>
          <p:cNvSpPr>
            <a:spLocks noGrp="1"/>
          </p:cNvSpPr>
          <p:nvPr>
            <p:ph type="title"/>
          </p:nvPr>
        </p:nvSpPr>
        <p:spPr/>
        <p:txBody>
          <a:bodyPr/>
          <a:lstStyle/>
          <a:p>
            <a:r>
              <a:rPr lang="en-US" dirty="0"/>
              <a:t>Trajectories</a:t>
            </a:r>
            <a:endParaRPr lang="en-NL" dirty="0"/>
          </a:p>
        </p:txBody>
      </p:sp>
      <p:sp>
        <p:nvSpPr>
          <p:cNvPr id="3" name="Content Placeholder 2">
            <a:extLst>
              <a:ext uri="{FF2B5EF4-FFF2-40B4-BE49-F238E27FC236}">
                <a16:creationId xmlns:a16="http://schemas.microsoft.com/office/drawing/2014/main" id="{490A4FD3-45C8-8B94-79EA-D10280151318}"/>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C85CBE4-584F-45CC-EC8D-86204088A814}"/>
              </a:ext>
            </a:extLst>
          </p:cNvPr>
          <p:cNvPicPr>
            <a:picLocks noChangeAspect="1"/>
          </p:cNvPicPr>
          <p:nvPr/>
        </p:nvPicPr>
        <p:blipFill>
          <a:blip r:embed="rId2"/>
          <a:stretch>
            <a:fillRect/>
          </a:stretch>
        </p:blipFill>
        <p:spPr>
          <a:xfrm>
            <a:off x="-20991" y="2521014"/>
            <a:ext cx="12212991" cy="2346746"/>
          </a:xfrm>
          <a:prstGeom prst="rect">
            <a:avLst/>
          </a:prstGeom>
        </p:spPr>
      </p:pic>
    </p:spTree>
    <p:extLst>
      <p:ext uri="{BB962C8B-B14F-4D97-AF65-F5344CB8AC3E}">
        <p14:creationId xmlns:p14="http://schemas.microsoft.com/office/powerpoint/2010/main" val="19599934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7CA5-9AD8-63A1-1470-CB609BFE9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B5B70-4BE5-4C25-129D-CF0EC61A7FD4}"/>
              </a:ext>
            </a:extLst>
          </p:cNvPr>
          <p:cNvSpPr>
            <a:spLocks noGrp="1"/>
          </p:cNvSpPr>
          <p:nvPr>
            <p:ph type="title"/>
          </p:nvPr>
        </p:nvSpPr>
        <p:spPr/>
        <p:txBody>
          <a:bodyPr/>
          <a:lstStyle/>
          <a:p>
            <a:r>
              <a:rPr lang="en-US" dirty="0"/>
              <a:t>Trajectory – parameter recovery</a:t>
            </a:r>
            <a:endParaRPr lang="en-NL" dirty="0"/>
          </a:p>
        </p:txBody>
      </p:sp>
      <p:sp>
        <p:nvSpPr>
          <p:cNvPr id="3" name="Content Placeholder 2">
            <a:extLst>
              <a:ext uri="{FF2B5EF4-FFF2-40B4-BE49-F238E27FC236}">
                <a16:creationId xmlns:a16="http://schemas.microsoft.com/office/drawing/2014/main" id="{B1077DF2-77ED-67BF-7152-DF428570ADC3}"/>
              </a:ext>
            </a:extLst>
          </p:cNvPr>
          <p:cNvSpPr>
            <a:spLocks noGrp="1"/>
          </p:cNvSpPr>
          <p:nvPr>
            <p:ph idx="1"/>
          </p:nvPr>
        </p:nvSpPr>
        <p:spPr/>
        <p:txBody>
          <a:bodyPr/>
          <a:lstStyle/>
          <a:p>
            <a:r>
              <a:rPr lang="en-US" dirty="0"/>
              <a:t>Out of 1500 epochs, best validation RMSE for epoch 660</a:t>
            </a:r>
            <a:endParaRPr lang="en-NL" dirty="0"/>
          </a:p>
        </p:txBody>
      </p:sp>
      <p:pic>
        <p:nvPicPr>
          <p:cNvPr id="5" name="Picture 4">
            <a:extLst>
              <a:ext uri="{FF2B5EF4-FFF2-40B4-BE49-F238E27FC236}">
                <a16:creationId xmlns:a16="http://schemas.microsoft.com/office/drawing/2014/main" id="{C5BEC092-6955-6AF2-9F17-F479A947133A}"/>
              </a:ext>
            </a:extLst>
          </p:cNvPr>
          <p:cNvPicPr>
            <a:picLocks noChangeAspect="1"/>
          </p:cNvPicPr>
          <p:nvPr/>
        </p:nvPicPr>
        <p:blipFill>
          <a:blip r:embed="rId2"/>
          <a:srcRect b="40975"/>
          <a:stretch>
            <a:fillRect/>
          </a:stretch>
        </p:blipFill>
        <p:spPr>
          <a:xfrm>
            <a:off x="-149907" y="2268632"/>
            <a:ext cx="6245907" cy="4107584"/>
          </a:xfrm>
          <a:prstGeom prst="rect">
            <a:avLst/>
          </a:prstGeom>
        </p:spPr>
      </p:pic>
      <p:pic>
        <p:nvPicPr>
          <p:cNvPr id="6" name="Picture 5">
            <a:extLst>
              <a:ext uri="{FF2B5EF4-FFF2-40B4-BE49-F238E27FC236}">
                <a16:creationId xmlns:a16="http://schemas.microsoft.com/office/drawing/2014/main" id="{B7DDC847-05BF-180B-8EA3-63A12614BACF}"/>
              </a:ext>
            </a:extLst>
          </p:cNvPr>
          <p:cNvPicPr>
            <a:picLocks noChangeAspect="1"/>
          </p:cNvPicPr>
          <p:nvPr/>
        </p:nvPicPr>
        <p:blipFill>
          <a:blip r:embed="rId2"/>
          <a:srcRect t="58793"/>
          <a:stretch>
            <a:fillRect/>
          </a:stretch>
        </p:blipFill>
        <p:spPr>
          <a:xfrm>
            <a:off x="6096000" y="2268632"/>
            <a:ext cx="7530859" cy="3457608"/>
          </a:xfrm>
          <a:prstGeom prst="rect">
            <a:avLst/>
          </a:prstGeom>
        </p:spPr>
      </p:pic>
    </p:spTree>
    <p:extLst>
      <p:ext uri="{BB962C8B-B14F-4D97-AF65-F5344CB8AC3E}">
        <p14:creationId xmlns:p14="http://schemas.microsoft.com/office/powerpoint/2010/main" val="14779126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CEB38-FDC3-F9A5-6DCC-3E92E7A85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6B3C4-FE36-2C7E-4611-D97A1722CD68}"/>
              </a:ext>
            </a:extLst>
          </p:cNvPr>
          <p:cNvSpPr>
            <a:spLocks noGrp="1"/>
          </p:cNvSpPr>
          <p:nvPr>
            <p:ph type="title"/>
          </p:nvPr>
        </p:nvSpPr>
        <p:spPr>
          <a:xfrm>
            <a:off x="838200" y="365125"/>
            <a:ext cx="4991100" cy="1460500"/>
          </a:xfrm>
        </p:spPr>
        <p:txBody>
          <a:bodyPr/>
          <a:lstStyle/>
          <a:p>
            <a:r>
              <a:rPr lang="en-US" dirty="0"/>
              <a:t>Trajectory – parameter recovery</a:t>
            </a:r>
            <a:endParaRPr lang="en-NL" dirty="0"/>
          </a:p>
        </p:txBody>
      </p:sp>
      <p:sp>
        <p:nvSpPr>
          <p:cNvPr id="3" name="Content Placeholder 2">
            <a:extLst>
              <a:ext uri="{FF2B5EF4-FFF2-40B4-BE49-F238E27FC236}">
                <a16:creationId xmlns:a16="http://schemas.microsoft.com/office/drawing/2014/main" id="{B8AE1A0F-7FA2-3DFC-2E78-F12EED1E3024}"/>
              </a:ext>
            </a:extLst>
          </p:cNvPr>
          <p:cNvSpPr>
            <a:spLocks noGrp="1"/>
          </p:cNvSpPr>
          <p:nvPr>
            <p:ph idx="1"/>
          </p:nvPr>
        </p:nvSpPr>
        <p:spPr/>
        <p:txBody>
          <a:bodyPr/>
          <a:lstStyle/>
          <a:p>
            <a:r>
              <a:rPr lang="en-US" dirty="0"/>
              <a:t>Mainly </a:t>
            </a:r>
            <a:r>
              <a:rPr lang="en-US" dirty="0" err="1"/>
              <a:t>J_sum</a:t>
            </a:r>
            <a:endParaRPr lang="en-US" dirty="0"/>
          </a:p>
          <a:p>
            <a:r>
              <a:rPr lang="en-US" dirty="0"/>
              <a:t>m1, m2 and mb</a:t>
            </a:r>
          </a:p>
        </p:txBody>
      </p:sp>
      <p:pic>
        <p:nvPicPr>
          <p:cNvPr id="5" name="Picture 4">
            <a:extLst>
              <a:ext uri="{FF2B5EF4-FFF2-40B4-BE49-F238E27FC236}">
                <a16:creationId xmlns:a16="http://schemas.microsoft.com/office/drawing/2014/main" id="{9185F870-A731-34AC-8075-18BCB96A5980}"/>
              </a:ext>
            </a:extLst>
          </p:cNvPr>
          <p:cNvPicPr>
            <a:picLocks noChangeAspect="1"/>
          </p:cNvPicPr>
          <p:nvPr/>
        </p:nvPicPr>
        <p:blipFill>
          <a:blip r:embed="rId3"/>
          <a:stretch>
            <a:fillRect/>
          </a:stretch>
        </p:blipFill>
        <p:spPr>
          <a:xfrm>
            <a:off x="5672983" y="-22245"/>
            <a:ext cx="6519017" cy="6902489"/>
          </a:xfrm>
          <a:prstGeom prst="rect">
            <a:avLst/>
          </a:prstGeom>
        </p:spPr>
      </p:pic>
    </p:spTree>
    <p:extLst>
      <p:ext uri="{BB962C8B-B14F-4D97-AF65-F5344CB8AC3E}">
        <p14:creationId xmlns:p14="http://schemas.microsoft.com/office/powerpoint/2010/main" val="1190116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6A7B1-22AF-6E89-5214-8ED2B4FC9BCB}"/>
              </a:ext>
            </a:extLst>
          </p:cNvPr>
          <p:cNvSpPr>
            <a:spLocks noGrp="1"/>
          </p:cNvSpPr>
          <p:nvPr>
            <p:ph type="title"/>
          </p:nvPr>
        </p:nvSpPr>
        <p:spPr/>
        <p:txBody>
          <a:bodyPr/>
          <a:lstStyle/>
          <a:p>
            <a:r>
              <a:rPr lang="en-US" dirty="0"/>
              <a:t>Trajectory – parameter recovery</a:t>
            </a:r>
            <a:endParaRPr lang="en-NL" dirty="0"/>
          </a:p>
        </p:txBody>
      </p:sp>
      <p:sp>
        <p:nvSpPr>
          <p:cNvPr id="3" name="Content Placeholder 2">
            <a:extLst>
              <a:ext uri="{FF2B5EF4-FFF2-40B4-BE49-F238E27FC236}">
                <a16:creationId xmlns:a16="http://schemas.microsoft.com/office/drawing/2014/main" id="{32DCBF15-4016-67CC-09A4-E63444C17AC8}"/>
              </a:ext>
            </a:extLst>
          </p:cNvPr>
          <p:cNvSpPr>
            <a:spLocks noGrp="1"/>
          </p:cNvSpPr>
          <p:nvPr>
            <p:ph idx="1"/>
          </p:nvPr>
        </p:nvSpPr>
        <p:spPr/>
        <p:txBody>
          <a:bodyPr/>
          <a:lstStyle/>
          <a:p>
            <a:r>
              <a:rPr lang="en-US" dirty="0"/>
              <a:t>m1+m2, and </a:t>
            </a:r>
            <a:r>
              <a:rPr lang="en-US" dirty="0" err="1"/>
              <a:t>mh</a:t>
            </a:r>
            <a:r>
              <a:rPr lang="en-US" dirty="0"/>
              <a:t> are not independently isolated in the mass matrix</a:t>
            </a:r>
          </a:p>
          <a:p>
            <a:r>
              <a:rPr lang="en-US" dirty="0" err="1"/>
              <a:t>J_sum</a:t>
            </a:r>
            <a:r>
              <a:rPr lang="en-US" dirty="0"/>
              <a:t> is likely under-recovered because the theta inertia is not excited strongly enough.</a:t>
            </a:r>
          </a:p>
          <a:p>
            <a:endParaRPr lang="en-NL" dirty="0"/>
          </a:p>
        </p:txBody>
      </p:sp>
      <p:pic>
        <p:nvPicPr>
          <p:cNvPr id="5" name="Picture 4">
            <a:extLst>
              <a:ext uri="{FF2B5EF4-FFF2-40B4-BE49-F238E27FC236}">
                <a16:creationId xmlns:a16="http://schemas.microsoft.com/office/drawing/2014/main" id="{6021D2AB-8186-BE52-F147-10451150420B}"/>
              </a:ext>
            </a:extLst>
          </p:cNvPr>
          <p:cNvPicPr>
            <a:picLocks noChangeAspect="1"/>
          </p:cNvPicPr>
          <p:nvPr/>
        </p:nvPicPr>
        <p:blipFill>
          <a:blip r:embed="rId3"/>
          <a:stretch>
            <a:fillRect/>
          </a:stretch>
        </p:blipFill>
        <p:spPr>
          <a:xfrm>
            <a:off x="0" y="4466418"/>
            <a:ext cx="11975251" cy="1591482"/>
          </a:xfrm>
          <a:prstGeom prst="rect">
            <a:avLst/>
          </a:prstGeom>
        </p:spPr>
      </p:pic>
      <p:pic>
        <p:nvPicPr>
          <p:cNvPr id="7" name="Picture 6">
            <a:extLst>
              <a:ext uri="{FF2B5EF4-FFF2-40B4-BE49-F238E27FC236}">
                <a16:creationId xmlns:a16="http://schemas.microsoft.com/office/drawing/2014/main" id="{92FD876D-631D-95B8-8DD5-03A63C10F7A7}"/>
              </a:ext>
            </a:extLst>
          </p:cNvPr>
          <p:cNvPicPr>
            <a:picLocks noChangeAspect="1"/>
          </p:cNvPicPr>
          <p:nvPr/>
        </p:nvPicPr>
        <p:blipFill>
          <a:blip r:embed="rId4"/>
          <a:stretch>
            <a:fillRect/>
          </a:stretch>
        </p:blipFill>
        <p:spPr>
          <a:xfrm>
            <a:off x="0" y="5822099"/>
            <a:ext cx="6220693" cy="828791"/>
          </a:xfrm>
          <a:prstGeom prst="rect">
            <a:avLst/>
          </a:prstGeom>
        </p:spPr>
      </p:pic>
      <p:sp>
        <p:nvSpPr>
          <p:cNvPr id="9" name="Rectangle 2">
            <a:extLst>
              <a:ext uri="{FF2B5EF4-FFF2-40B4-BE49-F238E27FC236}">
                <a16:creationId xmlns:a16="http://schemas.microsoft.com/office/drawing/2014/main" id="{7CBFDCA0-FA6B-2D93-2A89-97518BACAC2C}"/>
              </a:ext>
            </a:extLst>
          </p:cNvPr>
          <p:cNvSpPr>
            <a:spLocks noChangeArrowheads="1"/>
          </p:cNvSpPr>
          <p:nvPr/>
        </p:nvSpPr>
        <p:spPr bwMode="auto">
          <a:xfrm>
            <a:off x="0" y="20851"/>
            <a:ext cx="65" cy="415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NL" altLang="en-NL" sz="900" b="0" i="0" u="none" strike="noStrike" cap="none" normalizeH="0" baseline="0" dirty="0">
                <a:ln>
                  <a:noFill/>
                </a:ln>
                <a:solidFill>
                  <a:srgbClr val="BBBEBF"/>
                </a:solidFill>
                <a:effectLst/>
                <a:latin typeface="Segoe WPC"/>
              </a:rPr>
            </a:br>
            <a:endParaRPr kumimoji="0" lang="en-NL" altLang="en-NL"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29607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05ABD-7192-D1FE-0069-1CB632A89601}"/>
              </a:ext>
            </a:extLst>
          </p:cNvPr>
          <p:cNvSpPr>
            <a:spLocks noGrp="1"/>
          </p:cNvSpPr>
          <p:nvPr>
            <p:ph type="title"/>
          </p:nvPr>
        </p:nvSpPr>
        <p:spPr/>
        <p:txBody>
          <a:bodyPr/>
          <a:lstStyle/>
          <a:p>
            <a:r>
              <a:rPr lang="en-US" dirty="0" err="1"/>
              <a:t>Multisine</a:t>
            </a:r>
            <a:endParaRPr lang="en-NL" dirty="0"/>
          </a:p>
        </p:txBody>
      </p:sp>
      <p:sp>
        <p:nvSpPr>
          <p:cNvPr id="3" name="Content Placeholder 2">
            <a:extLst>
              <a:ext uri="{FF2B5EF4-FFF2-40B4-BE49-F238E27FC236}">
                <a16:creationId xmlns:a16="http://schemas.microsoft.com/office/drawing/2014/main" id="{4458288D-55B5-4152-8C21-2A957D5EEF23}"/>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2165406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6200-6FD9-C69E-5A88-3DBD16F96425}"/>
              </a:ext>
            </a:extLst>
          </p:cNvPr>
          <p:cNvSpPr>
            <a:spLocks noGrp="1"/>
          </p:cNvSpPr>
          <p:nvPr>
            <p:ph type="title"/>
          </p:nvPr>
        </p:nvSpPr>
        <p:spPr/>
        <p:txBody>
          <a:bodyPr/>
          <a:lstStyle/>
          <a:p>
            <a:r>
              <a:rPr lang="en-US" dirty="0" err="1"/>
              <a:t>Multisine</a:t>
            </a:r>
            <a:r>
              <a:rPr lang="en-US" dirty="0"/>
              <a:t> force injection</a:t>
            </a:r>
            <a:endParaRPr lang="en-NL" dirty="0"/>
          </a:p>
        </p:txBody>
      </p:sp>
      <p:sp>
        <p:nvSpPr>
          <p:cNvPr id="3" name="Content Placeholder 2">
            <a:extLst>
              <a:ext uri="{FF2B5EF4-FFF2-40B4-BE49-F238E27FC236}">
                <a16:creationId xmlns:a16="http://schemas.microsoft.com/office/drawing/2014/main" id="{2E018076-CABA-0E39-B0EC-D0F449F95D45}"/>
              </a:ext>
            </a:extLst>
          </p:cNvPr>
          <p:cNvSpPr>
            <a:spLocks noGrp="1"/>
          </p:cNvSpPr>
          <p:nvPr>
            <p:ph idx="1"/>
          </p:nvPr>
        </p:nvSpPr>
        <p:spPr/>
        <p:txBody>
          <a:bodyPr/>
          <a:lstStyle/>
          <a:p>
            <a:r>
              <a:rPr lang="en-US" dirty="0"/>
              <a:t>We use force injection because the added excitation appears directly in the recorded total plant input </a:t>
            </a:r>
            <a:r>
              <a:rPr lang="en-US" dirty="0" err="1"/>
              <a:t>u_total</a:t>
            </a:r>
            <a:r>
              <a:rPr lang="en-US" dirty="0"/>
              <a:t>, which is the input used for open-loop force-to-position identification.</a:t>
            </a:r>
          </a:p>
          <a:p>
            <a:pPr lvl="1"/>
            <a:r>
              <a:rPr lang="en-US" dirty="0"/>
              <a:t>Closed-loop</a:t>
            </a:r>
          </a:p>
          <a:p>
            <a:pPr lvl="1"/>
            <a:r>
              <a:rPr lang="en-US" dirty="0"/>
              <a:t>The model uses </a:t>
            </a:r>
            <a:r>
              <a:rPr lang="en-US" dirty="0" err="1"/>
              <a:t>u_total</a:t>
            </a:r>
            <a:r>
              <a:rPr lang="en-US" dirty="0"/>
              <a:t> and position output (q1)</a:t>
            </a:r>
          </a:p>
          <a:p>
            <a:pPr lvl="1"/>
            <a:r>
              <a:rPr lang="es-ES" dirty="0" err="1"/>
              <a:t>u_total</a:t>
            </a:r>
            <a:r>
              <a:rPr lang="es-ES" dirty="0"/>
              <a:t> = </a:t>
            </a:r>
            <a:r>
              <a:rPr lang="es-ES" dirty="0" err="1"/>
              <a:t>u_feedback</a:t>
            </a:r>
            <a:r>
              <a:rPr lang="es-ES" dirty="0"/>
              <a:t> + </a:t>
            </a:r>
            <a:r>
              <a:rPr lang="es-ES" dirty="0" err="1"/>
              <a:t>f_inj</a:t>
            </a:r>
            <a:endParaRPr lang="es-ES" dirty="0"/>
          </a:p>
          <a:p>
            <a:pPr lvl="1"/>
            <a:endParaRPr lang="en-US" dirty="0"/>
          </a:p>
        </p:txBody>
      </p:sp>
    </p:spTree>
    <p:extLst>
      <p:ext uri="{BB962C8B-B14F-4D97-AF65-F5344CB8AC3E}">
        <p14:creationId xmlns:p14="http://schemas.microsoft.com/office/powerpoint/2010/main" val="3909300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81B8A-115B-E4EF-8F6B-4F938358E86C}"/>
              </a:ext>
            </a:extLst>
          </p:cNvPr>
          <p:cNvSpPr>
            <a:spLocks noGrp="1"/>
          </p:cNvSpPr>
          <p:nvPr>
            <p:ph type="title"/>
          </p:nvPr>
        </p:nvSpPr>
        <p:spPr/>
        <p:txBody>
          <a:bodyPr/>
          <a:lstStyle/>
          <a:p>
            <a:r>
              <a:rPr lang="en-US" dirty="0"/>
              <a:t>Diagnostics for </a:t>
            </a:r>
            <a:r>
              <a:rPr lang="en-US" dirty="0" err="1"/>
              <a:t>multisine</a:t>
            </a:r>
            <a:endParaRPr lang="en-NL" dirty="0"/>
          </a:p>
        </p:txBody>
      </p:sp>
      <p:sp>
        <p:nvSpPr>
          <p:cNvPr id="3" name="Content Placeholder 2">
            <a:extLst>
              <a:ext uri="{FF2B5EF4-FFF2-40B4-BE49-F238E27FC236}">
                <a16:creationId xmlns:a16="http://schemas.microsoft.com/office/drawing/2014/main" id="{46A13FB9-84C9-D237-E5C1-86362BE8CB11}"/>
              </a:ext>
            </a:extLst>
          </p:cNvPr>
          <p:cNvSpPr>
            <a:spLocks noGrp="1"/>
          </p:cNvSpPr>
          <p:nvPr>
            <p:ph idx="1"/>
          </p:nvPr>
        </p:nvSpPr>
        <p:spPr/>
        <p:txBody>
          <a:bodyPr/>
          <a:lstStyle/>
          <a:p>
            <a:pPr marL="0" indent="0">
              <a:buNone/>
            </a:pPr>
            <a:r>
              <a:rPr lang="en-US" dirty="0"/>
              <a:t>Needs to answer the following:</a:t>
            </a:r>
          </a:p>
          <a:p>
            <a:r>
              <a:rPr lang="en-US" dirty="0"/>
              <a:t>If I inject force after the controller</a:t>
            </a:r>
          </a:p>
          <a:p>
            <a:pPr lvl="2"/>
            <a:r>
              <a:rPr lang="en-US" dirty="0"/>
              <a:t>which injected-force frequencies survive the closed-loop feedback</a:t>
            </a:r>
          </a:p>
          <a:p>
            <a:pPr lvl="2"/>
            <a:r>
              <a:rPr lang="en-US" dirty="0"/>
              <a:t>which surviving frequencies produce measurable plant motion</a:t>
            </a:r>
          </a:p>
        </p:txBody>
      </p:sp>
    </p:spTree>
    <p:extLst>
      <p:ext uri="{BB962C8B-B14F-4D97-AF65-F5344CB8AC3E}">
        <p14:creationId xmlns:p14="http://schemas.microsoft.com/office/powerpoint/2010/main" val="40521958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BE48A-A4E6-C7D7-44BA-DD9377F707B2}"/>
              </a:ext>
            </a:extLst>
          </p:cNvPr>
          <p:cNvSpPr>
            <a:spLocks noGrp="1"/>
          </p:cNvSpPr>
          <p:nvPr>
            <p:ph type="title"/>
          </p:nvPr>
        </p:nvSpPr>
        <p:spPr/>
        <p:txBody>
          <a:bodyPr/>
          <a:lstStyle/>
          <a:p>
            <a:r>
              <a:rPr lang="en-US" dirty="0"/>
              <a:t>Diagnostics for </a:t>
            </a:r>
            <a:r>
              <a:rPr lang="en-US" dirty="0" err="1"/>
              <a:t>multisine</a:t>
            </a:r>
            <a:br>
              <a:rPr lang="en-US" dirty="0"/>
            </a:br>
            <a:r>
              <a:rPr lang="en-US" dirty="0"/>
              <a:t>Diagnostic Probe</a:t>
            </a:r>
            <a:endParaRPr lang="en-NL" dirty="0"/>
          </a:p>
        </p:txBody>
      </p:sp>
      <p:sp>
        <p:nvSpPr>
          <p:cNvPr id="3" name="Content Placeholder 2">
            <a:extLst>
              <a:ext uri="{FF2B5EF4-FFF2-40B4-BE49-F238E27FC236}">
                <a16:creationId xmlns:a16="http://schemas.microsoft.com/office/drawing/2014/main" id="{08C102CA-4200-8432-EAAD-163A66360AC1}"/>
              </a:ext>
            </a:extLst>
          </p:cNvPr>
          <p:cNvSpPr>
            <a:spLocks noGrp="1"/>
          </p:cNvSpPr>
          <p:nvPr>
            <p:ph idx="1"/>
          </p:nvPr>
        </p:nvSpPr>
        <p:spPr/>
        <p:txBody>
          <a:bodyPr>
            <a:normAutofit lnSpcReduction="10000"/>
          </a:bodyPr>
          <a:lstStyle/>
          <a:p>
            <a:pPr marL="0" indent="0">
              <a:buNone/>
            </a:pPr>
            <a:r>
              <a:rPr lang="en-US" sz="2400" dirty="0"/>
              <a:t>A broadband periodic Schroeder </a:t>
            </a:r>
            <a:r>
              <a:rPr lang="en-US" sz="2400" dirty="0" err="1"/>
              <a:t>multisine</a:t>
            </a:r>
            <a:r>
              <a:rPr lang="en-US" sz="2400" dirty="0"/>
              <a:t> is injected as an additive force after the controller in the Simulink model. (odd frequencies from 1 Hz up to just below Nyquist)</a:t>
            </a:r>
          </a:p>
          <a:p>
            <a:pPr marL="0" indent="0">
              <a:buNone/>
            </a:pPr>
            <a:endParaRPr lang="en-US" sz="2400" dirty="0"/>
          </a:p>
          <a:p>
            <a:pPr marL="0" indent="0">
              <a:buNone/>
            </a:pPr>
            <a:r>
              <a:rPr lang="en-US" sz="2400" dirty="0"/>
              <a:t>The </a:t>
            </a:r>
            <a:r>
              <a:rPr lang="en-US" sz="2400" dirty="0" err="1"/>
              <a:t>multisine</a:t>
            </a:r>
            <a:r>
              <a:rPr lang="en-US" sz="2400" dirty="0"/>
              <a:t> repeats every 1 s, so it excites frequencies that fit exactly in that time window, such as 1, 3, 5, ... Hz. These frequencies align with the FFT grid, which allows clean frequency-response estimates.</a:t>
            </a:r>
          </a:p>
          <a:p>
            <a:pPr marL="0" indent="0">
              <a:buNone/>
            </a:pPr>
            <a:endParaRPr lang="en-US" sz="2400" dirty="0"/>
          </a:p>
          <a:p>
            <a:pPr marL="0" indent="0">
              <a:buNone/>
            </a:pPr>
            <a:r>
              <a:rPr lang="en-US" sz="2400" dirty="0"/>
              <a:t>The same 1 s </a:t>
            </a:r>
            <a:r>
              <a:rPr lang="en-US" sz="2400" dirty="0" err="1"/>
              <a:t>multisine</a:t>
            </a:r>
            <a:r>
              <a:rPr lang="en-US" sz="2400" dirty="0"/>
              <a:t> is repeated twice. The first repetition is not used for the estimate, because the system may still be reacting to the sudden start of the excitation. The second repetition is used for the FFT, because the response is closer to the steady response to the repeated </a:t>
            </a:r>
            <a:r>
              <a:rPr lang="en-US" sz="2400" dirty="0" err="1"/>
              <a:t>multisine</a:t>
            </a:r>
            <a:r>
              <a:rPr lang="en-US" sz="2400" dirty="0"/>
              <a:t>.</a:t>
            </a:r>
          </a:p>
        </p:txBody>
      </p:sp>
    </p:spTree>
    <p:extLst>
      <p:ext uri="{BB962C8B-B14F-4D97-AF65-F5344CB8AC3E}">
        <p14:creationId xmlns:p14="http://schemas.microsoft.com/office/powerpoint/2010/main" val="17888440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B0D1F-7041-B6CA-3E2E-1ABD91ED9A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C9463-50A5-161F-3E81-62036DD24344}"/>
              </a:ext>
            </a:extLst>
          </p:cNvPr>
          <p:cNvSpPr>
            <a:spLocks noGrp="1"/>
          </p:cNvSpPr>
          <p:nvPr>
            <p:ph type="title"/>
          </p:nvPr>
        </p:nvSpPr>
        <p:spPr/>
        <p:txBody>
          <a:bodyPr/>
          <a:lstStyle/>
          <a:p>
            <a:r>
              <a:rPr lang="en-US" dirty="0"/>
              <a:t>Diagnostics for </a:t>
            </a:r>
            <a:r>
              <a:rPr lang="en-US" dirty="0" err="1"/>
              <a:t>multisine</a:t>
            </a:r>
            <a:br>
              <a:rPr lang="en-US" dirty="0"/>
            </a:br>
            <a:r>
              <a:rPr lang="en-US" dirty="0"/>
              <a:t>Diagnostic Probe</a:t>
            </a:r>
            <a:endParaRPr lang="en-NL" dirty="0"/>
          </a:p>
        </p:txBody>
      </p:sp>
      <p:sp>
        <p:nvSpPr>
          <p:cNvPr id="3" name="Content Placeholder 2">
            <a:extLst>
              <a:ext uri="{FF2B5EF4-FFF2-40B4-BE49-F238E27FC236}">
                <a16:creationId xmlns:a16="http://schemas.microsoft.com/office/drawing/2014/main" id="{9990FBB5-58E2-B636-9D16-4427CFBBE625}"/>
              </a:ext>
            </a:extLst>
          </p:cNvPr>
          <p:cNvSpPr>
            <a:spLocks noGrp="1"/>
          </p:cNvSpPr>
          <p:nvPr>
            <p:ph idx="1"/>
          </p:nvPr>
        </p:nvSpPr>
        <p:spPr/>
        <p:txBody>
          <a:bodyPr>
            <a:normAutofit/>
          </a:bodyPr>
          <a:lstStyle/>
          <a:p>
            <a:pPr marL="0" indent="0">
              <a:buNone/>
            </a:pPr>
            <a:r>
              <a:rPr lang="en-US" dirty="0"/>
              <a:t>For each force direction m, the MIMO signals are projected onto that same direction:</a:t>
            </a:r>
          </a:p>
          <a:p>
            <a:pPr marL="0" indent="0">
              <a:buNone/>
            </a:pPr>
            <a:r>
              <a:rPr lang="en-US" dirty="0" err="1"/>
              <a:t>F_m,inj</a:t>
            </a:r>
            <a:r>
              <a:rPr lang="en-US" dirty="0"/>
              <a:t>(f)    = injected force in direction m</a:t>
            </a:r>
          </a:p>
          <a:p>
            <a:pPr marL="0" indent="0">
              <a:buNone/>
            </a:pPr>
            <a:r>
              <a:rPr lang="en-US" dirty="0" err="1"/>
              <a:t>U_m,total</a:t>
            </a:r>
            <a:r>
              <a:rPr lang="en-US" dirty="0"/>
              <a:t>(f)  = total plant input force in direction m</a:t>
            </a:r>
          </a:p>
          <a:p>
            <a:pPr marL="0" indent="0">
              <a:buNone/>
            </a:pPr>
            <a:r>
              <a:rPr lang="en-US" dirty="0" err="1"/>
              <a:t>Q_m</a:t>
            </a:r>
            <a:r>
              <a:rPr lang="en-US" dirty="0"/>
              <a:t>(f)        = measured q1 motion in direction m</a:t>
            </a:r>
          </a:p>
          <a:p>
            <a:pPr marL="0" indent="0">
              <a:buNone/>
            </a:pPr>
            <a:endParaRPr lang="en-US" dirty="0"/>
          </a:p>
          <a:p>
            <a:pPr marL="0" indent="0">
              <a:buNone/>
            </a:pPr>
            <a:r>
              <a:rPr lang="en-US" dirty="0"/>
              <a:t>This gives a directional SISO-like experiment for each mode: common, diff, and y.</a:t>
            </a:r>
          </a:p>
        </p:txBody>
      </p:sp>
    </p:spTree>
    <p:extLst>
      <p:ext uri="{BB962C8B-B14F-4D97-AF65-F5344CB8AC3E}">
        <p14:creationId xmlns:p14="http://schemas.microsoft.com/office/powerpoint/2010/main" val="1845687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0CB76-84F8-78BA-BEEF-F2B542C0582A}"/>
              </a:ext>
            </a:extLst>
          </p:cNvPr>
          <p:cNvSpPr>
            <a:spLocks noGrp="1"/>
          </p:cNvSpPr>
          <p:nvPr>
            <p:ph type="title"/>
          </p:nvPr>
        </p:nvSpPr>
        <p:spPr/>
        <p:txBody>
          <a:bodyPr/>
          <a:lstStyle/>
          <a:p>
            <a:r>
              <a:rPr lang="en-US" dirty="0"/>
              <a:t>Diagnostics for </a:t>
            </a:r>
            <a:r>
              <a:rPr lang="en-US" dirty="0" err="1"/>
              <a:t>multisine</a:t>
            </a:r>
            <a:br>
              <a:rPr lang="en-US" dirty="0"/>
            </a:br>
            <a:r>
              <a:rPr lang="en-US" dirty="0"/>
              <a:t>Estimated Quantities</a:t>
            </a:r>
            <a:endParaRPr lang="en-NL" dirty="0"/>
          </a:p>
        </p:txBody>
      </p:sp>
      <p:sp>
        <p:nvSpPr>
          <p:cNvPr id="3" name="Content Placeholder 2">
            <a:extLst>
              <a:ext uri="{FF2B5EF4-FFF2-40B4-BE49-F238E27FC236}">
                <a16:creationId xmlns:a16="http://schemas.microsoft.com/office/drawing/2014/main" id="{BC45948B-5439-1EC5-81C0-C6FA53B77A7B}"/>
              </a:ext>
            </a:extLst>
          </p:cNvPr>
          <p:cNvSpPr>
            <a:spLocks noGrp="1"/>
          </p:cNvSpPr>
          <p:nvPr>
            <p:ph idx="1"/>
          </p:nvPr>
        </p:nvSpPr>
        <p:spPr/>
        <p:txBody>
          <a:bodyPr>
            <a:normAutofit fontScale="62500" lnSpcReduction="20000"/>
          </a:bodyPr>
          <a:lstStyle/>
          <a:p>
            <a:pPr marL="0" indent="0">
              <a:buNone/>
            </a:pPr>
            <a:r>
              <a:rPr lang="en-US" dirty="0" err="1"/>
              <a:t>S_in,m</a:t>
            </a:r>
            <a:r>
              <a:rPr lang="en-US" dirty="0"/>
              <a:t>(f) = </a:t>
            </a:r>
            <a:r>
              <a:rPr lang="en-US" dirty="0" err="1"/>
              <a:t>U_m,total</a:t>
            </a:r>
            <a:r>
              <a:rPr lang="en-US" dirty="0"/>
              <a:t>(f) / </a:t>
            </a:r>
            <a:r>
              <a:rPr lang="en-US" dirty="0" err="1"/>
              <a:t>F_m,inj</a:t>
            </a:r>
            <a:r>
              <a:rPr lang="en-US" dirty="0"/>
              <a:t>(f)</a:t>
            </a:r>
          </a:p>
          <a:p>
            <a:pPr marL="0" indent="0">
              <a:buNone/>
            </a:pPr>
            <a:r>
              <a:rPr lang="en-US" dirty="0" err="1"/>
              <a:t>S_in,m</a:t>
            </a:r>
            <a:r>
              <a:rPr lang="en-US" dirty="0"/>
              <a:t> is a directional closed-loop input-sensitivity estimate. It shows how much of the injected post-controller force remains in the total plant input after feedback action. It is not the full MIMO sensitivity matrix.</a:t>
            </a:r>
          </a:p>
          <a:p>
            <a:pPr marL="0" indent="0">
              <a:buNone/>
            </a:pPr>
            <a:endParaRPr lang="en-US" dirty="0"/>
          </a:p>
          <a:p>
            <a:pPr marL="0" indent="0">
              <a:buNone/>
            </a:pPr>
            <a:r>
              <a:rPr lang="es-ES" dirty="0" err="1"/>
              <a:t>G_m</a:t>
            </a:r>
            <a:r>
              <a:rPr lang="es-ES" dirty="0"/>
              <a:t>(f) = </a:t>
            </a:r>
            <a:r>
              <a:rPr lang="es-ES" dirty="0" err="1"/>
              <a:t>Q_m</a:t>
            </a:r>
            <a:r>
              <a:rPr lang="es-ES" dirty="0"/>
              <a:t>(f) / </a:t>
            </a:r>
            <a:r>
              <a:rPr lang="es-ES" dirty="0" err="1"/>
              <a:t>U_m,total</a:t>
            </a:r>
            <a:r>
              <a:rPr lang="es-ES" dirty="0"/>
              <a:t>(f)</a:t>
            </a:r>
            <a:endParaRPr lang="en-US" dirty="0"/>
          </a:p>
          <a:p>
            <a:pPr marL="0" indent="0">
              <a:buNone/>
            </a:pPr>
            <a:r>
              <a:rPr lang="en-US" dirty="0" err="1"/>
              <a:t>G_m</a:t>
            </a:r>
            <a:r>
              <a:rPr lang="en-US" dirty="0"/>
              <a:t> is a directional plant FRF estimate. It shows how much measured q1 motion is produced per actual total actuator force.</a:t>
            </a:r>
          </a:p>
          <a:p>
            <a:pPr marL="0" indent="0">
              <a:buNone/>
            </a:pPr>
            <a:endParaRPr lang="en-US" dirty="0"/>
          </a:p>
          <a:p>
            <a:pPr marL="0" indent="0">
              <a:buNone/>
            </a:pPr>
            <a:r>
              <a:rPr lang="en-US" dirty="0"/>
              <a:t>Their product gives the effective injected-force-to-motion frequency response:</a:t>
            </a:r>
          </a:p>
          <a:p>
            <a:pPr marL="0" indent="0">
              <a:buNone/>
            </a:pPr>
            <a:r>
              <a:rPr lang="en-US" dirty="0" err="1"/>
              <a:t>G_m</a:t>
            </a:r>
            <a:r>
              <a:rPr lang="en-US" dirty="0"/>
              <a:t>(f) </a:t>
            </a:r>
            <a:r>
              <a:rPr lang="en-US" dirty="0" err="1"/>
              <a:t>S_in,m</a:t>
            </a:r>
            <a:r>
              <a:rPr lang="en-US" dirty="0"/>
              <a:t>(f) = </a:t>
            </a:r>
            <a:r>
              <a:rPr lang="en-US" dirty="0" err="1"/>
              <a:t>Q_m</a:t>
            </a:r>
            <a:r>
              <a:rPr lang="en-US" dirty="0"/>
              <a:t>(f) / </a:t>
            </a:r>
            <a:r>
              <a:rPr lang="en-US" dirty="0" err="1"/>
              <a:t>F_m,inj</a:t>
            </a:r>
            <a:r>
              <a:rPr lang="en-US" dirty="0"/>
              <a:t>(f)</a:t>
            </a:r>
          </a:p>
          <a:p>
            <a:pPr marL="0" indent="0">
              <a:buNone/>
            </a:pPr>
            <a:endParaRPr lang="en-US" dirty="0"/>
          </a:p>
          <a:p>
            <a:pPr marL="0" indent="0">
              <a:buNone/>
            </a:pPr>
            <a:r>
              <a:rPr lang="en-US" dirty="0"/>
              <a:t>This response is used to select the useful </a:t>
            </a:r>
            <a:r>
              <a:rPr lang="en-US" dirty="0" err="1"/>
              <a:t>multisine</a:t>
            </a:r>
            <a:r>
              <a:rPr lang="en-US" dirty="0"/>
              <a:t> frequency band.</a:t>
            </a:r>
          </a:p>
          <a:p>
            <a:pPr marL="0" indent="0">
              <a:buNone/>
            </a:pPr>
            <a:r>
              <a:rPr lang="en-US" dirty="0"/>
              <a:t>The diagnostic is repeated for several frozen Y operating points, and the final frequency bounds are chosen conservatively as the worst case across directions and operating points.</a:t>
            </a:r>
          </a:p>
          <a:p>
            <a:pPr marL="0" indent="0">
              <a:buNone/>
            </a:pPr>
            <a:endParaRPr lang="en-NL" dirty="0"/>
          </a:p>
        </p:txBody>
      </p:sp>
    </p:spTree>
    <p:extLst>
      <p:ext uri="{BB962C8B-B14F-4D97-AF65-F5344CB8AC3E}">
        <p14:creationId xmlns:p14="http://schemas.microsoft.com/office/powerpoint/2010/main" val="26653691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5452C-378A-F03E-92D8-5216A208CCA4}"/>
              </a:ext>
            </a:extLst>
          </p:cNvPr>
          <p:cNvSpPr>
            <a:spLocks noGrp="1"/>
          </p:cNvSpPr>
          <p:nvPr>
            <p:ph type="title"/>
          </p:nvPr>
        </p:nvSpPr>
        <p:spPr/>
        <p:txBody>
          <a:bodyPr>
            <a:normAutofit/>
          </a:bodyPr>
          <a:lstStyle/>
          <a:p>
            <a:r>
              <a:rPr lang="en-US" dirty="0"/>
              <a:t>Diagnostics for </a:t>
            </a:r>
            <a:r>
              <a:rPr lang="en-US" dirty="0" err="1"/>
              <a:t>multisine</a:t>
            </a:r>
            <a:br>
              <a:rPr lang="en-US" dirty="0"/>
            </a:br>
            <a:r>
              <a:rPr lang="en-US" dirty="0"/>
              <a:t>Frequency Band Selection</a:t>
            </a:r>
            <a:endParaRPr lang="en-NL" dirty="0"/>
          </a:p>
        </p:txBody>
      </p:sp>
      <p:sp>
        <p:nvSpPr>
          <p:cNvPr id="3" name="Content Placeholder 2">
            <a:extLst>
              <a:ext uri="{FF2B5EF4-FFF2-40B4-BE49-F238E27FC236}">
                <a16:creationId xmlns:a16="http://schemas.microsoft.com/office/drawing/2014/main" id="{CA4F536B-0078-70C3-95D0-3CBE23C4EC2B}"/>
              </a:ext>
            </a:extLst>
          </p:cNvPr>
          <p:cNvSpPr>
            <a:spLocks noGrp="1"/>
          </p:cNvSpPr>
          <p:nvPr>
            <p:ph idx="1"/>
          </p:nvPr>
        </p:nvSpPr>
        <p:spPr/>
        <p:txBody>
          <a:bodyPr>
            <a:normAutofit fontScale="70000" lnSpcReduction="20000"/>
          </a:bodyPr>
          <a:lstStyle/>
          <a:p>
            <a:pPr marL="0" indent="0">
              <a:buNone/>
            </a:pPr>
            <a:r>
              <a:rPr lang="en-US" dirty="0"/>
              <a:t>The lower bound </a:t>
            </a:r>
            <a:r>
              <a:rPr lang="en-US" dirty="0" err="1"/>
              <a:t>f_low</a:t>
            </a:r>
            <a:r>
              <a:rPr lang="en-US" dirty="0"/>
              <a:t> is chosen from the directional input-sensitivity estimate:</a:t>
            </a:r>
          </a:p>
          <a:p>
            <a:pPr marL="0" indent="0">
              <a:buNone/>
            </a:pPr>
            <a:endParaRPr lang="en-US" dirty="0"/>
          </a:p>
          <a:p>
            <a:pPr marL="0" indent="0">
              <a:buNone/>
            </a:pPr>
            <a:r>
              <a:rPr lang="en-US" dirty="0" err="1"/>
              <a:t>S_in,m</a:t>
            </a:r>
            <a:r>
              <a:rPr lang="en-US" dirty="0"/>
              <a:t>(f) = </a:t>
            </a:r>
            <a:r>
              <a:rPr lang="en-US" dirty="0" err="1"/>
              <a:t>U_m,total</a:t>
            </a:r>
            <a:r>
              <a:rPr lang="en-US" dirty="0"/>
              <a:t>(f) / </a:t>
            </a:r>
            <a:r>
              <a:rPr lang="en-US" dirty="0" err="1"/>
              <a:t>F_m,inj</a:t>
            </a:r>
            <a:r>
              <a:rPr lang="en-US" dirty="0"/>
              <a:t>(f)</a:t>
            </a:r>
          </a:p>
          <a:p>
            <a:pPr marL="0" indent="0">
              <a:buNone/>
            </a:pPr>
            <a:endParaRPr lang="en-US" dirty="0"/>
          </a:p>
          <a:p>
            <a:pPr marL="0" indent="0">
              <a:buNone/>
            </a:pPr>
            <a:r>
              <a:rPr lang="en-US" dirty="0"/>
              <a:t>It marks the first frequency where the injected force is no longer strongly rejected by the feedback loop.</a:t>
            </a:r>
          </a:p>
          <a:p>
            <a:pPr marL="0" indent="0">
              <a:buNone/>
            </a:pPr>
            <a:endParaRPr lang="en-US" dirty="0"/>
          </a:p>
          <a:p>
            <a:pPr marL="0" indent="0">
              <a:buNone/>
            </a:pPr>
            <a:r>
              <a:rPr lang="en-US" dirty="0"/>
              <a:t>Criterion:</a:t>
            </a:r>
          </a:p>
          <a:p>
            <a:pPr marL="0" indent="0">
              <a:buNone/>
            </a:pPr>
            <a:endParaRPr lang="en-US" dirty="0"/>
          </a:p>
          <a:p>
            <a:pPr marL="0" indent="0">
              <a:buNone/>
            </a:pPr>
            <a:r>
              <a:rPr lang="en-US" dirty="0"/>
              <a:t>|</a:t>
            </a:r>
            <a:r>
              <a:rPr lang="en-US" dirty="0" err="1"/>
              <a:t>S_in,m</a:t>
            </a:r>
            <a:r>
              <a:rPr lang="en-US" dirty="0"/>
              <a:t>(f)|² &gt; 0.1 (at least 10% of the injected force power remains in the total plant input)</a:t>
            </a:r>
          </a:p>
          <a:p>
            <a:pPr marL="0" indent="0">
              <a:buNone/>
            </a:pPr>
            <a:endParaRPr lang="en-US" dirty="0"/>
          </a:p>
          <a:p>
            <a:pPr marL="0" indent="0">
              <a:buNone/>
            </a:pPr>
            <a:r>
              <a:rPr lang="en-US" dirty="0"/>
              <a:t>The final </a:t>
            </a:r>
            <a:r>
              <a:rPr lang="en-US" dirty="0" err="1"/>
              <a:t>f_low</a:t>
            </a:r>
            <a:r>
              <a:rPr lang="en-US" dirty="0"/>
              <a:t> is selected conservatively as the worst case across all force directions and Y operating points.</a:t>
            </a:r>
          </a:p>
          <a:p>
            <a:pPr marL="0" indent="0">
              <a:buNone/>
            </a:pPr>
            <a:endParaRPr lang="en-US" dirty="0"/>
          </a:p>
        </p:txBody>
      </p:sp>
    </p:spTree>
    <p:extLst>
      <p:ext uri="{BB962C8B-B14F-4D97-AF65-F5344CB8AC3E}">
        <p14:creationId xmlns:p14="http://schemas.microsoft.com/office/powerpoint/2010/main" val="3499681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4D7B7-92A1-2F9B-ABE0-90338FCD95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2A1CC-2C7E-7080-F584-1539CE6C9877}"/>
              </a:ext>
            </a:extLst>
          </p:cNvPr>
          <p:cNvSpPr>
            <a:spLocks noGrp="1"/>
          </p:cNvSpPr>
          <p:nvPr>
            <p:ph type="title"/>
          </p:nvPr>
        </p:nvSpPr>
        <p:spPr/>
        <p:txBody>
          <a:bodyPr>
            <a:normAutofit/>
          </a:bodyPr>
          <a:lstStyle/>
          <a:p>
            <a:r>
              <a:rPr lang="en-US" dirty="0"/>
              <a:t>Diagnostics for </a:t>
            </a:r>
            <a:r>
              <a:rPr lang="en-US" dirty="0" err="1"/>
              <a:t>multisine</a:t>
            </a:r>
            <a:br>
              <a:rPr lang="en-US" dirty="0"/>
            </a:br>
            <a:r>
              <a:rPr lang="en-US" dirty="0"/>
              <a:t>Frequency Band Selection</a:t>
            </a:r>
            <a:endParaRPr lang="en-NL" dirty="0"/>
          </a:p>
        </p:txBody>
      </p:sp>
      <p:sp>
        <p:nvSpPr>
          <p:cNvPr id="3" name="Content Placeholder 2">
            <a:extLst>
              <a:ext uri="{FF2B5EF4-FFF2-40B4-BE49-F238E27FC236}">
                <a16:creationId xmlns:a16="http://schemas.microsoft.com/office/drawing/2014/main" id="{CE1A1689-0D2C-FF0B-1490-3AE335737368}"/>
              </a:ext>
            </a:extLst>
          </p:cNvPr>
          <p:cNvSpPr>
            <a:spLocks noGrp="1"/>
          </p:cNvSpPr>
          <p:nvPr>
            <p:ph idx="1"/>
          </p:nvPr>
        </p:nvSpPr>
        <p:spPr/>
        <p:txBody>
          <a:bodyPr>
            <a:normAutofit fontScale="70000" lnSpcReduction="20000"/>
          </a:bodyPr>
          <a:lstStyle/>
          <a:p>
            <a:pPr marL="0" indent="0">
              <a:buNone/>
            </a:pPr>
            <a:r>
              <a:rPr lang="en-US" dirty="0"/>
              <a:t>The upper bound </a:t>
            </a:r>
            <a:r>
              <a:rPr lang="en-US" dirty="0" err="1"/>
              <a:t>f_high</a:t>
            </a:r>
            <a:r>
              <a:rPr lang="en-US" dirty="0"/>
              <a:t> is chosen from the effective injected-force-to-motion response:</a:t>
            </a:r>
          </a:p>
          <a:p>
            <a:pPr marL="0" indent="0">
              <a:buNone/>
            </a:pPr>
            <a:endParaRPr lang="en-US" dirty="0"/>
          </a:p>
          <a:p>
            <a:pPr marL="0" indent="0">
              <a:buNone/>
            </a:pPr>
            <a:r>
              <a:rPr lang="en-US" dirty="0" err="1"/>
              <a:t>G_m</a:t>
            </a:r>
            <a:r>
              <a:rPr lang="en-US" dirty="0"/>
              <a:t>(f) </a:t>
            </a:r>
            <a:r>
              <a:rPr lang="en-US" dirty="0" err="1"/>
              <a:t>S_in,m</a:t>
            </a:r>
            <a:r>
              <a:rPr lang="en-US" dirty="0"/>
              <a:t>(f) = </a:t>
            </a:r>
            <a:r>
              <a:rPr lang="en-US" dirty="0" err="1"/>
              <a:t>Q_m</a:t>
            </a:r>
            <a:r>
              <a:rPr lang="en-US" dirty="0"/>
              <a:t>(f) / </a:t>
            </a:r>
            <a:r>
              <a:rPr lang="en-US" dirty="0" err="1"/>
              <a:t>F_m,inj</a:t>
            </a:r>
            <a:r>
              <a:rPr lang="en-US" dirty="0"/>
              <a:t>(f)</a:t>
            </a:r>
          </a:p>
          <a:p>
            <a:pPr marL="0" indent="0">
              <a:buNone/>
            </a:pPr>
            <a:r>
              <a:rPr lang="en-US" dirty="0"/>
              <a:t>This quantity tells how much measured q1 motion is produced by the injected force.</a:t>
            </a:r>
          </a:p>
          <a:p>
            <a:pPr marL="0" indent="0">
              <a:buNone/>
            </a:pPr>
            <a:endParaRPr lang="en-US" dirty="0"/>
          </a:p>
          <a:p>
            <a:pPr marL="0" indent="0">
              <a:buNone/>
            </a:pPr>
            <a:r>
              <a:rPr lang="en-US" dirty="0"/>
              <a:t>The script applies a tail-energy rule to:</a:t>
            </a:r>
          </a:p>
          <a:p>
            <a:pPr marL="0" indent="0">
              <a:buNone/>
            </a:pPr>
            <a:r>
              <a:rPr lang="en-US" dirty="0"/>
              <a:t>|</a:t>
            </a:r>
            <a:r>
              <a:rPr lang="en-US" dirty="0" err="1"/>
              <a:t>G_m</a:t>
            </a:r>
            <a:r>
              <a:rPr lang="en-US" dirty="0"/>
              <a:t>(f) </a:t>
            </a:r>
            <a:r>
              <a:rPr lang="en-US" dirty="0" err="1"/>
              <a:t>S_in,m</a:t>
            </a:r>
            <a:r>
              <a:rPr lang="en-US" dirty="0"/>
              <a:t>(f)|²</a:t>
            </a:r>
          </a:p>
          <a:p>
            <a:pPr marL="0" indent="0">
              <a:buNone/>
            </a:pPr>
            <a:endParaRPr lang="en-US" dirty="0"/>
          </a:p>
          <a:p>
            <a:pPr marL="0" indent="0">
              <a:buNone/>
            </a:pPr>
            <a:r>
              <a:rPr lang="en-US" dirty="0"/>
              <a:t>Starting from high frequencies, it computes how much response energy remains above each candidate frequency. </a:t>
            </a:r>
            <a:r>
              <a:rPr lang="en-US" dirty="0" err="1"/>
              <a:t>f_high</a:t>
            </a:r>
            <a:r>
              <a:rPr lang="en-US" dirty="0"/>
              <a:t> is chosen as the highest frequency for which the remaining tail energy is still at least 5% of the total response energy in the usable band.</a:t>
            </a:r>
          </a:p>
          <a:p>
            <a:pPr marL="0" indent="0">
              <a:buNone/>
            </a:pPr>
            <a:endParaRPr lang="en-US" dirty="0"/>
          </a:p>
          <a:p>
            <a:pPr marL="0" indent="0">
              <a:buNone/>
            </a:pPr>
            <a:r>
              <a:rPr lang="en-US" dirty="0"/>
              <a:t>Above </a:t>
            </a:r>
            <a:r>
              <a:rPr lang="en-US" dirty="0" err="1"/>
              <a:t>f_high</a:t>
            </a:r>
            <a:r>
              <a:rPr lang="en-US" dirty="0"/>
              <a:t>, the injected force is assumed to add little useful motion response for identification.</a:t>
            </a:r>
          </a:p>
          <a:p>
            <a:pPr marL="0" indent="0">
              <a:buNone/>
            </a:pPr>
            <a:endParaRPr lang="en-US" dirty="0"/>
          </a:p>
        </p:txBody>
      </p:sp>
    </p:spTree>
    <p:extLst>
      <p:ext uri="{BB962C8B-B14F-4D97-AF65-F5344CB8AC3E}">
        <p14:creationId xmlns:p14="http://schemas.microsoft.com/office/powerpoint/2010/main" val="21925945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A521-4932-FF07-94C3-FCD84E1D0C0E}"/>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98D12571-A637-A0B3-0493-9163114B2206}"/>
              </a:ext>
            </a:extLst>
          </p:cNvPr>
          <p:cNvSpPr>
            <a:spLocks noGrp="1"/>
          </p:cNvSpPr>
          <p:nvPr>
            <p:ph idx="1"/>
          </p:nvPr>
        </p:nvSpPr>
        <p:spPr/>
        <p:txBody>
          <a:bodyPr>
            <a:normAutofit fontScale="85000" lnSpcReduction="20000"/>
          </a:bodyPr>
          <a:lstStyle/>
          <a:p>
            <a:pPr marL="0" indent="0">
              <a:buNone/>
            </a:pPr>
            <a:r>
              <a:rPr lang="en-US" dirty="0"/>
              <a:t>Purpose:</a:t>
            </a:r>
          </a:p>
          <a:p>
            <a:pPr marL="0" indent="0">
              <a:buNone/>
            </a:pPr>
            <a:r>
              <a:rPr lang="en-US" dirty="0"/>
              <a:t>Add a designed force </a:t>
            </a:r>
            <a:r>
              <a:rPr lang="en-US" dirty="0" err="1"/>
              <a:t>multisine</a:t>
            </a:r>
            <a:r>
              <a:rPr lang="en-US" dirty="0"/>
              <a:t> on top of the nominal motion trajectories.</a:t>
            </a:r>
          </a:p>
          <a:p>
            <a:pPr marL="0" indent="0">
              <a:buNone/>
            </a:pPr>
            <a:r>
              <a:rPr lang="en-US" dirty="0"/>
              <a:t>Inputs from diagnostics</a:t>
            </a:r>
          </a:p>
          <a:p>
            <a:pPr marL="0" indent="0">
              <a:buNone/>
            </a:pPr>
            <a:endParaRPr lang="en-US" dirty="0"/>
          </a:p>
          <a:p>
            <a:pPr marL="0" indent="0">
              <a:buNone/>
            </a:pPr>
            <a:r>
              <a:rPr lang="en-US" dirty="0" err="1"/>
              <a:t>f_low</a:t>
            </a:r>
            <a:r>
              <a:rPr lang="en-US" dirty="0"/>
              <a:t>   = lowest useful injected-force frequency</a:t>
            </a:r>
          </a:p>
          <a:p>
            <a:pPr marL="0" indent="0">
              <a:buNone/>
            </a:pPr>
            <a:r>
              <a:rPr lang="en-US" dirty="0" err="1"/>
              <a:t>f_high</a:t>
            </a:r>
            <a:r>
              <a:rPr lang="en-US" dirty="0"/>
              <a:t>  = highest useful injected-force frequency</a:t>
            </a:r>
          </a:p>
          <a:p>
            <a:pPr marL="0" indent="0">
              <a:buNone/>
            </a:pPr>
            <a:r>
              <a:rPr lang="en-US" dirty="0" err="1"/>
              <a:t>A_max</a:t>
            </a:r>
            <a:r>
              <a:rPr lang="en-US" dirty="0"/>
              <a:t>   = RMS force budget per mode (we take 40% of the max from the hardware limits)</a:t>
            </a:r>
          </a:p>
          <a:p>
            <a:pPr marL="0" indent="0">
              <a:buNone/>
            </a:pPr>
            <a:endParaRPr lang="en-US" dirty="0"/>
          </a:p>
          <a:p>
            <a:pPr marL="0" indent="0">
              <a:buNone/>
            </a:pPr>
            <a:r>
              <a:rPr lang="en-US" dirty="0"/>
              <a:t>Design choice:</a:t>
            </a:r>
          </a:p>
          <a:p>
            <a:pPr marL="0" indent="0">
              <a:buNone/>
            </a:pPr>
            <a:r>
              <a:rPr lang="en-US" dirty="0"/>
              <a:t>Final </a:t>
            </a:r>
            <a:r>
              <a:rPr lang="en-US" dirty="0" err="1"/>
              <a:t>multisine</a:t>
            </a:r>
            <a:r>
              <a:rPr lang="en-US" dirty="0"/>
              <a:t> only excites frequencies inside [</a:t>
            </a:r>
            <a:r>
              <a:rPr lang="en-US" dirty="0" err="1"/>
              <a:t>f_low</a:t>
            </a:r>
            <a:r>
              <a:rPr lang="en-US" dirty="0"/>
              <a:t>, </a:t>
            </a:r>
            <a:r>
              <a:rPr lang="en-US" dirty="0" err="1"/>
              <a:t>f_high</a:t>
            </a:r>
            <a:r>
              <a:rPr lang="en-US" dirty="0"/>
              <a:t>].</a:t>
            </a:r>
          </a:p>
        </p:txBody>
      </p:sp>
    </p:spTree>
    <p:extLst>
      <p:ext uri="{BB962C8B-B14F-4D97-AF65-F5344CB8AC3E}">
        <p14:creationId xmlns:p14="http://schemas.microsoft.com/office/powerpoint/2010/main" val="526146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40D3B-23B4-9682-88C1-12335BBB2AE5}"/>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6FD506DE-0415-6527-0108-60F81E848889}"/>
              </a:ext>
            </a:extLst>
          </p:cNvPr>
          <p:cNvSpPr>
            <a:spLocks noGrp="1"/>
          </p:cNvSpPr>
          <p:nvPr>
            <p:ph idx="1"/>
          </p:nvPr>
        </p:nvSpPr>
        <p:spPr/>
        <p:txBody>
          <a:bodyPr>
            <a:normAutofit fontScale="77500" lnSpcReduction="20000"/>
          </a:bodyPr>
          <a:lstStyle/>
          <a:p>
            <a:pPr marL="0" indent="0">
              <a:buNone/>
            </a:pPr>
            <a:r>
              <a:rPr lang="en-US" dirty="0"/>
              <a:t>Each experiment first defines a reference motion:</a:t>
            </a:r>
          </a:p>
          <a:p>
            <a:pPr marL="0" indent="0">
              <a:buNone/>
            </a:pPr>
            <a:r>
              <a:rPr lang="en-US" dirty="0"/>
              <a:t>r(t) = [X1_ref(t), X2_ref(t), </a:t>
            </a:r>
            <a:r>
              <a:rPr lang="en-US" dirty="0" err="1"/>
              <a:t>Y_ref</a:t>
            </a:r>
            <a:r>
              <a:rPr lang="en-US" dirty="0"/>
              <a:t>(t)]</a:t>
            </a:r>
          </a:p>
          <a:p>
            <a:pPr marL="0" indent="0">
              <a:buNone/>
            </a:pPr>
            <a:endParaRPr lang="en-US" dirty="0"/>
          </a:p>
          <a:p>
            <a:pPr marL="0" indent="0">
              <a:buNone/>
            </a:pPr>
            <a:r>
              <a:rPr lang="en-US" dirty="0"/>
              <a:t>A feedback controller tracks this reference:</a:t>
            </a:r>
          </a:p>
          <a:p>
            <a:pPr marL="0" indent="0">
              <a:buNone/>
            </a:pPr>
            <a:r>
              <a:rPr lang="en-US" dirty="0"/>
              <a:t>u_q1(t) = </a:t>
            </a:r>
            <a:r>
              <a:rPr lang="en-US" dirty="0" err="1"/>
              <a:t>Cfb</a:t>
            </a:r>
            <a:r>
              <a:rPr lang="en-US" dirty="0"/>
              <a:t> (r(t) - q1(t))</a:t>
            </a:r>
          </a:p>
          <a:p>
            <a:pPr marL="0" indent="0">
              <a:buNone/>
            </a:pPr>
            <a:endParaRPr lang="en-US" dirty="0"/>
          </a:p>
          <a:p>
            <a:pPr marL="0" indent="0">
              <a:buNone/>
            </a:pPr>
            <a:r>
              <a:rPr lang="en-US" dirty="0"/>
              <a:t>The </a:t>
            </a:r>
            <a:r>
              <a:rPr lang="en-US" dirty="0" err="1"/>
              <a:t>multisine</a:t>
            </a:r>
            <a:r>
              <a:rPr lang="en-US" dirty="0"/>
              <a:t> is injected after the controller:</a:t>
            </a:r>
          </a:p>
          <a:p>
            <a:pPr marL="0" indent="0">
              <a:buNone/>
            </a:pPr>
            <a:r>
              <a:rPr lang="en-US" dirty="0" err="1"/>
              <a:t>u_total</a:t>
            </a:r>
            <a:r>
              <a:rPr lang="en-US" dirty="0"/>
              <a:t>(t) = u_q1(t) + </a:t>
            </a:r>
            <a:r>
              <a:rPr lang="en-US" dirty="0" err="1"/>
              <a:t>f_sim</a:t>
            </a:r>
            <a:r>
              <a:rPr lang="en-US" dirty="0"/>
              <a:t>(t)</a:t>
            </a:r>
          </a:p>
          <a:p>
            <a:pPr marL="0" indent="0">
              <a:buNone/>
            </a:pPr>
            <a:endParaRPr lang="en-US" dirty="0"/>
          </a:p>
          <a:p>
            <a:pPr marL="0" indent="0">
              <a:buNone/>
            </a:pPr>
            <a:r>
              <a:rPr lang="en-US" dirty="0"/>
              <a:t>The controller is designed per trajectory at:</a:t>
            </a:r>
          </a:p>
          <a:p>
            <a:pPr marL="0" indent="0">
              <a:buNone/>
            </a:pPr>
            <a:r>
              <a:rPr lang="en-US" dirty="0" err="1"/>
              <a:t>Y_op</a:t>
            </a:r>
            <a:r>
              <a:rPr lang="en-US" dirty="0"/>
              <a:t> = </a:t>
            </a:r>
            <a:r>
              <a:rPr lang="en-US" dirty="0" err="1"/>
              <a:t>Y_initial</a:t>
            </a:r>
            <a:endParaRPr lang="en-US" dirty="0"/>
          </a:p>
          <a:p>
            <a:pPr marL="0" indent="0">
              <a:buNone/>
            </a:pPr>
            <a:r>
              <a:rPr lang="en-US" dirty="0"/>
              <a:t>and then kept fixed during the trajectory.</a:t>
            </a:r>
            <a:endParaRPr lang="en-NL" dirty="0"/>
          </a:p>
        </p:txBody>
      </p:sp>
    </p:spTree>
    <p:extLst>
      <p:ext uri="{BB962C8B-B14F-4D97-AF65-F5344CB8AC3E}">
        <p14:creationId xmlns:p14="http://schemas.microsoft.com/office/powerpoint/2010/main" val="42654297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6D48D-6FFE-5DBC-4E06-B62D96EB2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6209B-7D76-4801-EEEB-5EFF407D6D8D}"/>
              </a:ext>
            </a:extLst>
          </p:cNvPr>
          <p:cNvSpPr>
            <a:spLocks noGrp="1"/>
          </p:cNvSpPr>
          <p:nvPr>
            <p:ph type="title"/>
          </p:nvPr>
        </p:nvSpPr>
        <p:spPr/>
        <p:txBody>
          <a:bodyPr/>
          <a:lstStyle/>
          <a:p>
            <a:r>
              <a:rPr lang="en-US" dirty="0" err="1"/>
              <a:t>Multisine</a:t>
            </a:r>
            <a:r>
              <a:rPr lang="en-US" dirty="0"/>
              <a:t> design</a:t>
            </a:r>
            <a:br>
              <a:rPr lang="en-US" dirty="0"/>
            </a:br>
            <a:r>
              <a:rPr lang="en-US" dirty="0"/>
              <a:t>Mode-Based Excitation</a:t>
            </a:r>
            <a:endParaRPr lang="en-NL" dirty="0"/>
          </a:p>
        </p:txBody>
      </p:sp>
      <p:sp>
        <p:nvSpPr>
          <p:cNvPr id="3" name="Content Placeholder 2">
            <a:extLst>
              <a:ext uri="{FF2B5EF4-FFF2-40B4-BE49-F238E27FC236}">
                <a16:creationId xmlns:a16="http://schemas.microsoft.com/office/drawing/2014/main" id="{D25B89DD-927D-E72C-1152-EB5DC9C8FE9C}"/>
              </a:ext>
            </a:extLst>
          </p:cNvPr>
          <p:cNvSpPr>
            <a:spLocks noGrp="1"/>
          </p:cNvSpPr>
          <p:nvPr>
            <p:ph idx="1"/>
          </p:nvPr>
        </p:nvSpPr>
        <p:spPr/>
        <p:txBody>
          <a:bodyPr>
            <a:normAutofit/>
          </a:bodyPr>
          <a:lstStyle/>
          <a:p>
            <a:pPr marL="0" indent="0">
              <a:buNone/>
            </a:pPr>
            <a:r>
              <a:rPr lang="en-US" dirty="0"/>
              <a:t>The force </a:t>
            </a:r>
            <a:r>
              <a:rPr lang="en-US" dirty="0" err="1"/>
              <a:t>multisine</a:t>
            </a:r>
            <a:r>
              <a:rPr lang="en-US" dirty="0"/>
              <a:t> is applied in physical force directions:</a:t>
            </a:r>
          </a:p>
          <a:p>
            <a:pPr marL="0" indent="0">
              <a:buNone/>
            </a:pPr>
            <a:endParaRPr lang="en-US" dirty="0"/>
          </a:p>
          <a:p>
            <a:pPr marL="0" indent="0">
              <a:buNone/>
            </a:pPr>
            <a:r>
              <a:rPr lang="en-US" dirty="0"/>
              <a:t>common = [1,  1, 0]   symmetric X force</a:t>
            </a:r>
          </a:p>
          <a:p>
            <a:pPr marL="0" indent="0">
              <a:buNone/>
            </a:pPr>
            <a:r>
              <a:rPr lang="en-US" dirty="0"/>
              <a:t>diff   = [1, -1, 0]   differential / yaw force</a:t>
            </a:r>
          </a:p>
          <a:p>
            <a:pPr marL="0" indent="0">
              <a:buNone/>
            </a:pPr>
            <a:r>
              <a:rPr lang="en-US" dirty="0"/>
              <a:t>y      = [0,  0, 1]   Y force</a:t>
            </a:r>
          </a:p>
          <a:p>
            <a:pPr marL="0" indent="0">
              <a:buNone/>
            </a:pPr>
            <a:endParaRPr lang="en-US" dirty="0"/>
          </a:p>
          <a:p>
            <a:pPr marL="0" indent="0">
              <a:buNone/>
            </a:pPr>
            <a:r>
              <a:rPr lang="en-US" dirty="0"/>
              <a:t>For multi-mode trajectories:</a:t>
            </a:r>
          </a:p>
          <a:p>
            <a:pPr marL="0" indent="0">
              <a:buNone/>
            </a:pPr>
            <a:r>
              <a:rPr lang="en-US" dirty="0"/>
              <a:t>all active modes are injected simultaneously</a:t>
            </a:r>
            <a:endParaRPr lang="en-NL" dirty="0"/>
          </a:p>
        </p:txBody>
      </p:sp>
    </p:spTree>
    <p:extLst>
      <p:ext uri="{BB962C8B-B14F-4D97-AF65-F5344CB8AC3E}">
        <p14:creationId xmlns:p14="http://schemas.microsoft.com/office/powerpoint/2010/main" val="25896419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73007-27CE-84AD-22F5-FC813A4E1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D9F162-9AFF-B469-5BD2-2CE74E6A5CCE}"/>
              </a:ext>
            </a:extLst>
          </p:cNvPr>
          <p:cNvSpPr>
            <a:spLocks noGrp="1"/>
          </p:cNvSpPr>
          <p:nvPr>
            <p:ph type="title"/>
          </p:nvPr>
        </p:nvSpPr>
        <p:spPr/>
        <p:txBody>
          <a:bodyPr/>
          <a:lstStyle/>
          <a:p>
            <a:r>
              <a:rPr lang="en-US" dirty="0" err="1"/>
              <a:t>Multisine</a:t>
            </a:r>
            <a:r>
              <a:rPr lang="en-US" dirty="0"/>
              <a:t> design</a:t>
            </a:r>
            <a:br>
              <a:rPr lang="en-US" dirty="0"/>
            </a:br>
            <a:r>
              <a:rPr lang="en-US" dirty="0"/>
              <a:t>Schroeder </a:t>
            </a:r>
            <a:r>
              <a:rPr lang="en-US" dirty="0" err="1"/>
              <a:t>Multisine</a:t>
            </a:r>
            <a:r>
              <a:rPr lang="en-US" dirty="0"/>
              <a:t> Construction</a:t>
            </a:r>
            <a:endParaRPr lang="en-NL" dirty="0"/>
          </a:p>
        </p:txBody>
      </p:sp>
      <p:sp>
        <p:nvSpPr>
          <p:cNvPr id="3" name="Content Placeholder 2">
            <a:extLst>
              <a:ext uri="{FF2B5EF4-FFF2-40B4-BE49-F238E27FC236}">
                <a16:creationId xmlns:a16="http://schemas.microsoft.com/office/drawing/2014/main" id="{EEFC2C49-FA34-4262-AD07-2C5EB5D45F3F}"/>
              </a:ext>
            </a:extLst>
          </p:cNvPr>
          <p:cNvSpPr>
            <a:spLocks noGrp="1"/>
          </p:cNvSpPr>
          <p:nvPr>
            <p:ph idx="1"/>
          </p:nvPr>
        </p:nvSpPr>
        <p:spPr/>
        <p:txBody>
          <a:bodyPr>
            <a:normAutofit/>
          </a:bodyPr>
          <a:lstStyle/>
          <a:p>
            <a:r>
              <a:rPr lang="en-US" dirty="0"/>
              <a:t>For each active mode, a periodic odd-harmonic Schroeder </a:t>
            </a:r>
            <a:r>
              <a:rPr lang="en-US" dirty="0" err="1"/>
              <a:t>multisine</a:t>
            </a:r>
            <a:r>
              <a:rPr lang="en-US" dirty="0"/>
              <a:t> is generated: </a:t>
            </a:r>
            <a:r>
              <a:rPr lang="en-US" dirty="0" err="1"/>
              <a:t>f_low</a:t>
            </a:r>
            <a:r>
              <a:rPr lang="en-US" dirty="0"/>
              <a:t> &lt;= </a:t>
            </a:r>
            <a:r>
              <a:rPr lang="en-US" dirty="0" err="1"/>
              <a:t>f_k</a:t>
            </a:r>
            <a:r>
              <a:rPr lang="en-US" dirty="0"/>
              <a:t> &lt;= </a:t>
            </a:r>
            <a:r>
              <a:rPr lang="en-US" dirty="0" err="1"/>
              <a:t>f_high</a:t>
            </a:r>
            <a:endParaRPr lang="en-US" dirty="0"/>
          </a:p>
          <a:p>
            <a:r>
              <a:rPr lang="en-US" dirty="0"/>
              <a:t>Only odd harmonic lines are used </a:t>
            </a:r>
          </a:p>
          <a:p>
            <a:pPr lvl="1"/>
            <a:r>
              <a:rPr lang="en-US" dirty="0"/>
              <a:t>...,  f0, 3f0, 5f0, ...</a:t>
            </a:r>
          </a:p>
          <a:p>
            <a:pPr lvl="1"/>
            <a:r>
              <a:rPr lang="en-US" dirty="0"/>
              <a:t>f0 = 1 Hz</a:t>
            </a:r>
          </a:p>
          <a:p>
            <a:r>
              <a:rPr lang="en-US" dirty="0"/>
              <a:t>Schroeder phases are used to reduce crest factor</a:t>
            </a:r>
          </a:p>
          <a:p>
            <a:r>
              <a:rPr lang="en-US" dirty="0"/>
              <a:t>Each trajectory is padded to an integer number of 1 s periods:</a:t>
            </a:r>
          </a:p>
          <a:p>
            <a:pPr lvl="1"/>
            <a:r>
              <a:rPr lang="en-US" dirty="0"/>
              <a:t>N is a multiple of </a:t>
            </a:r>
            <a:r>
              <a:rPr lang="en-US" dirty="0" err="1"/>
              <a:t>N_period</a:t>
            </a:r>
            <a:endParaRPr lang="en-US" dirty="0"/>
          </a:p>
          <a:p>
            <a:pPr lvl="1"/>
            <a:r>
              <a:rPr lang="en-US" dirty="0"/>
              <a:t>This keeps the </a:t>
            </a:r>
            <a:r>
              <a:rPr lang="en-US" dirty="0" err="1"/>
              <a:t>multisine</a:t>
            </a:r>
            <a:r>
              <a:rPr lang="en-US" dirty="0"/>
              <a:t> periodic and leakage-free.</a:t>
            </a:r>
            <a:br>
              <a:rPr lang="en-US" dirty="0"/>
            </a:br>
            <a:endParaRPr lang="en-NL" dirty="0"/>
          </a:p>
        </p:txBody>
      </p:sp>
    </p:spTree>
    <p:extLst>
      <p:ext uri="{BB962C8B-B14F-4D97-AF65-F5344CB8AC3E}">
        <p14:creationId xmlns:p14="http://schemas.microsoft.com/office/powerpoint/2010/main" val="425449922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4A7F3-A01A-1270-020D-889631BCC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2C4CA-6E09-7E72-D19D-805C15AF9C2B}"/>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0320C35E-415D-8D66-186B-BA968403EEC5}"/>
              </a:ext>
            </a:extLst>
          </p:cNvPr>
          <p:cNvSpPr>
            <a:spLocks noGrp="1"/>
          </p:cNvSpPr>
          <p:nvPr>
            <p:ph idx="1"/>
          </p:nvPr>
        </p:nvSpPr>
        <p:spPr/>
        <p:txBody>
          <a:bodyPr>
            <a:normAutofit lnSpcReduction="10000"/>
          </a:bodyPr>
          <a:lstStyle/>
          <a:p>
            <a:r>
              <a:rPr lang="en-US" dirty="0"/>
              <a:t>Each active mode receives a different phase seed:</a:t>
            </a:r>
          </a:p>
          <a:p>
            <a:r>
              <a:rPr lang="en-US" dirty="0"/>
              <a:t>Purpose:</a:t>
            </a:r>
          </a:p>
          <a:p>
            <a:pPr lvl="1"/>
            <a:r>
              <a:rPr lang="en-US" dirty="0"/>
              <a:t>reduce correlation between simultaneously injected modes</a:t>
            </a:r>
          </a:p>
          <a:p>
            <a:r>
              <a:rPr lang="en-US" dirty="0"/>
              <a:t>Train validation and test phase also differs (frequency stays the same)</a:t>
            </a:r>
          </a:p>
          <a:p>
            <a:endParaRPr lang="en-US" dirty="0"/>
          </a:p>
          <a:p>
            <a:r>
              <a:rPr lang="en-US" dirty="0"/>
              <a:t>Note: </a:t>
            </a:r>
          </a:p>
          <a:p>
            <a:pPr lvl="1"/>
            <a:r>
              <a:rPr lang="en-US" dirty="0"/>
              <a:t>Different seeds are a decorrelation heuristic.</a:t>
            </a:r>
          </a:p>
          <a:p>
            <a:pPr lvl="1"/>
            <a:r>
              <a:rPr lang="en-US" dirty="0"/>
              <a:t>They do not make the modes strictly orthogonal.</a:t>
            </a:r>
            <a:br>
              <a:rPr lang="en-US" dirty="0"/>
            </a:br>
            <a:endParaRPr lang="en-NL" dirty="0"/>
          </a:p>
        </p:txBody>
      </p:sp>
    </p:spTree>
    <p:extLst>
      <p:ext uri="{BB962C8B-B14F-4D97-AF65-F5344CB8AC3E}">
        <p14:creationId xmlns:p14="http://schemas.microsoft.com/office/powerpoint/2010/main" val="33500927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2F6E1-E141-0513-4B3F-AA3198DA0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D91429-7982-FD0F-C252-62470CE5037E}"/>
              </a:ext>
            </a:extLst>
          </p:cNvPr>
          <p:cNvSpPr>
            <a:spLocks noGrp="1"/>
          </p:cNvSpPr>
          <p:nvPr>
            <p:ph type="title"/>
          </p:nvPr>
        </p:nvSpPr>
        <p:spPr/>
        <p:txBody>
          <a:bodyPr/>
          <a:lstStyle/>
          <a:p>
            <a:r>
              <a:rPr lang="en-US" dirty="0" err="1"/>
              <a:t>Multisine</a:t>
            </a:r>
            <a:r>
              <a:rPr lang="en-US" dirty="0"/>
              <a:t> design</a:t>
            </a:r>
            <a:br>
              <a:rPr lang="en-US" dirty="0"/>
            </a:br>
            <a:r>
              <a:rPr lang="en-US" dirty="0"/>
              <a:t>Enforce Hardware limits</a:t>
            </a:r>
            <a:endParaRPr lang="en-NL" dirty="0"/>
          </a:p>
        </p:txBody>
      </p:sp>
      <p:sp>
        <p:nvSpPr>
          <p:cNvPr id="3" name="Content Placeholder 2">
            <a:extLst>
              <a:ext uri="{FF2B5EF4-FFF2-40B4-BE49-F238E27FC236}">
                <a16:creationId xmlns:a16="http://schemas.microsoft.com/office/drawing/2014/main" id="{E46A6818-BD52-80CD-9629-4CA83248F548}"/>
              </a:ext>
            </a:extLst>
          </p:cNvPr>
          <p:cNvSpPr>
            <a:spLocks noGrp="1"/>
          </p:cNvSpPr>
          <p:nvPr>
            <p:ph idx="1"/>
          </p:nvPr>
        </p:nvSpPr>
        <p:spPr/>
        <p:txBody>
          <a:bodyPr/>
          <a:lstStyle/>
          <a:p>
            <a:pPr marL="0" indent="0">
              <a:buNone/>
            </a:pPr>
            <a:r>
              <a:rPr lang="en-US" dirty="0"/>
              <a:t>position and velocity limits on q1</a:t>
            </a:r>
          </a:p>
          <a:p>
            <a:pPr marL="0" indent="0">
              <a:buNone/>
            </a:pPr>
            <a:r>
              <a:rPr lang="en-US" dirty="0"/>
              <a:t>acceleration limits on reference r</a:t>
            </a:r>
          </a:p>
          <a:p>
            <a:pPr marL="0" indent="0">
              <a:buNone/>
            </a:pPr>
            <a:r>
              <a:rPr lang="en-US" dirty="0"/>
              <a:t>peak force limits on </a:t>
            </a:r>
            <a:r>
              <a:rPr lang="en-US" dirty="0" err="1"/>
              <a:t>u_total</a:t>
            </a:r>
            <a:endParaRPr lang="en-US" dirty="0"/>
          </a:p>
          <a:p>
            <a:pPr marL="0" indent="0">
              <a:buNone/>
            </a:pPr>
            <a:r>
              <a:rPr lang="en-US" dirty="0"/>
              <a:t>RMS force limits on </a:t>
            </a:r>
            <a:r>
              <a:rPr lang="en-US" dirty="0" err="1"/>
              <a:t>u_total</a:t>
            </a:r>
            <a:endParaRPr lang="en-US" dirty="0"/>
          </a:p>
          <a:p>
            <a:pPr marL="0" indent="0">
              <a:buNone/>
            </a:pPr>
            <a:endParaRPr lang="en-NL" dirty="0"/>
          </a:p>
        </p:txBody>
      </p:sp>
    </p:spTree>
    <p:extLst>
      <p:ext uri="{BB962C8B-B14F-4D97-AF65-F5344CB8AC3E}">
        <p14:creationId xmlns:p14="http://schemas.microsoft.com/office/powerpoint/2010/main" val="553263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ABBA35-CAEF-41DB-3971-C821BB56F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B2B5A-91EA-5EAF-6399-4DDA1C905639}"/>
              </a:ext>
            </a:extLst>
          </p:cNvPr>
          <p:cNvSpPr>
            <a:spLocks noGrp="1"/>
          </p:cNvSpPr>
          <p:nvPr>
            <p:ph type="title"/>
          </p:nvPr>
        </p:nvSpPr>
        <p:spPr/>
        <p:txBody>
          <a:bodyPr/>
          <a:lstStyle/>
          <a:p>
            <a:r>
              <a:rPr lang="en-US" dirty="0" err="1"/>
              <a:t>Multisine</a:t>
            </a:r>
            <a:r>
              <a:rPr lang="en-US" dirty="0"/>
              <a:t> design</a:t>
            </a:r>
            <a:endParaRPr lang="en-NL" dirty="0"/>
          </a:p>
        </p:txBody>
      </p:sp>
      <p:sp>
        <p:nvSpPr>
          <p:cNvPr id="3" name="Content Placeholder 2">
            <a:extLst>
              <a:ext uri="{FF2B5EF4-FFF2-40B4-BE49-F238E27FC236}">
                <a16:creationId xmlns:a16="http://schemas.microsoft.com/office/drawing/2014/main" id="{FF9B5FD7-90AF-8EA7-6C44-88F882715EAF}"/>
              </a:ext>
            </a:extLst>
          </p:cNvPr>
          <p:cNvSpPr>
            <a:spLocks noGrp="1"/>
          </p:cNvSpPr>
          <p:nvPr>
            <p:ph idx="1"/>
          </p:nvPr>
        </p:nvSpPr>
        <p:spPr/>
        <p:txBody>
          <a:bodyPr/>
          <a:lstStyle/>
          <a:p>
            <a:pPr marL="0" indent="0">
              <a:buNone/>
            </a:pPr>
            <a:endParaRPr lang="en-NL" dirty="0"/>
          </a:p>
        </p:txBody>
      </p:sp>
    </p:spTree>
    <p:extLst>
      <p:ext uri="{BB962C8B-B14F-4D97-AF65-F5344CB8AC3E}">
        <p14:creationId xmlns:p14="http://schemas.microsoft.com/office/powerpoint/2010/main" val="37024794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1A155-F0F8-0280-D8B1-6E8A549D3C76}"/>
              </a:ext>
            </a:extLst>
          </p:cNvPr>
          <p:cNvSpPr>
            <a:spLocks noGrp="1"/>
          </p:cNvSpPr>
          <p:nvPr>
            <p:ph type="title"/>
          </p:nvPr>
        </p:nvSpPr>
        <p:spPr/>
        <p:txBody>
          <a:bodyPr/>
          <a:lstStyle/>
          <a:p>
            <a:r>
              <a:rPr lang="en-US" dirty="0" err="1"/>
              <a:t>Multisine</a:t>
            </a:r>
            <a:r>
              <a:rPr lang="en-US" dirty="0"/>
              <a:t> problems?</a:t>
            </a:r>
            <a:endParaRPr lang="en-NL" dirty="0"/>
          </a:p>
        </p:txBody>
      </p:sp>
      <p:sp>
        <p:nvSpPr>
          <p:cNvPr id="3" name="Content Placeholder 2">
            <a:extLst>
              <a:ext uri="{FF2B5EF4-FFF2-40B4-BE49-F238E27FC236}">
                <a16:creationId xmlns:a16="http://schemas.microsoft.com/office/drawing/2014/main" id="{02E45886-974A-51BE-3D4D-E53291608C6A}"/>
              </a:ext>
            </a:extLst>
          </p:cNvPr>
          <p:cNvSpPr>
            <a:spLocks noGrp="1"/>
          </p:cNvSpPr>
          <p:nvPr>
            <p:ph idx="1"/>
          </p:nvPr>
        </p:nvSpPr>
        <p:spPr/>
        <p:txBody>
          <a:bodyPr/>
          <a:lstStyle/>
          <a:p>
            <a:r>
              <a:rPr lang="en-US" dirty="0"/>
              <a:t>Issue with calculating the states for when </a:t>
            </a:r>
            <a:r>
              <a:rPr lang="en-US" dirty="0" err="1"/>
              <a:t>multisine</a:t>
            </a:r>
            <a:r>
              <a:rPr lang="en-US" dirty="0"/>
              <a:t> is added on top?</a:t>
            </a:r>
          </a:p>
          <a:p>
            <a:r>
              <a:rPr lang="en-US" dirty="0"/>
              <a:t>Only using position for that so I don’t know why that would be the case?... </a:t>
            </a:r>
          </a:p>
          <a:p>
            <a:r>
              <a:rPr lang="en-US" dirty="0"/>
              <a:t>But maybe</a:t>
            </a:r>
            <a:endParaRPr lang="en-NL" dirty="0"/>
          </a:p>
        </p:txBody>
      </p:sp>
    </p:spTree>
    <p:extLst>
      <p:ext uri="{BB962C8B-B14F-4D97-AF65-F5344CB8AC3E}">
        <p14:creationId xmlns:p14="http://schemas.microsoft.com/office/powerpoint/2010/main" val="2959608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76496-860E-7AD5-0401-A8038B15BD05}"/>
              </a:ext>
            </a:extLst>
          </p:cNvPr>
          <p:cNvSpPr>
            <a:spLocks noGrp="1"/>
          </p:cNvSpPr>
          <p:nvPr>
            <p:ph type="title"/>
          </p:nvPr>
        </p:nvSpPr>
        <p:spPr/>
        <p:txBody>
          <a:bodyPr/>
          <a:lstStyle/>
          <a:p>
            <a:r>
              <a:rPr lang="en-US" dirty="0" err="1"/>
              <a:t>Multisine</a:t>
            </a:r>
            <a:r>
              <a:rPr lang="en-US" dirty="0"/>
              <a:t> output</a:t>
            </a:r>
            <a:endParaRPr lang="en-NL" dirty="0"/>
          </a:p>
        </p:txBody>
      </p:sp>
      <p:sp>
        <p:nvSpPr>
          <p:cNvPr id="3" name="Content Placeholder 2">
            <a:extLst>
              <a:ext uri="{FF2B5EF4-FFF2-40B4-BE49-F238E27FC236}">
                <a16:creationId xmlns:a16="http://schemas.microsoft.com/office/drawing/2014/main" id="{529307EC-C6CD-7F78-0C07-A6F40AEC8AB3}"/>
              </a:ext>
            </a:extLst>
          </p:cNvPr>
          <p:cNvSpPr>
            <a:spLocks noGrp="1"/>
          </p:cNvSpPr>
          <p:nvPr>
            <p:ph idx="1"/>
          </p:nvPr>
        </p:nvSpPr>
        <p:spPr/>
        <p:txBody>
          <a:bodyPr>
            <a:normAutofit/>
          </a:bodyPr>
          <a:lstStyle/>
          <a:p>
            <a:r>
              <a:rPr lang="en-US" dirty="0"/>
              <a:t>Identical trajectories as without </a:t>
            </a:r>
            <a:r>
              <a:rPr lang="en-US" dirty="0" err="1"/>
              <a:t>multisine</a:t>
            </a:r>
            <a:r>
              <a:rPr lang="en-US" dirty="0"/>
              <a:t>. Cannot recover parameters with:</a:t>
            </a:r>
          </a:p>
          <a:p>
            <a:pPr lvl="1"/>
            <a:r>
              <a:rPr lang="en-US" dirty="0"/>
              <a:t>Segment length 650 </a:t>
            </a:r>
          </a:p>
          <a:p>
            <a:pPr lvl="1"/>
            <a:r>
              <a:rPr lang="en-US" dirty="0"/>
              <a:t>Segment length 4000</a:t>
            </a:r>
          </a:p>
        </p:txBody>
      </p:sp>
    </p:spTree>
    <p:extLst>
      <p:ext uri="{BB962C8B-B14F-4D97-AF65-F5344CB8AC3E}">
        <p14:creationId xmlns:p14="http://schemas.microsoft.com/office/powerpoint/2010/main" val="15981368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968156-21C9-9EB3-C07C-34C91C0DE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97C17-D562-B33D-3F89-B03C3FC661CC}"/>
              </a:ext>
            </a:extLst>
          </p:cNvPr>
          <p:cNvSpPr>
            <a:spLocks noGrp="1"/>
          </p:cNvSpPr>
          <p:nvPr>
            <p:ph type="title"/>
          </p:nvPr>
        </p:nvSpPr>
        <p:spPr/>
        <p:txBody>
          <a:bodyPr/>
          <a:lstStyle/>
          <a:p>
            <a:r>
              <a:rPr lang="en-US" dirty="0" err="1"/>
              <a:t>Multisine</a:t>
            </a:r>
            <a:r>
              <a:rPr lang="en-US" dirty="0"/>
              <a:t> output</a:t>
            </a:r>
            <a:endParaRPr lang="en-NL" dirty="0"/>
          </a:p>
        </p:txBody>
      </p:sp>
      <p:sp>
        <p:nvSpPr>
          <p:cNvPr id="3" name="Content Placeholder 2">
            <a:extLst>
              <a:ext uri="{FF2B5EF4-FFF2-40B4-BE49-F238E27FC236}">
                <a16:creationId xmlns:a16="http://schemas.microsoft.com/office/drawing/2014/main" id="{830CBEAF-0BDD-BA08-E924-D809C5DD48BA}"/>
              </a:ext>
            </a:extLst>
          </p:cNvPr>
          <p:cNvSpPr>
            <a:spLocks noGrp="1"/>
          </p:cNvSpPr>
          <p:nvPr>
            <p:ph idx="1"/>
          </p:nvPr>
        </p:nvSpPr>
        <p:spPr/>
        <p:txBody>
          <a:bodyPr/>
          <a:lstStyle/>
          <a:p>
            <a:r>
              <a:rPr lang="en-US" dirty="0"/>
              <a:t>Identical trajectories only difference with </a:t>
            </a:r>
            <a:r>
              <a:rPr lang="en-US" dirty="0" err="1"/>
              <a:t>multisine</a:t>
            </a:r>
            <a:endParaRPr lang="en-US" dirty="0"/>
          </a:p>
          <a:p>
            <a:pPr lvl="1"/>
            <a:endParaRPr lang="en-US" dirty="0"/>
          </a:p>
          <a:p>
            <a:pPr lvl="1"/>
            <a:r>
              <a:rPr lang="en-US" dirty="0"/>
              <a:t>Segment length 650 same as without </a:t>
            </a:r>
            <a:r>
              <a:rPr lang="en-US" dirty="0" err="1"/>
              <a:t>multisine</a:t>
            </a:r>
            <a:endParaRPr lang="en-US" dirty="0"/>
          </a:p>
          <a:p>
            <a:pPr lvl="1"/>
            <a:r>
              <a:rPr lang="en-US" dirty="0"/>
              <a:t>Segment length 4000 also terrible results</a:t>
            </a:r>
          </a:p>
          <a:p>
            <a:endParaRPr lang="en-US" dirty="0"/>
          </a:p>
          <a:p>
            <a:r>
              <a:rPr lang="en-US" dirty="0"/>
              <a:t>Currently not using a proper method to find best segment length</a:t>
            </a:r>
          </a:p>
          <a:p>
            <a:pPr lvl="1"/>
            <a:r>
              <a:rPr lang="en-US" dirty="0"/>
              <a:t>Step response hard time because…</a:t>
            </a:r>
          </a:p>
          <a:p>
            <a:pPr lvl="1"/>
            <a:r>
              <a:rPr lang="en-US" dirty="0"/>
              <a:t>FFT not used currently</a:t>
            </a:r>
          </a:p>
          <a:p>
            <a:pPr lvl="1"/>
            <a:r>
              <a:rPr lang="en-US" dirty="0"/>
              <a:t>Planning on using FRFs instead..</a:t>
            </a:r>
            <a:endParaRPr lang="en-NL" dirty="0"/>
          </a:p>
        </p:txBody>
      </p:sp>
    </p:spTree>
    <p:extLst>
      <p:ext uri="{BB962C8B-B14F-4D97-AF65-F5344CB8AC3E}">
        <p14:creationId xmlns:p14="http://schemas.microsoft.com/office/powerpoint/2010/main" val="41398600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8965E-C6CA-048B-8DCA-8AD41ACE0F7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A4E25A4-90AC-56B8-2E5B-15FC5784E9D6}"/>
              </a:ext>
            </a:extLst>
          </p:cNvPr>
          <p:cNvSpPr>
            <a:spLocks noGrp="1"/>
          </p:cNvSpPr>
          <p:nvPr>
            <p:ph idx="1"/>
          </p:nvPr>
        </p:nvSpPr>
        <p:spPr/>
        <p:txBody>
          <a:bodyPr/>
          <a:lstStyle/>
          <a:p>
            <a:r>
              <a:rPr lang="en-US" dirty="0"/>
              <a:t>Closed-loop</a:t>
            </a:r>
          </a:p>
          <a:p>
            <a:r>
              <a:rPr lang="en-US" dirty="0"/>
              <a:t>MIMO</a:t>
            </a:r>
          </a:p>
          <a:p>
            <a:r>
              <a:rPr lang="en-US" dirty="0"/>
              <a:t>LPV</a:t>
            </a:r>
          </a:p>
          <a:p>
            <a:r>
              <a:rPr lang="en-US" dirty="0"/>
              <a:t>System identification</a:t>
            </a:r>
          </a:p>
          <a:p>
            <a:r>
              <a:rPr lang="en-US" dirty="0"/>
              <a:t>Before or after controller </a:t>
            </a:r>
            <a:r>
              <a:rPr lang="en-US" dirty="0" err="1"/>
              <a:t>multisine</a:t>
            </a:r>
            <a:r>
              <a:rPr lang="en-US" dirty="0"/>
              <a:t> injection</a:t>
            </a:r>
          </a:p>
          <a:p>
            <a:endParaRPr lang="en-US" dirty="0"/>
          </a:p>
          <a:p>
            <a:r>
              <a:rPr lang="en-US" dirty="0"/>
              <a:t>Controller… </a:t>
            </a:r>
            <a:r>
              <a:rPr lang="en-US" dirty="0" err="1"/>
              <a:t>ruleofthumb</a:t>
            </a:r>
            <a:r>
              <a:rPr lang="en-US" dirty="0"/>
              <a:t> currently</a:t>
            </a:r>
            <a:endParaRPr lang="en-NL" dirty="0"/>
          </a:p>
        </p:txBody>
      </p:sp>
    </p:spTree>
    <p:extLst>
      <p:ext uri="{BB962C8B-B14F-4D97-AF65-F5344CB8AC3E}">
        <p14:creationId xmlns:p14="http://schemas.microsoft.com/office/powerpoint/2010/main" val="26043922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D2CE4-63E4-DF99-5D35-262A27180EEB}"/>
              </a:ext>
            </a:extLst>
          </p:cNvPr>
          <p:cNvSpPr>
            <a:spLocks noGrp="1"/>
          </p:cNvSpPr>
          <p:nvPr>
            <p:ph type="title"/>
          </p:nvPr>
        </p:nvSpPr>
        <p:spPr/>
        <p:txBody>
          <a:bodyPr/>
          <a:lstStyle/>
          <a:p>
            <a:r>
              <a:rPr lang="en-US" dirty="0" err="1"/>
              <a:t>Multisine</a:t>
            </a:r>
            <a:r>
              <a:rPr lang="en-US" dirty="0"/>
              <a:t> after controller</a:t>
            </a:r>
            <a:endParaRPr lang="en-NL" dirty="0"/>
          </a:p>
        </p:txBody>
      </p:sp>
      <p:sp>
        <p:nvSpPr>
          <p:cNvPr id="4" name="Rectangle 1">
            <a:extLst>
              <a:ext uri="{FF2B5EF4-FFF2-40B4-BE49-F238E27FC236}">
                <a16:creationId xmlns:a16="http://schemas.microsoft.com/office/drawing/2014/main" id="{FE00E8EC-DA3F-AD4C-D79C-E7247E7A5236}"/>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NL" altLang="en-NL" sz="900" b="0" i="0" u="none" strike="noStrike" cap="none" normalizeH="0" baseline="0">
                <a:ln>
                  <a:noFill/>
                </a:ln>
                <a:solidFill>
                  <a:schemeClr val="tx1"/>
                </a:solidFill>
                <a:effectLst/>
                <a:latin typeface="Arial" panose="020B0604020202020204" pitchFamily="34" charset="0"/>
              </a:rPr>
              <a:t>Post-controller multisine injection is preferred when the identification data should represent plant force input to motion output, because the total applied force can be logged and used directly as model input. The drawback is that the feedback controller attenuates the resulting motion through the disturbance sensitivity path, so low-frequency excitation inside the feedback bandwidth may be weak. Reference injection gives stronger low-frequency output excitation but identifies the closed-loop reference-to-output path unless the controller force is explicitly reconstructed and used.</a:t>
            </a:r>
            <a:endParaRPr kumimoji="0" lang="en-NL" altLang="en-NL" sz="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NL" altLang="en-NL" sz="900" b="0" i="0" u="none" strike="noStrike" cap="none" normalizeH="0" baseline="0">
                <a:ln>
                  <a:noFill/>
                </a:ln>
                <a:solidFill>
                  <a:srgbClr val="BBBEBF"/>
                </a:solidFill>
                <a:effectLst/>
                <a:latin typeface="Segoe WPC"/>
              </a:rPr>
            </a:br>
            <a:endParaRPr kumimoji="0" lang="en-NL" altLang="en-N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39386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98A80-94BC-4296-3B17-F78DB244960F}"/>
              </a:ext>
            </a:extLst>
          </p:cNvPr>
          <p:cNvSpPr>
            <a:spLocks noGrp="1"/>
          </p:cNvSpPr>
          <p:nvPr>
            <p:ph type="title"/>
          </p:nvPr>
        </p:nvSpPr>
        <p:spPr/>
        <p:txBody>
          <a:bodyPr/>
          <a:lstStyle/>
          <a:p>
            <a:r>
              <a:rPr lang="en-US" dirty="0"/>
              <a:t>Settle time</a:t>
            </a:r>
            <a:endParaRPr lang="en-NL" dirty="0"/>
          </a:p>
        </p:txBody>
      </p:sp>
      <p:sp>
        <p:nvSpPr>
          <p:cNvPr id="3" name="Content Placeholder 2">
            <a:extLst>
              <a:ext uri="{FF2B5EF4-FFF2-40B4-BE49-F238E27FC236}">
                <a16:creationId xmlns:a16="http://schemas.microsoft.com/office/drawing/2014/main" id="{7197CA5B-4BBD-B1F4-8BEC-B0A0B45FF219}"/>
              </a:ext>
            </a:extLst>
          </p:cNvPr>
          <p:cNvSpPr>
            <a:spLocks noGrp="1"/>
          </p:cNvSpPr>
          <p:nvPr>
            <p:ph idx="1"/>
          </p:nvPr>
        </p:nvSpPr>
        <p:spPr/>
        <p:txBody>
          <a:bodyPr/>
          <a:lstStyle/>
          <a:p>
            <a:r>
              <a:rPr lang="en-US" dirty="0" err="1"/>
              <a:t>Tsettle</a:t>
            </a:r>
            <a:r>
              <a:rPr lang="en-US" dirty="0"/>
              <a:t> = max(</a:t>
            </a:r>
            <a:r>
              <a:rPr lang="en-US" dirty="0" err="1"/>
              <a:t>Tsettle_q</a:t>
            </a:r>
            <a:r>
              <a:rPr lang="en-US" dirty="0"/>
              <a:t>, </a:t>
            </a:r>
            <a:r>
              <a:rPr lang="en-US" dirty="0" err="1"/>
              <a:t>Tsettle_u_total</a:t>
            </a:r>
            <a:r>
              <a:rPr lang="en-US" dirty="0"/>
              <a:t>)</a:t>
            </a:r>
          </a:p>
          <a:p>
            <a:endParaRPr lang="en-NL" dirty="0"/>
          </a:p>
        </p:txBody>
      </p:sp>
    </p:spTree>
    <p:extLst>
      <p:ext uri="{BB962C8B-B14F-4D97-AF65-F5344CB8AC3E}">
        <p14:creationId xmlns:p14="http://schemas.microsoft.com/office/powerpoint/2010/main" val="42538461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F3B66-65AA-9E2B-2174-ED8E8B52B716}"/>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753BE7C-433A-C7D0-A048-995FBC9FF986}"/>
              </a:ext>
            </a:extLst>
          </p:cNvPr>
          <p:cNvSpPr>
            <a:spLocks noGrp="1"/>
          </p:cNvSpPr>
          <p:nvPr>
            <p:ph idx="1"/>
          </p:nvPr>
        </p:nvSpPr>
        <p:spPr/>
        <p:txBody>
          <a:bodyPr/>
          <a:lstStyle/>
          <a:p>
            <a:r>
              <a:rPr lang="en-US" dirty="0"/>
              <a:t>LTI MIMO closed-loop system.</a:t>
            </a:r>
            <a:endParaRPr lang="en-NL" dirty="0"/>
          </a:p>
        </p:txBody>
      </p:sp>
    </p:spTree>
    <p:extLst>
      <p:ext uri="{BB962C8B-B14F-4D97-AF65-F5344CB8AC3E}">
        <p14:creationId xmlns:p14="http://schemas.microsoft.com/office/powerpoint/2010/main" val="415646833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96057-CABA-9A1D-592A-92967E7A46BE}"/>
              </a:ext>
            </a:extLst>
          </p:cNvPr>
          <p:cNvSpPr>
            <a:spLocks noGrp="1"/>
          </p:cNvSpPr>
          <p:nvPr>
            <p:ph type="title"/>
          </p:nvPr>
        </p:nvSpPr>
        <p:spPr/>
        <p:txBody>
          <a:bodyPr/>
          <a:lstStyle/>
          <a:p>
            <a:r>
              <a:rPr lang="en-US" dirty="0"/>
              <a:t>Show output without </a:t>
            </a:r>
            <a:r>
              <a:rPr lang="en-US" dirty="0" err="1"/>
              <a:t>multisine</a:t>
            </a:r>
            <a:endParaRPr lang="en-NL" dirty="0"/>
          </a:p>
        </p:txBody>
      </p:sp>
      <p:sp>
        <p:nvSpPr>
          <p:cNvPr id="3" name="Content Placeholder 2">
            <a:extLst>
              <a:ext uri="{FF2B5EF4-FFF2-40B4-BE49-F238E27FC236}">
                <a16:creationId xmlns:a16="http://schemas.microsoft.com/office/drawing/2014/main" id="{99B35F5E-58FA-1DE8-E340-9B34DB99ACB4}"/>
              </a:ext>
            </a:extLst>
          </p:cNvPr>
          <p:cNvSpPr>
            <a:spLocks noGrp="1"/>
          </p:cNvSpPr>
          <p:nvPr>
            <p:ph idx="1"/>
          </p:nvPr>
        </p:nvSpPr>
        <p:spPr/>
        <p:txBody>
          <a:bodyPr/>
          <a:lstStyle/>
          <a:p>
            <a:r>
              <a:rPr lang="en-US" dirty="0"/>
              <a:t>Have to look at the </a:t>
            </a:r>
            <a:r>
              <a:rPr lang="en-US" dirty="0" err="1"/>
              <a:t>jsum</a:t>
            </a:r>
            <a:r>
              <a:rPr lang="en-US" dirty="0"/>
              <a:t> why not identifiable </a:t>
            </a:r>
            <a:endParaRPr lang="en-NL" dirty="0"/>
          </a:p>
        </p:txBody>
      </p:sp>
    </p:spTree>
    <p:extLst>
      <p:ext uri="{BB962C8B-B14F-4D97-AF65-F5344CB8AC3E}">
        <p14:creationId xmlns:p14="http://schemas.microsoft.com/office/powerpoint/2010/main" val="54613669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9B9CC-FAD4-3F13-9D20-DF6F6A846227}"/>
              </a:ext>
            </a:extLst>
          </p:cNvPr>
          <p:cNvSpPr>
            <a:spLocks noGrp="1"/>
          </p:cNvSpPr>
          <p:nvPr>
            <p:ph type="title"/>
          </p:nvPr>
        </p:nvSpPr>
        <p:spPr/>
        <p:txBody>
          <a:bodyPr/>
          <a:lstStyle/>
          <a:p>
            <a:r>
              <a:rPr lang="en-US" dirty="0" err="1"/>
              <a:t>Originele</a:t>
            </a:r>
            <a:r>
              <a:rPr lang="en-US" dirty="0"/>
              <a:t> </a:t>
            </a:r>
            <a:r>
              <a:rPr lang="en-US" dirty="0" err="1"/>
              <a:t>multisine</a:t>
            </a:r>
            <a:r>
              <a:rPr lang="en-US" dirty="0"/>
              <a:t> </a:t>
            </a:r>
            <a:r>
              <a:rPr lang="en-US" dirty="0" err="1"/>
              <a:t>bepalen</a:t>
            </a:r>
            <a:r>
              <a:rPr lang="en-US" dirty="0"/>
              <a:t>..</a:t>
            </a:r>
            <a:endParaRPr lang="en-NL" dirty="0"/>
          </a:p>
        </p:txBody>
      </p:sp>
      <p:sp>
        <p:nvSpPr>
          <p:cNvPr id="3" name="Content Placeholder 2">
            <a:extLst>
              <a:ext uri="{FF2B5EF4-FFF2-40B4-BE49-F238E27FC236}">
                <a16:creationId xmlns:a16="http://schemas.microsoft.com/office/drawing/2014/main" id="{E1BF32AF-512C-F435-20F6-48576549E63B}"/>
              </a:ext>
            </a:extLst>
          </p:cNvPr>
          <p:cNvSpPr>
            <a:spLocks noGrp="1"/>
          </p:cNvSpPr>
          <p:nvPr>
            <p:ph idx="1"/>
          </p:nvPr>
        </p:nvSpPr>
        <p:spPr/>
        <p:txBody>
          <a:bodyPr/>
          <a:lstStyle/>
          <a:p>
            <a:r>
              <a:rPr lang="en-US" dirty="0"/>
              <a:t>Segment length 650 </a:t>
            </a:r>
            <a:r>
              <a:rPr lang="en-US" dirty="0" err="1"/>
              <a:t>werkte</a:t>
            </a:r>
            <a:r>
              <a:rPr lang="en-US" dirty="0"/>
              <a:t> wel </a:t>
            </a:r>
            <a:r>
              <a:rPr lang="en-US" dirty="0" err="1"/>
              <a:t>zonder</a:t>
            </a:r>
            <a:r>
              <a:rPr lang="en-US" dirty="0"/>
              <a:t> </a:t>
            </a:r>
            <a:r>
              <a:rPr lang="en-US" dirty="0" err="1"/>
              <a:t>multisine</a:t>
            </a:r>
            <a:r>
              <a:rPr lang="en-US" dirty="0"/>
              <a:t> maar </a:t>
            </a:r>
            <a:r>
              <a:rPr lang="en-US" dirty="0" err="1"/>
              <a:t>niet</a:t>
            </a:r>
            <a:r>
              <a:rPr lang="en-US" dirty="0"/>
              <a:t> met…</a:t>
            </a:r>
          </a:p>
          <a:p>
            <a:r>
              <a:rPr lang="en-US" dirty="0" err="1"/>
              <a:t>Probleem</a:t>
            </a:r>
            <a:r>
              <a:rPr lang="en-US" dirty="0"/>
              <a:t> </a:t>
            </a:r>
            <a:r>
              <a:rPr lang="en-US" dirty="0" err="1"/>
              <a:t>ligt</a:t>
            </a:r>
            <a:r>
              <a:rPr lang="en-US" dirty="0"/>
              <a:t> </a:t>
            </a:r>
            <a:r>
              <a:rPr lang="en-US" dirty="0" err="1"/>
              <a:t>aan</a:t>
            </a:r>
            <a:r>
              <a:rPr lang="en-US" dirty="0"/>
              <a:t>…</a:t>
            </a:r>
            <a:endParaRPr lang="en-NL" dirty="0"/>
          </a:p>
        </p:txBody>
      </p:sp>
    </p:spTree>
    <p:extLst>
      <p:ext uri="{BB962C8B-B14F-4D97-AF65-F5344CB8AC3E}">
        <p14:creationId xmlns:p14="http://schemas.microsoft.com/office/powerpoint/2010/main" val="17413886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4AC36-C39D-C189-6FF1-DD0BA52E1090}"/>
              </a:ext>
            </a:extLst>
          </p:cNvPr>
          <p:cNvSpPr>
            <a:spLocks noGrp="1"/>
          </p:cNvSpPr>
          <p:nvPr>
            <p:ph type="title"/>
          </p:nvPr>
        </p:nvSpPr>
        <p:spPr/>
        <p:txBody>
          <a:bodyPr/>
          <a:lstStyle/>
          <a:p>
            <a:r>
              <a:rPr lang="en-US" dirty="0"/>
              <a:t>Step response</a:t>
            </a:r>
            <a:endParaRPr lang="en-NL" dirty="0"/>
          </a:p>
        </p:txBody>
      </p:sp>
      <p:sp>
        <p:nvSpPr>
          <p:cNvPr id="3" name="Content Placeholder 2">
            <a:extLst>
              <a:ext uri="{FF2B5EF4-FFF2-40B4-BE49-F238E27FC236}">
                <a16:creationId xmlns:a16="http://schemas.microsoft.com/office/drawing/2014/main" id="{443F14AB-6D79-42AB-C2CA-531B0880F31E}"/>
              </a:ext>
            </a:extLst>
          </p:cNvPr>
          <p:cNvSpPr>
            <a:spLocks noGrp="1"/>
          </p:cNvSpPr>
          <p:nvPr>
            <p:ph idx="1"/>
          </p:nvPr>
        </p:nvSpPr>
        <p:spPr/>
        <p:txBody>
          <a:bodyPr/>
          <a:lstStyle/>
          <a:p>
            <a:r>
              <a:rPr lang="en-US" dirty="0"/>
              <a:t>Too many issues because…</a:t>
            </a:r>
          </a:p>
          <a:p>
            <a:r>
              <a:rPr lang="en-US" dirty="0"/>
              <a:t>Closed-loop is the main issue, </a:t>
            </a:r>
            <a:r>
              <a:rPr lang="en-US" dirty="0" err="1"/>
              <a:t>lpv</a:t>
            </a:r>
            <a:r>
              <a:rPr lang="en-US" dirty="0"/>
              <a:t>, </a:t>
            </a:r>
            <a:r>
              <a:rPr lang="en-US" dirty="0" err="1"/>
              <a:t>mimo</a:t>
            </a:r>
            <a:endParaRPr lang="en-NL" dirty="0"/>
          </a:p>
        </p:txBody>
      </p:sp>
    </p:spTree>
    <p:extLst>
      <p:ext uri="{BB962C8B-B14F-4D97-AF65-F5344CB8AC3E}">
        <p14:creationId xmlns:p14="http://schemas.microsoft.com/office/powerpoint/2010/main" val="19350174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FA7E2-B5D8-1215-E27E-49CA70BA3F27}"/>
              </a:ext>
            </a:extLst>
          </p:cNvPr>
          <p:cNvSpPr>
            <a:spLocks noGrp="1"/>
          </p:cNvSpPr>
          <p:nvPr>
            <p:ph type="title"/>
          </p:nvPr>
        </p:nvSpPr>
        <p:spPr/>
        <p:txBody>
          <a:bodyPr/>
          <a:lstStyle/>
          <a:p>
            <a:r>
              <a:rPr lang="en-US" dirty="0"/>
              <a:t>FRF</a:t>
            </a:r>
            <a:endParaRPr lang="en-NL" dirty="0"/>
          </a:p>
        </p:txBody>
      </p:sp>
      <p:sp>
        <p:nvSpPr>
          <p:cNvPr id="3" name="Content Placeholder 2">
            <a:extLst>
              <a:ext uri="{FF2B5EF4-FFF2-40B4-BE49-F238E27FC236}">
                <a16:creationId xmlns:a16="http://schemas.microsoft.com/office/drawing/2014/main" id="{1FBE2FFC-C0CC-8277-5621-12A9B8B3F458}"/>
              </a:ext>
            </a:extLst>
          </p:cNvPr>
          <p:cNvSpPr>
            <a:spLocks noGrp="1"/>
          </p:cNvSpPr>
          <p:nvPr>
            <p:ph idx="1"/>
          </p:nvPr>
        </p:nvSpPr>
        <p:spPr/>
        <p:txBody>
          <a:bodyPr/>
          <a:lstStyle/>
          <a:p>
            <a:r>
              <a:rPr lang="en-US" dirty="0"/>
              <a:t>Design choices</a:t>
            </a:r>
            <a:endParaRPr lang="en-NL" dirty="0"/>
          </a:p>
        </p:txBody>
      </p:sp>
    </p:spTree>
    <p:extLst>
      <p:ext uri="{BB962C8B-B14F-4D97-AF65-F5344CB8AC3E}">
        <p14:creationId xmlns:p14="http://schemas.microsoft.com/office/powerpoint/2010/main" val="27779068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D1A29-D796-3A3E-8C7C-8917594FF0BF}"/>
              </a:ext>
            </a:extLst>
          </p:cNvPr>
          <p:cNvSpPr>
            <a:spLocks noGrp="1"/>
          </p:cNvSpPr>
          <p:nvPr>
            <p:ph type="title"/>
          </p:nvPr>
        </p:nvSpPr>
        <p:spPr/>
        <p:txBody>
          <a:bodyPr/>
          <a:lstStyle/>
          <a:p>
            <a:r>
              <a:rPr lang="en-US" dirty="0"/>
              <a:t>Question</a:t>
            </a:r>
            <a:endParaRPr lang="en-NL" dirty="0"/>
          </a:p>
        </p:txBody>
      </p:sp>
      <p:sp>
        <p:nvSpPr>
          <p:cNvPr id="3" name="Content Placeholder 2">
            <a:extLst>
              <a:ext uri="{FF2B5EF4-FFF2-40B4-BE49-F238E27FC236}">
                <a16:creationId xmlns:a16="http://schemas.microsoft.com/office/drawing/2014/main" id="{1B4B295F-6797-5C60-291C-908692F791C3}"/>
              </a:ext>
            </a:extLst>
          </p:cNvPr>
          <p:cNvSpPr>
            <a:spLocks noGrp="1"/>
          </p:cNvSpPr>
          <p:nvPr>
            <p:ph idx="1"/>
          </p:nvPr>
        </p:nvSpPr>
        <p:spPr/>
        <p:txBody>
          <a:bodyPr/>
          <a:lstStyle/>
          <a:p>
            <a:r>
              <a:rPr lang="en-US" dirty="0" err="1"/>
              <a:t>Multisine</a:t>
            </a:r>
            <a:r>
              <a:rPr lang="en-US" dirty="0"/>
              <a:t> is only causing issues. Need to design around slowest dynamics, what is the best approach for this?</a:t>
            </a:r>
          </a:p>
          <a:p>
            <a:pPr lvl="1"/>
            <a:r>
              <a:rPr lang="en-US" dirty="0"/>
              <a:t>Step response how to do for closed-loop, </a:t>
            </a:r>
            <a:r>
              <a:rPr lang="en-US" dirty="0" err="1"/>
              <a:t>mimo</a:t>
            </a:r>
            <a:r>
              <a:rPr lang="en-US" dirty="0"/>
              <a:t>, LPV?</a:t>
            </a:r>
            <a:endParaRPr lang="en-NL" dirty="0"/>
          </a:p>
        </p:txBody>
      </p:sp>
    </p:spTree>
    <p:extLst>
      <p:ext uri="{BB962C8B-B14F-4D97-AF65-F5344CB8AC3E}">
        <p14:creationId xmlns:p14="http://schemas.microsoft.com/office/powerpoint/2010/main" val="13286508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75218-875A-4F4E-5560-EC84A7DE572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625F7F7-6FF0-2421-9FB2-0039BF8BDDAA}"/>
              </a:ext>
            </a:extLst>
          </p:cNvPr>
          <p:cNvSpPr>
            <a:spLocks noGrp="1"/>
          </p:cNvSpPr>
          <p:nvPr>
            <p:ph idx="1"/>
          </p:nvPr>
        </p:nvSpPr>
        <p:spPr/>
        <p:txBody>
          <a:bodyPr/>
          <a:lstStyle/>
          <a:p>
            <a:r>
              <a:rPr lang="en-US" dirty="0"/>
              <a:t>Should I use </a:t>
            </a:r>
            <a:r>
              <a:rPr lang="en-US" dirty="0" err="1"/>
              <a:t>u_recorded</a:t>
            </a:r>
            <a:endParaRPr lang="en-US" dirty="0"/>
          </a:p>
          <a:p>
            <a:r>
              <a:rPr lang="en-US" dirty="0"/>
              <a:t>Helps with determining to use reference or force injection</a:t>
            </a:r>
          </a:p>
          <a:p>
            <a:r>
              <a:rPr lang="en-US" dirty="0"/>
              <a:t>Is there any benefit between the two</a:t>
            </a:r>
            <a:endParaRPr lang="en-NL" dirty="0"/>
          </a:p>
          <a:p>
            <a:endParaRPr lang="en-NL" dirty="0"/>
          </a:p>
        </p:txBody>
      </p:sp>
    </p:spTree>
    <p:extLst>
      <p:ext uri="{BB962C8B-B14F-4D97-AF65-F5344CB8AC3E}">
        <p14:creationId xmlns:p14="http://schemas.microsoft.com/office/powerpoint/2010/main" val="8922275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F7C2-D719-3E8A-F118-6D36B7EA70BC}"/>
              </a:ext>
            </a:extLst>
          </p:cNvPr>
          <p:cNvSpPr>
            <a:spLocks noGrp="1"/>
          </p:cNvSpPr>
          <p:nvPr>
            <p:ph type="title"/>
          </p:nvPr>
        </p:nvSpPr>
        <p:spPr/>
        <p:txBody>
          <a:bodyPr/>
          <a:lstStyle/>
          <a:p>
            <a:r>
              <a:rPr lang="en-US" dirty="0"/>
              <a:t>New joint meeting</a:t>
            </a:r>
            <a:endParaRPr lang="en-NL" dirty="0"/>
          </a:p>
        </p:txBody>
      </p:sp>
      <p:sp>
        <p:nvSpPr>
          <p:cNvPr id="3" name="Content Placeholder 2">
            <a:extLst>
              <a:ext uri="{FF2B5EF4-FFF2-40B4-BE49-F238E27FC236}">
                <a16:creationId xmlns:a16="http://schemas.microsoft.com/office/drawing/2014/main" id="{05DA5404-270C-E1DE-5F2D-A0486E06B445}"/>
              </a:ext>
            </a:extLst>
          </p:cNvPr>
          <p:cNvSpPr>
            <a:spLocks noGrp="1"/>
          </p:cNvSpPr>
          <p:nvPr>
            <p:ph idx="1"/>
          </p:nvPr>
        </p:nvSpPr>
        <p:spPr/>
        <p:txBody>
          <a:bodyPr/>
          <a:lstStyle/>
          <a:p>
            <a:endParaRPr lang="en-NL" dirty="0"/>
          </a:p>
        </p:txBody>
      </p:sp>
    </p:spTree>
    <p:extLst>
      <p:ext uri="{BB962C8B-B14F-4D97-AF65-F5344CB8AC3E}">
        <p14:creationId xmlns:p14="http://schemas.microsoft.com/office/powerpoint/2010/main" val="14936849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A81FC-4338-BB64-13D8-F62CFA90299F}"/>
              </a:ext>
            </a:extLst>
          </p:cNvPr>
          <p:cNvSpPr>
            <a:spLocks noGrp="1"/>
          </p:cNvSpPr>
          <p:nvPr>
            <p:ph type="title"/>
          </p:nvPr>
        </p:nvSpPr>
        <p:spPr/>
        <p:txBody>
          <a:bodyPr/>
          <a:lstStyle/>
          <a:p>
            <a:r>
              <a:rPr lang="en-US" dirty="0"/>
              <a:t>To do</a:t>
            </a:r>
            <a:endParaRPr lang="en-NL" dirty="0"/>
          </a:p>
        </p:txBody>
      </p:sp>
      <p:sp>
        <p:nvSpPr>
          <p:cNvPr id="3" name="Content Placeholder 2">
            <a:extLst>
              <a:ext uri="{FF2B5EF4-FFF2-40B4-BE49-F238E27FC236}">
                <a16:creationId xmlns:a16="http://schemas.microsoft.com/office/drawing/2014/main" id="{5D2D58C6-6689-2ABD-F747-5ABD32E8737A}"/>
              </a:ext>
            </a:extLst>
          </p:cNvPr>
          <p:cNvSpPr>
            <a:spLocks noGrp="1"/>
          </p:cNvSpPr>
          <p:nvPr>
            <p:ph idx="1"/>
          </p:nvPr>
        </p:nvSpPr>
        <p:spPr/>
        <p:txBody>
          <a:bodyPr/>
          <a:lstStyle/>
          <a:p>
            <a:r>
              <a:rPr lang="en-US" dirty="0"/>
              <a:t>Fix experiment design for </a:t>
            </a:r>
            <a:r>
              <a:rPr lang="en-US" dirty="0" err="1"/>
              <a:t>multisine</a:t>
            </a:r>
            <a:endParaRPr lang="en-US" dirty="0"/>
          </a:p>
          <a:p>
            <a:r>
              <a:rPr lang="en-US" dirty="0"/>
              <a:t>Afterwards can move on to augmenting the system</a:t>
            </a:r>
            <a:endParaRPr lang="en-NL" dirty="0"/>
          </a:p>
        </p:txBody>
      </p:sp>
    </p:spTree>
    <p:extLst>
      <p:ext uri="{BB962C8B-B14F-4D97-AF65-F5344CB8AC3E}">
        <p14:creationId xmlns:p14="http://schemas.microsoft.com/office/powerpoint/2010/main" val="30426970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AE796-708B-909C-F9F8-D1C4E09DB0F7}"/>
              </a:ext>
            </a:extLst>
          </p:cNvPr>
          <p:cNvSpPr>
            <a:spLocks noGrp="1"/>
          </p:cNvSpPr>
          <p:nvPr>
            <p:ph type="title"/>
          </p:nvPr>
        </p:nvSpPr>
        <p:spPr/>
        <p:txBody>
          <a:bodyPr/>
          <a:lstStyle/>
          <a:p>
            <a:r>
              <a:rPr lang="en-US" dirty="0"/>
              <a:t>Planning – Week 7</a:t>
            </a:r>
            <a:endParaRPr lang="en-NL" dirty="0"/>
          </a:p>
        </p:txBody>
      </p:sp>
      <p:pic>
        <p:nvPicPr>
          <p:cNvPr id="7" name="Picture 6">
            <a:extLst>
              <a:ext uri="{FF2B5EF4-FFF2-40B4-BE49-F238E27FC236}">
                <a16:creationId xmlns:a16="http://schemas.microsoft.com/office/drawing/2014/main" id="{D4DE0E46-2873-E998-5425-9863D4097AC4}"/>
              </a:ext>
            </a:extLst>
          </p:cNvPr>
          <p:cNvPicPr>
            <a:picLocks noChangeAspect="1"/>
          </p:cNvPicPr>
          <p:nvPr/>
        </p:nvPicPr>
        <p:blipFill>
          <a:blip r:embed="rId2"/>
          <a:stretch>
            <a:fillRect/>
          </a:stretch>
        </p:blipFill>
        <p:spPr>
          <a:xfrm>
            <a:off x="342899" y="1552183"/>
            <a:ext cx="11492346" cy="4779772"/>
          </a:xfrm>
          <a:prstGeom prst="rect">
            <a:avLst/>
          </a:prstGeom>
        </p:spPr>
      </p:pic>
    </p:spTree>
    <p:extLst>
      <p:ext uri="{BB962C8B-B14F-4D97-AF65-F5344CB8AC3E}">
        <p14:creationId xmlns:p14="http://schemas.microsoft.com/office/powerpoint/2010/main" val="408862958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C7F87-FEB5-5FC6-BB96-946DDBCE6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56BB93-5748-3C8A-8B99-51A2433E792C}"/>
              </a:ext>
            </a:extLst>
          </p:cNvPr>
          <p:cNvSpPr>
            <a:spLocks noGrp="1"/>
          </p:cNvSpPr>
          <p:nvPr>
            <p:ph type="title"/>
          </p:nvPr>
        </p:nvSpPr>
        <p:spPr/>
        <p:txBody>
          <a:bodyPr/>
          <a:lstStyle/>
          <a:p>
            <a:r>
              <a:rPr lang="en-US" dirty="0"/>
              <a:t>Planning – Week 7</a:t>
            </a:r>
            <a:endParaRPr lang="en-NL" dirty="0"/>
          </a:p>
        </p:txBody>
      </p:sp>
      <p:pic>
        <p:nvPicPr>
          <p:cNvPr id="7" name="Picture 6">
            <a:extLst>
              <a:ext uri="{FF2B5EF4-FFF2-40B4-BE49-F238E27FC236}">
                <a16:creationId xmlns:a16="http://schemas.microsoft.com/office/drawing/2014/main" id="{9D85EE40-DDBA-F593-AC80-46FBCB6314BF}"/>
              </a:ext>
            </a:extLst>
          </p:cNvPr>
          <p:cNvPicPr>
            <a:picLocks noChangeAspect="1"/>
          </p:cNvPicPr>
          <p:nvPr/>
        </p:nvPicPr>
        <p:blipFill>
          <a:blip r:embed="rId2"/>
          <a:stretch>
            <a:fillRect/>
          </a:stretch>
        </p:blipFill>
        <p:spPr>
          <a:xfrm>
            <a:off x="342899" y="1552183"/>
            <a:ext cx="11492346" cy="4779772"/>
          </a:xfrm>
          <a:prstGeom prst="rect">
            <a:avLst/>
          </a:prstGeom>
        </p:spPr>
      </p:pic>
      <p:sp>
        <p:nvSpPr>
          <p:cNvPr id="3" name="Rectangle 2">
            <a:extLst>
              <a:ext uri="{FF2B5EF4-FFF2-40B4-BE49-F238E27FC236}">
                <a16:creationId xmlns:a16="http://schemas.microsoft.com/office/drawing/2014/main" id="{08ACBF9B-6C6F-B7A7-9888-21427B4D92A3}"/>
              </a:ext>
            </a:extLst>
          </p:cNvPr>
          <p:cNvSpPr/>
          <p:nvPr/>
        </p:nvSpPr>
        <p:spPr>
          <a:xfrm>
            <a:off x="476461" y="3008243"/>
            <a:ext cx="5394251" cy="84814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31880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2369</TotalTime>
  <Words>6850</Words>
  <Application>Microsoft Office PowerPoint</Application>
  <PresentationFormat>Widescreen</PresentationFormat>
  <Paragraphs>718</Paragraphs>
  <Slides>77</Slides>
  <Notes>15</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77</vt:i4>
      </vt:variant>
    </vt:vector>
  </HeadingPairs>
  <TitlesOfParts>
    <vt:vector size="83" baseType="lpstr">
      <vt:lpstr>Aptos</vt:lpstr>
      <vt:lpstr>Aptos Display</vt:lpstr>
      <vt:lpstr>Arial</vt:lpstr>
      <vt:lpstr>Segoe WPC</vt:lpstr>
      <vt:lpstr>Wingdings</vt:lpstr>
      <vt:lpstr>Office Theme</vt:lpstr>
      <vt:lpstr>Meeting Week 1</vt:lpstr>
      <vt:lpstr>Last week summary</vt:lpstr>
      <vt:lpstr>Action point 1</vt:lpstr>
      <vt:lpstr>Trajectories</vt:lpstr>
      <vt:lpstr>Why multisine?</vt:lpstr>
      <vt:lpstr>How The Multisine Is Built</vt:lpstr>
      <vt:lpstr>How It Is Applied And Selected</vt:lpstr>
      <vt:lpstr>PowerPoint Presentation</vt:lpstr>
      <vt:lpstr>Multisine Signal Construction</vt:lpstr>
      <vt:lpstr>Amplitude And Modal Mapping</vt:lpstr>
      <vt:lpstr>Closed-Loop Diagnostic Selection</vt:lpstr>
      <vt:lpstr>PowerPoint Presentation</vt:lpstr>
      <vt:lpstr>Multisine design</vt:lpstr>
      <vt:lpstr>Multisine Signal Construction</vt:lpstr>
      <vt:lpstr>Mode-Dependent Phase Offset</vt:lpstr>
      <vt:lpstr>Trajectory analysis</vt:lpstr>
      <vt:lpstr>PowerPoint Presentation</vt:lpstr>
      <vt:lpstr>PowerPoint Presentation</vt:lpstr>
      <vt:lpstr>Problem inbetween parametric and nonparametric model closed-loop</vt:lpstr>
      <vt:lpstr>Question 1</vt:lpstr>
      <vt:lpstr>PowerPoint Presentation</vt:lpstr>
      <vt:lpstr>PowerPoint Presentation</vt:lpstr>
      <vt:lpstr>PowerPoint Presentation</vt:lpstr>
      <vt:lpstr>Outline next week</vt:lpstr>
      <vt:lpstr>Possible Gantt-chart or Planning</vt:lpstr>
      <vt:lpstr>Trajectories</vt:lpstr>
      <vt:lpstr>Pre-analysis</vt:lpstr>
      <vt:lpstr>PowerPoint Presentation</vt:lpstr>
      <vt:lpstr>PowerPoint Presentation</vt:lpstr>
      <vt:lpstr>PowerPoint Presentation</vt:lpstr>
      <vt:lpstr>Multisine design</vt:lpstr>
      <vt:lpstr>PowerPoint Presentation</vt:lpstr>
      <vt:lpstr>Segment length</vt:lpstr>
      <vt:lpstr>PowerPoint Presentation</vt:lpstr>
      <vt:lpstr>PowerPoint Presentation</vt:lpstr>
      <vt:lpstr>PowerPoint Presentation</vt:lpstr>
      <vt:lpstr>Pre-analysis</vt:lpstr>
      <vt:lpstr>PowerPoint Presentation</vt:lpstr>
      <vt:lpstr>Meeting Week 15</vt:lpstr>
      <vt:lpstr>Trajectories</vt:lpstr>
      <vt:lpstr>Trajectories</vt:lpstr>
      <vt:lpstr>Trajectories</vt:lpstr>
      <vt:lpstr>Trajectory – parameter recovery</vt:lpstr>
      <vt:lpstr>Trajectory – parameter recovery</vt:lpstr>
      <vt:lpstr>Trajectory – parameter recovery</vt:lpstr>
      <vt:lpstr>Multisine</vt:lpstr>
      <vt:lpstr>Multisine force injection</vt:lpstr>
      <vt:lpstr>Diagnostics for multisine</vt:lpstr>
      <vt:lpstr>Diagnostics for multisine Diagnostic Probe</vt:lpstr>
      <vt:lpstr>Diagnostics for multisine Diagnostic Probe</vt:lpstr>
      <vt:lpstr>Diagnostics for multisine Estimated Quantities</vt:lpstr>
      <vt:lpstr>Diagnostics for multisine Frequency Band Selection</vt:lpstr>
      <vt:lpstr>Diagnostics for multisine Frequency Band Selection</vt:lpstr>
      <vt:lpstr>Multisine design</vt:lpstr>
      <vt:lpstr>Multisine design</vt:lpstr>
      <vt:lpstr>Multisine design Mode-Based Excitation</vt:lpstr>
      <vt:lpstr>Multisine design Schroeder Multisine Construction</vt:lpstr>
      <vt:lpstr>Multisine design</vt:lpstr>
      <vt:lpstr>Multisine design Enforce Hardware limits</vt:lpstr>
      <vt:lpstr>Multisine design</vt:lpstr>
      <vt:lpstr>Multisine problems?</vt:lpstr>
      <vt:lpstr>Multisine output</vt:lpstr>
      <vt:lpstr>Multisine output</vt:lpstr>
      <vt:lpstr>PowerPoint Presentation</vt:lpstr>
      <vt:lpstr>Multisine after controller</vt:lpstr>
      <vt:lpstr>Settle time</vt:lpstr>
      <vt:lpstr>PowerPoint Presentation</vt:lpstr>
      <vt:lpstr>Show output without multisine</vt:lpstr>
      <vt:lpstr>Originele multisine bepalen..</vt:lpstr>
      <vt:lpstr>Step response</vt:lpstr>
      <vt:lpstr>FRF</vt:lpstr>
      <vt:lpstr>Question</vt:lpstr>
      <vt:lpstr>PowerPoint Presentation</vt:lpstr>
      <vt:lpstr>New joint meeting</vt:lpstr>
      <vt:lpstr>To do</vt:lpstr>
      <vt:lpstr>Planning – Week 7</vt:lpstr>
      <vt:lpstr>Planning – Week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Hoekstra, Jan</dc:creator>
  <cp:lastModifiedBy>Berg, Dirk van den</cp:lastModifiedBy>
  <cp:revision>2</cp:revision>
  <dcterms:created xsi:type="dcterms:W3CDTF">2026-02-02T15:14:22Z</dcterms:created>
  <dcterms:modified xsi:type="dcterms:W3CDTF">2026-05-13T12:49:31Z</dcterms:modified>
</cp:coreProperties>
</file>