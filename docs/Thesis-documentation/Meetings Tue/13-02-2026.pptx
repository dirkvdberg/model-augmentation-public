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21"/>
  </p:notesMasterIdLst>
  <p:sldIdLst>
    <p:sldId id="257" r:id="rId2"/>
    <p:sldId id="258" r:id="rId3"/>
    <p:sldId id="267" r:id="rId4"/>
    <p:sldId id="274" r:id="rId5"/>
    <p:sldId id="278" r:id="rId6"/>
    <p:sldId id="277" r:id="rId7"/>
    <p:sldId id="276" r:id="rId8"/>
    <p:sldId id="296" r:id="rId9"/>
    <p:sldId id="289" r:id="rId10"/>
    <p:sldId id="275" r:id="rId11"/>
    <p:sldId id="293" r:id="rId12"/>
    <p:sldId id="295" r:id="rId13"/>
    <p:sldId id="291" r:id="rId14"/>
    <p:sldId id="272" r:id="rId15"/>
    <p:sldId id="298" r:id="rId16"/>
    <p:sldId id="299" r:id="rId17"/>
    <p:sldId id="300" r:id="rId18"/>
    <p:sldId id="261" r:id="rId19"/>
    <p:sldId id="262" r:id="rId20"/>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43340D-3257-47F4-8731-8099DB00E14B}" v="3" dt="2026-02-02T15:28:20.697"/>
  </p1510:revLst>
</p1510:revInfo>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77386" autoAdjust="0"/>
  </p:normalViewPr>
  <p:slideViewPr>
    <p:cSldViewPr snapToGrid="0">
      <p:cViewPr varScale="1">
        <p:scale>
          <a:sx n="85" d="100"/>
          <a:sy n="85" d="100"/>
        </p:scale>
        <p:origin x="178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ekstra, Jan" userId="5d496fe4-0c87-4596-89e4-7951f4c87ccb" providerId="ADAL" clId="{97D91625-A293-482C-B427-66C0286D47AF}"/>
    <pc:docChg chg="undo custSel addSld modSld">
      <pc:chgData name="Hoekstra, Jan" userId="5d496fe4-0c87-4596-89e4-7951f4c87ccb" providerId="ADAL" clId="{97D91625-A293-482C-B427-66C0286D47AF}" dt="2026-02-02T15:29:04.079" v="1141" actId="114"/>
      <pc:docMkLst>
        <pc:docMk/>
      </pc:docMkLst>
      <pc:sldChg chg="addSp modSp mod">
        <pc:chgData name="Hoekstra, Jan" userId="5d496fe4-0c87-4596-89e4-7951f4c87ccb" providerId="ADAL" clId="{97D91625-A293-482C-B427-66C0286D47AF}" dt="2026-02-02T15:29:04.079" v="1141" actId="114"/>
        <pc:sldMkLst>
          <pc:docMk/>
          <pc:sldMk cId="2679595137" sldId="257"/>
        </pc:sldMkLst>
        <pc:spChg chg="mod">
          <ac:chgData name="Hoekstra, Jan" userId="5d496fe4-0c87-4596-89e4-7951f4c87ccb" providerId="ADAL" clId="{97D91625-A293-482C-B427-66C0286D47AF}" dt="2026-02-02T15:25:52.790" v="826" actId="20577"/>
          <ac:spMkLst>
            <pc:docMk/>
            <pc:sldMk cId="2679595137" sldId="257"/>
            <ac:spMk id="3" creationId="{DAAEF679-3C39-E36C-B710-9B50CBAE487E}"/>
          </ac:spMkLst>
        </pc:spChg>
        <pc:spChg chg="add mod">
          <ac:chgData name="Hoekstra, Jan" userId="5d496fe4-0c87-4596-89e4-7951f4c87ccb" providerId="ADAL" clId="{97D91625-A293-482C-B427-66C0286D47AF}" dt="2026-02-02T15:29:04.079" v="1141" actId="114"/>
          <ac:spMkLst>
            <pc:docMk/>
            <pc:sldMk cId="2679595137" sldId="257"/>
            <ac:spMk id="4" creationId="{465EFC2D-66CC-A333-8AD7-17BCBCDB18BB}"/>
          </ac:spMkLst>
        </pc:spChg>
      </pc:sldChg>
      <pc:sldChg chg="addSp modSp new mod">
        <pc:chgData name="Hoekstra, Jan" userId="5d496fe4-0c87-4596-89e4-7951f4c87ccb" providerId="ADAL" clId="{97D91625-A293-482C-B427-66C0286D47AF}" dt="2026-02-02T15:27:13.239" v="1012" actId="20577"/>
        <pc:sldMkLst>
          <pc:docMk/>
          <pc:sldMk cId="2138626586" sldId="259"/>
        </pc:sldMkLst>
        <pc:spChg chg="mod">
          <ac:chgData name="Hoekstra, Jan" userId="5d496fe4-0c87-4596-89e4-7951f4c87ccb" providerId="ADAL" clId="{97D91625-A293-482C-B427-66C0286D47AF}" dt="2026-02-02T15:21:38.324" v="75" actId="20577"/>
          <ac:spMkLst>
            <pc:docMk/>
            <pc:sldMk cId="2138626586" sldId="259"/>
            <ac:spMk id="2" creationId="{1241CBB4-4332-CC27-31DC-1118749DC9EE}"/>
          </ac:spMkLst>
        </pc:spChg>
        <pc:spChg chg="mod">
          <ac:chgData name="Hoekstra, Jan" userId="5d496fe4-0c87-4596-89e4-7951f4c87ccb" providerId="ADAL" clId="{97D91625-A293-482C-B427-66C0286D47AF}" dt="2026-02-02T15:22:56.417" v="251" actId="20577"/>
          <ac:spMkLst>
            <pc:docMk/>
            <pc:sldMk cId="2138626586" sldId="259"/>
            <ac:spMk id="3" creationId="{EF5F3971-08E2-AD39-C334-D1FA58F77EB2}"/>
          </ac:spMkLst>
        </pc:spChg>
        <pc:spChg chg="add mod">
          <ac:chgData name="Hoekstra, Jan" userId="5d496fe4-0c87-4596-89e4-7951f4c87ccb" providerId="ADAL" clId="{97D91625-A293-482C-B427-66C0286D47AF}" dt="2026-02-02T15:27:13.239" v="1012" actId="20577"/>
          <ac:spMkLst>
            <pc:docMk/>
            <pc:sldMk cId="2138626586" sldId="259"/>
            <ac:spMk id="4" creationId="{B119E904-9495-8CB1-E838-D562CF8BB5D9}"/>
          </ac:spMkLst>
        </pc:spChg>
      </pc:sldChg>
      <pc:sldChg chg="addSp modSp new mod">
        <pc:chgData name="Hoekstra, Jan" userId="5d496fe4-0c87-4596-89e4-7951f4c87ccb" providerId="ADAL" clId="{97D91625-A293-482C-B427-66C0286D47AF}" dt="2026-02-02T15:24:23.914" v="615"/>
        <pc:sldMkLst>
          <pc:docMk/>
          <pc:sldMk cId="2175299465" sldId="260"/>
        </pc:sldMkLst>
        <pc:spChg chg="mod">
          <ac:chgData name="Hoekstra, Jan" userId="5d496fe4-0c87-4596-89e4-7951f4c87ccb" providerId="ADAL" clId="{97D91625-A293-482C-B427-66C0286D47AF}" dt="2026-02-02T15:23:06.129" v="262" actId="20577"/>
          <ac:spMkLst>
            <pc:docMk/>
            <pc:sldMk cId="2175299465" sldId="260"/>
            <ac:spMk id="2" creationId="{8275DA82-033F-A5A9-8242-2D5896D94857}"/>
          </ac:spMkLst>
        </pc:spChg>
        <pc:spChg chg="mod">
          <ac:chgData name="Hoekstra, Jan" userId="5d496fe4-0c87-4596-89e4-7951f4c87ccb" providerId="ADAL" clId="{97D91625-A293-482C-B427-66C0286D47AF}" dt="2026-02-02T15:24:18.480" v="614" actId="20577"/>
          <ac:spMkLst>
            <pc:docMk/>
            <pc:sldMk cId="2175299465" sldId="260"/>
            <ac:spMk id="3" creationId="{07C68050-ABAC-21A7-30BB-2C997CD155E6}"/>
          </ac:spMkLst>
        </pc:spChg>
        <pc:spChg chg="add mod">
          <ac:chgData name="Hoekstra, Jan" userId="5d496fe4-0c87-4596-89e4-7951f4c87ccb" providerId="ADAL" clId="{97D91625-A293-482C-B427-66C0286D47AF}" dt="2026-02-02T15:24:23.914" v="615"/>
          <ac:spMkLst>
            <pc:docMk/>
            <pc:sldMk cId="2175299465" sldId="260"/>
            <ac:spMk id="4" creationId="{C22B2196-272F-FC1F-4220-C87739CBF73F}"/>
          </ac:spMkLst>
        </pc:spChg>
      </pc:sldChg>
      <pc:sldChg chg="modSp new mod">
        <pc:chgData name="Hoekstra, Jan" userId="5d496fe4-0c87-4596-89e4-7951f4c87ccb" providerId="ADAL" clId="{97D91625-A293-482C-B427-66C0286D47AF}" dt="2026-02-02T15:26:33.865" v="951" actId="20577"/>
        <pc:sldMkLst>
          <pc:docMk/>
          <pc:sldMk cId="4133975854" sldId="261"/>
        </pc:sldMkLst>
        <pc:spChg chg="mod">
          <ac:chgData name="Hoekstra, Jan" userId="5d496fe4-0c87-4596-89e4-7951f4c87ccb" providerId="ADAL" clId="{97D91625-A293-482C-B427-66C0286D47AF}" dt="2026-02-02T15:24:51.240" v="639" actId="20577"/>
          <ac:spMkLst>
            <pc:docMk/>
            <pc:sldMk cId="4133975854" sldId="261"/>
            <ac:spMk id="2" creationId="{CE8922FA-98D7-2929-D27F-810CECE6E8CA}"/>
          </ac:spMkLst>
        </pc:spChg>
        <pc:spChg chg="mod">
          <ac:chgData name="Hoekstra, Jan" userId="5d496fe4-0c87-4596-89e4-7951f4c87ccb" providerId="ADAL" clId="{97D91625-A293-482C-B427-66C0286D47AF}" dt="2026-02-02T15:26:33.865" v="951" actId="20577"/>
          <ac:spMkLst>
            <pc:docMk/>
            <pc:sldMk cId="4133975854" sldId="261"/>
            <ac:spMk id="3" creationId="{78179DB8-2509-8E4F-14E4-B0B6B2FE756A}"/>
          </ac:spMkLst>
        </pc:spChg>
      </pc:sldChg>
      <pc:sldChg chg="modSp new mod">
        <pc:chgData name="Hoekstra, Jan" userId="5d496fe4-0c87-4596-89e4-7951f4c87ccb" providerId="ADAL" clId="{97D91625-A293-482C-B427-66C0286D47AF}" dt="2026-02-02T15:25:37.756" v="806" actId="20577"/>
        <pc:sldMkLst>
          <pc:docMk/>
          <pc:sldMk cId="3503897311" sldId="262"/>
        </pc:sldMkLst>
        <pc:spChg chg="mod">
          <ac:chgData name="Hoekstra, Jan" userId="5d496fe4-0c87-4596-89e4-7951f4c87ccb" providerId="ADAL" clId="{97D91625-A293-482C-B427-66C0286D47AF}" dt="2026-02-02T15:25:25.271" v="748" actId="20577"/>
          <ac:spMkLst>
            <pc:docMk/>
            <pc:sldMk cId="3503897311" sldId="262"/>
            <ac:spMk id="2" creationId="{E87AE796-708B-909C-F9F8-D1C4E09DB0F7}"/>
          </ac:spMkLst>
        </pc:spChg>
        <pc:spChg chg="mod">
          <ac:chgData name="Hoekstra, Jan" userId="5d496fe4-0c87-4596-89e4-7951f4c87ccb" providerId="ADAL" clId="{97D91625-A293-482C-B427-66C0286D47AF}" dt="2026-02-02T15:25:37.756" v="806" actId="20577"/>
          <ac:spMkLst>
            <pc:docMk/>
            <pc:sldMk cId="3503897311" sldId="262"/>
            <ac:spMk id="3" creationId="{322F13D6-AF08-9392-A25C-ED43A705A9E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06355D-D61E-4629-A451-0D5F8A28D69B}" type="datetimeFigureOut">
              <a:rPr lang="en-NL" smtClean="0"/>
              <a:t>15/02/2026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C44169-D6FA-4340-A8EA-FDCA4A57CBC5}" type="slidenum">
              <a:rPr lang="en-NL" smtClean="0"/>
              <a:t>‹#›</a:t>
            </a:fld>
            <a:endParaRPr lang="en-NL"/>
          </a:p>
        </p:txBody>
      </p:sp>
    </p:spTree>
    <p:extLst>
      <p:ext uri="{BB962C8B-B14F-4D97-AF65-F5344CB8AC3E}">
        <p14:creationId xmlns:p14="http://schemas.microsoft.com/office/powerpoint/2010/main" val="993807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3</a:t>
            </a:fld>
            <a:endParaRPr lang="en-NL"/>
          </a:p>
        </p:txBody>
      </p:sp>
    </p:spTree>
    <p:extLst>
      <p:ext uri="{BB962C8B-B14F-4D97-AF65-F5344CB8AC3E}">
        <p14:creationId xmlns:p14="http://schemas.microsoft.com/office/powerpoint/2010/main" val="1809088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4</a:t>
            </a:fld>
            <a:endParaRPr lang="en-NL"/>
          </a:p>
        </p:txBody>
      </p:sp>
    </p:spTree>
    <p:extLst>
      <p:ext uri="{BB962C8B-B14F-4D97-AF65-F5344CB8AC3E}">
        <p14:creationId xmlns:p14="http://schemas.microsoft.com/office/powerpoint/2010/main" val="3754937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8A6E7-0937-246E-43DE-C5AE91A77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D5A23-0E42-B521-932D-016A5B50E1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B1E4E2-0261-ED33-987D-E4A813C36E56}"/>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777496EB-61AB-B42B-2D5E-31218C50E175}"/>
              </a:ext>
            </a:extLst>
          </p:cNvPr>
          <p:cNvSpPr>
            <a:spLocks noGrp="1"/>
          </p:cNvSpPr>
          <p:nvPr>
            <p:ph type="sldNum" sz="quarter" idx="5"/>
          </p:nvPr>
        </p:nvSpPr>
        <p:spPr/>
        <p:txBody>
          <a:bodyPr/>
          <a:lstStyle/>
          <a:p>
            <a:fld id="{86C44169-D6FA-4340-A8EA-FDCA4A57CBC5}" type="slidenum">
              <a:rPr lang="en-NL" smtClean="0"/>
              <a:t>5</a:t>
            </a:fld>
            <a:endParaRPr lang="en-NL"/>
          </a:p>
        </p:txBody>
      </p:sp>
    </p:spTree>
    <p:extLst>
      <p:ext uri="{BB962C8B-B14F-4D97-AF65-F5344CB8AC3E}">
        <p14:creationId xmlns:p14="http://schemas.microsoft.com/office/powerpoint/2010/main" val="1066448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C853F-D1FD-9BB9-A80C-E59AC51769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2A36D7-5A36-D7BF-E4C2-50EFD34D79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BAB52C-5848-AB66-0C37-32F10A5DAF49}"/>
              </a:ext>
            </a:extLst>
          </p:cNvPr>
          <p:cNvSpPr>
            <a:spLocks noGrp="1"/>
          </p:cNvSpPr>
          <p:nvPr>
            <p:ph type="body" idx="1"/>
          </p:nvPr>
        </p:nvSpPr>
        <p:spPr/>
        <p:txBody>
          <a:bodyPr/>
          <a:lstStyle/>
          <a:p>
            <a:r>
              <a:rPr lang="en-US" sz="1200" b="0" i="0" kern="1200" dirty="0" err="1">
                <a:solidFill>
                  <a:schemeClr val="tx1"/>
                </a:solidFill>
                <a:effectLst/>
                <a:latin typeface="+mn-lt"/>
                <a:ea typeface="+mn-ea"/>
                <a:cs typeface="+mn-cs"/>
              </a:rPr>
              <a:t>Kessels</a:t>
            </a:r>
            <a:r>
              <a:rPr lang="en-US" sz="1200" b="0" i="0" kern="1200" dirty="0">
                <a:solidFill>
                  <a:schemeClr val="tx1"/>
                </a:solidFill>
                <a:effectLst/>
                <a:latin typeface="+mn-lt"/>
                <a:ea typeface="+mn-ea"/>
                <a:cs typeface="+mn-cs"/>
              </a:rPr>
              <a:t> found that while TE features (magnitude and timing of peaks) are physically intuitive, they are often </a:t>
            </a:r>
            <a:r>
              <a:rPr lang="en-US" sz="1200" b="1" i="0" kern="1200" dirty="0">
                <a:solidFill>
                  <a:schemeClr val="tx1"/>
                </a:solidFill>
                <a:effectLst/>
                <a:latin typeface="+mn-lt"/>
                <a:ea typeface="+mn-ea"/>
                <a:cs typeface="+mn-cs"/>
              </a:rPr>
              <a:t>comparatively inaccurate</a:t>
            </a:r>
            <a:r>
              <a:rPr lang="en-US" sz="1200" b="0" i="0" kern="1200" dirty="0">
                <a:solidFill>
                  <a:schemeClr val="tx1"/>
                </a:solidFill>
                <a:effectLst/>
                <a:latin typeface="+mn-lt"/>
                <a:ea typeface="+mn-ea"/>
                <a:cs typeface="+mn-cs"/>
              </a:rPr>
              <a:t> in industrial applications because they are </a:t>
            </a:r>
            <a:r>
              <a:rPr lang="en-US" sz="1200" b="1" i="0" kern="1200" dirty="0">
                <a:solidFill>
                  <a:schemeClr val="tx1"/>
                </a:solidFill>
                <a:effectLst/>
                <a:latin typeface="+mn-lt"/>
                <a:ea typeface="+mn-ea"/>
                <a:cs typeface="+mn-cs"/>
              </a:rPr>
              <a:t>sensitive to measurement noise</a:t>
            </a:r>
            <a:r>
              <a:rPr lang="en-US" sz="1200" b="0" i="0" kern="1200" dirty="0">
                <a:solidFill>
                  <a:schemeClr val="tx1"/>
                </a:solidFill>
                <a:effectLst/>
                <a:latin typeface="+mn-lt"/>
                <a:ea typeface="+mn-ea"/>
                <a:cs typeface="+mn-cs"/>
              </a:rPr>
              <a:t> and contain </a:t>
            </a:r>
            <a:r>
              <a:rPr lang="en-US" sz="1200" b="1" i="0" kern="1200" dirty="0">
                <a:solidFill>
                  <a:schemeClr val="tx1"/>
                </a:solidFill>
                <a:effectLst/>
                <a:latin typeface="+mn-lt"/>
                <a:ea typeface="+mn-ea"/>
                <a:cs typeface="+mn-cs"/>
              </a:rPr>
              <a:t>low information density</a:t>
            </a:r>
            <a:r>
              <a:rPr lang="en-US" sz="1200" b="0" i="0" kern="1200" dirty="0">
                <a:solidFill>
                  <a:schemeClr val="tx1"/>
                </a:solidFill>
                <a:effectLst/>
                <a:latin typeface="+mn-lt"/>
                <a:ea typeface="+mn-ea"/>
                <a:cs typeface="+mn-cs"/>
              </a:rPr>
              <a:t> (sparsity) compared to using full time-samples or frequency-domain data</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Real and Imaginary (RI)</a:t>
            </a:r>
            <a:r>
              <a:rPr lang="en-US" sz="1200" b="0" i="0" kern="1200" dirty="0">
                <a:solidFill>
                  <a:schemeClr val="tx1"/>
                </a:solidFill>
                <a:effectLst/>
                <a:latin typeface="+mn-lt"/>
                <a:ea typeface="+mn-ea"/>
                <a:cs typeface="+mn-cs"/>
              </a:rPr>
              <a:t> parts of the Fourier Transform were the most effective features.</a:t>
            </a:r>
          </a:p>
          <a:p>
            <a:r>
              <a:rPr lang="en-US" sz="1200" b="1" i="0" kern="1200" dirty="0">
                <a:solidFill>
                  <a:schemeClr val="tx1"/>
                </a:solidFill>
                <a:effectLst/>
                <a:latin typeface="+mn-lt"/>
                <a:ea typeface="+mn-ea"/>
                <a:cs typeface="+mn-cs"/>
              </a:rPr>
              <a:t>Why they are good: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Kessels</a:t>
            </a:r>
            <a:r>
              <a:rPr lang="en-US" sz="1200" b="0" i="0" kern="1200" dirty="0">
                <a:solidFill>
                  <a:schemeClr val="tx1"/>
                </a:solidFill>
                <a:effectLst/>
                <a:latin typeface="+mn-lt"/>
                <a:ea typeface="+mn-ea"/>
                <a:cs typeface="+mn-cs"/>
              </a:rPr>
              <a:t> notes that RI features are "relatively informative" and robust. Unlike Magnitude/Phase (MP) features, where the phase can look very similar for different parameter combinations </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Time Sample (TS)</a:t>
            </a:r>
            <a:r>
              <a:rPr lang="en-US" sz="1200" b="0" i="0" kern="1200" dirty="0">
                <a:solidFill>
                  <a:schemeClr val="tx1"/>
                </a:solidFill>
                <a:effectLst/>
                <a:latin typeface="+mn-lt"/>
                <a:ea typeface="+mn-ea"/>
                <a:cs typeface="+mn-cs"/>
              </a:rPr>
              <a:t> features were the second most important group.</a:t>
            </a:r>
          </a:p>
          <a:p>
            <a:endParaRPr lang="en-US" sz="1200" b="0" i="0" kern="1200" dirty="0">
              <a:solidFill>
                <a:schemeClr val="tx1"/>
              </a:solidFill>
              <a:effectLst/>
              <a:latin typeface="+mn-lt"/>
              <a:ea typeface="+mn-ea"/>
              <a:cs typeface="+mn-cs"/>
            </a:endParaRPr>
          </a:p>
          <a:p>
            <a:r>
              <a:rPr lang="en-US" b="1" dirty="0">
                <a:effectLst/>
              </a:rPr>
              <a:t>JMI Strategy</a:t>
            </a:r>
            <a:r>
              <a:rPr lang="en-US" dirty="0">
                <a:effectLst/>
              </a:rPr>
              <a:t> </a:t>
            </a:r>
            <a:r>
              <a:rPr lang="en-US" b="1" dirty="0">
                <a:effectLst/>
              </a:rPr>
              <a:t>MRMR Strategy</a:t>
            </a:r>
            <a:r>
              <a:rPr lang="en-US" dirty="0">
                <a:effectLst/>
              </a:rPr>
              <a:t> </a:t>
            </a:r>
            <a:r>
              <a:rPr lang="en-US" b="1" dirty="0">
                <a:effectLst/>
              </a:rPr>
              <a:t>MIM Strategy</a:t>
            </a:r>
            <a:endParaRPr lang="en-NL" dirty="0"/>
          </a:p>
        </p:txBody>
      </p:sp>
      <p:sp>
        <p:nvSpPr>
          <p:cNvPr id="4" name="Slide Number Placeholder 3">
            <a:extLst>
              <a:ext uri="{FF2B5EF4-FFF2-40B4-BE49-F238E27FC236}">
                <a16:creationId xmlns:a16="http://schemas.microsoft.com/office/drawing/2014/main" id="{76DAC622-3222-3869-065E-EC60AB004EEF}"/>
              </a:ext>
            </a:extLst>
          </p:cNvPr>
          <p:cNvSpPr>
            <a:spLocks noGrp="1"/>
          </p:cNvSpPr>
          <p:nvPr>
            <p:ph type="sldNum" sz="quarter" idx="5"/>
          </p:nvPr>
        </p:nvSpPr>
        <p:spPr/>
        <p:txBody>
          <a:bodyPr/>
          <a:lstStyle/>
          <a:p>
            <a:fld id="{86C44169-D6FA-4340-A8EA-FDCA4A57CBC5}" type="slidenum">
              <a:rPr lang="en-NL" smtClean="0"/>
              <a:t>6</a:t>
            </a:fld>
            <a:endParaRPr lang="en-NL"/>
          </a:p>
        </p:txBody>
      </p:sp>
    </p:spTree>
    <p:extLst>
      <p:ext uri="{BB962C8B-B14F-4D97-AF65-F5344CB8AC3E}">
        <p14:creationId xmlns:p14="http://schemas.microsoft.com/office/powerpoint/2010/main" val="13730269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superimpose</a:t>
            </a:r>
            <a:r>
              <a:rPr lang="en-US" sz="1200" b="0" i="0" kern="1200" dirty="0">
                <a:solidFill>
                  <a:schemeClr val="tx1"/>
                </a:solidFill>
                <a:effectLst/>
                <a:latin typeface="+mn-lt"/>
                <a:ea typeface="+mn-ea"/>
                <a:cs typeface="+mn-cs"/>
              </a:rPr>
              <a:t> a </a:t>
            </a:r>
            <a:r>
              <a:rPr lang="en-US" sz="1200" b="0" i="0" kern="1200" dirty="0" err="1">
                <a:solidFill>
                  <a:schemeClr val="tx1"/>
                </a:solidFill>
                <a:effectLst/>
                <a:latin typeface="+mn-lt"/>
                <a:ea typeface="+mn-ea"/>
                <a:cs typeface="+mn-cs"/>
              </a:rPr>
              <a:t>multisine</a:t>
            </a:r>
            <a:r>
              <a:rPr lang="en-US" sz="1200" b="0" i="0" kern="1200" dirty="0">
                <a:solidFill>
                  <a:schemeClr val="tx1"/>
                </a:solidFill>
                <a:effectLst/>
                <a:latin typeface="+mn-lt"/>
                <a:ea typeface="+mn-ea"/>
                <a:cs typeface="+mn-cs"/>
              </a:rPr>
              <a:t> onto a spiky trajectory to create a "Rich Spiky Signal.“</a:t>
            </a:r>
          </a:p>
          <a:p>
            <a:endParaRPr lang="en-US" sz="1200" b="0" i="0" kern="1200" dirty="0">
              <a:solidFill>
                <a:schemeClr val="tx1"/>
              </a:solidFill>
              <a:effectLst/>
              <a:latin typeface="+mn-lt"/>
              <a:ea typeface="+mn-ea"/>
              <a:cs typeface="+mn-cs"/>
            </a:endParaRPr>
          </a:p>
          <a:p>
            <a:r>
              <a:rPr lang="en-US" b="1" dirty="0">
                <a:effectLst/>
              </a:rPr>
              <a:t>Spike:</a:t>
            </a:r>
            <a:r>
              <a:rPr lang="en-US" dirty="0">
                <a:effectLst/>
              </a:rPr>
              <a:t> take the specific trajectory you need (e.g., the rapid engagement profile or your gantry's stop-start motion). You create a band-limited approximation of this "spike" forces the system into the correct </a:t>
            </a:r>
            <a:r>
              <a:rPr lang="en-US" b="1" dirty="0">
                <a:effectLst/>
              </a:rPr>
              <a:t>operating regime</a:t>
            </a:r>
            <a:r>
              <a:rPr lang="en-US" dirty="0">
                <a:effectLst/>
              </a:rPr>
              <a:t>.</a:t>
            </a:r>
          </a:p>
          <a:p>
            <a:r>
              <a:rPr lang="en-US" b="1" dirty="0" err="1">
                <a:effectLst/>
              </a:rPr>
              <a:t>Multisine</a:t>
            </a:r>
            <a:r>
              <a:rPr lang="en-US" b="1" dirty="0">
                <a:effectLst/>
              </a:rPr>
              <a:t>:</a:t>
            </a:r>
            <a:r>
              <a:rPr lang="en-US" dirty="0">
                <a:effectLst/>
              </a:rPr>
              <a:t> add a </a:t>
            </a:r>
            <a:r>
              <a:rPr lang="en-US" b="1" dirty="0">
                <a:effectLst/>
              </a:rPr>
              <a:t>small-amplitude, flat-spectrum </a:t>
            </a:r>
            <a:r>
              <a:rPr lang="en-US" b="1" dirty="0" err="1">
                <a:effectLst/>
              </a:rPr>
              <a:t>multisine</a:t>
            </a:r>
            <a:r>
              <a:rPr lang="en-US" dirty="0">
                <a:effectLst/>
              </a:rPr>
              <a:t> on top of it</a:t>
            </a:r>
          </a:p>
          <a:p>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 a </a:t>
            </a:r>
            <a:r>
              <a:rPr lang="en-US" b="1" dirty="0"/>
              <a:t>chosen weighting filter</a:t>
            </a:r>
            <a:r>
              <a:rPr lang="en-US" b="0" dirty="0"/>
              <a:t> instead of a </a:t>
            </a:r>
            <a:r>
              <a:rPr lang="en-US" b="1" dirty="0"/>
              <a:t>noise-based weighting</a:t>
            </a:r>
            <a:r>
              <a:rPr lang="en-US" dirty="0"/>
              <a:t> tries to be optimal if your model structure is correct and noise assumptions hold.</a:t>
            </a:r>
          </a:p>
          <a:p>
            <a:endParaRPr lang="en-US" dirty="0">
              <a:effectLst/>
            </a:endParaRPr>
          </a:p>
          <a:p>
            <a:endParaRPr lang="en-US" dirty="0">
              <a:effectLst/>
            </a:endParaRPr>
          </a:p>
          <a:p>
            <a:r>
              <a:rPr lang="en-US" b="1" dirty="0" err="1"/>
              <a:t>Kessels</a:t>
            </a:r>
            <a:r>
              <a:rPr lang="en-US" b="1" dirty="0"/>
              <a:t> Application</a:t>
            </a:r>
          </a:p>
          <a:p>
            <a:r>
              <a:rPr lang="en-US" b="1" dirty="0"/>
              <a:t>Imitating Operation (Input Design):</a:t>
            </a:r>
            <a:r>
              <a:rPr lang="en-US" dirty="0"/>
              <a:t> Instead of abstract random noise, </a:t>
            </a:r>
            <a:r>
              <a:rPr lang="en-US" dirty="0" err="1"/>
              <a:t>Kessels</a:t>
            </a:r>
            <a:r>
              <a:rPr lang="en-US" dirty="0"/>
              <a:t> generates training data using </a:t>
            </a:r>
            <a:r>
              <a:rPr lang="en-US" b="1" dirty="0"/>
              <a:t>"alternating smoothed step-up and step-down profiles."</a:t>
            </a:r>
            <a:r>
              <a:rPr lang="en-US" dirty="0"/>
              <a:t> These explicitly mimic the reference profiles used during the machine's actual operation to capture relevant behavior</a:t>
            </a:r>
          </a:p>
          <a:p>
            <a:r>
              <a:rPr lang="en-US" b="1" dirty="0"/>
              <a:t>Implicit Filtering (Feature Selection):</a:t>
            </a:r>
            <a:r>
              <a:rPr lang="en-US" dirty="0"/>
              <a:t> He replaces standard frequency weighting (</a:t>
            </a:r>
            <a:r>
              <a:rPr lang="en-US" i="1" dirty="0"/>
              <a:t>L</a:t>
            </a:r>
            <a:r>
              <a:rPr lang="en-US" dirty="0"/>
              <a:t>) with </a:t>
            </a:r>
            <a:r>
              <a:rPr lang="en-US" b="1" dirty="0"/>
              <a:t>Feature Selection on "Frequency Bins of Interest" (</a:t>
            </a:r>
            <a:r>
              <a:rPr lang="en-US" b="1" dirty="0" err="1"/>
              <a:t>FBoIs</a:t>
            </a:r>
            <a:r>
              <a:rPr lang="en-US" b="1" dirty="0"/>
              <a:t>)</a:t>
            </a:r>
            <a:r>
              <a:rPr lang="en-US" dirty="0"/>
              <a:t>. The method extracts specific frequency ranges (e.g., near eigenfrequencies) and uses Mutual Information algorithms (like JMI) to discard noisy or irrelevant bins, effectively filtering the error signal</a:t>
            </a:r>
          </a:p>
          <a:p>
            <a:r>
              <a:rPr lang="en-US" b="1" dirty="0"/>
              <a:t>Regime Forcing (Closed-Loop):</a:t>
            </a:r>
            <a:r>
              <a:rPr lang="en-US" dirty="0"/>
              <a:t> Similar to the "Wet-Clutch" high-pressure requirement, </a:t>
            </a:r>
            <a:r>
              <a:rPr lang="en-US" dirty="0" err="1"/>
              <a:t>Kessels</a:t>
            </a:r>
            <a:r>
              <a:rPr lang="en-US" dirty="0"/>
              <a:t> uses </a:t>
            </a:r>
            <a:r>
              <a:rPr lang="en-US" b="1" dirty="0"/>
              <a:t>Closed-Loop Feedback</a:t>
            </a:r>
            <a:r>
              <a:rPr lang="en-US" dirty="0"/>
              <a:t> during data generation. This forces the system to track the reference steps, ensuring the dataset is rich in the specific </a:t>
            </a:r>
            <a:r>
              <a:rPr lang="en-US" b="1" dirty="0"/>
              <a:t>settling dynamics</a:t>
            </a:r>
            <a:r>
              <a:rPr lang="en-US" dirty="0"/>
              <a:t> required for the high-precision application</a:t>
            </a:r>
            <a:endParaRPr lang="en-NL" dirty="0"/>
          </a:p>
          <a:p>
            <a:endParaRPr lang="en-US" dirty="0">
              <a:effectLst/>
            </a:endParaRPr>
          </a:p>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7</a:t>
            </a:fld>
            <a:endParaRPr lang="en-NL"/>
          </a:p>
        </p:txBody>
      </p:sp>
    </p:spTree>
    <p:extLst>
      <p:ext uri="{BB962C8B-B14F-4D97-AF65-F5344CB8AC3E}">
        <p14:creationId xmlns:p14="http://schemas.microsoft.com/office/powerpoint/2010/main" val="659189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The EA Solution:</a:t>
            </a:r>
            <a:endParaRPr lang="en-US" dirty="0">
              <a:effectLst/>
            </a:endParaRPr>
          </a:p>
          <a:p>
            <a:r>
              <a:rPr lang="en-US" dirty="0">
                <a:effectLst/>
              </a:rPr>
              <a:t>• </a:t>
            </a:r>
            <a:r>
              <a:rPr lang="en-US" b="1" dirty="0">
                <a:effectLst/>
              </a:rPr>
              <a:t>New Variables:</a:t>
            </a:r>
            <a:r>
              <a:rPr lang="en-US" dirty="0">
                <a:effectLst/>
              </a:rPr>
              <a:t> EA mathematically </a:t>
            </a:r>
            <a:r>
              <a:rPr lang="en-US" i="1" dirty="0">
                <a:effectLst/>
              </a:rPr>
              <a:t>extends</a:t>
            </a:r>
            <a:r>
              <a:rPr lang="en-US" dirty="0">
                <a:effectLst/>
              </a:rPr>
              <a:t> the state vector. If your model has 2 states </a:t>
            </a:r>
            <a:r>
              <a:rPr lang="en-US" sz="1200"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x</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x</a:t>
            </a:r>
            <a:r>
              <a:rPr lang="en-US" sz="1200" kern="1200" dirty="0">
                <a:solidFill>
                  <a:schemeClr val="tx1"/>
                </a:solidFill>
                <a:effectLst/>
                <a:latin typeface="+mn-lt"/>
                <a:ea typeface="+mn-ea"/>
                <a:cs typeface="+mn-cs"/>
              </a:rPr>
              <a:t>˙]</a:t>
            </a:r>
            <a:r>
              <a:rPr lang="en-US" dirty="0">
                <a:effectLst/>
              </a:rPr>
              <a:t>, EA adds </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z</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z</a:t>
            </a:r>
            <a:r>
              <a:rPr lang="en-US" sz="1200" kern="1200" dirty="0">
                <a:solidFill>
                  <a:schemeClr val="tx1"/>
                </a:solidFill>
                <a:effectLst/>
                <a:latin typeface="+mn-lt"/>
                <a:ea typeface="+mn-ea"/>
                <a:cs typeface="+mn-cs"/>
              </a:rPr>
              <a:t>2​]</a:t>
            </a:r>
            <a:r>
              <a:rPr lang="en-US" dirty="0">
                <a:effectLst/>
              </a:rPr>
              <a:t> to track the unmodeled vibrations</a:t>
            </a:r>
          </a:p>
          <a:p>
            <a:endParaRPr lang="en-US" dirty="0"/>
          </a:p>
          <a:p>
            <a:endParaRPr lang="en-US" dirty="0"/>
          </a:p>
          <a:p>
            <a:r>
              <a:rPr lang="en-US" sz="1200" b="1" i="0" kern="1200" dirty="0">
                <a:solidFill>
                  <a:schemeClr val="tx1"/>
                </a:solidFill>
                <a:effectLst/>
                <a:latin typeface="+mn-lt"/>
                <a:ea typeface="+mn-ea"/>
                <a:cs typeface="+mn-cs"/>
              </a:rPr>
              <a:t>The Subspace Encoder:</a:t>
            </a:r>
            <a:r>
              <a:rPr lang="en-US" sz="1200" b="0" i="0" kern="1200" dirty="0">
                <a:solidFill>
                  <a:schemeClr val="tx1"/>
                </a:solidFill>
                <a:effectLst/>
                <a:latin typeface="+mn-lt"/>
                <a:ea typeface="+mn-ea"/>
                <a:cs typeface="+mn-cs"/>
              </a:rPr>
              <a:t> Since you cannot measure these new "hidden" vibration states directly with sensors, you use a </a:t>
            </a:r>
            <a:r>
              <a:rPr lang="en-US" sz="1200" b="1" i="0" kern="1200" dirty="0">
                <a:solidFill>
                  <a:schemeClr val="tx1"/>
                </a:solidFill>
                <a:effectLst/>
                <a:latin typeface="+mn-lt"/>
                <a:ea typeface="+mn-ea"/>
                <a:cs typeface="+mn-cs"/>
              </a:rPr>
              <a:t>Subspace Encoder</a:t>
            </a:r>
            <a:r>
              <a:rPr lang="en-US" sz="1200" b="0" i="0" kern="1200" dirty="0">
                <a:solidFill>
                  <a:schemeClr val="tx1"/>
                </a:solidFill>
                <a:effectLst/>
                <a:latin typeface="+mn-lt"/>
                <a:ea typeface="+mn-ea"/>
                <a:cs typeface="+mn-cs"/>
              </a:rPr>
              <a:t>. This is a Neural Network that looks at a window of </a:t>
            </a:r>
            <a:r>
              <a:rPr lang="en-US" sz="1200" b="0" i="1" kern="1200" dirty="0">
                <a:solidFill>
                  <a:schemeClr val="tx1"/>
                </a:solidFill>
                <a:effectLst/>
                <a:latin typeface="+mn-lt"/>
                <a:ea typeface="+mn-ea"/>
                <a:cs typeface="+mn-cs"/>
              </a:rPr>
              <a:t>past</a:t>
            </a:r>
            <a:r>
              <a:rPr lang="en-US" sz="1200" b="0" i="0" kern="1200" dirty="0">
                <a:solidFill>
                  <a:schemeClr val="tx1"/>
                </a:solidFill>
                <a:effectLst/>
                <a:latin typeface="+mn-lt"/>
                <a:ea typeface="+mn-ea"/>
                <a:cs typeface="+mn-cs"/>
              </a:rPr>
              <a:t> input/output data (history) to estimate what these hidden states are at the current moment</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Dynamics:</a:t>
            </a:r>
            <a:r>
              <a:rPr lang="en-US" sz="1200" b="0" i="0" kern="1200" dirty="0">
                <a:solidFill>
                  <a:schemeClr val="tx1"/>
                </a:solidFill>
                <a:effectLst/>
                <a:latin typeface="+mn-lt"/>
                <a:ea typeface="+mn-ea"/>
                <a:cs typeface="+mn-cs"/>
              </a:rPr>
              <a:t> A Recurrent Neural Network (RNN) learns how these new states evolve over time (e.g., how the vibration decays</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b="1" dirty="0">
                <a:effectLst/>
              </a:rPr>
              <a:t>The EA Solution:</a:t>
            </a:r>
            <a:endParaRPr lang="en-US" dirty="0">
              <a:effectLst/>
            </a:endParaRPr>
          </a:p>
          <a:p>
            <a:r>
              <a:rPr lang="en-US" dirty="0">
                <a:effectLst/>
              </a:rPr>
              <a:t>• </a:t>
            </a:r>
            <a:r>
              <a:rPr lang="en-US" b="1" dirty="0">
                <a:effectLst/>
              </a:rPr>
              <a:t>Force Injection:</a:t>
            </a:r>
            <a:r>
              <a:rPr lang="en-US" dirty="0">
                <a:effectLst/>
              </a:rPr>
              <a:t> EA </a:t>
            </a:r>
            <a:r>
              <a:rPr lang="en-US" i="1" dirty="0">
                <a:effectLst/>
              </a:rPr>
              <a:t>augments</a:t>
            </a:r>
            <a:r>
              <a:rPr lang="en-US" dirty="0">
                <a:effectLst/>
              </a:rPr>
              <a:t> the existing equations. It injects a "correction force" directly into the acceleration equation of the FP model</a:t>
            </a:r>
          </a:p>
          <a:p>
            <a:endParaRPr lang="en-US" dirty="0">
              <a:effectLst/>
            </a:endParaRPr>
          </a:p>
          <a:p>
            <a:r>
              <a:rPr lang="en-US" dirty="0">
                <a:effectLst/>
              </a:rPr>
              <a:t>◦ </a:t>
            </a:r>
            <a:r>
              <a:rPr lang="en-US" i="1" dirty="0">
                <a:effectLst/>
              </a:rPr>
              <a:t>Standard FP:</a:t>
            </a:r>
            <a:r>
              <a:rPr lang="en-US" dirty="0">
                <a:effectLst/>
              </a:rPr>
              <a:t> </a:t>
            </a:r>
            <a:r>
              <a:rPr lang="en-US" sz="1200" i="1" kern="1200" dirty="0">
                <a:solidFill>
                  <a:schemeClr val="tx1"/>
                </a:solidFill>
                <a:effectLst/>
                <a:latin typeface="+mn-lt"/>
                <a:ea typeface="+mn-ea"/>
                <a:cs typeface="+mn-cs"/>
              </a:rPr>
              <a:t>a</a:t>
            </a:r>
            <a:r>
              <a:rPr lang="en-US" sz="1200"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Finput</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m</a:t>
            </a:r>
            <a:endParaRPr lang="en-US" dirty="0">
              <a:effectLst/>
            </a:endParaRPr>
          </a:p>
          <a:p>
            <a:r>
              <a:rPr lang="en-US" dirty="0">
                <a:effectLst/>
              </a:rPr>
              <a:t>    ◦ </a:t>
            </a:r>
            <a:r>
              <a:rPr lang="en-US" i="1" dirty="0">
                <a:effectLst/>
              </a:rPr>
              <a:t>Augmented:</a:t>
            </a:r>
            <a:r>
              <a:rPr lang="en-US" dirty="0">
                <a:effectLst/>
              </a:rPr>
              <a:t> </a:t>
            </a:r>
            <a:r>
              <a:rPr lang="en-US" sz="1200" i="1" kern="1200" dirty="0">
                <a:solidFill>
                  <a:schemeClr val="tx1"/>
                </a:solidFill>
                <a:effectLst/>
                <a:latin typeface="+mn-lt"/>
                <a:ea typeface="+mn-ea"/>
                <a:cs typeface="+mn-cs"/>
              </a:rPr>
              <a:t>a</a:t>
            </a:r>
            <a:r>
              <a:rPr lang="en-US" sz="1200"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Finput</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m</a:t>
            </a:r>
            <a:r>
              <a:rPr lang="en-US" sz="1200"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RNN</a:t>
            </a:r>
            <a:r>
              <a:rPr lang="en-US" sz="1200" b="1" i="0" kern="1200" dirty="0" err="1">
                <a:solidFill>
                  <a:schemeClr val="tx1"/>
                </a:solidFill>
                <a:effectLst/>
                <a:latin typeface="+mn-lt"/>
                <a:ea typeface="+mn-ea"/>
                <a:cs typeface="+mn-cs"/>
              </a:rPr>
              <a:t>correction</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Dynamics (The RNN):</a:t>
            </a:r>
            <a:r>
              <a:rPr lang="en-US" sz="1200" b="0" i="0" kern="1200" dirty="0">
                <a:solidFill>
                  <a:schemeClr val="tx1"/>
                </a:solidFill>
                <a:effectLst/>
                <a:latin typeface="+mn-lt"/>
                <a:ea typeface="+mn-ea"/>
                <a:cs typeface="+mn-cs"/>
              </a:rPr>
              <a:t> Once initialized by the encoder, the evolution of these new states is governed by a </a:t>
            </a:r>
            <a:r>
              <a:rPr lang="en-US" sz="1200" b="1" i="0" kern="1200" dirty="0">
                <a:solidFill>
                  <a:schemeClr val="tx1"/>
                </a:solidFill>
                <a:effectLst/>
                <a:latin typeface="+mn-lt"/>
                <a:ea typeface="+mn-ea"/>
                <a:cs typeface="+mn-cs"/>
              </a:rPr>
              <a:t>Recurrent Neural Network (RNN)</a:t>
            </a:r>
            <a:r>
              <a:rPr lang="en-US" sz="1200" b="0" i="0" kern="1200" dirty="0">
                <a:solidFill>
                  <a:schemeClr val="tx1"/>
                </a:solidFill>
                <a:effectLst/>
                <a:latin typeface="+mn-lt"/>
                <a:ea typeface="+mn-ea"/>
                <a:cs typeface="+mn-cs"/>
              </a:rPr>
              <a:t>. In his mechanical use cases, he explicitly imposes a second-order structure (position/velocity pairs) on these new states to mimic physical laws, but their behavior is learned entirely from data </a:t>
            </a:r>
            <a:endParaRPr lang="en-US" dirty="0">
              <a:effectLst/>
            </a:endParaRPr>
          </a:p>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9</a:t>
            </a:fld>
            <a:endParaRPr lang="en-NL"/>
          </a:p>
        </p:txBody>
      </p:sp>
    </p:spTree>
    <p:extLst>
      <p:ext uri="{BB962C8B-B14F-4D97-AF65-F5344CB8AC3E}">
        <p14:creationId xmlns:p14="http://schemas.microsoft.com/office/powerpoint/2010/main" val="2197075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Orthogonal by construction currently states that further research for state-space needs to be done</a:t>
            </a:r>
          </a:p>
          <a:p>
            <a:r>
              <a:rPr lang="en-US" dirty="0">
                <a:sym typeface="Wingdings" panose="05000000000000000000" pitchFamily="2" charset="2"/>
              </a:rPr>
              <a:t>resonance frequencies = poles</a:t>
            </a:r>
          </a:p>
          <a:p>
            <a:endParaRPr lang="en-US" dirty="0">
              <a:sym typeface="Wingdings" panose="05000000000000000000" pitchFamily="2" charset="2"/>
            </a:endParaRPr>
          </a:p>
          <a:p>
            <a:r>
              <a:rPr lang="en-US" sz="1200" b="1" i="0" kern="1200" dirty="0">
                <a:solidFill>
                  <a:schemeClr val="tx1"/>
                </a:solidFill>
                <a:effectLst/>
                <a:latin typeface="+mn-lt"/>
                <a:ea typeface="+mn-ea"/>
                <a:cs typeface="+mn-cs"/>
              </a:rPr>
              <a:t>Dual-gantry: position-dependent dynamics</a:t>
            </a:r>
            <a:r>
              <a:rPr lang="en-US" sz="1200" b="0" i="0" kern="1200" dirty="0">
                <a:solidFill>
                  <a:schemeClr val="tx1"/>
                </a:solidFill>
                <a:effectLst/>
                <a:latin typeface="+mn-lt"/>
                <a:ea typeface="+mn-ea"/>
                <a:cs typeface="+mn-cs"/>
              </a:rPr>
              <a:t> and cross-coupling between gantries</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Definition of Internal Dynamics (NIIR):</a:t>
            </a:r>
            <a:r>
              <a:rPr lang="en-US" sz="1200" b="0" i="0" kern="1200" dirty="0">
                <a:solidFill>
                  <a:schemeClr val="tx1"/>
                </a:solidFill>
                <a:effectLst/>
                <a:latin typeface="+mn-lt"/>
                <a:ea typeface="+mn-ea"/>
                <a:cs typeface="+mn-cs"/>
              </a:rPr>
              <a:t> These models have a </a:t>
            </a:r>
            <a:r>
              <a:rPr lang="en-US" sz="1200" b="1" i="0" kern="1200" dirty="0">
                <a:solidFill>
                  <a:schemeClr val="tx1"/>
                </a:solidFill>
                <a:effectLst/>
                <a:latin typeface="+mn-lt"/>
                <a:ea typeface="+mn-ea"/>
                <a:cs typeface="+mn-cs"/>
              </a:rPr>
              <a:t>nonlinear feedback loop</a:t>
            </a:r>
            <a:r>
              <a:rPr lang="en-US" sz="1200" b="0" i="0" kern="1200" dirty="0">
                <a:solidFill>
                  <a:schemeClr val="tx1"/>
                </a:solidFill>
                <a:effectLst/>
                <a:latin typeface="+mn-lt"/>
                <a:ea typeface="+mn-ea"/>
                <a:cs typeface="+mn-cs"/>
              </a:rPr>
              <a:t>. The nonlinearity isn't just applied to the input (external); it is part of the system's internal memory loop.</a:t>
            </a:r>
          </a:p>
          <a:p>
            <a:endParaRPr lang="en-US" sz="1200" b="0" i="0" kern="1200" dirty="0">
              <a:solidFill>
                <a:schemeClr val="tx1"/>
              </a:solidFill>
              <a:effectLst/>
              <a:latin typeface="+mn-lt"/>
              <a:ea typeface="+mn-ea"/>
              <a:cs typeface="+mn-cs"/>
            </a:endParaRPr>
          </a:p>
          <a:p>
            <a:r>
              <a:rPr lang="en-US" b="1" dirty="0">
                <a:effectLst/>
              </a:rPr>
              <a:t>When to Use Them:</a:t>
            </a:r>
            <a:r>
              <a:rPr lang="en-US" dirty="0">
                <a:effectLst/>
              </a:rPr>
              <a:t> You </a:t>
            </a:r>
            <a:r>
              <a:rPr lang="en-US" i="1" dirty="0">
                <a:effectLst/>
              </a:rPr>
              <a:t>must</a:t>
            </a:r>
            <a:r>
              <a:rPr lang="en-US" dirty="0">
                <a:effectLst/>
              </a:rPr>
              <a:t> use this class of models if your system shows strong nonlinear behaviors like:</a:t>
            </a:r>
          </a:p>
          <a:p>
            <a:r>
              <a:rPr lang="en-US" dirty="0">
                <a:effectLst/>
              </a:rPr>
              <a:t>    ◦ </a:t>
            </a:r>
            <a:r>
              <a:rPr lang="en-US" b="1" dirty="0">
                <a:effectLst/>
              </a:rPr>
              <a:t>Moving Resonances:</a:t>
            </a:r>
            <a:r>
              <a:rPr lang="en-US" dirty="0">
                <a:effectLst/>
              </a:rPr>
              <a:t> The resonance frequency shifts as the operating point or excitation amplitude changes (crucial for dual-gantry).</a:t>
            </a:r>
          </a:p>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10</a:t>
            </a:fld>
            <a:endParaRPr lang="en-NL"/>
          </a:p>
        </p:txBody>
      </p:sp>
    </p:spTree>
    <p:extLst>
      <p:ext uri="{BB962C8B-B14F-4D97-AF65-F5344CB8AC3E}">
        <p14:creationId xmlns:p14="http://schemas.microsoft.com/office/powerpoint/2010/main" val="4931018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Orthogonal Regularization for physical parameters vs prediction accuracy for the EA method</a:t>
            </a:r>
            <a:endParaRPr lang="en-NL" dirty="0"/>
          </a:p>
          <a:p>
            <a:endParaRPr lang="en-US" dirty="0"/>
          </a:p>
          <a:p>
            <a:r>
              <a:rPr lang="en-US" sz="1200" b="0" i="0" kern="1200" dirty="0">
                <a:solidFill>
                  <a:schemeClr val="tx1"/>
                </a:solidFill>
                <a:effectLst/>
                <a:latin typeface="+mn-lt"/>
                <a:ea typeface="+mn-ea"/>
                <a:cs typeface="+mn-cs"/>
              </a:rPr>
              <a:t>add a penalty term to the cost function. This penalizes the neural network if its output lies in the same mathematical subspace as the physical model's output.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Why simulated?</a:t>
            </a:r>
            <a:r>
              <a:rPr lang="en-US" sz="1200" b="0" i="0" kern="1200" dirty="0">
                <a:solidFill>
                  <a:schemeClr val="tx1"/>
                </a:solidFill>
                <a:effectLst/>
                <a:latin typeface="+mn-lt"/>
                <a:ea typeface="+mn-ea"/>
                <a:cs typeface="+mn-cs"/>
              </a:rPr>
              <a:t> In "Orthogonal-by-Construction" methods for input-output models, you use past measured data to build the projection matrix. However, for a </a:t>
            </a:r>
            <a:r>
              <a:rPr lang="en-US" sz="1200" b="1" i="0" kern="1200" dirty="0">
                <a:solidFill>
                  <a:schemeClr val="tx1"/>
                </a:solidFill>
                <a:effectLst/>
                <a:latin typeface="+mn-lt"/>
                <a:ea typeface="+mn-ea"/>
                <a:cs typeface="+mn-cs"/>
              </a:rPr>
              <a:t>State-Space</a:t>
            </a:r>
            <a:r>
              <a:rPr lang="en-US" sz="1200" b="0" i="0" kern="1200" dirty="0">
                <a:solidFill>
                  <a:schemeClr val="tx1"/>
                </a:solidFill>
                <a:effectLst/>
                <a:latin typeface="+mn-lt"/>
                <a:ea typeface="+mn-ea"/>
                <a:cs typeface="+mn-cs"/>
              </a:rPr>
              <a:t> model (like your dual-gantry), the internal states (velocities, flexible modes) are often not fully measured.</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The Method:</a:t>
            </a:r>
            <a:r>
              <a:rPr lang="en-US" sz="1200" b="0" i="0" kern="1200" dirty="0">
                <a:solidFill>
                  <a:schemeClr val="tx1"/>
                </a:solidFill>
                <a:effectLst/>
                <a:latin typeface="+mn-lt"/>
                <a:ea typeface="+mn-ea"/>
                <a:cs typeface="+mn-cs"/>
              </a:rPr>
              <a:t> use the </a:t>
            </a:r>
            <a:r>
              <a:rPr lang="en-US" sz="1200" b="1" i="0" kern="1200" dirty="0">
                <a:solidFill>
                  <a:schemeClr val="tx1"/>
                </a:solidFill>
                <a:effectLst/>
                <a:latin typeface="+mn-lt"/>
                <a:ea typeface="+mn-ea"/>
                <a:cs typeface="+mn-cs"/>
              </a:rPr>
              <a:t>simulated states</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generated by your First-Principles (FP) model to construct the Jacobian (sensitivity matrix). This allows you to apply orthogonality even to latent/hidden states, making it compatible with nonlinear state-space formulations where full state measurement is impossible.</a:t>
            </a:r>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11</a:t>
            </a:fld>
            <a:endParaRPr lang="en-NL"/>
          </a:p>
        </p:txBody>
      </p:sp>
    </p:spTree>
    <p:extLst>
      <p:ext uri="{BB962C8B-B14F-4D97-AF65-F5344CB8AC3E}">
        <p14:creationId xmlns:p14="http://schemas.microsoft.com/office/powerpoint/2010/main" val="28025060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Why "EA continuously updates" is a problem for Orthogonality</a:t>
            </a:r>
            <a:r>
              <a:rPr lang="en-US" sz="1200" b="0" i="0" kern="1200" dirty="0">
                <a:solidFill>
                  <a:schemeClr val="tx1"/>
                </a:solidFill>
                <a:effectLst/>
                <a:latin typeface="+mn-lt"/>
                <a:ea typeface="+mn-ea"/>
                <a:cs typeface="+mn-cs"/>
              </a:rPr>
              <a:t> In standard "serial" grey-box modeling, you might fix the physical parameters and then train a network. But in your EA method, you are doing </a:t>
            </a:r>
            <a:r>
              <a:rPr lang="en-US" sz="1200" b="1" i="0" kern="1200" dirty="0">
                <a:solidFill>
                  <a:schemeClr val="tx1"/>
                </a:solidFill>
                <a:effectLst/>
                <a:latin typeface="+mn-lt"/>
                <a:ea typeface="+mn-ea"/>
                <a:cs typeface="+mn-cs"/>
              </a:rPr>
              <a:t>joint estimation</a:t>
            </a:r>
            <a:r>
              <a:rPr lang="en-US" sz="1200" b="0" i="0" kern="1200" dirty="0">
                <a:solidFill>
                  <a:schemeClr val="tx1"/>
                </a:solidFill>
                <a:effectLst/>
                <a:latin typeface="+mn-lt"/>
                <a:ea typeface="+mn-ea"/>
                <a:cs typeface="+mn-cs"/>
              </a:rPr>
              <a:t>—updating the mass/stiffness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The Logic:</a:t>
            </a:r>
            <a:r>
              <a:rPr lang="en-US" sz="1200" b="0" i="0" kern="1200" dirty="0">
                <a:solidFill>
                  <a:schemeClr val="tx1"/>
                </a:solidFill>
                <a:effectLst/>
                <a:latin typeface="+mn-lt"/>
                <a:ea typeface="+mn-ea"/>
                <a:cs typeface="+mn-cs"/>
              </a:rPr>
              <a:t> Even though the datasheets aren't perfect (that's why you are updating them), they capture the </a:t>
            </a:r>
            <a:r>
              <a:rPr lang="en-US" sz="1200" b="0" i="1" kern="1200" dirty="0">
                <a:solidFill>
                  <a:schemeClr val="tx1"/>
                </a:solidFill>
                <a:effectLst/>
                <a:latin typeface="+mn-lt"/>
                <a:ea typeface="+mn-ea"/>
                <a:cs typeface="+mn-cs"/>
              </a:rPr>
              <a:t>general</a:t>
            </a:r>
            <a:r>
              <a:rPr lang="en-US" sz="1200" b="0" i="0" kern="1200" dirty="0">
                <a:solidFill>
                  <a:schemeClr val="tx1"/>
                </a:solidFill>
                <a:effectLst/>
                <a:latin typeface="+mn-lt"/>
                <a:ea typeface="+mn-ea"/>
                <a:cs typeface="+mn-cs"/>
              </a:rPr>
              <a:t> rigid-body behavior (mass/geometry) correctly.</a:t>
            </a:r>
            <a:endParaRPr lang="en-US" dirty="0">
              <a:effectLst/>
            </a:endParaRPr>
          </a:p>
          <a:p>
            <a:endParaRPr lang="en-US" dirty="0">
              <a:effectLst/>
            </a:endParaRPr>
          </a:p>
          <a:p>
            <a:r>
              <a:rPr lang="en-US" dirty="0">
                <a:effectLst/>
              </a:rPr>
              <a:t>• </a:t>
            </a:r>
            <a:r>
              <a:rPr lang="en-US" b="1" dirty="0">
                <a:effectLst/>
              </a:rPr>
              <a:t>The Theoretical Ideal: Adaptive Orthogonality</a:t>
            </a:r>
            <a:endParaRPr lang="en-US" dirty="0">
              <a:effectLst/>
            </a:endParaRPr>
          </a:p>
          <a:p>
            <a:r>
              <a:rPr lang="en-US" dirty="0">
                <a:effectLst/>
              </a:rPr>
              <a:t>    ◦ To ensure strict orthogonality, we </a:t>
            </a:r>
            <a:r>
              <a:rPr lang="en-US" i="1" dirty="0">
                <a:effectLst/>
              </a:rPr>
              <a:t>should</a:t>
            </a:r>
            <a:r>
              <a:rPr lang="en-US" dirty="0">
                <a:effectLst/>
              </a:rPr>
              <a:t> re-linearize the physical model around the current </a:t>
            </a:r>
            <a:r>
              <a:rPr lang="en-US" sz="1200" i="1" kern="1200" dirty="0">
                <a:solidFill>
                  <a:schemeClr val="tx1"/>
                </a:solidFill>
                <a:effectLst/>
                <a:latin typeface="+mn-lt"/>
                <a:ea typeface="+mn-ea"/>
                <a:cs typeface="+mn-cs"/>
              </a:rPr>
              <a:t>θ</a:t>
            </a:r>
            <a:r>
              <a:rPr lang="en-US" sz="1200" kern="1200" dirty="0">
                <a:solidFill>
                  <a:schemeClr val="tx1"/>
                </a:solidFill>
                <a:effectLst/>
                <a:latin typeface="+mn-lt"/>
                <a:ea typeface="+mn-ea"/>
                <a:cs typeface="+mn-cs"/>
              </a:rPr>
              <a:t>^</a:t>
            </a:r>
            <a:r>
              <a:rPr lang="en-US" dirty="0">
                <a:effectLst/>
              </a:rPr>
              <a:t> at every iteration.</a:t>
            </a:r>
          </a:p>
          <a:p>
            <a:r>
              <a:rPr lang="en-US" dirty="0">
                <a:effectLst/>
              </a:rPr>
              <a:t>    ◦ </a:t>
            </a:r>
            <a:r>
              <a:rPr lang="en-US" b="1" dirty="0">
                <a:effectLst/>
              </a:rPr>
              <a:t>Drawback:</a:t>
            </a:r>
            <a:r>
              <a:rPr lang="en-US" dirty="0">
                <a:effectLst/>
              </a:rPr>
              <a:t> This requires re-computing the Jacobian and performing an SVD at every step, which is computationally prohibitive</a:t>
            </a:r>
          </a:p>
          <a:p>
            <a:endParaRPr lang="en-US" dirty="0"/>
          </a:p>
          <a:p>
            <a:r>
              <a:rPr lang="en-US" b="1" dirty="0">
                <a:effectLst/>
              </a:rPr>
              <a:t>The Practical Solution: Nominal Approximation</a:t>
            </a:r>
            <a:endParaRPr lang="en-US" dirty="0">
              <a:effectLst/>
            </a:endParaRPr>
          </a:p>
          <a:p>
            <a:r>
              <a:rPr lang="en-US" dirty="0">
                <a:effectLst/>
              </a:rPr>
              <a:t>    ◦ </a:t>
            </a:r>
            <a:r>
              <a:rPr lang="en-US" b="1" dirty="0">
                <a:effectLst/>
              </a:rPr>
              <a:t>Method:</a:t>
            </a:r>
            <a:r>
              <a:rPr lang="en-US" dirty="0">
                <a:effectLst/>
              </a:rPr>
              <a:t> We calculate the Jacobian and Projection Matrix (</a:t>
            </a:r>
            <a:r>
              <a:rPr lang="en-US" sz="1200" kern="1200" dirty="0">
                <a:solidFill>
                  <a:schemeClr val="tx1"/>
                </a:solidFill>
                <a:effectLst/>
                <a:latin typeface="+mn-lt"/>
                <a:ea typeface="+mn-ea"/>
                <a:cs typeface="+mn-cs"/>
              </a:rPr>
              <a:t>Π</a:t>
            </a:r>
            <a:r>
              <a:rPr lang="en-US" dirty="0">
                <a:effectLst/>
              </a:rPr>
              <a:t>) </a:t>
            </a:r>
            <a:r>
              <a:rPr lang="en-US" b="1" dirty="0">
                <a:effectLst/>
              </a:rPr>
              <a:t>once</a:t>
            </a:r>
            <a:r>
              <a:rPr lang="en-US" dirty="0">
                <a:effectLst/>
              </a:rPr>
              <a:t> at the start, using the nominal parameters (</a:t>
            </a:r>
            <a:r>
              <a:rPr lang="en-US" sz="1200" i="1" kern="1200" dirty="0">
                <a:solidFill>
                  <a:schemeClr val="tx1"/>
                </a:solidFill>
                <a:effectLst/>
                <a:latin typeface="+mn-lt"/>
                <a:ea typeface="+mn-ea"/>
                <a:cs typeface="+mn-cs"/>
              </a:rPr>
              <a:t>θ</a:t>
            </a:r>
            <a:r>
              <a:rPr lang="en-US" sz="1200" kern="1200" dirty="0">
                <a:solidFill>
                  <a:schemeClr val="tx1"/>
                </a:solidFill>
                <a:effectLst/>
                <a:latin typeface="+mn-lt"/>
                <a:ea typeface="+mn-ea"/>
                <a:cs typeface="+mn-cs"/>
              </a:rPr>
              <a:t>0​</a:t>
            </a:r>
            <a:r>
              <a:rPr lang="en-US" dirty="0">
                <a:effectLst/>
              </a:rPr>
              <a:t>) from the </a:t>
            </a:r>
            <a:r>
              <a:rPr lang="en-US" b="1" dirty="0">
                <a:effectLst/>
              </a:rPr>
              <a:t>Telica datasheets</a:t>
            </a:r>
            <a:endParaRPr lang="en-US" dirty="0">
              <a:effectLst/>
            </a:endParaRPr>
          </a:p>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13</a:t>
            </a:fld>
            <a:endParaRPr lang="en-NL"/>
          </a:p>
        </p:txBody>
      </p:sp>
    </p:spTree>
    <p:extLst>
      <p:ext uri="{BB962C8B-B14F-4D97-AF65-F5344CB8AC3E}">
        <p14:creationId xmlns:p14="http://schemas.microsoft.com/office/powerpoint/2010/main" val="1652340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1. OMNIPUS (</a:t>
            </a:r>
            <a:r>
              <a:rPr lang="en-US" dirty="0" err="1">
                <a:effectLst/>
              </a:rPr>
              <a:t>OptiMized</a:t>
            </a:r>
            <a:r>
              <a:rPr lang="en-US" dirty="0">
                <a:effectLst/>
              </a:rPr>
              <a:t> Nonlinear </a:t>
            </a:r>
            <a:r>
              <a:rPr lang="en-US" dirty="0" err="1">
                <a:effectLst/>
              </a:rPr>
              <a:t>InPUt</a:t>
            </a:r>
            <a:r>
              <a:rPr lang="en-US" dirty="0">
                <a:effectLst/>
              </a:rPr>
              <a:t> Signal)</a:t>
            </a:r>
          </a:p>
          <a:p>
            <a:r>
              <a:rPr lang="en-US" dirty="0">
                <a:effectLst/>
              </a:rPr>
              <a:t>• </a:t>
            </a:r>
            <a:r>
              <a:rPr lang="en-US" b="1" dirty="0">
                <a:effectLst/>
              </a:rPr>
              <a:t>What it is:</a:t>
            </a:r>
            <a:r>
              <a:rPr lang="en-US" dirty="0">
                <a:effectLst/>
              </a:rPr>
              <a:t> Instead of using standard white noise (which concentrates energy around zero), OMNIPUS generates </a:t>
            </a:r>
            <a:r>
              <a:rPr lang="en-US" b="1" dirty="0">
                <a:effectLst/>
              </a:rPr>
              <a:t>randomized step-like sequences</a:t>
            </a:r>
            <a:r>
              <a:rPr lang="en-US" dirty="0">
                <a:effectLst/>
              </a:rPr>
              <a:t>.</a:t>
            </a:r>
          </a:p>
          <a:p>
            <a:r>
              <a:rPr lang="en-US" dirty="0">
                <a:effectLst/>
              </a:rPr>
              <a:t>• </a:t>
            </a:r>
            <a:r>
              <a:rPr lang="en-US" b="1" dirty="0">
                <a:effectLst/>
              </a:rPr>
              <a:t>Why use it for the Gantry:</a:t>
            </a:r>
            <a:endParaRPr lang="en-US" dirty="0">
              <a:effectLst/>
            </a:endParaRPr>
          </a:p>
          <a:p>
            <a:r>
              <a:rPr lang="en-US" dirty="0">
                <a:effectLst/>
              </a:rPr>
              <a:t>    ◦ </a:t>
            </a:r>
            <a:r>
              <a:rPr lang="en-US" b="1" dirty="0">
                <a:effectLst/>
              </a:rPr>
              <a:t>Constraint Handling:</a:t>
            </a:r>
            <a:r>
              <a:rPr lang="en-US" dirty="0">
                <a:effectLst/>
              </a:rPr>
              <a:t> It respects physical limits (amplitude and gradients) while maximizing coverage of the operating space.</a:t>
            </a:r>
          </a:p>
          <a:p>
            <a:endParaRPr lang="en-US" dirty="0">
              <a:effectLst/>
            </a:endParaRPr>
          </a:p>
          <a:p>
            <a:r>
              <a:rPr lang="en-US" dirty="0">
                <a:effectLst/>
              </a:rPr>
              <a:t>2. Combining OMNIPUS with the "Wet-Clutch Trick"</a:t>
            </a:r>
          </a:p>
          <a:p>
            <a:r>
              <a:rPr lang="en-US" dirty="0">
                <a:effectLst/>
              </a:rPr>
              <a:t>You should explain this as a </a:t>
            </a:r>
            <a:r>
              <a:rPr lang="en-US" b="1" dirty="0">
                <a:effectLst/>
              </a:rPr>
              <a:t>"Global vs. Local" identification strategy</a:t>
            </a:r>
            <a:r>
              <a:rPr lang="en-US" dirty="0">
                <a:effectLst/>
              </a:rPr>
              <a:t>.</a:t>
            </a:r>
          </a:p>
          <a:p>
            <a:r>
              <a:rPr lang="en-US" dirty="0">
                <a:effectLst/>
              </a:rPr>
              <a:t>• </a:t>
            </a:r>
            <a:r>
              <a:rPr lang="en-US" b="1" dirty="0">
                <a:effectLst/>
              </a:rPr>
              <a:t>OMNIPUS (Global Position):</a:t>
            </a:r>
            <a:r>
              <a:rPr lang="en-US" dirty="0">
                <a:effectLst/>
              </a:rPr>
              <a:t> Use the randomized steps of OMNIPUS to move the gantry to specific positions (</a:t>
            </a:r>
            <a:r>
              <a:rPr lang="en-US" sz="1200" i="1" kern="1200" dirty="0" err="1">
                <a:solidFill>
                  <a:schemeClr val="tx1"/>
                </a:solidFill>
                <a:effectLst/>
                <a:latin typeface="+mn-lt"/>
                <a:ea typeface="+mn-ea"/>
                <a:cs typeface="+mn-cs"/>
              </a:rPr>
              <a:t>x</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y</a:t>
            </a:r>
            <a:r>
              <a:rPr lang="en-US" dirty="0">
                <a:effectLst/>
              </a:rPr>
              <a:t>) within the workspace. This handles the </a:t>
            </a:r>
            <a:r>
              <a:rPr lang="en-US" b="1" dirty="0">
                <a:effectLst/>
              </a:rPr>
              <a:t>position-dependent</a:t>
            </a:r>
            <a:r>
              <a:rPr lang="en-US" dirty="0">
                <a:effectLst/>
              </a:rPr>
              <a:t> nature of the system (moving to where the stiffness changes).</a:t>
            </a:r>
          </a:p>
          <a:p>
            <a:r>
              <a:rPr lang="en-US" dirty="0">
                <a:effectLst/>
              </a:rPr>
              <a:t>• </a:t>
            </a:r>
            <a:r>
              <a:rPr lang="en-US" b="1" dirty="0">
                <a:effectLst/>
              </a:rPr>
              <a:t>Wet-Clutch Trick (Local Dynamics):</a:t>
            </a:r>
            <a:r>
              <a:rPr lang="en-US" dirty="0">
                <a:effectLst/>
              </a:rPr>
              <a:t> Once the OMNIPUS signal holds the gantry at a specific "step" (regime point), you superimpose a </a:t>
            </a:r>
            <a:r>
              <a:rPr lang="en-US" b="1" dirty="0">
                <a:effectLst/>
              </a:rPr>
              <a:t>small-amplitude </a:t>
            </a:r>
            <a:r>
              <a:rPr lang="en-US" b="1" dirty="0" err="1">
                <a:effectLst/>
              </a:rPr>
              <a:t>Multisine</a:t>
            </a:r>
            <a:r>
              <a:rPr lang="en-US" dirty="0">
                <a:effectLst/>
              </a:rPr>
              <a:t>.</a:t>
            </a:r>
          </a:p>
          <a:p>
            <a:r>
              <a:rPr lang="en-US" dirty="0">
                <a:effectLst/>
              </a:rPr>
              <a:t>    ◦ </a:t>
            </a:r>
            <a:r>
              <a:rPr lang="en-US" i="1" dirty="0">
                <a:effectLst/>
              </a:rPr>
              <a:t>Purpose:</a:t>
            </a:r>
            <a:r>
              <a:rPr lang="en-US" dirty="0">
                <a:effectLst/>
              </a:rPr>
              <a:t> This excites the </a:t>
            </a:r>
            <a:r>
              <a:rPr lang="en-US" b="1" dirty="0">
                <a:effectLst/>
              </a:rPr>
              <a:t>local</a:t>
            </a:r>
            <a:r>
              <a:rPr lang="en-US" dirty="0">
                <a:effectLst/>
              </a:rPr>
              <a:t> flexible modes (resonances) </a:t>
            </a:r>
            <a:r>
              <a:rPr lang="en-US" i="1" dirty="0">
                <a:effectLst/>
              </a:rPr>
              <a:t>at that specific position</a:t>
            </a:r>
            <a:r>
              <a:rPr lang="en-US" dirty="0">
                <a:effectLst/>
              </a:rPr>
              <a:t>.</a:t>
            </a:r>
          </a:p>
          <a:p>
            <a:r>
              <a:rPr lang="en-US" dirty="0">
                <a:effectLst/>
              </a:rPr>
              <a:t>    ◦ </a:t>
            </a:r>
            <a:r>
              <a:rPr lang="en-US" i="1" dirty="0">
                <a:effectLst/>
              </a:rPr>
              <a:t>Result:</a:t>
            </a:r>
            <a:r>
              <a:rPr lang="en-US" dirty="0">
                <a:effectLst/>
              </a:rPr>
              <a:t> You get a high-fidelity snapshot of the frequency response (stiffness/damping) at every critical position in the workspace, solving the "moving resonance" problem .</a:t>
            </a:r>
          </a:p>
          <a:p>
            <a:endParaRPr lang="en-US" dirty="0">
              <a:effectLst/>
            </a:endParaRPr>
          </a:p>
          <a:p>
            <a:r>
              <a:rPr lang="en-US" dirty="0">
                <a:effectLst/>
              </a:rPr>
              <a:t>• </a:t>
            </a:r>
            <a:r>
              <a:rPr lang="en-US" b="1" dirty="0">
                <a:effectLst/>
              </a:rPr>
              <a:t>The Solution:</a:t>
            </a:r>
            <a:r>
              <a:rPr lang="en-US" dirty="0">
                <a:effectLst/>
              </a:rPr>
              <a:t> HILOMOT is an algorithm that </a:t>
            </a:r>
            <a:r>
              <a:rPr lang="en-US" b="1" dirty="0">
                <a:effectLst/>
              </a:rPr>
              <a:t>automatically partitions the input space</a:t>
            </a:r>
            <a:r>
              <a:rPr lang="en-US" dirty="0">
                <a:effectLst/>
              </a:rPr>
              <a:t>.</a:t>
            </a:r>
          </a:p>
          <a:p>
            <a:r>
              <a:rPr lang="en-US" dirty="0">
                <a:effectLst/>
              </a:rPr>
              <a:t>Because cant visit every coordinate</a:t>
            </a:r>
          </a:p>
          <a:p>
            <a:r>
              <a:rPr lang="en-US" dirty="0">
                <a:effectLst/>
              </a:rPr>
              <a:t>• </a:t>
            </a:r>
            <a:r>
              <a:rPr lang="en-US" b="1" dirty="0">
                <a:effectLst/>
              </a:rPr>
              <a:t>How it works:</a:t>
            </a:r>
            <a:endParaRPr lang="en-US" dirty="0">
              <a:effectLst/>
            </a:endParaRPr>
          </a:p>
          <a:p>
            <a:r>
              <a:rPr lang="en-US" dirty="0">
                <a:effectLst/>
              </a:rPr>
              <a:t>    1. Start with a single global linear model for the whole gantry workspace.</a:t>
            </a:r>
          </a:p>
          <a:p>
            <a:r>
              <a:rPr lang="en-US" dirty="0">
                <a:effectLst/>
              </a:rPr>
              <a:t>    2. Calculate the local error across the workspace.</a:t>
            </a:r>
          </a:p>
          <a:p>
            <a:r>
              <a:rPr lang="en-US" dirty="0">
                <a:effectLst/>
              </a:rPr>
              <a:t>    3. </a:t>
            </a:r>
            <a:r>
              <a:rPr lang="en-US" b="1" dirty="0">
                <a:effectLst/>
              </a:rPr>
              <a:t>Split the space:</a:t>
            </a:r>
            <a:r>
              <a:rPr lang="en-US" dirty="0">
                <a:effectLst/>
              </a:rPr>
              <a:t> The algorithm automatically splits the input space (the XY positions) into two halves at the location where the local error is worst.</a:t>
            </a:r>
          </a:p>
          <a:p>
            <a:r>
              <a:rPr lang="en-US" dirty="0">
                <a:effectLst/>
              </a:rPr>
              <a:t>    4. </a:t>
            </a:r>
            <a:r>
              <a:rPr lang="en-US" b="1" dirty="0">
                <a:effectLst/>
              </a:rPr>
              <a:t>Repeat:</a:t>
            </a:r>
            <a:r>
              <a:rPr lang="en-US" dirty="0">
                <a:effectLst/>
              </a:rPr>
              <a:t> It continues to split these regions into smaller "leaves" (local models) until the error is acceptable everywhere [Source 0, 87].</a:t>
            </a:r>
          </a:p>
          <a:p>
            <a:endParaRPr lang="en-US" dirty="0">
              <a:effectLst/>
            </a:endParaRPr>
          </a:p>
          <a:p>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Why for Gantry:</a:t>
            </a:r>
            <a:r>
              <a:rPr lang="en-US" sz="1200" b="0" i="0" kern="1200" dirty="0">
                <a:solidFill>
                  <a:schemeClr val="tx1"/>
                </a:solidFill>
                <a:effectLst/>
                <a:latin typeface="+mn-lt"/>
                <a:ea typeface="+mn-ea"/>
                <a:cs typeface="+mn-cs"/>
              </a:rPr>
              <a:t> This is ideal for position-dependent stiffness because it will automatically place more regime points in areas where the stiffness changes rapidly (likely near the center of the travel range) and fewer points where behavior is linear/consistent (near the supports) [Source 0, 87].</a:t>
            </a:r>
            <a:endParaRPr lang="en-US" dirty="0">
              <a:effectLst/>
            </a:endParaRPr>
          </a:p>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14</a:t>
            </a:fld>
            <a:endParaRPr lang="en-NL"/>
          </a:p>
        </p:txBody>
      </p:sp>
    </p:spTree>
    <p:extLst>
      <p:ext uri="{BB962C8B-B14F-4D97-AF65-F5344CB8AC3E}">
        <p14:creationId xmlns:p14="http://schemas.microsoft.com/office/powerpoint/2010/main" val="2308657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Orthogonality forces the NN </a:t>
            </a:r>
            <a:r>
              <a:rPr lang="en-US" sz="1200" b="0" i="1"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to learn dynamics that the physical model already explains. If your physical model is decoupled (explains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but the real coupling looks like a force in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caused by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a standard orthogonality projection might misinterpret this valid coupling as "rigid body dynamics" and suppress it. You are asking if the "forbidden zone" of orthogonality is too aggressive for a decoupled baseline.</a:t>
            </a:r>
          </a:p>
          <a:p>
            <a:endParaRPr lang="en-US" sz="1200" b="0" i="0" kern="1200" dirty="0">
              <a:solidFill>
                <a:schemeClr val="tx1"/>
              </a:solidFill>
              <a:effectLst/>
              <a:latin typeface="+mn-lt"/>
              <a:ea typeface="+mn-ea"/>
              <a:cs typeface="+mn-cs"/>
            </a:endParaRPr>
          </a:p>
          <a:p>
            <a:r>
              <a:rPr lang="en-US" b="1" dirty="0">
                <a:effectLst/>
              </a:rPr>
              <a:t>The Decoupled Jacobian:</a:t>
            </a:r>
            <a:r>
              <a:rPr lang="en-US" dirty="0">
                <a:effectLst/>
              </a:rPr>
              <a:t> If your First Principles (FP) model is decoupled, its Jacobian only contains sensitivities to "own-axis" inputs (e.g., how </a:t>
            </a:r>
            <a:r>
              <a:rPr lang="en-US" sz="1200" i="1" kern="1200" dirty="0">
                <a:solidFill>
                  <a:schemeClr val="tx1"/>
                </a:solidFill>
                <a:effectLst/>
                <a:latin typeface="+mn-lt"/>
                <a:ea typeface="+mn-ea"/>
                <a:cs typeface="+mn-cs"/>
              </a:rPr>
              <a:t>y</a:t>
            </a:r>
            <a:r>
              <a:rPr lang="en-US" sz="1200" kern="1200" dirty="0">
                <a:solidFill>
                  <a:schemeClr val="tx1"/>
                </a:solidFill>
                <a:effectLst/>
                <a:latin typeface="+mn-lt"/>
                <a:ea typeface="+mn-ea"/>
                <a:cs typeface="+mn-cs"/>
              </a:rPr>
              <a:t>1​</a:t>
            </a:r>
            <a:r>
              <a:rPr lang="en-US" dirty="0">
                <a:effectLst/>
              </a:rPr>
              <a:t> changes with </a:t>
            </a:r>
            <a:r>
              <a:rPr lang="en-US" sz="1200" i="1" kern="1200" dirty="0">
                <a:solidFill>
                  <a:schemeClr val="tx1"/>
                </a:solidFill>
                <a:effectLst/>
                <a:latin typeface="+mn-lt"/>
                <a:ea typeface="+mn-ea"/>
                <a:cs typeface="+mn-cs"/>
              </a:rPr>
              <a:t>u</a:t>
            </a:r>
            <a:r>
              <a:rPr lang="en-US" sz="1200" kern="1200" dirty="0">
                <a:solidFill>
                  <a:schemeClr val="tx1"/>
                </a:solidFill>
                <a:effectLst/>
                <a:latin typeface="+mn-lt"/>
                <a:ea typeface="+mn-ea"/>
                <a:cs typeface="+mn-cs"/>
              </a:rPr>
              <a:t>1​</a:t>
            </a:r>
            <a:r>
              <a:rPr lang="en-US" dirty="0">
                <a:effectLst/>
              </a:rPr>
              <a:t>). It contains </a:t>
            </a:r>
            <a:r>
              <a:rPr lang="en-US" b="1" dirty="0">
                <a:effectLst/>
              </a:rPr>
              <a:t>zero</a:t>
            </a:r>
            <a:r>
              <a:rPr lang="en-US" dirty="0">
                <a:effectLst/>
              </a:rPr>
              <a:t> sensitivity to "cross-axis" inputs (</a:t>
            </a:r>
            <a:r>
              <a:rPr lang="en-US" sz="1200" i="1" kern="1200" dirty="0">
                <a:solidFill>
                  <a:schemeClr val="tx1"/>
                </a:solidFill>
                <a:effectLst/>
                <a:latin typeface="+mn-lt"/>
                <a:ea typeface="+mn-ea"/>
                <a:cs typeface="+mn-cs"/>
              </a:rPr>
              <a:t>u</a:t>
            </a:r>
            <a:r>
              <a:rPr lang="en-US" sz="1200" kern="1200" dirty="0">
                <a:solidFill>
                  <a:schemeClr val="tx1"/>
                </a:solidFill>
                <a:effectLst/>
                <a:latin typeface="+mn-lt"/>
                <a:ea typeface="+mn-ea"/>
                <a:cs typeface="+mn-cs"/>
              </a:rPr>
              <a:t>2​</a:t>
            </a:r>
            <a:r>
              <a:rPr lang="en-US" dirty="0">
                <a:effectLst/>
              </a:rPr>
              <a:t>), because those terms do not exist in the decoupled equations.</a:t>
            </a:r>
          </a:p>
          <a:p>
            <a:r>
              <a:rPr lang="en-US" dirty="0">
                <a:effectLst/>
              </a:rPr>
              <a:t>• </a:t>
            </a:r>
            <a:r>
              <a:rPr lang="en-US" b="1" dirty="0">
                <a:effectLst/>
              </a:rPr>
              <a:t>The Conclusion:</a:t>
            </a:r>
            <a:r>
              <a:rPr lang="en-US" dirty="0">
                <a:effectLst/>
              </a:rPr>
              <a:t> Valid cross-coupling dynamics (e.g., </a:t>
            </a:r>
            <a:r>
              <a:rPr lang="en-US" sz="1200" i="1" kern="1200" dirty="0">
                <a:solidFill>
                  <a:schemeClr val="tx1"/>
                </a:solidFill>
                <a:effectLst/>
                <a:latin typeface="+mn-lt"/>
                <a:ea typeface="+mn-ea"/>
                <a:cs typeface="+mn-cs"/>
              </a:rPr>
              <a:t>y</a:t>
            </a:r>
            <a:r>
              <a:rPr lang="en-US" sz="1200" kern="1200" dirty="0">
                <a:solidFill>
                  <a:schemeClr val="tx1"/>
                </a:solidFill>
                <a:effectLst/>
                <a:latin typeface="+mn-lt"/>
                <a:ea typeface="+mn-ea"/>
                <a:cs typeface="+mn-cs"/>
              </a:rPr>
              <a:t>1​</a:t>
            </a:r>
            <a:r>
              <a:rPr lang="en-US" dirty="0">
                <a:effectLst/>
              </a:rPr>
              <a:t> moving due to </a:t>
            </a:r>
            <a:r>
              <a:rPr lang="en-US" sz="1200" i="1" kern="1200" dirty="0">
                <a:solidFill>
                  <a:schemeClr val="tx1"/>
                </a:solidFill>
                <a:effectLst/>
                <a:latin typeface="+mn-lt"/>
                <a:ea typeface="+mn-ea"/>
                <a:cs typeface="+mn-cs"/>
              </a:rPr>
              <a:t>u</a:t>
            </a:r>
            <a:r>
              <a:rPr lang="en-US" sz="1200" kern="1200" dirty="0">
                <a:solidFill>
                  <a:schemeClr val="tx1"/>
                </a:solidFill>
                <a:effectLst/>
                <a:latin typeface="+mn-lt"/>
                <a:ea typeface="+mn-ea"/>
                <a:cs typeface="+mn-cs"/>
              </a:rPr>
              <a:t>2​</a:t>
            </a:r>
            <a:r>
              <a:rPr lang="en-US" dirty="0">
                <a:effectLst/>
              </a:rPr>
              <a:t>) typically lie in a </a:t>
            </a:r>
            <a:r>
              <a:rPr lang="en-US" b="1" dirty="0">
                <a:effectLst/>
              </a:rPr>
              <a:t>subspace orthogonal</a:t>
            </a:r>
            <a:r>
              <a:rPr lang="en-US" dirty="0">
                <a:effectLst/>
              </a:rPr>
              <a:t> to the decoupled rigid-body dynamics. Therefore, the projection matrix </a:t>
            </a:r>
            <a:r>
              <a:rPr lang="en-US" sz="1200" kern="1200" dirty="0">
                <a:solidFill>
                  <a:schemeClr val="tx1"/>
                </a:solidFill>
                <a:effectLst/>
                <a:latin typeface="+mn-lt"/>
                <a:ea typeface="+mn-ea"/>
                <a:cs typeface="+mn-cs"/>
              </a:rPr>
              <a:t>Π</a:t>
            </a:r>
            <a:r>
              <a:rPr lang="en-US" dirty="0">
                <a:effectLst/>
              </a:rPr>
              <a:t> (constructed from the decoupled Jacobian) will </a:t>
            </a:r>
            <a:r>
              <a:rPr lang="en-US" b="1" dirty="0">
                <a:effectLst/>
              </a:rPr>
              <a:t>not</a:t>
            </a:r>
            <a:r>
              <a:rPr lang="en-US" dirty="0">
                <a:effectLst/>
              </a:rPr>
              <a:t> project these coupling effects onto the "forbidden" zone. The Neural Network will remain free to learn the cross-coupling as a "residual" because the physical model fundamentally cannot explain it.</a:t>
            </a:r>
          </a:p>
          <a:p>
            <a:endParaRPr lang="en-US" dirty="0"/>
          </a:p>
          <a:p>
            <a:endParaRPr lang="en-US" dirty="0"/>
          </a:p>
          <a:p>
            <a:r>
              <a:rPr lang="en-US" sz="1200" b="1" i="0" kern="1200" dirty="0">
                <a:solidFill>
                  <a:schemeClr val="tx1"/>
                </a:solidFill>
                <a:effectLst/>
                <a:latin typeface="+mn-lt"/>
                <a:ea typeface="+mn-ea"/>
                <a:cs typeface="+mn-cs"/>
              </a:rPr>
              <a:t>The Risk of Misinterpretation:</a:t>
            </a:r>
            <a:r>
              <a:rPr lang="en-US" sz="1200" b="0" i="0" kern="1200" dirty="0">
                <a:solidFill>
                  <a:schemeClr val="tx1"/>
                </a:solidFill>
                <a:effectLst/>
                <a:latin typeface="+mn-lt"/>
                <a:ea typeface="+mn-ea"/>
                <a:cs typeface="+mn-cs"/>
              </a:rPr>
              <a:t> If the gantry moves in a way where </a:t>
            </a:r>
            <a:r>
              <a:rPr lang="en-US" sz="1200" b="0" i="1" kern="1200" dirty="0">
                <a:solidFill>
                  <a:schemeClr val="tx1"/>
                </a:solidFill>
                <a:effectLst/>
                <a:latin typeface="+mn-lt"/>
                <a:ea typeface="+mn-ea"/>
                <a:cs typeface="+mn-cs"/>
              </a:rPr>
              <a:t>u</a:t>
            </a:r>
            <a:r>
              <a:rPr lang="en-US" sz="1200" b="0" i="0" kern="1200" dirty="0">
                <a:solidFill>
                  <a:schemeClr val="tx1"/>
                </a:solidFill>
                <a:effectLst/>
                <a:latin typeface="+mn-lt"/>
                <a:ea typeface="+mn-ea"/>
                <a:cs typeface="+mn-cs"/>
              </a:rPr>
              <a:t>1​ and </a:t>
            </a:r>
            <a:r>
              <a:rPr lang="en-US" sz="1200" b="0" i="1" kern="1200" dirty="0">
                <a:solidFill>
                  <a:schemeClr val="tx1"/>
                </a:solidFill>
                <a:effectLst/>
                <a:latin typeface="+mn-lt"/>
                <a:ea typeface="+mn-ea"/>
                <a:cs typeface="+mn-cs"/>
              </a:rPr>
              <a:t>u</a:t>
            </a:r>
            <a:r>
              <a:rPr lang="en-US" sz="1200" b="0" i="0" kern="1200" dirty="0">
                <a:solidFill>
                  <a:schemeClr val="tx1"/>
                </a:solidFill>
                <a:effectLst/>
                <a:latin typeface="+mn-lt"/>
                <a:ea typeface="+mn-ea"/>
                <a:cs typeface="+mn-cs"/>
              </a:rPr>
              <a:t>2​ look similar (correlated), the "Cross-Coupling Force" (from </a:t>
            </a:r>
            <a:r>
              <a:rPr lang="en-US" sz="1200" b="0" i="1" kern="1200" dirty="0">
                <a:solidFill>
                  <a:schemeClr val="tx1"/>
                </a:solidFill>
                <a:effectLst/>
                <a:latin typeface="+mn-lt"/>
                <a:ea typeface="+mn-ea"/>
                <a:cs typeface="+mn-cs"/>
              </a:rPr>
              <a:t>u</a:t>
            </a:r>
            <a:r>
              <a:rPr lang="en-US" sz="1200" b="0" i="0" kern="1200" dirty="0">
                <a:solidFill>
                  <a:schemeClr val="tx1"/>
                </a:solidFill>
                <a:effectLst/>
                <a:latin typeface="+mn-lt"/>
                <a:ea typeface="+mn-ea"/>
                <a:cs typeface="+mn-cs"/>
              </a:rPr>
              <a:t>2​) might look mathematically identical to a "Direct Force" (from </a:t>
            </a:r>
            <a:r>
              <a:rPr lang="en-US" sz="1200" b="0" i="1" kern="1200" dirty="0">
                <a:solidFill>
                  <a:schemeClr val="tx1"/>
                </a:solidFill>
                <a:effectLst/>
                <a:latin typeface="+mn-lt"/>
                <a:ea typeface="+mn-ea"/>
                <a:cs typeface="+mn-cs"/>
              </a:rPr>
              <a:t>u</a:t>
            </a:r>
            <a:r>
              <a:rPr lang="en-US" sz="1200" b="0" i="0" kern="1200" dirty="0">
                <a:solidFill>
                  <a:schemeClr val="tx1"/>
                </a:solidFill>
                <a:effectLst/>
                <a:latin typeface="+mn-lt"/>
                <a:ea typeface="+mn-ea"/>
                <a:cs typeface="+mn-cs"/>
              </a:rPr>
              <a:t>1​).</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dirty="0">
                <a:effectLst/>
              </a:rPr>
              <a:t>• </a:t>
            </a:r>
            <a:r>
              <a:rPr lang="en-US" b="1" dirty="0">
                <a:effectLst/>
              </a:rPr>
              <a:t>Correlated Motion (The Problem):</a:t>
            </a:r>
            <a:r>
              <a:rPr lang="en-US" dirty="0">
                <a:effectLst/>
              </a:rPr>
              <a:t> If Gantry 1 and Gantry 2 always move together in sync (e.g., drawing a diagonal line where </a:t>
            </a:r>
            <a:r>
              <a:rPr lang="en-US" sz="1200" i="1" kern="1200" dirty="0">
                <a:solidFill>
                  <a:schemeClr val="tx1"/>
                </a:solidFill>
                <a:effectLst/>
                <a:latin typeface="+mn-lt"/>
                <a:ea typeface="+mn-ea"/>
                <a:cs typeface="+mn-cs"/>
              </a:rPr>
              <a:t>u</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u</a:t>
            </a:r>
            <a:r>
              <a:rPr lang="en-US" sz="1200" kern="1200" dirty="0">
                <a:solidFill>
                  <a:schemeClr val="tx1"/>
                </a:solidFill>
                <a:effectLst/>
                <a:latin typeface="+mn-lt"/>
                <a:ea typeface="+mn-ea"/>
                <a:cs typeface="+mn-cs"/>
              </a:rPr>
              <a:t>2​</a:t>
            </a:r>
            <a:r>
              <a:rPr lang="en-US" dirty="0">
                <a:effectLst/>
              </a:rPr>
              <a:t>), the cross-talk is indistinguishable from the direct drive. The mathematical vectors overlap.</a:t>
            </a:r>
          </a:p>
          <a:p>
            <a:r>
              <a:rPr lang="en-US" dirty="0">
                <a:effectLst/>
              </a:rPr>
              <a:t>• </a:t>
            </a:r>
            <a:r>
              <a:rPr lang="en-US" b="1" dirty="0">
                <a:effectLst/>
              </a:rPr>
              <a:t>Uncorrelated Motion (The Solution):</a:t>
            </a:r>
            <a:r>
              <a:rPr lang="en-US" dirty="0">
                <a:effectLst/>
              </a:rPr>
              <a:t> You must design the experiment such that the motion of Gantry 1 is statistically </a:t>
            </a:r>
            <a:r>
              <a:rPr lang="en-US" b="1" dirty="0">
                <a:effectLst/>
              </a:rPr>
              <a:t>independent</a:t>
            </a:r>
            <a:r>
              <a:rPr lang="en-US" dirty="0">
                <a:effectLst/>
              </a:rPr>
              <a:t> (uncorrelated) from Gantry 2.</a:t>
            </a:r>
          </a:p>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15</a:t>
            </a:fld>
            <a:endParaRPr lang="en-NL"/>
          </a:p>
        </p:txBody>
      </p:sp>
    </p:spTree>
    <p:extLst>
      <p:ext uri="{BB962C8B-B14F-4D97-AF65-F5344CB8AC3E}">
        <p14:creationId xmlns:p14="http://schemas.microsoft.com/office/powerpoint/2010/main" val="6048800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Does enforcing a static orthogonality constraint based on center-dynamics create a validity gap at the workspace extremities?</a:t>
            </a:r>
            <a:r>
              <a:rPr lang="en-US" sz="1200" b="0" i="0" kern="1200" dirty="0">
                <a:solidFill>
                  <a:schemeClr val="tx1"/>
                </a:solidFill>
                <a:effectLst/>
                <a:latin typeface="+mn-lt"/>
                <a:ea typeface="+mn-ea"/>
                <a:cs typeface="+mn-cs"/>
              </a:rPr>
              <a:t> Specifically, do we risk incorrectly penalizing the Neural Network for learning valid local stiffness variations at the corners because they fall into the 'forbidden subspace' defined only for the center?"</a:t>
            </a:r>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16</a:t>
            </a:fld>
            <a:endParaRPr lang="en-NL"/>
          </a:p>
        </p:txBody>
      </p:sp>
    </p:spTree>
    <p:extLst>
      <p:ext uri="{BB962C8B-B14F-4D97-AF65-F5344CB8AC3E}">
        <p14:creationId xmlns:p14="http://schemas.microsoft.com/office/powerpoint/2010/main" val="1572426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9B0A-21A9-11D8-6AC0-0853C7FE8D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12E18FFD-A4E2-0D4E-7BCD-58E1748D8E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8DCB645C-4A53-6DC7-25C3-9688B7178E8C}"/>
              </a:ext>
            </a:extLst>
          </p:cNvPr>
          <p:cNvSpPr>
            <a:spLocks noGrp="1"/>
          </p:cNvSpPr>
          <p:nvPr>
            <p:ph type="dt" sz="half" idx="10"/>
          </p:nvPr>
        </p:nvSpPr>
        <p:spPr/>
        <p:txBody>
          <a:bodyPr/>
          <a:lstStyle/>
          <a:p>
            <a:fld id="{488B314D-8566-407C-8138-35BC3B95AB82}" type="datetimeFigureOut">
              <a:rPr lang="en-NL" smtClean="0"/>
              <a:t>15/02/2026</a:t>
            </a:fld>
            <a:endParaRPr lang="en-NL"/>
          </a:p>
        </p:txBody>
      </p:sp>
      <p:sp>
        <p:nvSpPr>
          <p:cNvPr id="5" name="Footer Placeholder 4">
            <a:extLst>
              <a:ext uri="{FF2B5EF4-FFF2-40B4-BE49-F238E27FC236}">
                <a16:creationId xmlns:a16="http://schemas.microsoft.com/office/drawing/2014/main" id="{2A582621-D3E9-86E1-A821-53772827292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611C98C-0F73-A8F2-02F4-2AB4973CDAC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818716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0BA0-583D-0185-EE69-28099DAEC32E}"/>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E6D8891D-C30A-9834-578C-76F335D9CF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B586B7C-AB90-7DAA-F0EA-C7122F775E42}"/>
              </a:ext>
            </a:extLst>
          </p:cNvPr>
          <p:cNvSpPr>
            <a:spLocks noGrp="1"/>
          </p:cNvSpPr>
          <p:nvPr>
            <p:ph type="dt" sz="half" idx="10"/>
          </p:nvPr>
        </p:nvSpPr>
        <p:spPr/>
        <p:txBody>
          <a:bodyPr/>
          <a:lstStyle/>
          <a:p>
            <a:fld id="{7DB07CE9-C8DF-41DF-BDBB-830B84D62F5B}" type="datetimeFigureOut">
              <a:rPr lang="en-NL" smtClean="0"/>
              <a:t>15/02/2026</a:t>
            </a:fld>
            <a:endParaRPr lang="en-NL"/>
          </a:p>
        </p:txBody>
      </p:sp>
      <p:sp>
        <p:nvSpPr>
          <p:cNvPr id="5" name="Footer Placeholder 4">
            <a:extLst>
              <a:ext uri="{FF2B5EF4-FFF2-40B4-BE49-F238E27FC236}">
                <a16:creationId xmlns:a16="http://schemas.microsoft.com/office/drawing/2014/main" id="{BB6BD878-B8D5-9BF6-B119-CB8E2FBA687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DC1A9D23-71DC-CC7B-17C0-5E08C967D94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3801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55E79-0500-A1A2-6D30-0F0DFDD600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05B6914D-49A9-E97D-2C4E-18FAAF7260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FDA4EA-60CD-56E7-0DAD-21A6159BCBB8}"/>
              </a:ext>
            </a:extLst>
          </p:cNvPr>
          <p:cNvSpPr>
            <a:spLocks noGrp="1"/>
          </p:cNvSpPr>
          <p:nvPr>
            <p:ph type="dt" sz="half" idx="10"/>
          </p:nvPr>
        </p:nvSpPr>
        <p:spPr/>
        <p:txBody>
          <a:bodyPr/>
          <a:lstStyle/>
          <a:p>
            <a:fld id="{7DB07CE9-C8DF-41DF-BDBB-830B84D62F5B}" type="datetimeFigureOut">
              <a:rPr lang="en-NL" smtClean="0"/>
              <a:t>15/02/2026</a:t>
            </a:fld>
            <a:endParaRPr lang="en-NL"/>
          </a:p>
        </p:txBody>
      </p:sp>
      <p:sp>
        <p:nvSpPr>
          <p:cNvPr id="5" name="Footer Placeholder 4">
            <a:extLst>
              <a:ext uri="{FF2B5EF4-FFF2-40B4-BE49-F238E27FC236}">
                <a16:creationId xmlns:a16="http://schemas.microsoft.com/office/drawing/2014/main" id="{C77721A8-BB79-306A-08AB-EFFF7B85E33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6A46C38-EEEE-5592-0604-AA374F8CCAE0}"/>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459230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65D4E-F716-266C-EB44-F320FF044FC4}"/>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20FA0776-C324-EFAB-A946-10C85364B9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53F9D3D4-7D3D-D1F4-CD2A-A518E54694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CE693131-FB94-2B88-8093-B6F21E860B47}"/>
              </a:ext>
            </a:extLst>
          </p:cNvPr>
          <p:cNvSpPr>
            <a:spLocks noGrp="1"/>
          </p:cNvSpPr>
          <p:nvPr>
            <p:ph type="dt" sz="half" idx="10"/>
          </p:nvPr>
        </p:nvSpPr>
        <p:spPr/>
        <p:txBody>
          <a:bodyPr/>
          <a:lstStyle/>
          <a:p>
            <a:fld id="{7DB07CE9-C8DF-41DF-BDBB-830B84D62F5B}" type="datetimeFigureOut">
              <a:rPr lang="en-NL" smtClean="0"/>
              <a:t>15/02/2026</a:t>
            </a:fld>
            <a:endParaRPr lang="en-NL"/>
          </a:p>
        </p:txBody>
      </p:sp>
      <p:sp>
        <p:nvSpPr>
          <p:cNvPr id="6" name="Footer Placeholder 5">
            <a:extLst>
              <a:ext uri="{FF2B5EF4-FFF2-40B4-BE49-F238E27FC236}">
                <a16:creationId xmlns:a16="http://schemas.microsoft.com/office/drawing/2014/main" id="{4BD21B79-6DB2-349F-C356-71774F673FC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85CBD36-D0DC-8F43-ACFD-1E9E357E7EB4}"/>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26783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BC18-D101-9213-B897-8851FE7C3D56}"/>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325E5057-8AB1-D931-F79F-0D54E845ED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C2EF1A-2434-D230-33B4-D17316B77A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3C0C9925-AAE9-B6AC-9461-0917219EAC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4E5211-4325-D275-EE19-9984E66A82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57FEE0D-2772-4FE7-99AD-4C1D3AC628AD}"/>
              </a:ext>
            </a:extLst>
          </p:cNvPr>
          <p:cNvSpPr>
            <a:spLocks noGrp="1"/>
          </p:cNvSpPr>
          <p:nvPr>
            <p:ph type="dt" sz="half" idx="10"/>
          </p:nvPr>
        </p:nvSpPr>
        <p:spPr/>
        <p:txBody>
          <a:bodyPr/>
          <a:lstStyle/>
          <a:p>
            <a:fld id="{7DB07CE9-C8DF-41DF-BDBB-830B84D62F5B}" type="datetimeFigureOut">
              <a:rPr lang="en-NL" smtClean="0"/>
              <a:t>15/02/2026</a:t>
            </a:fld>
            <a:endParaRPr lang="en-NL"/>
          </a:p>
        </p:txBody>
      </p:sp>
      <p:sp>
        <p:nvSpPr>
          <p:cNvPr id="8" name="Footer Placeholder 7">
            <a:extLst>
              <a:ext uri="{FF2B5EF4-FFF2-40B4-BE49-F238E27FC236}">
                <a16:creationId xmlns:a16="http://schemas.microsoft.com/office/drawing/2014/main" id="{993169B9-CD5B-369C-DBC2-925297EB21EB}"/>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3E0BA7D5-A78A-09BB-A363-994BD9A02F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86980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9777B-F5E7-C08C-590D-ACFBE4C45424}"/>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300CC399-4A6B-4593-9E74-B6F8CA3DC207}"/>
              </a:ext>
            </a:extLst>
          </p:cNvPr>
          <p:cNvSpPr>
            <a:spLocks noGrp="1"/>
          </p:cNvSpPr>
          <p:nvPr>
            <p:ph type="dt" sz="half" idx="10"/>
          </p:nvPr>
        </p:nvSpPr>
        <p:spPr/>
        <p:txBody>
          <a:bodyPr/>
          <a:lstStyle/>
          <a:p>
            <a:fld id="{7DB07CE9-C8DF-41DF-BDBB-830B84D62F5B}" type="datetimeFigureOut">
              <a:rPr lang="en-NL" smtClean="0"/>
              <a:t>15/02/2026</a:t>
            </a:fld>
            <a:endParaRPr lang="en-NL"/>
          </a:p>
        </p:txBody>
      </p:sp>
      <p:sp>
        <p:nvSpPr>
          <p:cNvPr id="4" name="Footer Placeholder 3">
            <a:extLst>
              <a:ext uri="{FF2B5EF4-FFF2-40B4-BE49-F238E27FC236}">
                <a16:creationId xmlns:a16="http://schemas.microsoft.com/office/drawing/2014/main" id="{48EE88BE-564F-9BC9-D256-883FCC2992C9}"/>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A197D54D-0C50-C773-E94C-9E2D30D9305C}"/>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74526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994506-3D43-84EA-E881-39D633077381}"/>
              </a:ext>
            </a:extLst>
          </p:cNvPr>
          <p:cNvSpPr>
            <a:spLocks noGrp="1"/>
          </p:cNvSpPr>
          <p:nvPr>
            <p:ph type="dt" sz="half" idx="10"/>
          </p:nvPr>
        </p:nvSpPr>
        <p:spPr/>
        <p:txBody>
          <a:bodyPr/>
          <a:lstStyle/>
          <a:p>
            <a:fld id="{7DB07CE9-C8DF-41DF-BDBB-830B84D62F5B}" type="datetimeFigureOut">
              <a:rPr lang="en-NL" smtClean="0"/>
              <a:t>15/02/2026</a:t>
            </a:fld>
            <a:endParaRPr lang="en-NL"/>
          </a:p>
        </p:txBody>
      </p:sp>
      <p:sp>
        <p:nvSpPr>
          <p:cNvPr id="3" name="Footer Placeholder 2">
            <a:extLst>
              <a:ext uri="{FF2B5EF4-FFF2-40B4-BE49-F238E27FC236}">
                <a16:creationId xmlns:a16="http://schemas.microsoft.com/office/drawing/2014/main" id="{981C55CA-8DBE-9019-86DA-AEBED897E0C9}"/>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2159772A-9555-52DB-D4E9-75AF3C15D25A}"/>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874220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D3A6E-DBBE-812E-85F2-A38B5249BA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5AFB2DEC-7E11-7FE1-3C8F-AB40257CC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CA67515C-82D6-C8CD-79FD-0E6A1C9B1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08F352-32B7-00FA-4DA5-12E23612C097}"/>
              </a:ext>
            </a:extLst>
          </p:cNvPr>
          <p:cNvSpPr>
            <a:spLocks noGrp="1"/>
          </p:cNvSpPr>
          <p:nvPr>
            <p:ph type="dt" sz="half" idx="10"/>
          </p:nvPr>
        </p:nvSpPr>
        <p:spPr/>
        <p:txBody>
          <a:bodyPr/>
          <a:lstStyle/>
          <a:p>
            <a:fld id="{7DB07CE9-C8DF-41DF-BDBB-830B84D62F5B}" type="datetimeFigureOut">
              <a:rPr lang="en-NL" smtClean="0"/>
              <a:t>15/02/2026</a:t>
            </a:fld>
            <a:endParaRPr lang="en-NL"/>
          </a:p>
        </p:txBody>
      </p:sp>
      <p:sp>
        <p:nvSpPr>
          <p:cNvPr id="6" name="Footer Placeholder 5">
            <a:extLst>
              <a:ext uri="{FF2B5EF4-FFF2-40B4-BE49-F238E27FC236}">
                <a16:creationId xmlns:a16="http://schemas.microsoft.com/office/drawing/2014/main" id="{77D78EF5-AAF6-9556-0DA1-762E1477F249}"/>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23A06DC-6CC1-26FA-41F2-FA573F7A35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7678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5C77B-CBEF-A395-D0FA-1C65A9CE29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E3E17272-008C-028F-3164-75FD0D3FA4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6FCEFC27-BE0A-B312-4CAE-0D22A173E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841F1B-BF0C-E7EE-C200-6ACDD52E8532}"/>
              </a:ext>
            </a:extLst>
          </p:cNvPr>
          <p:cNvSpPr>
            <a:spLocks noGrp="1"/>
          </p:cNvSpPr>
          <p:nvPr>
            <p:ph type="dt" sz="half" idx="10"/>
          </p:nvPr>
        </p:nvSpPr>
        <p:spPr/>
        <p:txBody>
          <a:bodyPr/>
          <a:lstStyle/>
          <a:p>
            <a:fld id="{7DB07CE9-C8DF-41DF-BDBB-830B84D62F5B}" type="datetimeFigureOut">
              <a:rPr lang="en-NL" smtClean="0"/>
              <a:t>15/02/2026</a:t>
            </a:fld>
            <a:endParaRPr lang="en-NL"/>
          </a:p>
        </p:txBody>
      </p:sp>
      <p:sp>
        <p:nvSpPr>
          <p:cNvPr id="6" name="Footer Placeholder 5">
            <a:extLst>
              <a:ext uri="{FF2B5EF4-FFF2-40B4-BE49-F238E27FC236}">
                <a16:creationId xmlns:a16="http://schemas.microsoft.com/office/drawing/2014/main" id="{E33DBEA7-5C08-D5DF-326D-402497EEC0E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28AB07C-EC9D-1E6E-88BF-08CF4DC29F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313419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2113-B4D5-3AA6-7F42-D0DF7E554A28}"/>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327AC1B1-B636-EC3C-8268-7CF0D78B63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3308ECA-F03E-2322-8AB9-FF1B3570AC0C}"/>
              </a:ext>
            </a:extLst>
          </p:cNvPr>
          <p:cNvSpPr>
            <a:spLocks noGrp="1"/>
          </p:cNvSpPr>
          <p:nvPr>
            <p:ph type="dt" sz="half" idx="10"/>
          </p:nvPr>
        </p:nvSpPr>
        <p:spPr/>
        <p:txBody>
          <a:bodyPr/>
          <a:lstStyle/>
          <a:p>
            <a:fld id="{7DB07CE9-C8DF-41DF-BDBB-830B84D62F5B}" type="datetimeFigureOut">
              <a:rPr lang="en-NL" smtClean="0"/>
              <a:t>15/02/2026</a:t>
            </a:fld>
            <a:endParaRPr lang="en-NL"/>
          </a:p>
        </p:txBody>
      </p:sp>
      <p:sp>
        <p:nvSpPr>
          <p:cNvPr id="5" name="Footer Placeholder 4">
            <a:extLst>
              <a:ext uri="{FF2B5EF4-FFF2-40B4-BE49-F238E27FC236}">
                <a16:creationId xmlns:a16="http://schemas.microsoft.com/office/drawing/2014/main" id="{0A560E39-73E9-DBC5-E7A0-57B5094635D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91BBA569-67AF-6D26-BB44-6C9DA6C336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915785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80FA20-7E26-5811-0F8E-E937CD7F6C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CBC0AB59-9859-7F7C-9F9C-9BFEA1EF0F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6583E10-4C21-18B0-80CE-477CC93505A1}"/>
              </a:ext>
            </a:extLst>
          </p:cNvPr>
          <p:cNvSpPr>
            <a:spLocks noGrp="1"/>
          </p:cNvSpPr>
          <p:nvPr>
            <p:ph type="dt" sz="half" idx="10"/>
          </p:nvPr>
        </p:nvSpPr>
        <p:spPr/>
        <p:txBody>
          <a:bodyPr/>
          <a:lstStyle/>
          <a:p>
            <a:fld id="{7DB07CE9-C8DF-41DF-BDBB-830B84D62F5B}" type="datetimeFigureOut">
              <a:rPr lang="en-NL" smtClean="0"/>
              <a:t>15/02/2026</a:t>
            </a:fld>
            <a:endParaRPr lang="en-NL"/>
          </a:p>
        </p:txBody>
      </p:sp>
      <p:sp>
        <p:nvSpPr>
          <p:cNvPr id="5" name="Footer Placeholder 4">
            <a:extLst>
              <a:ext uri="{FF2B5EF4-FFF2-40B4-BE49-F238E27FC236}">
                <a16:creationId xmlns:a16="http://schemas.microsoft.com/office/drawing/2014/main" id="{38CB85F3-CF9A-29D5-DEA3-31B6193373A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6122B00-4173-AFD9-EDBF-57D15872F595}"/>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318455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4814AA-CC4F-26EF-0940-42AD31BA46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498EE76C-C9DD-829C-0E04-FD727D9368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EA92AA8-31FA-1538-0020-A6770000A6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B07CE9-C8DF-41DF-BDBB-830B84D62F5B}" type="datetimeFigureOut">
              <a:rPr lang="en-NL" smtClean="0"/>
              <a:t>15/02/2026</a:t>
            </a:fld>
            <a:endParaRPr lang="en-NL"/>
          </a:p>
        </p:txBody>
      </p:sp>
      <p:sp>
        <p:nvSpPr>
          <p:cNvPr id="5" name="Footer Placeholder 4">
            <a:extLst>
              <a:ext uri="{FF2B5EF4-FFF2-40B4-BE49-F238E27FC236}">
                <a16:creationId xmlns:a16="http://schemas.microsoft.com/office/drawing/2014/main" id="{852936D0-EF18-388D-6CDB-4886CBEB09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3600218A-4CD5-B355-2F90-F63E2428D7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9C285A-41FD-47C8-9B13-D40BAB452FEE}" type="slidenum">
              <a:rPr lang="en-NL" smtClean="0"/>
              <a:t>‹#›</a:t>
            </a:fld>
            <a:endParaRPr lang="en-NL"/>
          </a:p>
        </p:txBody>
      </p:sp>
    </p:spTree>
    <p:extLst>
      <p:ext uri="{BB962C8B-B14F-4D97-AF65-F5344CB8AC3E}">
        <p14:creationId xmlns:p14="http://schemas.microsoft.com/office/powerpoint/2010/main" val="380842706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58346-11EF-AF16-3F7E-D4AE642D6182}"/>
              </a:ext>
            </a:extLst>
          </p:cNvPr>
          <p:cNvSpPr>
            <a:spLocks noGrp="1"/>
          </p:cNvSpPr>
          <p:nvPr>
            <p:ph type="title"/>
          </p:nvPr>
        </p:nvSpPr>
        <p:spPr>
          <a:xfrm>
            <a:off x="838200" y="436246"/>
            <a:ext cx="10515600" cy="1097914"/>
          </a:xfrm>
        </p:spPr>
        <p:txBody>
          <a:bodyPr>
            <a:normAutofit fontScale="90000"/>
          </a:bodyPr>
          <a:lstStyle/>
          <a:p>
            <a:r>
              <a:rPr lang="en-US" dirty="0"/>
              <a:t>Meeting Week 2 – Hybrid modeling Dual-Gantry</a:t>
            </a:r>
            <a:endParaRPr lang="en-NL" dirty="0"/>
          </a:p>
        </p:txBody>
      </p:sp>
      <p:sp>
        <p:nvSpPr>
          <p:cNvPr id="3" name="Content Placeholder 2">
            <a:extLst>
              <a:ext uri="{FF2B5EF4-FFF2-40B4-BE49-F238E27FC236}">
                <a16:creationId xmlns:a16="http://schemas.microsoft.com/office/drawing/2014/main" id="{DAAEF679-3C39-E36C-B710-9B50CBAE487E}"/>
              </a:ext>
            </a:extLst>
          </p:cNvPr>
          <p:cNvSpPr>
            <a:spLocks noGrp="1"/>
          </p:cNvSpPr>
          <p:nvPr>
            <p:ph idx="1"/>
          </p:nvPr>
        </p:nvSpPr>
        <p:spPr/>
        <p:txBody>
          <a:bodyPr>
            <a:normAutofit fontScale="92500" lnSpcReduction="20000"/>
          </a:bodyPr>
          <a:lstStyle/>
          <a:p>
            <a:r>
              <a:rPr lang="en-US" dirty="0"/>
              <a:t>Last week summary</a:t>
            </a:r>
          </a:p>
          <a:p>
            <a:r>
              <a:rPr lang="en-US" dirty="0"/>
              <a:t>ASMPT meeting</a:t>
            </a:r>
          </a:p>
          <a:p>
            <a:pPr lvl="1"/>
            <a:r>
              <a:rPr lang="en-US" dirty="0"/>
              <a:t>Key metric</a:t>
            </a:r>
          </a:p>
          <a:p>
            <a:r>
              <a:rPr lang="en-US" dirty="0"/>
              <a:t>Model for Region of Interest</a:t>
            </a:r>
          </a:p>
          <a:p>
            <a:r>
              <a:rPr lang="en-US" dirty="0" err="1"/>
              <a:t>Kessels</a:t>
            </a:r>
            <a:r>
              <a:rPr lang="en-US" dirty="0"/>
              <a:t> Extension and Augmentation method</a:t>
            </a:r>
          </a:p>
          <a:p>
            <a:r>
              <a:rPr lang="en-US" dirty="0"/>
              <a:t>Orthogonal Regularization </a:t>
            </a:r>
          </a:p>
          <a:p>
            <a:r>
              <a:rPr lang="en-US" dirty="0"/>
              <a:t>Question 1</a:t>
            </a:r>
          </a:p>
          <a:p>
            <a:r>
              <a:rPr lang="en-US" dirty="0"/>
              <a:t>Question 2</a:t>
            </a:r>
          </a:p>
          <a:p>
            <a:r>
              <a:rPr lang="en-US" dirty="0"/>
              <a:t>Outline </a:t>
            </a:r>
            <a:r>
              <a:rPr lang="en-US" dirty="0" err="1"/>
              <a:t>ToDo</a:t>
            </a:r>
            <a:r>
              <a:rPr lang="en-US" dirty="0"/>
              <a:t> next week</a:t>
            </a:r>
          </a:p>
          <a:p>
            <a:pPr lvl="1"/>
            <a:r>
              <a:rPr lang="en-US" dirty="0"/>
              <a:t>Experiment design</a:t>
            </a:r>
            <a:endParaRPr lang="en-US" dirty="0">
              <a:sym typeface="Wingdings" panose="05000000000000000000" pitchFamily="2" charset="2"/>
            </a:endParaRPr>
          </a:p>
          <a:p>
            <a:pPr lvl="1"/>
            <a:r>
              <a:rPr lang="en-US" dirty="0">
                <a:sym typeface="Wingdings" panose="05000000000000000000" pitchFamily="2" charset="2"/>
              </a:rPr>
              <a:t>Look into interconnection matrix S for decoupled FP</a:t>
            </a:r>
          </a:p>
        </p:txBody>
      </p:sp>
    </p:spTree>
    <p:extLst>
      <p:ext uri="{BB962C8B-B14F-4D97-AF65-F5344CB8AC3E}">
        <p14:creationId xmlns:p14="http://schemas.microsoft.com/office/powerpoint/2010/main" val="2679595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9700D-FF42-415C-9519-CE16CBBB575A}"/>
              </a:ext>
            </a:extLst>
          </p:cNvPr>
          <p:cNvSpPr>
            <a:spLocks noGrp="1"/>
          </p:cNvSpPr>
          <p:nvPr>
            <p:ph type="title"/>
          </p:nvPr>
        </p:nvSpPr>
        <p:spPr/>
        <p:txBody>
          <a:bodyPr/>
          <a:lstStyle/>
          <a:p>
            <a:r>
              <a:rPr lang="en-US" dirty="0"/>
              <a:t>Last week summary</a:t>
            </a:r>
            <a:endParaRPr lang="en-NL" dirty="0"/>
          </a:p>
        </p:txBody>
      </p:sp>
      <p:sp>
        <p:nvSpPr>
          <p:cNvPr id="3" name="Content Placeholder 2">
            <a:extLst>
              <a:ext uri="{FF2B5EF4-FFF2-40B4-BE49-F238E27FC236}">
                <a16:creationId xmlns:a16="http://schemas.microsoft.com/office/drawing/2014/main" id="{1B16F991-22E1-98ED-FDA2-6483679AE450}"/>
              </a:ext>
            </a:extLst>
          </p:cNvPr>
          <p:cNvSpPr>
            <a:spLocks noGrp="1"/>
          </p:cNvSpPr>
          <p:nvPr>
            <p:ph idx="1"/>
          </p:nvPr>
        </p:nvSpPr>
        <p:spPr/>
        <p:txBody>
          <a:bodyPr/>
          <a:lstStyle/>
          <a:p>
            <a:r>
              <a:rPr lang="en-US" dirty="0"/>
              <a:t>Research plan</a:t>
            </a:r>
          </a:p>
          <a:p>
            <a:pPr lvl="1"/>
            <a:r>
              <a:rPr lang="en-US" dirty="0"/>
              <a:t>AI&amp;ES relevance: Machine learning on dual-gantry system suffices</a:t>
            </a:r>
          </a:p>
          <a:p>
            <a:r>
              <a:rPr lang="en-US" dirty="0"/>
              <a:t>Study guide graduation project</a:t>
            </a:r>
          </a:p>
          <a:p>
            <a:pPr lvl="1"/>
            <a:r>
              <a:rPr lang="en-US" dirty="0"/>
              <a:t>Track High-tech systems and robotics</a:t>
            </a:r>
          </a:p>
        </p:txBody>
      </p:sp>
      <p:pic>
        <p:nvPicPr>
          <p:cNvPr id="8" name="Picture 7">
            <a:extLst>
              <a:ext uri="{FF2B5EF4-FFF2-40B4-BE49-F238E27FC236}">
                <a16:creationId xmlns:a16="http://schemas.microsoft.com/office/drawing/2014/main" id="{C3EBA5F4-6F6A-4331-FB7B-95FE438C7B92}"/>
              </a:ext>
            </a:extLst>
          </p:cNvPr>
          <p:cNvPicPr>
            <a:picLocks noChangeAspect="1"/>
          </p:cNvPicPr>
          <p:nvPr/>
        </p:nvPicPr>
        <p:blipFill>
          <a:blip r:embed="rId2"/>
          <a:stretch>
            <a:fillRect/>
          </a:stretch>
        </p:blipFill>
        <p:spPr>
          <a:xfrm>
            <a:off x="451972" y="3727687"/>
            <a:ext cx="11288056" cy="1425260"/>
          </a:xfrm>
          <a:prstGeom prst="rect">
            <a:avLst/>
          </a:prstGeom>
        </p:spPr>
      </p:pic>
    </p:spTree>
    <p:extLst>
      <p:ext uri="{BB962C8B-B14F-4D97-AF65-F5344CB8AC3E}">
        <p14:creationId xmlns:p14="http://schemas.microsoft.com/office/powerpoint/2010/main" val="1617226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ACE95-3DF1-5CB2-03DA-CE8875CB8F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1C864D-0F5B-5F74-E63F-3A5D1146BFBC}"/>
              </a:ext>
            </a:extLst>
          </p:cNvPr>
          <p:cNvSpPr>
            <a:spLocks noGrp="1"/>
          </p:cNvSpPr>
          <p:nvPr>
            <p:ph type="title"/>
          </p:nvPr>
        </p:nvSpPr>
        <p:spPr/>
        <p:txBody>
          <a:bodyPr/>
          <a:lstStyle/>
          <a:p>
            <a:r>
              <a:rPr lang="en-US" dirty="0"/>
              <a:t>ASMPT</a:t>
            </a:r>
            <a:endParaRPr lang="en-NL" dirty="0"/>
          </a:p>
        </p:txBody>
      </p:sp>
      <p:sp>
        <p:nvSpPr>
          <p:cNvPr id="3" name="Content Placeholder 2">
            <a:extLst>
              <a:ext uri="{FF2B5EF4-FFF2-40B4-BE49-F238E27FC236}">
                <a16:creationId xmlns:a16="http://schemas.microsoft.com/office/drawing/2014/main" id="{4591D348-2668-1EDE-6E4C-881FE534826B}"/>
              </a:ext>
            </a:extLst>
          </p:cNvPr>
          <p:cNvSpPr>
            <a:spLocks noGrp="1"/>
          </p:cNvSpPr>
          <p:nvPr>
            <p:ph idx="1"/>
          </p:nvPr>
        </p:nvSpPr>
        <p:spPr>
          <a:xfrm>
            <a:off x="838200" y="1444625"/>
            <a:ext cx="10515600" cy="4351338"/>
          </a:xfrm>
        </p:spPr>
        <p:txBody>
          <a:bodyPr>
            <a:normAutofit fontScale="85000" lnSpcReduction="20000"/>
          </a:bodyPr>
          <a:lstStyle/>
          <a:p>
            <a:r>
              <a:rPr lang="en-US" dirty="0"/>
              <a:t>ASMPT will provide:</a:t>
            </a:r>
          </a:p>
          <a:p>
            <a:pPr lvl="1"/>
            <a:r>
              <a:rPr lang="en-US" dirty="0"/>
              <a:t>They will develop initial FP model in ~2 weeks</a:t>
            </a:r>
          </a:p>
          <a:p>
            <a:pPr lvl="1"/>
            <a:r>
              <a:rPr lang="en-US" dirty="0"/>
              <a:t>Will enable me to automate data collection on the dual-gantry setup (not data experiment design)</a:t>
            </a:r>
          </a:p>
          <a:p>
            <a:r>
              <a:rPr lang="en-US" dirty="0"/>
              <a:t>Critical metric: settling error bounds</a:t>
            </a:r>
          </a:p>
          <a:p>
            <a:pPr lvl="1"/>
            <a:r>
              <a:rPr lang="en-US" dirty="0"/>
              <a:t>For performance: initial movement reference tracking not as important</a:t>
            </a:r>
          </a:p>
          <a:p>
            <a:pPr lvl="2"/>
            <a:r>
              <a:rPr lang="en-US" dirty="0"/>
              <a:t>Hysteresis is also applicable (= previous movements effects gantry initial movement)</a:t>
            </a:r>
          </a:p>
          <a:p>
            <a:r>
              <a:rPr lang="en-US" dirty="0"/>
              <a:t>Generic approach for obtaining data for experiments</a:t>
            </a:r>
          </a:p>
          <a:p>
            <a:pPr lvl="1"/>
            <a:r>
              <a:rPr lang="en-US" dirty="0"/>
              <a:t>Need to design “smart” tests rich in information and for unseen data validation</a:t>
            </a:r>
          </a:p>
          <a:p>
            <a:pPr lvl="1"/>
            <a:r>
              <a:rPr lang="en-US" dirty="0"/>
              <a:t>Would be beneficial for them if its also applicable on other setups</a:t>
            </a:r>
          </a:p>
          <a:p>
            <a:r>
              <a:rPr lang="en-US" dirty="0"/>
              <a:t>Augmentation </a:t>
            </a:r>
            <a:r>
              <a:rPr lang="en-US" dirty="0" err="1"/>
              <a:t>Kessels</a:t>
            </a:r>
            <a:r>
              <a:rPr lang="en-US" dirty="0"/>
              <a:t> was effective on wire bonder </a:t>
            </a:r>
            <a:r>
              <a:rPr lang="en-US" dirty="0">
                <a:sym typeface="Wingdings" panose="05000000000000000000" pitchFamily="2" charset="2"/>
              </a:rPr>
              <a:t> proposes orthogonality in limitations</a:t>
            </a:r>
            <a:endParaRPr lang="en-US" dirty="0"/>
          </a:p>
          <a:p>
            <a:r>
              <a:rPr lang="en-US" dirty="0"/>
              <a:t>Look at mapping multiple nonlinearities, unseen flexible modes</a:t>
            </a:r>
            <a:endParaRPr lang="en-NL" dirty="0"/>
          </a:p>
        </p:txBody>
      </p:sp>
    </p:spTree>
    <p:extLst>
      <p:ext uri="{BB962C8B-B14F-4D97-AF65-F5344CB8AC3E}">
        <p14:creationId xmlns:p14="http://schemas.microsoft.com/office/powerpoint/2010/main" val="2173437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1C141-1FEE-4C34-D74D-0903D9CBF62A}"/>
              </a:ext>
            </a:extLst>
          </p:cNvPr>
          <p:cNvSpPr>
            <a:spLocks noGrp="1"/>
          </p:cNvSpPr>
          <p:nvPr>
            <p:ph type="title"/>
          </p:nvPr>
        </p:nvSpPr>
        <p:spPr/>
        <p:txBody>
          <a:bodyPr/>
          <a:lstStyle/>
          <a:p>
            <a:r>
              <a:rPr lang="en-US" dirty="0"/>
              <a:t>Settling error bound for Dual-Gantry</a:t>
            </a:r>
            <a:endParaRPr lang="en-NL" dirty="0"/>
          </a:p>
        </p:txBody>
      </p:sp>
      <p:sp>
        <p:nvSpPr>
          <p:cNvPr id="3" name="Content Placeholder 2">
            <a:extLst>
              <a:ext uri="{FF2B5EF4-FFF2-40B4-BE49-F238E27FC236}">
                <a16:creationId xmlns:a16="http://schemas.microsoft.com/office/drawing/2014/main" id="{B6217803-295B-32FD-4D1B-9A566E687E08}"/>
              </a:ext>
            </a:extLst>
          </p:cNvPr>
          <p:cNvSpPr>
            <a:spLocks noGrp="1"/>
          </p:cNvSpPr>
          <p:nvPr>
            <p:ph idx="1"/>
          </p:nvPr>
        </p:nvSpPr>
        <p:spPr/>
        <p:txBody>
          <a:bodyPr>
            <a:normAutofit fontScale="77500" lnSpcReduction="20000"/>
          </a:bodyPr>
          <a:lstStyle/>
          <a:p>
            <a:r>
              <a:rPr lang="en-US" b="1" dirty="0"/>
              <a:t>maximum allowed deviation</a:t>
            </a:r>
            <a:r>
              <a:rPr lang="en-US" dirty="0"/>
              <a:t> of the system's output (position) from the reference trajectory after a specific amount of time has passed (the "settling time") / settling phase: the moments immediately after the reference profile reaches its target position.</a:t>
            </a:r>
          </a:p>
          <a:p>
            <a:r>
              <a:rPr lang="en-US" dirty="0">
                <a:solidFill>
                  <a:schemeClr val="bg1"/>
                </a:solidFill>
              </a:rPr>
              <a:t>FP often fails due to unmodeled dynamics</a:t>
            </a:r>
          </a:p>
          <a:p>
            <a:r>
              <a:rPr lang="en-US" dirty="0">
                <a:solidFill>
                  <a:schemeClr val="bg1"/>
                </a:solidFill>
              </a:rPr>
              <a:t>Goal of augmentation: reduce settling error bounds from FP model / </a:t>
            </a:r>
            <a:r>
              <a:rPr lang="en-US" dirty="0" err="1">
                <a:solidFill>
                  <a:schemeClr val="bg1"/>
                </a:solidFill>
              </a:rPr>
              <a:t>telica</a:t>
            </a:r>
            <a:r>
              <a:rPr lang="en-US" dirty="0">
                <a:solidFill>
                  <a:schemeClr val="bg1"/>
                </a:solidFill>
              </a:rPr>
              <a:t> settle times as baseline</a:t>
            </a:r>
          </a:p>
          <a:p>
            <a:r>
              <a:rPr lang="en-US" dirty="0">
                <a:solidFill>
                  <a:schemeClr val="bg1"/>
                </a:solidFill>
              </a:rPr>
              <a:t>Instead of RMSE </a:t>
            </a:r>
            <a:r>
              <a:rPr lang="en-US" dirty="0">
                <a:solidFill>
                  <a:schemeClr val="bg1"/>
                </a:solidFill>
                <a:sym typeface="Wingdings" panose="05000000000000000000" pitchFamily="2" charset="2"/>
              </a:rPr>
              <a:t> </a:t>
            </a:r>
            <a:r>
              <a:rPr lang="en-US" b="1" dirty="0">
                <a:solidFill>
                  <a:schemeClr val="bg1"/>
                </a:solidFill>
              </a:rPr>
              <a:t>Target the Peaks;</a:t>
            </a:r>
            <a:r>
              <a:rPr lang="en-US" dirty="0">
                <a:solidFill>
                  <a:schemeClr val="bg1"/>
                </a:solidFill>
              </a:rPr>
              <a:t> Settling time is determined by the last peak that exceeds the yellow limit line. Even with low RMSE peak could exceed</a:t>
            </a:r>
          </a:p>
          <a:p>
            <a:r>
              <a:rPr lang="en-US" dirty="0">
                <a:solidFill>
                  <a:schemeClr val="bg1"/>
                </a:solidFill>
              </a:rPr>
              <a:t>Feature selection </a:t>
            </a:r>
            <a:r>
              <a:rPr lang="en-US" b="1" dirty="0">
                <a:solidFill>
                  <a:schemeClr val="bg1"/>
                </a:solidFill>
              </a:rPr>
              <a:t>Time Extremum (TE): magnitude</a:t>
            </a:r>
            <a:r>
              <a:rPr lang="en-US" dirty="0">
                <a:solidFill>
                  <a:schemeClr val="bg1"/>
                </a:solidFill>
              </a:rPr>
              <a:t> and </a:t>
            </a:r>
            <a:r>
              <a:rPr lang="en-US" b="1" dirty="0">
                <a:solidFill>
                  <a:schemeClr val="bg1"/>
                </a:solidFill>
              </a:rPr>
              <a:t>temporal location</a:t>
            </a:r>
            <a:r>
              <a:rPr lang="en-US" dirty="0">
                <a:solidFill>
                  <a:schemeClr val="bg1"/>
                </a:solidFill>
              </a:rPr>
              <a:t> of local extrema (peaks and valleys) in the error signal; </a:t>
            </a:r>
            <a:r>
              <a:rPr lang="en-US" dirty="0" err="1">
                <a:solidFill>
                  <a:schemeClr val="bg1"/>
                </a:solidFill>
              </a:rPr>
              <a:t>Kessels</a:t>
            </a:r>
            <a:r>
              <a:rPr lang="en-US" dirty="0">
                <a:solidFill>
                  <a:schemeClr val="bg1"/>
                </a:solidFill>
              </a:rPr>
              <a:t> in application found not to be useful  </a:t>
            </a:r>
            <a:r>
              <a:rPr lang="en-US" dirty="0">
                <a:solidFill>
                  <a:schemeClr val="bg1"/>
                </a:solidFill>
                <a:sym typeface="Wingdings" panose="05000000000000000000" pitchFamily="2" charset="2"/>
              </a:rPr>
              <a:t> instead </a:t>
            </a:r>
            <a:r>
              <a:rPr lang="en-US" dirty="0">
                <a:solidFill>
                  <a:schemeClr val="bg1"/>
                </a:solidFill>
              </a:rPr>
              <a:t>weighted cost function for the peaks?</a:t>
            </a:r>
          </a:p>
          <a:p>
            <a:r>
              <a:rPr lang="en-US" dirty="0">
                <a:solidFill>
                  <a:schemeClr val="bg1"/>
                </a:solidFill>
              </a:rPr>
              <a:t>(Define start and end settling: reference trajectory velocity and acceleration 0 end when new movement begins)</a:t>
            </a:r>
            <a:endParaRPr lang="en-NL" dirty="0">
              <a:solidFill>
                <a:schemeClr val="bg1"/>
              </a:solidFill>
            </a:endParaRPr>
          </a:p>
        </p:txBody>
      </p:sp>
      <p:pic>
        <p:nvPicPr>
          <p:cNvPr id="7" name="Picture 6">
            <a:extLst>
              <a:ext uri="{FF2B5EF4-FFF2-40B4-BE49-F238E27FC236}">
                <a16:creationId xmlns:a16="http://schemas.microsoft.com/office/drawing/2014/main" id="{3466E8D9-4B4A-BD2A-C611-F49582C21511}"/>
              </a:ext>
            </a:extLst>
          </p:cNvPr>
          <p:cNvPicPr>
            <a:picLocks noChangeAspect="1"/>
          </p:cNvPicPr>
          <p:nvPr/>
        </p:nvPicPr>
        <p:blipFill>
          <a:blip r:embed="rId3"/>
          <a:srcRect t="2540"/>
          <a:stretch>
            <a:fillRect/>
          </a:stretch>
        </p:blipFill>
        <p:spPr>
          <a:xfrm>
            <a:off x="5120019" y="2655766"/>
            <a:ext cx="6967206" cy="4135559"/>
          </a:xfrm>
          <a:prstGeom prst="rect">
            <a:avLst/>
          </a:prstGeom>
        </p:spPr>
      </p:pic>
      <p:sp>
        <p:nvSpPr>
          <p:cNvPr id="15" name="TextBox 14">
            <a:extLst>
              <a:ext uri="{FF2B5EF4-FFF2-40B4-BE49-F238E27FC236}">
                <a16:creationId xmlns:a16="http://schemas.microsoft.com/office/drawing/2014/main" id="{ED9395B7-63A2-D899-26D9-5FFE50AE524C}"/>
              </a:ext>
            </a:extLst>
          </p:cNvPr>
          <p:cNvSpPr txBox="1"/>
          <p:nvPr/>
        </p:nvSpPr>
        <p:spPr>
          <a:xfrm>
            <a:off x="838200" y="1280883"/>
            <a:ext cx="9105900" cy="369332"/>
          </a:xfrm>
          <a:prstGeom prst="rect">
            <a:avLst/>
          </a:prstGeom>
          <a:noFill/>
        </p:spPr>
        <p:txBody>
          <a:bodyPr wrap="square">
            <a:spAutoFit/>
          </a:bodyPr>
          <a:lstStyle/>
          <a:p>
            <a:r>
              <a:rPr lang="en-US" b="1" dirty="0"/>
              <a:t>Bas </a:t>
            </a:r>
            <a:r>
              <a:rPr lang="en-US" b="1" dirty="0" err="1"/>
              <a:t>Kessels</a:t>
            </a:r>
            <a:r>
              <a:rPr lang="en-US" b="1" dirty="0"/>
              <a:t> paper</a:t>
            </a:r>
          </a:p>
        </p:txBody>
      </p:sp>
    </p:spTree>
    <p:extLst>
      <p:ext uri="{BB962C8B-B14F-4D97-AF65-F5344CB8AC3E}">
        <p14:creationId xmlns:p14="http://schemas.microsoft.com/office/powerpoint/2010/main" val="737078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25254-1A55-53D7-F62F-BA13F829E1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381E63-6A17-C7BB-6C31-3EC4C9D758FF}"/>
              </a:ext>
            </a:extLst>
          </p:cNvPr>
          <p:cNvSpPr>
            <a:spLocks noGrp="1"/>
          </p:cNvSpPr>
          <p:nvPr>
            <p:ph type="title"/>
          </p:nvPr>
        </p:nvSpPr>
        <p:spPr/>
        <p:txBody>
          <a:bodyPr/>
          <a:lstStyle/>
          <a:p>
            <a:r>
              <a:rPr lang="en-US" dirty="0"/>
              <a:t>Settling error bound for Dual-Gantry</a:t>
            </a:r>
            <a:endParaRPr lang="en-NL" dirty="0"/>
          </a:p>
        </p:txBody>
      </p:sp>
      <p:sp>
        <p:nvSpPr>
          <p:cNvPr id="3" name="Content Placeholder 2">
            <a:extLst>
              <a:ext uri="{FF2B5EF4-FFF2-40B4-BE49-F238E27FC236}">
                <a16:creationId xmlns:a16="http://schemas.microsoft.com/office/drawing/2014/main" id="{7A504FB4-5DC3-76F5-34DE-F3EC3EB2715F}"/>
              </a:ext>
            </a:extLst>
          </p:cNvPr>
          <p:cNvSpPr>
            <a:spLocks noGrp="1"/>
          </p:cNvSpPr>
          <p:nvPr>
            <p:ph idx="1"/>
          </p:nvPr>
        </p:nvSpPr>
        <p:spPr/>
        <p:txBody>
          <a:bodyPr>
            <a:normAutofit fontScale="77500" lnSpcReduction="20000"/>
          </a:bodyPr>
          <a:lstStyle/>
          <a:p>
            <a:r>
              <a:rPr lang="en-US" b="1" dirty="0"/>
              <a:t>maximum allowed deviation</a:t>
            </a:r>
            <a:r>
              <a:rPr lang="en-US" dirty="0"/>
              <a:t> of the system's output (position) from the reference trajectory after a specific amount of time has passed (the "settling time") / settling phase: the moments immediately after the reference profile reaches its target position.</a:t>
            </a:r>
          </a:p>
          <a:p>
            <a:r>
              <a:rPr lang="en-US" dirty="0"/>
              <a:t>FP often fails due to unmodeled dynamics</a:t>
            </a:r>
          </a:p>
          <a:p>
            <a:r>
              <a:rPr lang="en-US" dirty="0"/>
              <a:t>Goal of augmentation: reduce settling error bounds from FP model / </a:t>
            </a:r>
            <a:r>
              <a:rPr lang="en-US" dirty="0" err="1"/>
              <a:t>telica</a:t>
            </a:r>
            <a:r>
              <a:rPr lang="en-US" dirty="0"/>
              <a:t> settle times as baseline</a:t>
            </a:r>
          </a:p>
          <a:p>
            <a:r>
              <a:rPr lang="en-US" dirty="0">
                <a:solidFill>
                  <a:schemeClr val="bg1"/>
                </a:solidFill>
              </a:rPr>
              <a:t>Instead of RMSE </a:t>
            </a:r>
            <a:r>
              <a:rPr lang="en-US" dirty="0">
                <a:solidFill>
                  <a:schemeClr val="bg1"/>
                </a:solidFill>
                <a:sym typeface="Wingdings" panose="05000000000000000000" pitchFamily="2" charset="2"/>
              </a:rPr>
              <a:t> </a:t>
            </a:r>
            <a:r>
              <a:rPr lang="en-US" b="1" dirty="0">
                <a:solidFill>
                  <a:schemeClr val="bg1"/>
                </a:solidFill>
              </a:rPr>
              <a:t>Target the Peaks;</a:t>
            </a:r>
            <a:r>
              <a:rPr lang="en-US" dirty="0">
                <a:solidFill>
                  <a:schemeClr val="bg1"/>
                </a:solidFill>
              </a:rPr>
              <a:t> Settling time is determined by the last peak that exceeds the yellow limit line. Even with low RMSE peak could exceed</a:t>
            </a:r>
          </a:p>
          <a:p>
            <a:r>
              <a:rPr lang="en-US" dirty="0">
                <a:solidFill>
                  <a:schemeClr val="bg1"/>
                </a:solidFill>
              </a:rPr>
              <a:t>Feature selection </a:t>
            </a:r>
            <a:r>
              <a:rPr lang="en-US" b="1" dirty="0">
                <a:solidFill>
                  <a:schemeClr val="bg1"/>
                </a:solidFill>
              </a:rPr>
              <a:t>Time Extremum (TE): magnitude</a:t>
            </a:r>
            <a:r>
              <a:rPr lang="en-US" dirty="0">
                <a:solidFill>
                  <a:schemeClr val="bg1"/>
                </a:solidFill>
              </a:rPr>
              <a:t> and </a:t>
            </a:r>
            <a:r>
              <a:rPr lang="en-US" b="1" dirty="0">
                <a:solidFill>
                  <a:schemeClr val="bg1"/>
                </a:solidFill>
              </a:rPr>
              <a:t>temporal location</a:t>
            </a:r>
            <a:r>
              <a:rPr lang="en-US" dirty="0">
                <a:solidFill>
                  <a:schemeClr val="bg1"/>
                </a:solidFill>
              </a:rPr>
              <a:t> of local extrema (peaks and valleys) in the error signal; </a:t>
            </a:r>
            <a:r>
              <a:rPr lang="en-US" dirty="0" err="1">
                <a:solidFill>
                  <a:schemeClr val="bg1"/>
                </a:solidFill>
              </a:rPr>
              <a:t>Kessels</a:t>
            </a:r>
            <a:r>
              <a:rPr lang="en-US" dirty="0">
                <a:solidFill>
                  <a:schemeClr val="bg1"/>
                </a:solidFill>
              </a:rPr>
              <a:t> in application found not to be useful  </a:t>
            </a:r>
            <a:r>
              <a:rPr lang="en-US" dirty="0">
                <a:solidFill>
                  <a:schemeClr val="bg1"/>
                </a:solidFill>
                <a:sym typeface="Wingdings" panose="05000000000000000000" pitchFamily="2" charset="2"/>
              </a:rPr>
              <a:t> instead </a:t>
            </a:r>
            <a:r>
              <a:rPr lang="en-US" dirty="0">
                <a:solidFill>
                  <a:schemeClr val="bg1"/>
                </a:solidFill>
              </a:rPr>
              <a:t>weighted cost function for the peaks?</a:t>
            </a:r>
          </a:p>
          <a:p>
            <a:r>
              <a:rPr lang="en-US" dirty="0">
                <a:solidFill>
                  <a:schemeClr val="bg1"/>
                </a:solidFill>
              </a:rPr>
              <a:t>(Define start and end settling: reference trajectory velocity and acceleration 0 end when new movement begins)</a:t>
            </a:r>
            <a:endParaRPr lang="en-NL" dirty="0">
              <a:solidFill>
                <a:schemeClr val="bg1"/>
              </a:solidFill>
            </a:endParaRPr>
          </a:p>
        </p:txBody>
      </p:sp>
      <p:pic>
        <p:nvPicPr>
          <p:cNvPr id="7" name="Picture 6">
            <a:extLst>
              <a:ext uri="{FF2B5EF4-FFF2-40B4-BE49-F238E27FC236}">
                <a16:creationId xmlns:a16="http://schemas.microsoft.com/office/drawing/2014/main" id="{E9B88BC2-A97E-9CFE-4671-46A09A351146}"/>
              </a:ext>
            </a:extLst>
          </p:cNvPr>
          <p:cNvPicPr>
            <a:picLocks noChangeAspect="1"/>
          </p:cNvPicPr>
          <p:nvPr/>
        </p:nvPicPr>
        <p:blipFill>
          <a:blip r:embed="rId3"/>
          <a:srcRect t="2540"/>
          <a:stretch>
            <a:fillRect/>
          </a:stretch>
        </p:blipFill>
        <p:spPr>
          <a:xfrm>
            <a:off x="6591299" y="3529082"/>
            <a:ext cx="5495925" cy="3262243"/>
          </a:xfrm>
          <a:prstGeom prst="rect">
            <a:avLst/>
          </a:prstGeom>
        </p:spPr>
      </p:pic>
      <p:pic>
        <p:nvPicPr>
          <p:cNvPr id="11" name="Picture 10">
            <a:extLst>
              <a:ext uri="{FF2B5EF4-FFF2-40B4-BE49-F238E27FC236}">
                <a16:creationId xmlns:a16="http://schemas.microsoft.com/office/drawing/2014/main" id="{B2E28E10-2B3C-C8A9-C398-109729EBB936}"/>
              </a:ext>
            </a:extLst>
          </p:cNvPr>
          <p:cNvPicPr>
            <a:picLocks noChangeAspect="1"/>
          </p:cNvPicPr>
          <p:nvPr/>
        </p:nvPicPr>
        <p:blipFill>
          <a:blip r:embed="rId4"/>
          <a:stretch>
            <a:fillRect/>
          </a:stretch>
        </p:blipFill>
        <p:spPr>
          <a:xfrm>
            <a:off x="104776" y="3934619"/>
            <a:ext cx="6581774" cy="741734"/>
          </a:xfrm>
          <a:prstGeom prst="rect">
            <a:avLst/>
          </a:prstGeom>
        </p:spPr>
      </p:pic>
      <p:sp>
        <p:nvSpPr>
          <p:cNvPr id="15" name="TextBox 14">
            <a:extLst>
              <a:ext uri="{FF2B5EF4-FFF2-40B4-BE49-F238E27FC236}">
                <a16:creationId xmlns:a16="http://schemas.microsoft.com/office/drawing/2014/main" id="{7ED04C00-6564-CB91-208A-DE62DEAFB6FB}"/>
              </a:ext>
            </a:extLst>
          </p:cNvPr>
          <p:cNvSpPr txBox="1"/>
          <p:nvPr/>
        </p:nvSpPr>
        <p:spPr>
          <a:xfrm>
            <a:off x="838200" y="1280883"/>
            <a:ext cx="9105900" cy="369332"/>
          </a:xfrm>
          <a:prstGeom prst="rect">
            <a:avLst/>
          </a:prstGeom>
          <a:noFill/>
        </p:spPr>
        <p:txBody>
          <a:bodyPr wrap="square">
            <a:spAutoFit/>
          </a:bodyPr>
          <a:lstStyle/>
          <a:p>
            <a:r>
              <a:rPr lang="en-US" b="1" dirty="0"/>
              <a:t>Bas </a:t>
            </a:r>
            <a:r>
              <a:rPr lang="en-US" b="1" dirty="0" err="1"/>
              <a:t>Kessels</a:t>
            </a:r>
            <a:r>
              <a:rPr lang="en-US" b="1" dirty="0"/>
              <a:t> paper</a:t>
            </a:r>
          </a:p>
        </p:txBody>
      </p:sp>
    </p:spTree>
    <p:extLst>
      <p:ext uri="{BB962C8B-B14F-4D97-AF65-F5344CB8AC3E}">
        <p14:creationId xmlns:p14="http://schemas.microsoft.com/office/powerpoint/2010/main" val="1356465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963AF-A925-5D6F-6A48-5424C17A2F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909993-D8C6-D49D-5B82-3FC0002B9F70}"/>
              </a:ext>
            </a:extLst>
          </p:cNvPr>
          <p:cNvSpPr>
            <a:spLocks noGrp="1"/>
          </p:cNvSpPr>
          <p:nvPr>
            <p:ph type="title"/>
          </p:nvPr>
        </p:nvSpPr>
        <p:spPr/>
        <p:txBody>
          <a:bodyPr/>
          <a:lstStyle/>
          <a:p>
            <a:r>
              <a:rPr lang="en-US" dirty="0"/>
              <a:t>Settling error bound for Dual-Gantry</a:t>
            </a:r>
            <a:endParaRPr lang="en-NL" dirty="0"/>
          </a:p>
        </p:txBody>
      </p:sp>
      <p:sp>
        <p:nvSpPr>
          <p:cNvPr id="3" name="Content Placeholder 2">
            <a:extLst>
              <a:ext uri="{FF2B5EF4-FFF2-40B4-BE49-F238E27FC236}">
                <a16:creationId xmlns:a16="http://schemas.microsoft.com/office/drawing/2014/main" id="{7FF6682C-4C0C-450E-30A5-14C29BD93E4B}"/>
              </a:ext>
            </a:extLst>
          </p:cNvPr>
          <p:cNvSpPr>
            <a:spLocks noGrp="1"/>
          </p:cNvSpPr>
          <p:nvPr>
            <p:ph idx="1"/>
          </p:nvPr>
        </p:nvSpPr>
        <p:spPr/>
        <p:txBody>
          <a:bodyPr>
            <a:normAutofit/>
          </a:bodyPr>
          <a:lstStyle/>
          <a:p>
            <a:r>
              <a:rPr lang="en-US" sz="2200" dirty="0"/>
              <a:t>Instead of RMSE </a:t>
            </a:r>
            <a:r>
              <a:rPr lang="en-US" sz="2200" dirty="0">
                <a:sym typeface="Wingdings" panose="05000000000000000000" pitchFamily="2" charset="2"/>
              </a:rPr>
              <a:t> </a:t>
            </a:r>
            <a:r>
              <a:rPr lang="en-US" sz="2200" b="1" dirty="0"/>
              <a:t>Target the Peaks;</a:t>
            </a:r>
            <a:r>
              <a:rPr lang="en-US" sz="2200" dirty="0"/>
              <a:t> Settling time is determined by the last peak that exceeds the yellow limit line. Even with low RMSE peak could exceed</a:t>
            </a:r>
          </a:p>
          <a:p>
            <a:r>
              <a:rPr lang="en-US" sz="2200" dirty="0"/>
              <a:t>Feature selection </a:t>
            </a:r>
            <a:r>
              <a:rPr lang="en-US" sz="2200" b="1" dirty="0"/>
              <a:t>Time Extremum (TE) Limitation: </a:t>
            </a:r>
            <a:r>
              <a:rPr lang="en-US" sz="2200" dirty="0" err="1"/>
              <a:t>Kessels</a:t>
            </a:r>
            <a:r>
              <a:rPr lang="en-US" sz="2200" dirty="0"/>
              <a:t> showed that extracting local extrema features is often suboptimal for industrial systems due to noise sensitivity and low information density</a:t>
            </a:r>
            <a:r>
              <a:rPr lang="en-US" sz="2200" dirty="0">
                <a:sym typeface="Wingdings" panose="05000000000000000000" pitchFamily="2" charset="2"/>
              </a:rPr>
              <a:t> For dual-</a:t>
            </a:r>
            <a:r>
              <a:rPr lang="en-US" sz="2200" dirty="0" err="1">
                <a:sym typeface="Wingdings" panose="05000000000000000000" pitchFamily="2" charset="2"/>
              </a:rPr>
              <a:t>grantry</a:t>
            </a:r>
            <a:r>
              <a:rPr lang="en-US" sz="2200" dirty="0">
                <a:sym typeface="Wingdings" panose="05000000000000000000" pitchFamily="2" charset="2"/>
              </a:rPr>
              <a:t>, instead peak-</a:t>
            </a:r>
            <a:r>
              <a:rPr lang="en-US" sz="2200" dirty="0"/>
              <a:t>weighted cost function for the peaks?</a:t>
            </a:r>
          </a:p>
          <a:p>
            <a:r>
              <a:rPr lang="en-US" sz="2200" dirty="0"/>
              <a:t>(Define start and end settling: reference trajectory velocity and acceleration 0 end when new movement begins)</a:t>
            </a:r>
            <a:endParaRPr lang="en-NL" sz="2200" dirty="0"/>
          </a:p>
        </p:txBody>
      </p:sp>
      <p:pic>
        <p:nvPicPr>
          <p:cNvPr id="9" name="Picture 8">
            <a:extLst>
              <a:ext uri="{FF2B5EF4-FFF2-40B4-BE49-F238E27FC236}">
                <a16:creationId xmlns:a16="http://schemas.microsoft.com/office/drawing/2014/main" id="{D443DE64-4448-BCF9-48A5-3AF48DC810FF}"/>
              </a:ext>
            </a:extLst>
          </p:cNvPr>
          <p:cNvPicPr>
            <a:picLocks noChangeAspect="1"/>
          </p:cNvPicPr>
          <p:nvPr/>
        </p:nvPicPr>
        <p:blipFill>
          <a:blip r:embed="rId3"/>
          <a:stretch>
            <a:fillRect/>
          </a:stretch>
        </p:blipFill>
        <p:spPr>
          <a:xfrm>
            <a:off x="6246726" y="4224450"/>
            <a:ext cx="5734463" cy="2633550"/>
          </a:xfrm>
          <a:prstGeom prst="rect">
            <a:avLst/>
          </a:prstGeom>
        </p:spPr>
      </p:pic>
      <p:sp>
        <p:nvSpPr>
          <p:cNvPr id="15" name="TextBox 14">
            <a:extLst>
              <a:ext uri="{FF2B5EF4-FFF2-40B4-BE49-F238E27FC236}">
                <a16:creationId xmlns:a16="http://schemas.microsoft.com/office/drawing/2014/main" id="{061A7988-B7BA-14CA-2137-373B480F72CF}"/>
              </a:ext>
            </a:extLst>
          </p:cNvPr>
          <p:cNvSpPr txBox="1"/>
          <p:nvPr/>
        </p:nvSpPr>
        <p:spPr>
          <a:xfrm>
            <a:off x="838200" y="1280883"/>
            <a:ext cx="9105900" cy="369332"/>
          </a:xfrm>
          <a:prstGeom prst="rect">
            <a:avLst/>
          </a:prstGeom>
          <a:noFill/>
        </p:spPr>
        <p:txBody>
          <a:bodyPr wrap="square">
            <a:spAutoFit/>
          </a:bodyPr>
          <a:lstStyle/>
          <a:p>
            <a:r>
              <a:rPr lang="en-US" b="1" dirty="0"/>
              <a:t>Bas </a:t>
            </a:r>
            <a:r>
              <a:rPr lang="en-US" b="1" dirty="0" err="1"/>
              <a:t>Kessels</a:t>
            </a:r>
            <a:r>
              <a:rPr lang="en-US" b="1" dirty="0"/>
              <a:t> paper</a:t>
            </a:r>
          </a:p>
        </p:txBody>
      </p:sp>
    </p:spTree>
    <p:extLst>
      <p:ext uri="{BB962C8B-B14F-4D97-AF65-F5344CB8AC3E}">
        <p14:creationId xmlns:p14="http://schemas.microsoft.com/office/powerpoint/2010/main" val="160104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AC8F342-80DE-B099-4559-4A913DF3BC0F}"/>
              </a:ext>
            </a:extLst>
          </p:cNvPr>
          <p:cNvSpPr txBox="1"/>
          <p:nvPr/>
        </p:nvSpPr>
        <p:spPr>
          <a:xfrm>
            <a:off x="838200" y="1321356"/>
            <a:ext cx="6096000" cy="369332"/>
          </a:xfrm>
          <a:prstGeom prst="rect">
            <a:avLst/>
          </a:prstGeom>
          <a:noFill/>
        </p:spPr>
        <p:txBody>
          <a:bodyPr wrap="square">
            <a:spAutoFit/>
          </a:bodyPr>
          <a:lstStyle/>
          <a:p>
            <a:r>
              <a:rPr lang="en-US" b="1" dirty="0"/>
              <a:t>Schoukens &amp; Ljung</a:t>
            </a:r>
            <a:endParaRPr lang="en-NL" b="1" dirty="0"/>
          </a:p>
        </p:txBody>
      </p:sp>
      <p:sp>
        <p:nvSpPr>
          <p:cNvPr id="2" name="Title 1">
            <a:extLst>
              <a:ext uri="{FF2B5EF4-FFF2-40B4-BE49-F238E27FC236}">
                <a16:creationId xmlns:a16="http://schemas.microsoft.com/office/drawing/2014/main" id="{6232C9E1-3AC1-1E9B-2122-713A694F4E39}"/>
              </a:ext>
            </a:extLst>
          </p:cNvPr>
          <p:cNvSpPr>
            <a:spLocks noGrp="1"/>
          </p:cNvSpPr>
          <p:nvPr>
            <p:ph type="title"/>
          </p:nvPr>
        </p:nvSpPr>
        <p:spPr/>
        <p:txBody>
          <a:bodyPr/>
          <a:lstStyle/>
          <a:p>
            <a:r>
              <a:rPr lang="en-US" dirty="0"/>
              <a:t>Region of interest &amp; Targeting the peaks</a:t>
            </a:r>
            <a:endParaRPr lang="en-NL" dirty="0"/>
          </a:p>
        </p:txBody>
      </p:sp>
      <p:sp>
        <p:nvSpPr>
          <p:cNvPr id="3" name="Content Placeholder 2">
            <a:extLst>
              <a:ext uri="{FF2B5EF4-FFF2-40B4-BE49-F238E27FC236}">
                <a16:creationId xmlns:a16="http://schemas.microsoft.com/office/drawing/2014/main" id="{289D4F49-2D17-B4D7-827E-856E54E8E7C8}"/>
              </a:ext>
            </a:extLst>
          </p:cNvPr>
          <p:cNvSpPr>
            <a:spLocks noGrp="1"/>
          </p:cNvSpPr>
          <p:nvPr>
            <p:ph idx="1"/>
          </p:nvPr>
        </p:nvSpPr>
        <p:spPr>
          <a:xfrm>
            <a:off x="838200" y="1825625"/>
            <a:ext cx="7117080" cy="4595495"/>
          </a:xfrm>
        </p:spPr>
        <p:txBody>
          <a:bodyPr>
            <a:normAutofit fontScale="92500" lnSpcReduction="10000"/>
          </a:bodyPr>
          <a:lstStyle/>
          <a:p>
            <a:r>
              <a:rPr lang="en-US" dirty="0"/>
              <a:t>Wet-Clutch example for dual-gantry</a:t>
            </a:r>
          </a:p>
          <a:p>
            <a:pPr lvl="1"/>
            <a:r>
              <a:rPr lang="en-US" dirty="0"/>
              <a:t>Design “spiky” position commands to make the response settling-dominated. Superimpose a </a:t>
            </a:r>
            <a:r>
              <a:rPr lang="en-US" dirty="0" err="1"/>
              <a:t>multisine</a:t>
            </a:r>
            <a:r>
              <a:rPr lang="en-US" dirty="0"/>
              <a:t> to identify local dynamics </a:t>
            </a:r>
          </a:p>
          <a:p>
            <a:r>
              <a:rPr lang="en-US" dirty="0">
                <a:sym typeface="Wingdings" panose="05000000000000000000" pitchFamily="2" charset="2"/>
              </a:rPr>
              <a:t>Weighting function L(q): tells the optimizer where accuracy matters</a:t>
            </a:r>
          </a:p>
          <a:p>
            <a:pPr lvl="1"/>
            <a:r>
              <a:rPr lang="en-US" dirty="0">
                <a:sym typeface="Wingdings" panose="05000000000000000000" pitchFamily="2" charset="2"/>
              </a:rPr>
              <a:t>Acts as a pre-filter to the prediction error before computing the cost  result minimize a weighted (filtered) error </a:t>
            </a:r>
          </a:p>
          <a:p>
            <a:pPr lvl="1"/>
            <a:r>
              <a:rPr lang="en-US" dirty="0"/>
              <a:t>Choose L to specify which frequencies require more accuracy</a:t>
            </a:r>
            <a:endParaRPr lang="en-US" dirty="0">
              <a:sym typeface="Wingdings" panose="05000000000000000000" pitchFamily="2" charset="2"/>
            </a:endParaRPr>
          </a:p>
          <a:p>
            <a:pPr lvl="1"/>
            <a:r>
              <a:rPr lang="en-US" dirty="0">
                <a:sym typeface="Wingdings" panose="05000000000000000000" pitchFamily="2" charset="2"/>
              </a:rPr>
              <a:t>Need to translate time-domain requirement (stay within ±1.5 µm) into a frequency domain instruction for the optimizer</a:t>
            </a:r>
          </a:p>
        </p:txBody>
      </p:sp>
      <p:pic>
        <p:nvPicPr>
          <p:cNvPr id="11" name="Picture 10">
            <a:extLst>
              <a:ext uri="{FF2B5EF4-FFF2-40B4-BE49-F238E27FC236}">
                <a16:creationId xmlns:a16="http://schemas.microsoft.com/office/drawing/2014/main" id="{B42FB2AC-0B0C-AFBA-8087-B5D2B45A05F9}"/>
              </a:ext>
            </a:extLst>
          </p:cNvPr>
          <p:cNvPicPr>
            <a:picLocks noChangeAspect="1"/>
          </p:cNvPicPr>
          <p:nvPr/>
        </p:nvPicPr>
        <p:blipFill>
          <a:blip r:embed="rId3"/>
          <a:stretch>
            <a:fillRect/>
          </a:stretch>
        </p:blipFill>
        <p:spPr>
          <a:xfrm>
            <a:off x="7955280" y="2180525"/>
            <a:ext cx="4025900" cy="3885694"/>
          </a:xfrm>
          <a:prstGeom prst="rect">
            <a:avLst/>
          </a:prstGeom>
        </p:spPr>
      </p:pic>
    </p:spTree>
    <p:extLst>
      <p:ext uri="{BB962C8B-B14F-4D97-AF65-F5344CB8AC3E}">
        <p14:creationId xmlns:p14="http://schemas.microsoft.com/office/powerpoint/2010/main" val="424195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C91B8-BA56-19F8-8969-86F391AF04CE}"/>
              </a:ext>
            </a:extLst>
          </p:cNvPr>
          <p:cNvSpPr>
            <a:spLocks noGrp="1"/>
          </p:cNvSpPr>
          <p:nvPr>
            <p:ph type="title"/>
          </p:nvPr>
        </p:nvSpPr>
        <p:spPr/>
        <p:txBody>
          <a:bodyPr>
            <a:normAutofit/>
          </a:bodyPr>
          <a:lstStyle/>
          <a:p>
            <a:r>
              <a:rPr lang="en-US" b="1" dirty="0" err="1"/>
              <a:t>Kessels</a:t>
            </a:r>
            <a:r>
              <a:rPr lang="en-US" b="1" dirty="0"/>
              <a:t> Application</a:t>
            </a:r>
            <a:endParaRPr lang="en-NL" dirty="0"/>
          </a:p>
        </p:txBody>
      </p:sp>
      <p:sp>
        <p:nvSpPr>
          <p:cNvPr id="3" name="Content Placeholder 2">
            <a:extLst>
              <a:ext uri="{FF2B5EF4-FFF2-40B4-BE49-F238E27FC236}">
                <a16:creationId xmlns:a16="http://schemas.microsoft.com/office/drawing/2014/main" id="{D787748F-BB3A-D37F-32DB-EA9EA5323260}"/>
              </a:ext>
            </a:extLst>
          </p:cNvPr>
          <p:cNvSpPr>
            <a:spLocks noGrp="1"/>
          </p:cNvSpPr>
          <p:nvPr>
            <p:ph idx="1"/>
          </p:nvPr>
        </p:nvSpPr>
        <p:spPr/>
        <p:txBody>
          <a:bodyPr>
            <a:normAutofit fontScale="85000" lnSpcReduction="20000"/>
          </a:bodyPr>
          <a:lstStyle/>
          <a:p>
            <a:r>
              <a:rPr lang="en-US" b="1" dirty="0"/>
              <a:t>Imitating Operation (Input Design):</a:t>
            </a:r>
            <a:r>
              <a:rPr lang="en-US" dirty="0"/>
              <a:t> Instead of abstract random noise, </a:t>
            </a:r>
            <a:r>
              <a:rPr lang="en-US" dirty="0" err="1"/>
              <a:t>Kessels</a:t>
            </a:r>
            <a:r>
              <a:rPr lang="en-US" dirty="0"/>
              <a:t> generates training data using </a:t>
            </a:r>
            <a:r>
              <a:rPr lang="en-US" b="1" dirty="0"/>
              <a:t>"alternating smoothed step-up and step-down profiles."</a:t>
            </a:r>
            <a:r>
              <a:rPr lang="en-US" dirty="0"/>
              <a:t> These explicitly mimic the reference profiles used during the machine's actual operation to capture relevant behavior</a:t>
            </a:r>
          </a:p>
          <a:p>
            <a:r>
              <a:rPr lang="en-US" b="1" dirty="0"/>
              <a:t>Implicit Filtering (Feature Selection):</a:t>
            </a:r>
            <a:r>
              <a:rPr lang="en-US" dirty="0"/>
              <a:t> He replaces standard frequency weighting (</a:t>
            </a:r>
            <a:r>
              <a:rPr lang="en-US" i="1" dirty="0"/>
              <a:t>L</a:t>
            </a:r>
            <a:r>
              <a:rPr lang="en-US" dirty="0"/>
              <a:t>) with </a:t>
            </a:r>
            <a:r>
              <a:rPr lang="en-US" b="1" dirty="0"/>
              <a:t>Feature Selection on "Frequency Bins of Interest" (</a:t>
            </a:r>
            <a:r>
              <a:rPr lang="en-US" b="1" dirty="0" err="1"/>
              <a:t>FBoIs</a:t>
            </a:r>
            <a:r>
              <a:rPr lang="en-US" b="1" dirty="0"/>
              <a:t>)</a:t>
            </a:r>
            <a:r>
              <a:rPr lang="en-US" dirty="0"/>
              <a:t>. The method extracts specific frequency ranges (e.g., near eigenfrequencies) and uses Mutual Information algorithms (like JMI) to discard noisy or irrelevant bins, effectively filtering the error signal</a:t>
            </a:r>
          </a:p>
          <a:p>
            <a:r>
              <a:rPr lang="en-US" b="1" dirty="0"/>
              <a:t>Regime Forcing (Closed-Loop):</a:t>
            </a:r>
            <a:r>
              <a:rPr lang="en-US" dirty="0"/>
              <a:t> Similar to the "Wet-Clutch" high-pressure requirement, </a:t>
            </a:r>
            <a:r>
              <a:rPr lang="en-US" dirty="0" err="1"/>
              <a:t>Kessels</a:t>
            </a:r>
            <a:r>
              <a:rPr lang="en-US" dirty="0"/>
              <a:t> uses </a:t>
            </a:r>
            <a:r>
              <a:rPr lang="en-US" b="1" dirty="0"/>
              <a:t>Closed-Loop Feedback</a:t>
            </a:r>
            <a:r>
              <a:rPr lang="en-US" dirty="0"/>
              <a:t> during data generation. This forces the system to track the reference steps, ensuring the dataset is rich in the specific </a:t>
            </a:r>
            <a:r>
              <a:rPr lang="en-US" b="1" dirty="0"/>
              <a:t>settling dynamics</a:t>
            </a:r>
            <a:r>
              <a:rPr lang="en-US" dirty="0"/>
              <a:t> required for the high-precision application</a:t>
            </a:r>
            <a:endParaRPr lang="en-NL" dirty="0"/>
          </a:p>
        </p:txBody>
      </p:sp>
    </p:spTree>
    <p:extLst>
      <p:ext uri="{BB962C8B-B14F-4D97-AF65-F5344CB8AC3E}">
        <p14:creationId xmlns:p14="http://schemas.microsoft.com/office/powerpoint/2010/main" val="2247496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76AB-FBCF-A967-A29F-0D75FC271B94}"/>
              </a:ext>
            </a:extLst>
          </p:cNvPr>
          <p:cNvSpPr>
            <a:spLocks noGrp="1"/>
          </p:cNvSpPr>
          <p:nvPr>
            <p:ph type="title"/>
          </p:nvPr>
        </p:nvSpPr>
        <p:spPr/>
        <p:txBody>
          <a:bodyPr/>
          <a:lstStyle/>
          <a:p>
            <a:r>
              <a:rPr lang="en-US" dirty="0"/>
              <a:t>Extension and Augmentation (EA)</a:t>
            </a:r>
            <a:endParaRPr lang="en-NL" dirty="0"/>
          </a:p>
        </p:txBody>
      </p:sp>
      <p:sp>
        <p:nvSpPr>
          <p:cNvPr id="3" name="Content Placeholder 2">
            <a:extLst>
              <a:ext uri="{FF2B5EF4-FFF2-40B4-BE49-F238E27FC236}">
                <a16:creationId xmlns:a16="http://schemas.microsoft.com/office/drawing/2014/main" id="{FF938514-E70C-CAE0-46DB-B793E20F609E}"/>
              </a:ext>
            </a:extLst>
          </p:cNvPr>
          <p:cNvSpPr>
            <a:spLocks noGrp="1"/>
          </p:cNvSpPr>
          <p:nvPr>
            <p:ph idx="1"/>
          </p:nvPr>
        </p:nvSpPr>
        <p:spPr/>
        <p:txBody>
          <a:bodyPr>
            <a:normAutofit fontScale="92500" lnSpcReduction="10000"/>
          </a:bodyPr>
          <a:lstStyle/>
          <a:p>
            <a:r>
              <a:rPr lang="en-US" dirty="0"/>
              <a:t>Goal: fix mismatch between theoretical First Principles (FP) model and the real physical system</a:t>
            </a:r>
          </a:p>
          <a:p>
            <a:r>
              <a:rPr lang="en-US" dirty="0"/>
              <a:t>Extension: introduce new state variables that capture unmodeled dynamics</a:t>
            </a:r>
          </a:p>
          <a:p>
            <a:pPr lvl="1"/>
            <a:r>
              <a:rPr lang="en-US" dirty="0"/>
              <a:t>Subspace Encoder (NN) looks at past data and estimates hidden states</a:t>
            </a:r>
          </a:p>
          <a:p>
            <a:r>
              <a:rPr lang="en-US" dirty="0" err="1"/>
              <a:t>Augmenation</a:t>
            </a:r>
            <a:r>
              <a:rPr lang="en-US" dirty="0"/>
              <a:t>: Physical model might have incorrect parameters (or simplified equations)</a:t>
            </a:r>
          </a:p>
          <a:p>
            <a:pPr lvl="1"/>
            <a:r>
              <a:rPr lang="en-US" dirty="0"/>
              <a:t>EA adds RNNs directly into the force/accelerations equations of the physical model</a:t>
            </a:r>
          </a:p>
          <a:p>
            <a:r>
              <a:rPr lang="en-US" b="1" dirty="0"/>
              <a:t>Negation Problem:</a:t>
            </a:r>
            <a:r>
              <a:rPr lang="en-US" dirty="0"/>
              <a:t> NN cancels out physical parameters; NN might take easy route and learn simple dynamics and not the nonlinearities</a:t>
            </a:r>
            <a:endParaRPr lang="en-NL" dirty="0"/>
          </a:p>
          <a:p>
            <a:pPr lvl="1"/>
            <a:r>
              <a:rPr lang="en-US" dirty="0"/>
              <a:t>Mentions for further research Orthogonality to improve on negation effect</a:t>
            </a:r>
          </a:p>
        </p:txBody>
      </p:sp>
      <p:sp>
        <p:nvSpPr>
          <p:cNvPr id="5" name="TextBox 4">
            <a:extLst>
              <a:ext uri="{FF2B5EF4-FFF2-40B4-BE49-F238E27FC236}">
                <a16:creationId xmlns:a16="http://schemas.microsoft.com/office/drawing/2014/main" id="{CDA2C041-CEE7-0BEB-CAF0-4A44EED06506}"/>
              </a:ext>
            </a:extLst>
          </p:cNvPr>
          <p:cNvSpPr txBox="1"/>
          <p:nvPr/>
        </p:nvSpPr>
        <p:spPr>
          <a:xfrm>
            <a:off x="838200" y="1321356"/>
            <a:ext cx="6096000" cy="369332"/>
          </a:xfrm>
          <a:prstGeom prst="rect">
            <a:avLst/>
          </a:prstGeom>
          <a:noFill/>
        </p:spPr>
        <p:txBody>
          <a:bodyPr wrap="square">
            <a:spAutoFit/>
          </a:bodyPr>
          <a:lstStyle/>
          <a:p>
            <a:r>
              <a:rPr lang="en-US" b="1" dirty="0" err="1"/>
              <a:t>Kessels</a:t>
            </a:r>
            <a:endParaRPr lang="en-NL" b="1" dirty="0"/>
          </a:p>
        </p:txBody>
      </p:sp>
    </p:spTree>
    <p:extLst>
      <p:ext uri="{BB962C8B-B14F-4D97-AF65-F5344CB8AC3E}">
        <p14:creationId xmlns:p14="http://schemas.microsoft.com/office/powerpoint/2010/main" val="764761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3B69B-5FCD-FDCC-67AB-8556B68BE71F}"/>
              </a:ext>
            </a:extLst>
          </p:cNvPr>
          <p:cNvSpPr>
            <a:spLocks noGrp="1"/>
          </p:cNvSpPr>
          <p:nvPr>
            <p:ph type="title"/>
          </p:nvPr>
        </p:nvSpPr>
        <p:spPr/>
        <p:txBody>
          <a:bodyPr/>
          <a:lstStyle/>
          <a:p>
            <a:r>
              <a:rPr lang="en-US" dirty="0"/>
              <a:t>Orthogonality</a:t>
            </a:r>
            <a:endParaRPr lang="en-NL" dirty="0"/>
          </a:p>
        </p:txBody>
      </p:sp>
      <p:sp>
        <p:nvSpPr>
          <p:cNvPr id="3" name="Content Placeholder 2">
            <a:extLst>
              <a:ext uri="{FF2B5EF4-FFF2-40B4-BE49-F238E27FC236}">
                <a16:creationId xmlns:a16="http://schemas.microsoft.com/office/drawing/2014/main" id="{C0F58C0A-7FE3-A126-F60B-344A340D6B50}"/>
              </a:ext>
            </a:extLst>
          </p:cNvPr>
          <p:cNvSpPr>
            <a:spLocks noGrp="1"/>
          </p:cNvSpPr>
          <p:nvPr>
            <p:ph idx="1"/>
          </p:nvPr>
        </p:nvSpPr>
        <p:spPr>
          <a:xfrm>
            <a:off x="838200" y="1559407"/>
            <a:ext cx="10515600" cy="4351338"/>
          </a:xfrm>
        </p:spPr>
        <p:txBody>
          <a:bodyPr/>
          <a:lstStyle/>
          <a:p>
            <a:r>
              <a:rPr lang="en-US" dirty="0"/>
              <a:t>Orthogonal by construction (</a:t>
            </a:r>
            <a:r>
              <a:rPr lang="en-US" dirty="0" err="1"/>
              <a:t>ObC</a:t>
            </a:r>
            <a:r>
              <a:rPr lang="en-US" dirty="0"/>
              <a:t>) requires input-output, realistic for the dual-gantry system?</a:t>
            </a:r>
          </a:p>
          <a:p>
            <a:r>
              <a:rPr lang="en-US" dirty="0"/>
              <a:t>Dual-gantry system has position-dependent stiffness </a:t>
            </a:r>
            <a:r>
              <a:rPr lang="en-US" dirty="0">
                <a:sym typeface="Wingdings" panose="05000000000000000000" pitchFamily="2" charset="2"/>
              </a:rPr>
              <a:t> resonance frequencies move  state space</a:t>
            </a:r>
          </a:p>
          <a:p>
            <a:endParaRPr lang="en-US" dirty="0"/>
          </a:p>
        </p:txBody>
      </p:sp>
      <p:pic>
        <p:nvPicPr>
          <p:cNvPr id="13" name="Picture 12">
            <a:extLst>
              <a:ext uri="{FF2B5EF4-FFF2-40B4-BE49-F238E27FC236}">
                <a16:creationId xmlns:a16="http://schemas.microsoft.com/office/drawing/2014/main" id="{36C7A3D5-FC0E-21A2-61EC-5925F344FA6F}"/>
              </a:ext>
            </a:extLst>
          </p:cNvPr>
          <p:cNvPicPr>
            <a:picLocks noChangeAspect="1"/>
          </p:cNvPicPr>
          <p:nvPr/>
        </p:nvPicPr>
        <p:blipFill>
          <a:blip r:embed="rId3"/>
          <a:stretch>
            <a:fillRect/>
          </a:stretch>
        </p:blipFill>
        <p:spPr>
          <a:xfrm>
            <a:off x="1092842" y="3429000"/>
            <a:ext cx="5066105" cy="3266589"/>
          </a:xfrm>
          <a:prstGeom prst="rect">
            <a:avLst/>
          </a:prstGeom>
        </p:spPr>
      </p:pic>
      <p:pic>
        <p:nvPicPr>
          <p:cNvPr id="15" name="Picture 14">
            <a:extLst>
              <a:ext uri="{FF2B5EF4-FFF2-40B4-BE49-F238E27FC236}">
                <a16:creationId xmlns:a16="http://schemas.microsoft.com/office/drawing/2014/main" id="{B735C519-F479-13A3-861B-A0704157C722}"/>
              </a:ext>
            </a:extLst>
          </p:cNvPr>
          <p:cNvPicPr>
            <a:picLocks noChangeAspect="1"/>
          </p:cNvPicPr>
          <p:nvPr/>
        </p:nvPicPr>
        <p:blipFill>
          <a:blip r:embed="rId4"/>
          <a:stretch>
            <a:fillRect/>
          </a:stretch>
        </p:blipFill>
        <p:spPr>
          <a:xfrm>
            <a:off x="6542339" y="3429000"/>
            <a:ext cx="4932681" cy="3266589"/>
          </a:xfrm>
          <a:prstGeom prst="rect">
            <a:avLst/>
          </a:prstGeom>
        </p:spPr>
      </p:pic>
    </p:spTree>
    <p:extLst>
      <p:ext uri="{BB962C8B-B14F-4D97-AF65-F5344CB8AC3E}">
        <p14:creationId xmlns:p14="http://schemas.microsoft.com/office/powerpoint/2010/main" val="2666628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1A1C9-1170-D722-5E92-80269F8D2A7B}"/>
              </a:ext>
            </a:extLst>
          </p:cNvPr>
          <p:cNvSpPr>
            <a:spLocks noGrp="1"/>
          </p:cNvSpPr>
          <p:nvPr>
            <p:ph type="title"/>
          </p:nvPr>
        </p:nvSpPr>
        <p:spPr/>
        <p:txBody>
          <a:bodyPr/>
          <a:lstStyle/>
          <a:p>
            <a:r>
              <a:rPr lang="en-US" dirty="0"/>
              <a:t>Orthogonal Regularization (State-Space)</a:t>
            </a:r>
            <a:endParaRPr lang="en-NL" dirty="0"/>
          </a:p>
        </p:txBody>
      </p:sp>
      <p:sp>
        <p:nvSpPr>
          <p:cNvPr id="3" name="Content Placeholder 2">
            <a:extLst>
              <a:ext uri="{FF2B5EF4-FFF2-40B4-BE49-F238E27FC236}">
                <a16:creationId xmlns:a16="http://schemas.microsoft.com/office/drawing/2014/main" id="{449DF795-9254-8119-777E-77B504FA86EC}"/>
              </a:ext>
            </a:extLst>
          </p:cNvPr>
          <p:cNvSpPr>
            <a:spLocks noGrp="1"/>
          </p:cNvSpPr>
          <p:nvPr>
            <p:ph idx="1"/>
          </p:nvPr>
        </p:nvSpPr>
        <p:spPr>
          <a:xfrm>
            <a:off x="838200" y="1790901"/>
            <a:ext cx="10515600" cy="4351338"/>
          </a:xfrm>
        </p:spPr>
        <p:txBody>
          <a:bodyPr/>
          <a:lstStyle/>
          <a:p>
            <a:r>
              <a:rPr lang="en-US" dirty="0"/>
              <a:t>Add penalty term to the optimization cost function for predictions that look like rigid-body physics</a:t>
            </a:r>
          </a:p>
          <a:p>
            <a:r>
              <a:rPr lang="en-US" dirty="0"/>
              <a:t>Use simulated states generated by FP model to construct projection matrix </a:t>
            </a:r>
            <a:r>
              <a:rPr lang="en-US" dirty="0">
                <a:sym typeface="Wingdings" panose="05000000000000000000" pitchFamily="2" charset="2"/>
              </a:rPr>
              <a:t> </a:t>
            </a:r>
            <a:r>
              <a:rPr lang="en-US" dirty="0"/>
              <a:t>compatible with </a:t>
            </a:r>
            <a:r>
              <a:rPr lang="en-US" b="1" dirty="0"/>
              <a:t>Nonlinear State-Space</a:t>
            </a:r>
          </a:p>
          <a:p>
            <a:r>
              <a:rPr lang="en-US" dirty="0"/>
              <a:t>Linearization point can be updated at each iteration using the current estimate</a:t>
            </a:r>
          </a:p>
          <a:p>
            <a:pPr lvl="1"/>
            <a:r>
              <a:rPr lang="en-US" dirty="0"/>
              <a:t>Requires recomputing SVD and projection matrix every time the cost function is evaluated </a:t>
            </a:r>
            <a:r>
              <a:rPr lang="en-US" dirty="0">
                <a:sym typeface="Wingdings" panose="05000000000000000000" pitchFamily="2" charset="2"/>
              </a:rPr>
              <a:t> computation expensive</a:t>
            </a:r>
          </a:p>
          <a:p>
            <a:pPr lvl="1"/>
            <a:r>
              <a:rPr lang="en-US" dirty="0">
                <a:sym typeface="Wingdings" panose="05000000000000000000" pitchFamily="2" charset="2"/>
              </a:rPr>
              <a:t>Only initialize projection matrix at the start of training with initial best guess estimate of the physical parameters  </a:t>
            </a:r>
            <a:r>
              <a:rPr lang="en-US" dirty="0" err="1">
                <a:sym typeface="Wingdings" panose="05000000000000000000" pitchFamily="2" charset="2"/>
              </a:rPr>
              <a:t>telica</a:t>
            </a:r>
            <a:r>
              <a:rPr lang="en-US" dirty="0">
                <a:sym typeface="Wingdings" panose="05000000000000000000" pitchFamily="2" charset="2"/>
              </a:rPr>
              <a:t> datasheets available</a:t>
            </a:r>
            <a:endParaRPr lang="en-US" dirty="0"/>
          </a:p>
          <a:p>
            <a:endParaRPr lang="en-NL" dirty="0"/>
          </a:p>
        </p:txBody>
      </p:sp>
    </p:spTree>
    <p:extLst>
      <p:ext uri="{BB962C8B-B14F-4D97-AF65-F5344CB8AC3E}">
        <p14:creationId xmlns:p14="http://schemas.microsoft.com/office/powerpoint/2010/main" val="2762510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50B96-3F58-453F-C993-0CAF6249023E}"/>
              </a:ext>
            </a:extLst>
          </p:cNvPr>
          <p:cNvSpPr>
            <a:spLocks noGrp="1"/>
          </p:cNvSpPr>
          <p:nvPr>
            <p:ph type="title"/>
          </p:nvPr>
        </p:nvSpPr>
        <p:spPr/>
        <p:txBody>
          <a:bodyPr/>
          <a:lstStyle/>
          <a:p>
            <a:r>
              <a:rPr lang="en-US" dirty="0"/>
              <a:t>LPV-LFR</a:t>
            </a:r>
            <a:endParaRPr lang="en-NL" dirty="0"/>
          </a:p>
        </p:txBody>
      </p:sp>
      <p:sp>
        <p:nvSpPr>
          <p:cNvPr id="3" name="Content Placeholder 2">
            <a:extLst>
              <a:ext uri="{FF2B5EF4-FFF2-40B4-BE49-F238E27FC236}">
                <a16:creationId xmlns:a16="http://schemas.microsoft.com/office/drawing/2014/main" id="{8C3F7A0A-7882-4BD3-CFF8-BB9B0A666967}"/>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26111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41820-23E9-F04F-2BED-D30E0E2635C1}"/>
              </a:ext>
            </a:extLst>
          </p:cNvPr>
          <p:cNvSpPr>
            <a:spLocks noGrp="1"/>
          </p:cNvSpPr>
          <p:nvPr>
            <p:ph type="title"/>
          </p:nvPr>
        </p:nvSpPr>
        <p:spPr/>
        <p:txBody>
          <a:bodyPr/>
          <a:lstStyle/>
          <a:p>
            <a:r>
              <a:rPr lang="en-US" dirty="0"/>
              <a:t>Combining EA with Orthogonality</a:t>
            </a:r>
            <a:endParaRPr lang="en-NL" dirty="0"/>
          </a:p>
        </p:txBody>
      </p:sp>
      <p:sp>
        <p:nvSpPr>
          <p:cNvPr id="3" name="Content Placeholder 2">
            <a:extLst>
              <a:ext uri="{FF2B5EF4-FFF2-40B4-BE49-F238E27FC236}">
                <a16:creationId xmlns:a16="http://schemas.microsoft.com/office/drawing/2014/main" id="{E01F4637-9DED-3B77-1819-84C80A233E91}"/>
              </a:ext>
            </a:extLst>
          </p:cNvPr>
          <p:cNvSpPr>
            <a:spLocks noGrp="1"/>
          </p:cNvSpPr>
          <p:nvPr>
            <p:ph idx="1"/>
          </p:nvPr>
        </p:nvSpPr>
        <p:spPr/>
        <p:txBody>
          <a:bodyPr/>
          <a:lstStyle/>
          <a:p>
            <a:r>
              <a:rPr lang="en-US" dirty="0"/>
              <a:t>EA continuously updates physical parameters </a:t>
            </a:r>
          </a:p>
          <a:p>
            <a:r>
              <a:rPr lang="en-US" dirty="0"/>
              <a:t>Nominal approximation: Initialize SVD once to build projection matrix </a:t>
            </a:r>
            <a:r>
              <a:rPr lang="el-GR" dirty="0"/>
              <a:t>Π</a:t>
            </a:r>
            <a:r>
              <a:rPr lang="en-US" dirty="0"/>
              <a:t>. </a:t>
            </a:r>
          </a:p>
          <a:p>
            <a:pPr lvl="1"/>
            <a:r>
              <a:rPr lang="en-US" dirty="0"/>
              <a:t>Ideally we would update the SVD at every update step</a:t>
            </a:r>
            <a:endParaRPr lang="en-NL" dirty="0"/>
          </a:p>
        </p:txBody>
      </p:sp>
    </p:spTree>
    <p:extLst>
      <p:ext uri="{BB962C8B-B14F-4D97-AF65-F5344CB8AC3E}">
        <p14:creationId xmlns:p14="http://schemas.microsoft.com/office/powerpoint/2010/main" val="132494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D343F-6342-0E27-294B-993538F48FC7}"/>
              </a:ext>
            </a:extLst>
          </p:cNvPr>
          <p:cNvSpPr>
            <a:spLocks noGrp="1"/>
          </p:cNvSpPr>
          <p:nvPr>
            <p:ph type="title"/>
          </p:nvPr>
        </p:nvSpPr>
        <p:spPr/>
        <p:txBody>
          <a:bodyPr/>
          <a:lstStyle/>
          <a:p>
            <a:r>
              <a:rPr lang="en-US" dirty="0"/>
              <a:t>Nonlinear System Identification</a:t>
            </a:r>
            <a:endParaRPr lang="en-NL" dirty="0"/>
          </a:p>
        </p:txBody>
      </p:sp>
      <p:sp>
        <p:nvSpPr>
          <p:cNvPr id="3" name="Content Placeholder 2">
            <a:extLst>
              <a:ext uri="{FF2B5EF4-FFF2-40B4-BE49-F238E27FC236}">
                <a16:creationId xmlns:a16="http://schemas.microsoft.com/office/drawing/2014/main" id="{3E6D4B73-9CA9-B601-1057-ADAE5F5F5DE7}"/>
              </a:ext>
            </a:extLst>
          </p:cNvPr>
          <p:cNvSpPr>
            <a:spLocks noGrp="1"/>
          </p:cNvSpPr>
          <p:nvPr>
            <p:ph idx="1"/>
          </p:nvPr>
        </p:nvSpPr>
        <p:spPr/>
        <p:txBody>
          <a:bodyPr/>
          <a:lstStyle/>
          <a:p>
            <a:r>
              <a:rPr lang="en-US" dirty="0"/>
              <a:t>OMNIPUS (</a:t>
            </a:r>
            <a:r>
              <a:rPr lang="en-US" dirty="0" err="1"/>
              <a:t>OptiMized</a:t>
            </a:r>
            <a:r>
              <a:rPr lang="en-US" dirty="0"/>
              <a:t> Nonlinear </a:t>
            </a:r>
            <a:r>
              <a:rPr lang="en-US" dirty="0" err="1"/>
              <a:t>InPUt</a:t>
            </a:r>
            <a:r>
              <a:rPr lang="en-US" dirty="0"/>
              <a:t> Signal):  Instead of random noise, generates </a:t>
            </a:r>
            <a:r>
              <a:rPr lang="en-US" b="1" dirty="0"/>
              <a:t>randomized step-like sequences</a:t>
            </a:r>
          </a:p>
          <a:p>
            <a:pPr lvl="1"/>
            <a:r>
              <a:rPr lang="en-US" dirty="0"/>
              <a:t>Models better to unseen data</a:t>
            </a:r>
          </a:p>
          <a:p>
            <a:pPr lvl="1"/>
            <a:r>
              <a:rPr lang="en-US" dirty="0"/>
              <a:t>OMNIPUS responsible for global movement. Combine with “Wet-Clutch Trick” for local excitation?</a:t>
            </a:r>
          </a:p>
          <a:p>
            <a:r>
              <a:rPr lang="en-US" dirty="0"/>
              <a:t>Selecting regime points for the dual-gantry system</a:t>
            </a:r>
          </a:p>
          <a:p>
            <a:pPr lvl="1"/>
            <a:r>
              <a:rPr lang="en-US" dirty="0"/>
              <a:t>Need to select specific coordinates that represent extreme cases</a:t>
            </a:r>
          </a:p>
          <a:p>
            <a:pPr lvl="1"/>
            <a:r>
              <a:rPr lang="en-US" dirty="0"/>
              <a:t>Automate with </a:t>
            </a:r>
            <a:r>
              <a:rPr lang="en-US" b="1" dirty="0"/>
              <a:t>HILOMOT (</a:t>
            </a:r>
            <a:r>
              <a:rPr lang="en-US" b="1" dirty="0" err="1"/>
              <a:t>HIerarchical</a:t>
            </a:r>
            <a:r>
              <a:rPr lang="en-US" b="1" dirty="0"/>
              <a:t> </a:t>
            </a:r>
            <a:r>
              <a:rPr lang="en-US" b="1" dirty="0" err="1"/>
              <a:t>LOcal</a:t>
            </a:r>
            <a:r>
              <a:rPr lang="en-US" b="1" dirty="0"/>
              <a:t> </a:t>
            </a:r>
            <a:r>
              <a:rPr lang="en-US" b="1" dirty="0" err="1"/>
              <a:t>MOdel</a:t>
            </a:r>
            <a:r>
              <a:rPr lang="en-US" b="1" dirty="0"/>
              <a:t> Tree) </a:t>
            </a:r>
            <a:r>
              <a:rPr lang="en-US" dirty="0"/>
              <a:t>algorithm</a:t>
            </a:r>
            <a:endParaRPr lang="en-NL" dirty="0"/>
          </a:p>
        </p:txBody>
      </p:sp>
      <p:sp>
        <p:nvSpPr>
          <p:cNvPr id="9" name="TextBox 8">
            <a:extLst>
              <a:ext uri="{FF2B5EF4-FFF2-40B4-BE49-F238E27FC236}">
                <a16:creationId xmlns:a16="http://schemas.microsoft.com/office/drawing/2014/main" id="{21DCAAFD-807C-BF4F-B247-4072BEF85085}"/>
              </a:ext>
            </a:extLst>
          </p:cNvPr>
          <p:cNvSpPr txBox="1"/>
          <p:nvPr/>
        </p:nvSpPr>
        <p:spPr>
          <a:xfrm>
            <a:off x="838200" y="1387396"/>
            <a:ext cx="6096000" cy="369332"/>
          </a:xfrm>
          <a:prstGeom prst="rect">
            <a:avLst/>
          </a:prstGeom>
          <a:noFill/>
        </p:spPr>
        <p:txBody>
          <a:bodyPr wrap="square">
            <a:spAutoFit/>
          </a:bodyPr>
          <a:lstStyle/>
          <a:p>
            <a:r>
              <a:rPr lang="en-US" b="1" dirty="0"/>
              <a:t>Schoukens &amp; Ljung, </a:t>
            </a:r>
            <a:r>
              <a:rPr lang="en-US" b="1" dirty="0" err="1"/>
              <a:t>Kessels</a:t>
            </a:r>
            <a:endParaRPr lang="en-NL" b="1" dirty="0"/>
          </a:p>
        </p:txBody>
      </p:sp>
    </p:spTree>
    <p:extLst>
      <p:ext uri="{BB962C8B-B14F-4D97-AF65-F5344CB8AC3E}">
        <p14:creationId xmlns:p14="http://schemas.microsoft.com/office/powerpoint/2010/main" val="2171402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F4134-B082-0054-7E8D-D6219CB060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9A4B0D-EFA4-89FD-8455-14FDDA0A46ED}"/>
              </a:ext>
            </a:extLst>
          </p:cNvPr>
          <p:cNvSpPr>
            <a:spLocks noGrp="1"/>
          </p:cNvSpPr>
          <p:nvPr>
            <p:ph type="title"/>
          </p:nvPr>
        </p:nvSpPr>
        <p:spPr/>
        <p:txBody>
          <a:bodyPr/>
          <a:lstStyle/>
          <a:p>
            <a:r>
              <a:rPr lang="en-US" dirty="0"/>
              <a:t>Question 1</a:t>
            </a:r>
            <a:endParaRPr lang="en-NL" dirty="0"/>
          </a:p>
        </p:txBody>
      </p:sp>
      <p:sp>
        <p:nvSpPr>
          <p:cNvPr id="3" name="Content Placeholder 2">
            <a:extLst>
              <a:ext uri="{FF2B5EF4-FFF2-40B4-BE49-F238E27FC236}">
                <a16:creationId xmlns:a16="http://schemas.microsoft.com/office/drawing/2014/main" id="{23FC63B2-B931-DF59-BFD7-18E122B0EE47}"/>
              </a:ext>
            </a:extLst>
          </p:cNvPr>
          <p:cNvSpPr>
            <a:spLocks noGrp="1"/>
          </p:cNvSpPr>
          <p:nvPr>
            <p:ph idx="1"/>
          </p:nvPr>
        </p:nvSpPr>
        <p:spPr/>
        <p:txBody>
          <a:bodyPr/>
          <a:lstStyle/>
          <a:p>
            <a:r>
              <a:rPr lang="en-US" dirty="0"/>
              <a:t>If the “Nominal approximation” is used for Orthogonality based on a decoupled First Principles model, does this risk penalizing the Neural Network when it tries to learn the cross-coupling?</a:t>
            </a:r>
          </a:p>
          <a:p>
            <a:pPr lvl="1"/>
            <a:r>
              <a:rPr lang="en-US" dirty="0"/>
              <a:t>Might this valid coupling be misinterpreted as a “rigid body dynamic”?</a:t>
            </a:r>
          </a:p>
          <a:p>
            <a:pPr lvl="1"/>
            <a:r>
              <a:rPr lang="en-US" dirty="0"/>
              <a:t>Or is this mainly an experiment design problem?  Should the motion of gantry 1 be uncorrelated with gantry 2? (move with randomized independent phase shifts?)</a:t>
            </a:r>
            <a:endParaRPr lang="en-NL" dirty="0"/>
          </a:p>
        </p:txBody>
      </p:sp>
    </p:spTree>
    <p:extLst>
      <p:ext uri="{BB962C8B-B14F-4D97-AF65-F5344CB8AC3E}">
        <p14:creationId xmlns:p14="http://schemas.microsoft.com/office/powerpoint/2010/main" val="1397591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1258C-D895-257E-0C95-98F40DD458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C5E3E-416F-39BB-946F-041EFF4A1907}"/>
              </a:ext>
            </a:extLst>
          </p:cNvPr>
          <p:cNvSpPr>
            <a:spLocks noGrp="1"/>
          </p:cNvSpPr>
          <p:nvPr>
            <p:ph type="title"/>
          </p:nvPr>
        </p:nvSpPr>
        <p:spPr/>
        <p:txBody>
          <a:bodyPr/>
          <a:lstStyle/>
          <a:p>
            <a:r>
              <a:rPr lang="en-US" dirty="0"/>
              <a:t>Question 2</a:t>
            </a:r>
            <a:endParaRPr lang="en-NL" dirty="0"/>
          </a:p>
        </p:txBody>
      </p:sp>
      <p:sp>
        <p:nvSpPr>
          <p:cNvPr id="3" name="Content Placeholder 2">
            <a:extLst>
              <a:ext uri="{FF2B5EF4-FFF2-40B4-BE49-F238E27FC236}">
                <a16:creationId xmlns:a16="http://schemas.microsoft.com/office/drawing/2014/main" id="{8FFBF54C-E8E6-9499-89D1-2C1DC5E98D53}"/>
              </a:ext>
            </a:extLst>
          </p:cNvPr>
          <p:cNvSpPr>
            <a:spLocks noGrp="1"/>
          </p:cNvSpPr>
          <p:nvPr>
            <p:ph idx="1"/>
          </p:nvPr>
        </p:nvSpPr>
        <p:spPr/>
        <p:txBody>
          <a:bodyPr/>
          <a:lstStyle/>
          <a:p>
            <a:r>
              <a:rPr lang="en-US" dirty="0"/>
              <a:t>The “Nominal approximation” assumes we calculate the projection matrix once using fixed parameters, but the dual-gantry system has position-dependent stiffness (moving resonances).</a:t>
            </a:r>
          </a:p>
          <a:p>
            <a:pPr lvl="1"/>
            <a:r>
              <a:rPr lang="en-US" dirty="0"/>
              <a:t>If we would enforce a static orthogonality constraint based on the center dynamics for example, do we risk incorrectly penalizing the </a:t>
            </a:r>
            <a:r>
              <a:rPr lang="en-US" dirty="0" err="1"/>
              <a:t>nn</a:t>
            </a:r>
            <a:r>
              <a:rPr lang="en-US" dirty="0"/>
              <a:t> at the corners? Without making it computation infeasible how to work around this?</a:t>
            </a:r>
            <a:endParaRPr lang="en-NL" dirty="0"/>
          </a:p>
        </p:txBody>
      </p:sp>
    </p:spTree>
    <p:extLst>
      <p:ext uri="{BB962C8B-B14F-4D97-AF65-F5344CB8AC3E}">
        <p14:creationId xmlns:p14="http://schemas.microsoft.com/office/powerpoint/2010/main" val="477167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FE1B89B-B61C-B0A0-B7E7-FDDDE3EB35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F547C4-A7A3-E551-8148-1AE1A0A19645}"/>
              </a:ext>
            </a:extLst>
          </p:cNvPr>
          <p:cNvSpPr>
            <a:spLocks noGrp="1"/>
          </p:cNvSpPr>
          <p:nvPr>
            <p:ph type="title"/>
          </p:nvPr>
        </p:nvSpPr>
        <p:spPr/>
        <p:txBody>
          <a:bodyPr/>
          <a:lstStyle/>
          <a:p>
            <a:r>
              <a:rPr lang="en-US" dirty="0"/>
              <a:t>Question 3</a:t>
            </a:r>
            <a:endParaRPr lang="en-NL" dirty="0"/>
          </a:p>
        </p:txBody>
      </p:sp>
      <p:sp>
        <p:nvSpPr>
          <p:cNvPr id="3" name="Content Placeholder 2">
            <a:extLst>
              <a:ext uri="{FF2B5EF4-FFF2-40B4-BE49-F238E27FC236}">
                <a16:creationId xmlns:a16="http://schemas.microsoft.com/office/drawing/2014/main" id="{47F92BEA-C113-000C-5FA0-6927616193E7}"/>
              </a:ext>
            </a:extLst>
          </p:cNvPr>
          <p:cNvSpPr>
            <a:spLocks noGrp="1"/>
          </p:cNvSpPr>
          <p:nvPr>
            <p:ph idx="1"/>
          </p:nvPr>
        </p:nvSpPr>
        <p:spPr/>
        <p:txBody>
          <a:bodyPr/>
          <a:lstStyle/>
          <a:p>
            <a:r>
              <a:rPr lang="en-US" dirty="0"/>
              <a:t>Since we are injecting Recurrent Neural Networks (RNNs) into the force equations of a physical model, we are creating a new feedback loop. Orthogonality ensures parameter uniqueness, but does it ensure stability? Could the NN learn a 'correct' force that happens to destabilize the simulation for unseen inputs (extrapolation)?</a:t>
            </a:r>
            <a:endParaRPr lang="en-NL" dirty="0"/>
          </a:p>
        </p:txBody>
      </p:sp>
    </p:spTree>
    <p:extLst>
      <p:ext uri="{BB962C8B-B14F-4D97-AF65-F5344CB8AC3E}">
        <p14:creationId xmlns:p14="http://schemas.microsoft.com/office/powerpoint/2010/main" val="873005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922FA-98D7-2929-D27F-810CECE6E8CA}"/>
              </a:ext>
            </a:extLst>
          </p:cNvPr>
          <p:cNvSpPr>
            <a:spLocks noGrp="1"/>
          </p:cNvSpPr>
          <p:nvPr>
            <p:ph type="title"/>
          </p:nvPr>
        </p:nvSpPr>
        <p:spPr/>
        <p:txBody>
          <a:bodyPr/>
          <a:lstStyle/>
          <a:p>
            <a:r>
              <a:rPr lang="en-US" dirty="0"/>
              <a:t>Outline next week</a:t>
            </a:r>
            <a:endParaRPr lang="en-NL" dirty="0"/>
          </a:p>
        </p:txBody>
      </p:sp>
      <p:sp>
        <p:nvSpPr>
          <p:cNvPr id="3" name="Content Placeholder 2">
            <a:extLst>
              <a:ext uri="{FF2B5EF4-FFF2-40B4-BE49-F238E27FC236}">
                <a16:creationId xmlns:a16="http://schemas.microsoft.com/office/drawing/2014/main" id="{78179DB8-2509-8E4F-14E4-B0B6B2FE756A}"/>
              </a:ext>
            </a:extLst>
          </p:cNvPr>
          <p:cNvSpPr>
            <a:spLocks noGrp="1"/>
          </p:cNvSpPr>
          <p:nvPr>
            <p:ph idx="1"/>
          </p:nvPr>
        </p:nvSpPr>
        <p:spPr/>
        <p:txBody>
          <a:bodyPr/>
          <a:lstStyle/>
          <a:p>
            <a:r>
              <a:rPr lang="en-US" dirty="0"/>
              <a:t>Experiment design strategy</a:t>
            </a:r>
          </a:p>
          <a:p>
            <a:pPr lvl="1"/>
            <a:r>
              <a:rPr lang="en-US" dirty="0"/>
              <a:t>for combined EA + Orthogonality method if green lit</a:t>
            </a:r>
          </a:p>
          <a:p>
            <a:pPr lvl="1"/>
            <a:r>
              <a:rPr lang="en-US" dirty="0"/>
              <a:t>Keep in mind generalization?</a:t>
            </a:r>
          </a:p>
          <a:p>
            <a:r>
              <a:rPr lang="en-US" dirty="0"/>
              <a:t>Look at interconnection matrix S for  solving coupling in NN for a decoupled FP?</a:t>
            </a:r>
          </a:p>
          <a:p>
            <a:endParaRPr lang="en-US" dirty="0"/>
          </a:p>
        </p:txBody>
      </p:sp>
    </p:spTree>
    <p:extLst>
      <p:ext uri="{BB962C8B-B14F-4D97-AF65-F5344CB8AC3E}">
        <p14:creationId xmlns:p14="http://schemas.microsoft.com/office/powerpoint/2010/main" val="41339758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AE796-708B-909C-F9F8-D1C4E09DB0F7}"/>
              </a:ext>
            </a:extLst>
          </p:cNvPr>
          <p:cNvSpPr>
            <a:spLocks noGrp="1"/>
          </p:cNvSpPr>
          <p:nvPr>
            <p:ph type="title"/>
          </p:nvPr>
        </p:nvSpPr>
        <p:spPr/>
        <p:txBody>
          <a:bodyPr/>
          <a:lstStyle/>
          <a:p>
            <a:r>
              <a:rPr lang="en-US" dirty="0"/>
              <a:t>Possible Gantt-chart or Planning</a:t>
            </a:r>
            <a:endParaRPr lang="en-NL" dirty="0"/>
          </a:p>
        </p:txBody>
      </p:sp>
      <p:sp>
        <p:nvSpPr>
          <p:cNvPr id="3" name="Content Placeholder 2">
            <a:extLst>
              <a:ext uri="{FF2B5EF4-FFF2-40B4-BE49-F238E27FC236}">
                <a16:creationId xmlns:a16="http://schemas.microsoft.com/office/drawing/2014/main" id="{322F13D6-AF08-9392-A25C-ED43A705A9E8}"/>
              </a:ext>
            </a:extLst>
          </p:cNvPr>
          <p:cNvSpPr>
            <a:spLocks noGrp="1"/>
          </p:cNvSpPr>
          <p:nvPr>
            <p:ph idx="1"/>
          </p:nvPr>
        </p:nvSpPr>
        <p:spPr/>
        <p:txBody>
          <a:bodyPr/>
          <a:lstStyle/>
          <a:p>
            <a:r>
              <a:rPr lang="en-US" dirty="0"/>
              <a:t>To keep an overview of what the progress overall is.</a:t>
            </a:r>
            <a:endParaRPr lang="en-NL" dirty="0"/>
          </a:p>
        </p:txBody>
      </p:sp>
    </p:spTree>
    <p:extLst>
      <p:ext uri="{BB962C8B-B14F-4D97-AF65-F5344CB8AC3E}">
        <p14:creationId xmlns:p14="http://schemas.microsoft.com/office/powerpoint/2010/main" val="35038973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6286</TotalTime>
  <Words>3257</Words>
  <Application>Microsoft Office PowerPoint</Application>
  <PresentationFormat>Widescreen</PresentationFormat>
  <Paragraphs>215</Paragraphs>
  <Slides>19</Slides>
  <Notes>12</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Wingdings</vt:lpstr>
      <vt:lpstr>Office Theme</vt:lpstr>
      <vt:lpstr>Meeting Week 2 – Hybrid modeling Dual-Gantry</vt:lpstr>
      <vt:lpstr>Last week summary</vt:lpstr>
      <vt:lpstr>ASMPT</vt:lpstr>
      <vt:lpstr>Settling error bound for Dual-Gantry</vt:lpstr>
      <vt:lpstr>Settling error bound for Dual-Gantry</vt:lpstr>
      <vt:lpstr>Settling error bound for Dual-Gantry</vt:lpstr>
      <vt:lpstr>Region of interest &amp; Targeting the peaks</vt:lpstr>
      <vt:lpstr>Kessels Application</vt:lpstr>
      <vt:lpstr>Extension and Augmentation (EA)</vt:lpstr>
      <vt:lpstr>Orthogonality</vt:lpstr>
      <vt:lpstr>Orthogonal Regularization (State-Space)</vt:lpstr>
      <vt:lpstr>LPV-LFR</vt:lpstr>
      <vt:lpstr>Combining EA with Orthogonality</vt:lpstr>
      <vt:lpstr>Nonlinear System Identification</vt:lpstr>
      <vt:lpstr>Question 1</vt:lpstr>
      <vt:lpstr>Question 2</vt:lpstr>
      <vt:lpstr>Question 3</vt:lpstr>
      <vt:lpstr>Outline next week</vt:lpstr>
      <vt:lpstr>Possible Gantt-chart or Planning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Hoekstra, Jan</dc:creator>
  <cp:lastModifiedBy>Berg, Dirk van den</cp:lastModifiedBy>
  <cp:revision>355</cp:revision>
  <dcterms:created xsi:type="dcterms:W3CDTF">2026-02-02T15:14:22Z</dcterms:created>
  <dcterms:modified xsi:type="dcterms:W3CDTF">2026-02-15T18:08:44Z</dcterms:modified>
</cp:coreProperties>
</file>