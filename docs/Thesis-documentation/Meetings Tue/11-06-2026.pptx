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78"/>
  </p:notesMasterIdLst>
  <p:sldIdLst>
    <p:sldId id="257" r:id="rId2"/>
    <p:sldId id="258" r:id="rId3"/>
    <p:sldId id="457" r:id="rId4"/>
    <p:sldId id="468" r:id="rId5"/>
    <p:sldId id="409" r:id="rId6"/>
    <p:sldId id="410" r:id="rId7"/>
    <p:sldId id="469" r:id="rId8"/>
    <p:sldId id="466" r:id="rId9"/>
    <p:sldId id="264" r:id="rId10"/>
    <p:sldId id="263" r:id="rId11"/>
    <p:sldId id="498" r:id="rId12"/>
    <p:sldId id="499" r:id="rId13"/>
    <p:sldId id="279" r:id="rId14"/>
    <p:sldId id="500" r:id="rId15"/>
    <p:sldId id="275" r:id="rId16"/>
    <p:sldId id="276" r:id="rId17"/>
    <p:sldId id="277" r:id="rId18"/>
    <p:sldId id="278" r:id="rId19"/>
    <p:sldId id="280" r:id="rId20"/>
    <p:sldId id="287" r:id="rId21"/>
    <p:sldId id="501" r:id="rId22"/>
    <p:sldId id="502" r:id="rId23"/>
    <p:sldId id="503" r:id="rId24"/>
    <p:sldId id="504" r:id="rId25"/>
    <p:sldId id="474" r:id="rId26"/>
    <p:sldId id="476" r:id="rId27"/>
    <p:sldId id="477" r:id="rId28"/>
    <p:sldId id="478" r:id="rId29"/>
    <p:sldId id="480" r:id="rId30"/>
    <p:sldId id="479" r:id="rId31"/>
    <p:sldId id="265" r:id="rId32"/>
    <p:sldId id="266" r:id="rId33"/>
    <p:sldId id="267" r:id="rId34"/>
    <p:sldId id="268" r:id="rId35"/>
    <p:sldId id="270" r:id="rId36"/>
    <p:sldId id="272" r:id="rId37"/>
    <p:sldId id="273" r:id="rId38"/>
    <p:sldId id="274" r:id="rId39"/>
    <p:sldId id="271" r:id="rId40"/>
    <p:sldId id="260" r:id="rId41"/>
    <p:sldId id="269" r:id="rId42"/>
    <p:sldId id="481" r:id="rId43"/>
    <p:sldId id="482" r:id="rId44"/>
    <p:sldId id="483" r:id="rId45"/>
    <p:sldId id="490" r:id="rId46"/>
    <p:sldId id="492" r:id="rId47"/>
    <p:sldId id="491" r:id="rId48"/>
    <p:sldId id="493" r:id="rId49"/>
    <p:sldId id="497" r:id="rId50"/>
    <p:sldId id="484" r:id="rId51"/>
    <p:sldId id="485" r:id="rId52"/>
    <p:sldId id="486" r:id="rId53"/>
    <p:sldId id="488" r:id="rId54"/>
    <p:sldId id="487" r:id="rId55"/>
    <p:sldId id="505" r:id="rId56"/>
    <p:sldId id="508" r:id="rId57"/>
    <p:sldId id="507" r:id="rId58"/>
    <p:sldId id="509" r:id="rId59"/>
    <p:sldId id="506" r:id="rId60"/>
    <p:sldId id="510" r:id="rId61"/>
    <p:sldId id="512" r:id="rId62"/>
    <p:sldId id="513" r:id="rId63"/>
    <p:sldId id="515" r:id="rId64"/>
    <p:sldId id="524" r:id="rId65"/>
    <p:sldId id="520" r:id="rId66"/>
    <p:sldId id="521" r:id="rId67"/>
    <p:sldId id="522" r:id="rId68"/>
    <p:sldId id="523" r:id="rId69"/>
    <p:sldId id="495" r:id="rId70"/>
    <p:sldId id="496" r:id="rId71"/>
    <p:sldId id="517" r:id="rId72"/>
    <p:sldId id="525" r:id="rId73"/>
    <p:sldId id="526" r:id="rId74"/>
    <p:sldId id="519" r:id="rId75"/>
    <p:sldId id="261" r:id="rId76"/>
    <p:sldId id="475" r:id="rId7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176A77-436A-4507-A3EF-D3F5DD05DFD1}" v="26" dt="2026-06-11T10:30:11.0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2418" autoAdjust="0"/>
  </p:normalViewPr>
  <p:slideViewPr>
    <p:cSldViewPr snapToGrid="0">
      <p:cViewPr>
        <p:scale>
          <a:sx n="75" d="100"/>
          <a:sy n="75" d="100"/>
        </p:scale>
        <p:origin x="88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6-11T11:33:09.281" v="1629" actId="6549"/>
      <pc:docMkLst>
        <pc:docMk/>
      </pc:docMkLst>
      <pc:sldChg chg="modSp mod">
        <pc:chgData name="Berg, Dirk van den" userId="035ecb32-01d9-4b47-a105-eacf059a4647" providerId="ADAL" clId="{F7FF961E-CF96-44AC-93C2-93612F62D46D}" dt="2026-06-11T11:33:09.281" v="1629" actId="6549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6-11T11:33:09.281" v="1629" actId="6549"/>
          <ac:spMkLst>
            <pc:docMk/>
            <pc:sldMk cId="2679595137" sldId="257"/>
            <ac:spMk id="3" creationId="{DAAEF679-3C39-E36C-B710-9B50CBAE487E}"/>
          </ac:spMkLst>
        </pc:spChg>
      </pc:sldChg>
      <pc:sldChg chg="modSp mod">
        <pc:chgData name="Berg, Dirk van den" userId="035ecb32-01d9-4b47-a105-eacf059a4647" providerId="ADAL" clId="{F7FF961E-CF96-44AC-93C2-93612F62D46D}" dt="2026-06-11T10:32:15.674" v="1568" actId="20577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6-11T10:32:15.674" v="1568" actId="20577"/>
          <ac:spMkLst>
            <pc:docMk/>
            <pc:sldMk cId="1617226886" sldId="258"/>
            <ac:spMk id="3" creationId="{1B16F991-22E1-98ED-FDA2-6483679AE450}"/>
          </ac:spMkLst>
        </pc:spChg>
      </pc:sldChg>
      <pc:sldChg chg="ord">
        <pc:chgData name="Berg, Dirk van den" userId="035ecb32-01d9-4b47-a105-eacf059a4647" providerId="ADAL" clId="{F7FF961E-CF96-44AC-93C2-93612F62D46D}" dt="2026-06-11T10:30:50.170" v="1331"/>
        <pc:sldMkLst>
          <pc:docMk/>
          <pc:sldMk cId="1644103483" sldId="261"/>
        </pc:sldMkLst>
      </pc:sldChg>
      <pc:sldChg chg="mod modShow">
        <pc:chgData name="Berg, Dirk van den" userId="035ecb32-01d9-4b47-a105-eacf059a4647" providerId="ADAL" clId="{F7FF961E-CF96-44AC-93C2-93612F62D46D}" dt="2026-06-11T09:04:58.676" v="671" actId="729"/>
        <pc:sldMkLst>
          <pc:docMk/>
          <pc:sldMk cId="3406214909" sldId="276"/>
        </pc:sldMkLst>
      </pc:sldChg>
      <pc:sldChg chg="mod modShow">
        <pc:chgData name="Berg, Dirk van den" userId="035ecb32-01d9-4b47-a105-eacf059a4647" providerId="ADAL" clId="{F7FF961E-CF96-44AC-93C2-93612F62D46D}" dt="2026-06-11T09:04:58.676" v="671" actId="729"/>
        <pc:sldMkLst>
          <pc:docMk/>
          <pc:sldMk cId="2564407024" sldId="277"/>
        </pc:sldMkLst>
      </pc:sldChg>
      <pc:sldChg chg="mod ord modShow">
        <pc:chgData name="Berg, Dirk van den" userId="035ecb32-01d9-4b47-a105-eacf059a4647" providerId="ADAL" clId="{F7FF961E-CF96-44AC-93C2-93612F62D46D}" dt="2026-06-11T10:31:00.143" v="1334" actId="34476"/>
        <pc:sldMkLst>
          <pc:docMk/>
          <pc:sldMk cId="2463227767" sldId="475"/>
        </pc:sldMkLst>
      </pc:sldChg>
      <pc:sldChg chg="mod modShow">
        <pc:chgData name="Berg, Dirk van den" userId="035ecb32-01d9-4b47-a105-eacf059a4647" providerId="ADAL" clId="{F7FF961E-CF96-44AC-93C2-93612F62D46D}" dt="2026-06-11T10:00:17.551" v="704" actId="729"/>
        <pc:sldMkLst>
          <pc:docMk/>
          <pc:sldMk cId="1703754582" sldId="484"/>
        </pc:sldMkLst>
      </pc:sldChg>
      <pc:sldChg chg="mod modShow">
        <pc:chgData name="Berg, Dirk van den" userId="035ecb32-01d9-4b47-a105-eacf059a4647" providerId="ADAL" clId="{F7FF961E-CF96-44AC-93C2-93612F62D46D}" dt="2026-06-11T10:00:17.551" v="704" actId="729"/>
        <pc:sldMkLst>
          <pc:docMk/>
          <pc:sldMk cId="1171621892" sldId="485"/>
        </pc:sldMkLst>
      </pc:sldChg>
      <pc:sldChg chg="mod modShow">
        <pc:chgData name="Berg, Dirk van den" userId="035ecb32-01d9-4b47-a105-eacf059a4647" providerId="ADAL" clId="{F7FF961E-CF96-44AC-93C2-93612F62D46D}" dt="2026-06-11T10:00:17.551" v="704" actId="729"/>
        <pc:sldMkLst>
          <pc:docMk/>
          <pc:sldMk cId="2947927568" sldId="486"/>
        </pc:sldMkLst>
      </pc:sldChg>
      <pc:sldChg chg="del">
        <pc:chgData name="Berg, Dirk van den" userId="035ecb32-01d9-4b47-a105-eacf059a4647" providerId="ADAL" clId="{F7FF961E-CF96-44AC-93C2-93612F62D46D}" dt="2026-06-11T10:29:43.659" v="1320" actId="47"/>
        <pc:sldMkLst>
          <pc:docMk/>
          <pc:sldMk cId="2100456724" sldId="494"/>
        </pc:sldMkLst>
      </pc:sldChg>
      <pc:sldChg chg="del">
        <pc:chgData name="Berg, Dirk van den" userId="035ecb32-01d9-4b47-a105-eacf059a4647" providerId="ADAL" clId="{F7FF961E-CF96-44AC-93C2-93612F62D46D}" dt="2026-06-11T10:29:57.152" v="1322" actId="2696"/>
        <pc:sldMkLst>
          <pc:docMk/>
          <pc:sldMk cId="3020532205" sldId="495"/>
        </pc:sldMkLst>
      </pc:sldChg>
      <pc:sldChg chg="add">
        <pc:chgData name="Berg, Dirk van den" userId="035ecb32-01d9-4b47-a105-eacf059a4647" providerId="ADAL" clId="{F7FF961E-CF96-44AC-93C2-93612F62D46D}" dt="2026-06-11T10:30:11.068" v="1323"/>
        <pc:sldMkLst>
          <pc:docMk/>
          <pc:sldMk cId="3312419666" sldId="495"/>
        </pc:sldMkLst>
      </pc:sldChg>
      <pc:sldChg chg="del">
        <pc:chgData name="Berg, Dirk van den" userId="035ecb32-01d9-4b47-a105-eacf059a4647" providerId="ADAL" clId="{F7FF961E-CF96-44AC-93C2-93612F62D46D}" dt="2026-06-11T10:29:57.152" v="1322" actId="2696"/>
        <pc:sldMkLst>
          <pc:docMk/>
          <pc:sldMk cId="721880702" sldId="496"/>
        </pc:sldMkLst>
      </pc:sldChg>
      <pc:sldChg chg="add">
        <pc:chgData name="Berg, Dirk van den" userId="035ecb32-01d9-4b47-a105-eacf059a4647" providerId="ADAL" clId="{F7FF961E-CF96-44AC-93C2-93612F62D46D}" dt="2026-06-11T10:30:11.068" v="1323"/>
        <pc:sldMkLst>
          <pc:docMk/>
          <pc:sldMk cId="3266559426" sldId="496"/>
        </pc:sldMkLst>
      </pc:sldChg>
      <pc:sldChg chg="mod modShow">
        <pc:chgData name="Berg, Dirk van den" userId="035ecb32-01d9-4b47-a105-eacf059a4647" providerId="ADAL" clId="{F7FF961E-CF96-44AC-93C2-93612F62D46D}" dt="2026-06-11T10:29:53.365" v="1321" actId="729"/>
        <pc:sldMkLst>
          <pc:docMk/>
          <pc:sldMk cId="2233121121" sldId="497"/>
        </pc:sldMkLst>
      </pc:sldChg>
      <pc:sldChg chg="mod modShow">
        <pc:chgData name="Berg, Dirk van den" userId="035ecb32-01d9-4b47-a105-eacf059a4647" providerId="ADAL" clId="{F7FF961E-CF96-44AC-93C2-93612F62D46D}" dt="2026-06-11T10:30:39.492" v="1328" actId="729"/>
        <pc:sldMkLst>
          <pc:docMk/>
          <pc:sldMk cId="2703204818" sldId="505"/>
        </pc:sldMkLst>
      </pc:sldChg>
      <pc:sldChg chg="mod modShow">
        <pc:chgData name="Berg, Dirk van den" userId="035ecb32-01d9-4b47-a105-eacf059a4647" providerId="ADAL" clId="{F7FF961E-CF96-44AC-93C2-93612F62D46D}" dt="2026-06-11T10:30:39.492" v="1328" actId="729"/>
        <pc:sldMkLst>
          <pc:docMk/>
          <pc:sldMk cId="2330593122" sldId="506"/>
        </pc:sldMkLst>
      </pc:sldChg>
      <pc:sldChg chg="mod modShow">
        <pc:chgData name="Berg, Dirk van den" userId="035ecb32-01d9-4b47-a105-eacf059a4647" providerId="ADAL" clId="{F7FF961E-CF96-44AC-93C2-93612F62D46D}" dt="2026-06-11T10:30:39.492" v="1328" actId="729"/>
        <pc:sldMkLst>
          <pc:docMk/>
          <pc:sldMk cId="2490628549" sldId="507"/>
        </pc:sldMkLst>
      </pc:sldChg>
      <pc:sldChg chg="mod modShow">
        <pc:chgData name="Berg, Dirk van den" userId="035ecb32-01d9-4b47-a105-eacf059a4647" providerId="ADAL" clId="{F7FF961E-CF96-44AC-93C2-93612F62D46D}" dt="2026-06-11T10:30:39.492" v="1328" actId="729"/>
        <pc:sldMkLst>
          <pc:docMk/>
          <pc:sldMk cId="1801938431" sldId="508"/>
        </pc:sldMkLst>
      </pc:sldChg>
      <pc:sldChg chg="mod modShow">
        <pc:chgData name="Berg, Dirk van den" userId="035ecb32-01d9-4b47-a105-eacf059a4647" providerId="ADAL" clId="{F7FF961E-CF96-44AC-93C2-93612F62D46D}" dt="2026-06-11T10:30:39.492" v="1328" actId="729"/>
        <pc:sldMkLst>
          <pc:docMk/>
          <pc:sldMk cId="2826401750" sldId="509"/>
        </pc:sldMkLst>
      </pc:sldChg>
      <pc:sldChg chg="mod modShow">
        <pc:chgData name="Berg, Dirk van den" userId="035ecb32-01d9-4b47-a105-eacf059a4647" providerId="ADAL" clId="{F7FF961E-CF96-44AC-93C2-93612F62D46D}" dt="2026-06-11T10:30:39.492" v="1328" actId="729"/>
        <pc:sldMkLst>
          <pc:docMk/>
          <pc:sldMk cId="3906342559" sldId="510"/>
        </pc:sldMkLst>
      </pc:sldChg>
      <pc:sldChg chg="del">
        <pc:chgData name="Berg, Dirk van den" userId="035ecb32-01d9-4b47-a105-eacf059a4647" providerId="ADAL" clId="{F7FF961E-CF96-44AC-93C2-93612F62D46D}" dt="2026-06-11T10:30:28.469" v="1327" actId="47"/>
        <pc:sldMkLst>
          <pc:docMk/>
          <pc:sldMk cId="2450872181" sldId="511"/>
        </pc:sldMkLst>
      </pc:sldChg>
      <pc:sldChg chg="mod modShow">
        <pc:chgData name="Berg, Dirk van den" userId="035ecb32-01d9-4b47-a105-eacf059a4647" providerId="ADAL" clId="{F7FF961E-CF96-44AC-93C2-93612F62D46D}" dt="2026-06-11T10:30:39.492" v="1328" actId="729"/>
        <pc:sldMkLst>
          <pc:docMk/>
          <pc:sldMk cId="137989098" sldId="512"/>
        </pc:sldMkLst>
      </pc:sldChg>
      <pc:sldChg chg="mod modShow">
        <pc:chgData name="Berg, Dirk van den" userId="035ecb32-01d9-4b47-a105-eacf059a4647" providerId="ADAL" clId="{F7FF961E-CF96-44AC-93C2-93612F62D46D}" dt="2026-06-11T10:30:39.492" v="1328" actId="729"/>
        <pc:sldMkLst>
          <pc:docMk/>
          <pc:sldMk cId="4228032959" sldId="513"/>
        </pc:sldMkLst>
      </pc:sldChg>
      <pc:sldChg chg="del">
        <pc:chgData name="Berg, Dirk van den" userId="035ecb32-01d9-4b47-a105-eacf059a4647" providerId="ADAL" clId="{F7FF961E-CF96-44AC-93C2-93612F62D46D}" dt="2026-06-11T10:30:26.843" v="1326" actId="47"/>
        <pc:sldMkLst>
          <pc:docMk/>
          <pc:sldMk cId="1864710807" sldId="514"/>
        </pc:sldMkLst>
      </pc:sldChg>
      <pc:sldChg chg="modSp mod modShow">
        <pc:chgData name="Berg, Dirk van den" userId="035ecb32-01d9-4b47-a105-eacf059a4647" providerId="ADAL" clId="{F7FF961E-CF96-44AC-93C2-93612F62D46D}" dt="2026-06-11T10:30:22.740" v="1324" actId="729"/>
        <pc:sldMkLst>
          <pc:docMk/>
          <pc:sldMk cId="1843363437" sldId="515"/>
        </pc:sldMkLst>
        <pc:spChg chg="mod">
          <ac:chgData name="Berg, Dirk van den" userId="035ecb32-01d9-4b47-a105-eacf059a4647" providerId="ADAL" clId="{F7FF961E-CF96-44AC-93C2-93612F62D46D}" dt="2026-06-11T08:25:05.962" v="374" actId="20577"/>
          <ac:spMkLst>
            <pc:docMk/>
            <pc:sldMk cId="1843363437" sldId="515"/>
            <ac:spMk id="3" creationId="{AEF718F3-3FF1-6BB5-D508-AC8760090723}"/>
          </ac:spMkLst>
        </pc:spChg>
      </pc:sldChg>
      <pc:sldChg chg="del">
        <pc:chgData name="Berg, Dirk van den" userId="035ecb32-01d9-4b47-a105-eacf059a4647" providerId="ADAL" clId="{F7FF961E-CF96-44AC-93C2-93612F62D46D}" dt="2026-06-11T10:30:26.042" v="1325" actId="47"/>
        <pc:sldMkLst>
          <pc:docMk/>
          <pc:sldMk cId="2573106117" sldId="516"/>
        </pc:sldMkLst>
      </pc:sldChg>
      <pc:sldChg chg="modSp mod ord">
        <pc:chgData name="Berg, Dirk van den" userId="035ecb32-01d9-4b47-a105-eacf059a4647" providerId="ADAL" clId="{F7FF961E-CF96-44AC-93C2-93612F62D46D}" dt="2026-06-11T10:26:48.456" v="970" actId="27636"/>
        <pc:sldMkLst>
          <pc:docMk/>
          <pc:sldMk cId="1625811901" sldId="517"/>
        </pc:sldMkLst>
        <pc:spChg chg="mod">
          <ac:chgData name="Berg, Dirk van den" userId="035ecb32-01d9-4b47-a105-eacf059a4647" providerId="ADAL" clId="{F7FF961E-CF96-44AC-93C2-93612F62D46D}" dt="2026-06-11T10:23:59.835" v="814" actId="20577"/>
          <ac:spMkLst>
            <pc:docMk/>
            <pc:sldMk cId="1625811901" sldId="517"/>
            <ac:spMk id="2" creationId="{EE51371B-B02A-6E17-5726-B381CB574E80}"/>
          </ac:spMkLst>
        </pc:spChg>
        <pc:spChg chg="mod">
          <ac:chgData name="Berg, Dirk van den" userId="035ecb32-01d9-4b47-a105-eacf059a4647" providerId="ADAL" clId="{F7FF961E-CF96-44AC-93C2-93612F62D46D}" dt="2026-06-11T10:26:48.456" v="970" actId="27636"/>
          <ac:spMkLst>
            <pc:docMk/>
            <pc:sldMk cId="1625811901" sldId="517"/>
            <ac:spMk id="3" creationId="{69DA0004-DAE6-BD80-CCC1-E4F440264748}"/>
          </ac:spMkLst>
        </pc:spChg>
      </pc:sldChg>
      <pc:sldChg chg="addSp delSp modSp new del mod">
        <pc:chgData name="Berg, Dirk van den" userId="035ecb32-01d9-4b47-a105-eacf059a4647" providerId="ADAL" clId="{F7FF961E-CF96-44AC-93C2-93612F62D46D}" dt="2026-06-11T08:29:42.377" v="427" actId="47"/>
        <pc:sldMkLst>
          <pc:docMk/>
          <pc:sldMk cId="3414447817" sldId="518"/>
        </pc:sldMkLst>
        <pc:spChg chg="del">
          <ac:chgData name="Berg, Dirk van den" userId="035ecb32-01d9-4b47-a105-eacf059a4647" providerId="ADAL" clId="{F7FF961E-CF96-44AC-93C2-93612F62D46D}" dt="2026-06-11T08:24:01.399" v="312"/>
          <ac:spMkLst>
            <pc:docMk/>
            <pc:sldMk cId="3414447817" sldId="518"/>
            <ac:spMk id="3" creationId="{68DC5A47-6EDD-A71D-789E-801AC1E0840B}"/>
          </ac:spMkLst>
        </pc:spChg>
        <pc:picChg chg="add mod ord">
          <ac:chgData name="Berg, Dirk van den" userId="035ecb32-01d9-4b47-a105-eacf059a4647" providerId="ADAL" clId="{F7FF961E-CF96-44AC-93C2-93612F62D46D}" dt="2026-06-11T08:27:31.705" v="384" actId="1076"/>
          <ac:picMkLst>
            <pc:docMk/>
            <pc:sldMk cId="3414447817" sldId="518"/>
            <ac:picMk id="5" creationId="{0BDE1898-DF13-B3CA-881B-D14BF3988F0D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6-11T11:27:10.914" v="1610" actId="20577"/>
        <pc:sldMkLst>
          <pc:docMk/>
          <pc:sldMk cId="650189645" sldId="519"/>
        </pc:sldMkLst>
        <pc:spChg chg="add del mod">
          <ac:chgData name="Berg, Dirk van den" userId="035ecb32-01d9-4b47-a105-eacf059a4647" providerId="ADAL" clId="{F7FF961E-CF96-44AC-93C2-93612F62D46D}" dt="2026-06-11T11:27:10.914" v="1610" actId="20577"/>
          <ac:spMkLst>
            <pc:docMk/>
            <pc:sldMk cId="650189645" sldId="519"/>
            <ac:spMk id="3" creationId="{9094C8CC-2B20-A313-C373-5B75118CA140}"/>
          </ac:spMkLst>
        </pc:spChg>
        <pc:spChg chg="add mod">
          <ac:chgData name="Berg, Dirk van den" userId="035ecb32-01d9-4b47-a105-eacf059a4647" providerId="ADAL" clId="{F7FF961E-CF96-44AC-93C2-93612F62D46D}" dt="2026-06-11T10:19:49.579" v="786" actId="1076"/>
          <ac:spMkLst>
            <pc:docMk/>
            <pc:sldMk cId="650189645" sldId="519"/>
            <ac:spMk id="7" creationId="{D2ED8309-553D-9BDE-A44E-1E81EAD19BC0}"/>
          </ac:spMkLst>
        </pc:spChg>
        <pc:spChg chg="add mod">
          <ac:chgData name="Berg, Dirk van den" userId="035ecb32-01d9-4b47-a105-eacf059a4647" providerId="ADAL" clId="{F7FF961E-CF96-44AC-93C2-93612F62D46D}" dt="2026-06-11T10:20:17.826" v="794"/>
          <ac:spMkLst>
            <pc:docMk/>
            <pc:sldMk cId="650189645" sldId="519"/>
            <ac:spMk id="9" creationId="{5F1F9380-802A-2120-18F2-FE3440C543C2}"/>
          </ac:spMkLst>
        </pc:spChg>
        <pc:spChg chg="add mod">
          <ac:chgData name="Berg, Dirk van den" userId="035ecb32-01d9-4b47-a105-eacf059a4647" providerId="ADAL" clId="{F7FF961E-CF96-44AC-93C2-93612F62D46D}" dt="2026-06-11T10:20:21.163" v="795"/>
          <ac:spMkLst>
            <pc:docMk/>
            <pc:sldMk cId="650189645" sldId="519"/>
            <ac:spMk id="11" creationId="{C23AD40C-BE2C-C163-8ADB-B09665B6F54E}"/>
          </ac:spMkLst>
        </pc:spChg>
        <pc:spChg chg="add mod">
          <ac:chgData name="Berg, Dirk van den" userId="035ecb32-01d9-4b47-a105-eacf059a4647" providerId="ADAL" clId="{F7FF961E-CF96-44AC-93C2-93612F62D46D}" dt="2026-06-11T10:20:13.660" v="793"/>
          <ac:spMkLst>
            <pc:docMk/>
            <pc:sldMk cId="650189645" sldId="519"/>
            <ac:spMk id="13" creationId="{DF17A2CD-DBF5-BA39-F777-61D5B2581DF2}"/>
          </ac:spMkLst>
        </pc:spChg>
        <pc:picChg chg="add del mod ord">
          <ac:chgData name="Berg, Dirk van den" userId="035ecb32-01d9-4b47-a105-eacf059a4647" providerId="ADAL" clId="{F7FF961E-CF96-44AC-93C2-93612F62D46D}" dt="2026-06-11T08:27:24.465" v="382" actId="34307"/>
          <ac:picMkLst>
            <pc:docMk/>
            <pc:sldMk cId="650189645" sldId="519"/>
            <ac:picMk id="4" creationId="{158D2819-0857-2F48-D5D4-DB24FEE22CA5}"/>
          </ac:picMkLst>
        </pc:picChg>
        <pc:picChg chg="add mod">
          <ac:chgData name="Berg, Dirk van den" userId="035ecb32-01d9-4b47-a105-eacf059a4647" providerId="ADAL" clId="{F7FF961E-CF96-44AC-93C2-93612F62D46D}" dt="2026-06-11T08:29:40.437" v="426" actId="1076"/>
          <ac:picMkLst>
            <pc:docMk/>
            <pc:sldMk cId="650189645" sldId="519"/>
            <ac:picMk id="5" creationId="{9D7FE0D4-EA0B-A666-9032-3D476F38A20D}"/>
          </ac:picMkLst>
        </pc:picChg>
      </pc:sldChg>
      <pc:sldChg chg="modSp new mod">
        <pc:chgData name="Berg, Dirk van den" userId="035ecb32-01d9-4b47-a105-eacf059a4647" providerId="ADAL" clId="{F7FF961E-CF96-44AC-93C2-93612F62D46D}" dt="2026-06-11T09:34:31.785" v="695" actId="20577"/>
        <pc:sldMkLst>
          <pc:docMk/>
          <pc:sldMk cId="1666835567" sldId="520"/>
        </pc:sldMkLst>
        <pc:spChg chg="mod">
          <ac:chgData name="Berg, Dirk van den" userId="035ecb32-01d9-4b47-a105-eacf059a4647" providerId="ADAL" clId="{F7FF961E-CF96-44AC-93C2-93612F62D46D}" dt="2026-06-11T09:02:38.017" v="670" actId="20577"/>
          <ac:spMkLst>
            <pc:docMk/>
            <pc:sldMk cId="1666835567" sldId="520"/>
            <ac:spMk id="2" creationId="{60F89EEE-D863-8A54-348F-83BFED3DEC8C}"/>
          </ac:spMkLst>
        </pc:spChg>
        <pc:spChg chg="mod">
          <ac:chgData name="Berg, Dirk van den" userId="035ecb32-01d9-4b47-a105-eacf059a4647" providerId="ADAL" clId="{F7FF961E-CF96-44AC-93C2-93612F62D46D}" dt="2026-06-11T09:34:31.785" v="695" actId="20577"/>
          <ac:spMkLst>
            <pc:docMk/>
            <pc:sldMk cId="1666835567" sldId="520"/>
            <ac:spMk id="3" creationId="{C0DE0E97-2F38-A1AF-6914-7295B783CCA4}"/>
          </ac:spMkLst>
        </pc:spChg>
      </pc:sldChg>
      <pc:sldChg chg="add">
        <pc:chgData name="Berg, Dirk van den" userId="035ecb32-01d9-4b47-a105-eacf059a4647" providerId="ADAL" clId="{F7FF961E-CF96-44AC-93C2-93612F62D46D}" dt="2026-06-11T09:33:01.891" v="672"/>
        <pc:sldMkLst>
          <pc:docMk/>
          <pc:sldMk cId="2253418742" sldId="521"/>
        </pc:sldMkLst>
      </pc:sldChg>
      <pc:sldChg chg="add">
        <pc:chgData name="Berg, Dirk van den" userId="035ecb32-01d9-4b47-a105-eacf059a4647" providerId="ADAL" clId="{F7FF961E-CF96-44AC-93C2-93612F62D46D}" dt="2026-06-11T09:33:53.348" v="673"/>
        <pc:sldMkLst>
          <pc:docMk/>
          <pc:sldMk cId="4289038625" sldId="522"/>
        </pc:sldMkLst>
      </pc:sldChg>
      <pc:sldChg chg="addSp modSp add mod">
        <pc:chgData name="Berg, Dirk van den" userId="035ecb32-01d9-4b47-a105-eacf059a4647" providerId="ADAL" clId="{F7FF961E-CF96-44AC-93C2-93612F62D46D}" dt="2026-06-11T09:58:21.358" v="703" actId="1076"/>
        <pc:sldMkLst>
          <pc:docMk/>
          <pc:sldMk cId="3179903391" sldId="523"/>
        </pc:sldMkLst>
        <pc:picChg chg="add mod">
          <ac:chgData name="Berg, Dirk van den" userId="035ecb32-01d9-4b47-a105-eacf059a4647" providerId="ADAL" clId="{F7FF961E-CF96-44AC-93C2-93612F62D46D}" dt="2026-06-11T09:58:21.358" v="703" actId="1076"/>
          <ac:picMkLst>
            <pc:docMk/>
            <pc:sldMk cId="3179903391" sldId="523"/>
            <ac:picMk id="5" creationId="{671472D3-0BA1-E2E6-8C35-FC2ADC6A0C0D}"/>
          </ac:picMkLst>
        </pc:picChg>
      </pc:sldChg>
      <pc:sldChg chg="modSp new mod">
        <pc:chgData name="Berg, Dirk van den" userId="035ecb32-01d9-4b47-a105-eacf059a4647" providerId="ADAL" clId="{F7FF961E-CF96-44AC-93C2-93612F62D46D}" dt="2026-06-11T10:12:15.311" v="746" actId="20577"/>
        <pc:sldMkLst>
          <pc:docMk/>
          <pc:sldMk cId="1250517572" sldId="524"/>
        </pc:sldMkLst>
        <pc:spChg chg="mod">
          <ac:chgData name="Berg, Dirk van den" userId="035ecb32-01d9-4b47-a105-eacf059a4647" providerId="ADAL" clId="{F7FF961E-CF96-44AC-93C2-93612F62D46D}" dt="2026-06-11T10:09:16.848" v="706"/>
          <ac:spMkLst>
            <pc:docMk/>
            <pc:sldMk cId="1250517572" sldId="524"/>
            <ac:spMk id="2" creationId="{3E34CA5E-DE7F-EEE8-2F5F-739610A4F0F4}"/>
          </ac:spMkLst>
        </pc:spChg>
        <pc:spChg chg="mod">
          <ac:chgData name="Berg, Dirk van den" userId="035ecb32-01d9-4b47-a105-eacf059a4647" providerId="ADAL" clId="{F7FF961E-CF96-44AC-93C2-93612F62D46D}" dt="2026-06-11T10:12:15.311" v="746" actId="20577"/>
          <ac:spMkLst>
            <pc:docMk/>
            <pc:sldMk cId="1250517572" sldId="524"/>
            <ac:spMk id="3" creationId="{E292BF38-7FD7-C320-3F1B-D2597FAAC5BD}"/>
          </ac:spMkLst>
        </pc:spChg>
      </pc:sldChg>
      <pc:sldChg chg="addSp delSp modSp new del mod ord">
        <pc:chgData name="Berg, Dirk van den" userId="035ecb32-01d9-4b47-a105-eacf059a4647" providerId="ADAL" clId="{F7FF961E-CF96-44AC-93C2-93612F62D46D}" dt="2026-06-11T10:24:46.892" v="866" actId="47"/>
        <pc:sldMkLst>
          <pc:docMk/>
          <pc:sldMk cId="2303639295" sldId="525"/>
        </pc:sldMkLst>
        <pc:spChg chg="mod">
          <ac:chgData name="Berg, Dirk van den" userId="035ecb32-01d9-4b47-a105-eacf059a4647" providerId="ADAL" clId="{F7FF961E-CF96-44AC-93C2-93612F62D46D}" dt="2026-06-11T10:13:03.056" v="769" actId="20577"/>
          <ac:spMkLst>
            <pc:docMk/>
            <pc:sldMk cId="2303639295" sldId="525"/>
            <ac:spMk id="2" creationId="{F679CF09-4CE0-419E-F4DF-407BD2D7A049}"/>
          </ac:spMkLst>
        </pc:spChg>
        <pc:spChg chg="del">
          <ac:chgData name="Berg, Dirk van den" userId="035ecb32-01d9-4b47-a105-eacf059a4647" providerId="ADAL" clId="{F7FF961E-CF96-44AC-93C2-93612F62D46D}" dt="2026-06-11T10:13:48.029" v="770" actId="3680"/>
          <ac:spMkLst>
            <pc:docMk/>
            <pc:sldMk cId="2303639295" sldId="525"/>
            <ac:spMk id="3" creationId="{D5BF6C79-3F89-9C6E-247C-A6FBAB722B23}"/>
          </ac:spMkLst>
        </pc:spChg>
        <pc:graphicFrameChg chg="add mod ord modGraphic">
          <ac:chgData name="Berg, Dirk van den" userId="035ecb32-01d9-4b47-a105-eacf059a4647" providerId="ADAL" clId="{F7FF961E-CF96-44AC-93C2-93612F62D46D}" dt="2026-06-11T10:14:00.023" v="772"/>
          <ac:graphicFrameMkLst>
            <pc:docMk/>
            <pc:sldMk cId="2303639295" sldId="525"/>
            <ac:graphicFrameMk id="4" creationId="{475A0744-82ED-3E1C-5E49-EBE6A07ABB8E}"/>
          </ac:graphicFrameMkLst>
        </pc:graphicFrameChg>
      </pc:sldChg>
      <pc:sldChg chg="modSp add mod">
        <pc:chgData name="Berg, Dirk van den" userId="035ecb32-01d9-4b47-a105-eacf059a4647" providerId="ADAL" clId="{F7FF961E-CF96-44AC-93C2-93612F62D46D}" dt="2026-06-11T10:27:22.468" v="1090" actId="20577"/>
        <pc:sldMkLst>
          <pc:docMk/>
          <pc:sldMk cId="4208264051" sldId="525"/>
        </pc:sldMkLst>
        <pc:spChg chg="mod">
          <ac:chgData name="Berg, Dirk van den" userId="035ecb32-01d9-4b47-a105-eacf059a4647" providerId="ADAL" clId="{F7FF961E-CF96-44AC-93C2-93612F62D46D}" dt="2026-06-11T10:26:56.889" v="989" actId="20577"/>
          <ac:spMkLst>
            <pc:docMk/>
            <pc:sldMk cId="4208264051" sldId="525"/>
            <ac:spMk id="2" creationId="{7B7D5E04-74B5-A837-4A80-8A5430452EB3}"/>
          </ac:spMkLst>
        </pc:spChg>
        <pc:spChg chg="mod">
          <ac:chgData name="Berg, Dirk van den" userId="035ecb32-01d9-4b47-a105-eacf059a4647" providerId="ADAL" clId="{F7FF961E-CF96-44AC-93C2-93612F62D46D}" dt="2026-06-11T10:27:22.468" v="1090" actId="20577"/>
          <ac:spMkLst>
            <pc:docMk/>
            <pc:sldMk cId="4208264051" sldId="525"/>
            <ac:spMk id="3" creationId="{F3D26948-5FFD-5B9D-70A0-B65F000547F4}"/>
          </ac:spMkLst>
        </pc:spChg>
      </pc:sldChg>
      <pc:sldChg chg="addSp delSp new mod">
        <pc:chgData name="Berg, Dirk van den" userId="035ecb32-01d9-4b47-a105-eacf059a4647" providerId="ADAL" clId="{F7FF961E-CF96-44AC-93C2-93612F62D46D}" dt="2026-06-11T11:29:03.963" v="1614" actId="22"/>
        <pc:sldMkLst>
          <pc:docMk/>
          <pc:sldMk cId="2486601122" sldId="526"/>
        </pc:sldMkLst>
        <pc:picChg chg="add del">
          <ac:chgData name="Berg, Dirk van den" userId="035ecb32-01d9-4b47-a105-eacf059a4647" providerId="ADAL" clId="{F7FF961E-CF96-44AC-93C2-93612F62D46D}" dt="2026-06-11T11:28:59.838" v="1613" actId="22"/>
          <ac:picMkLst>
            <pc:docMk/>
            <pc:sldMk cId="2486601122" sldId="526"/>
            <ac:picMk id="5" creationId="{41E218A5-9FB9-1764-21FD-2A930E37C2F5}"/>
          </ac:picMkLst>
        </pc:picChg>
        <pc:picChg chg="add">
          <ac:chgData name="Berg, Dirk van den" userId="035ecb32-01d9-4b47-a105-eacf059a4647" providerId="ADAL" clId="{F7FF961E-CF96-44AC-93C2-93612F62D46D}" dt="2026-06-11T11:29:03.963" v="1614" actId="22"/>
          <ac:picMkLst>
            <pc:docMk/>
            <pc:sldMk cId="2486601122" sldId="526"/>
            <ac:picMk id="7" creationId="{786DE012-473C-2BC7-F158-0FF76364F8D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117D4C-1A2B-4990-9B20-741B833DA5B9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3E8C8-0C25-4345-BFD3-EAD19DE0CE3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6969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A217-BC89-726B-76DF-585CDAEE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40155-7E3A-B87B-F56C-1D0F1D7E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85D9-4E1B-DC51-2F18-D089891E1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1E455-120B-73CE-D460-715383EB2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4476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2CD2-6902-08E7-94CA-936CAFB0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4DC70-BB1B-8C44-08E9-FB8FD7079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F582A-D2B6-34BB-FE02-6DE5FDA91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A60CF-0494-FE42-03A0-669934B1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3310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State normalization — z-score with mean subtraction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dirty="0" err="1"/>
              <a:t>x_norm</a:t>
            </a:r>
            <a:r>
              <a:rPr lang="en-US" dirty="0"/>
              <a:t> = (</a:t>
            </a:r>
            <a:r>
              <a:rPr lang="en-US" dirty="0" err="1"/>
              <a:t>x_phys</a:t>
            </a:r>
            <a:r>
              <a:rPr lang="en-US" dirty="0"/>
              <a:t> - </a:t>
            </a:r>
            <a:r>
              <a:rPr lang="en-US" dirty="0" err="1"/>
              <a:t>x_mean</a:t>
            </a:r>
            <a:r>
              <a:rPr lang="en-US" dirty="0"/>
              <a:t>) / </a:t>
            </a:r>
            <a:r>
              <a:rPr lang="en-US" dirty="0" err="1"/>
              <a:t>std_x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2. Input normalization — scaling only, no mean subtraction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u_norm</a:t>
            </a:r>
            <a:r>
              <a:rPr lang="en-US" dirty="0"/>
              <a:t> = u / </a:t>
            </a:r>
            <a:r>
              <a:rPr lang="en-US" dirty="0" err="1"/>
              <a:t>std_u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State derivative normalization (inside </a:t>
            </a:r>
            <a:r>
              <a:rPr lang="en-US" dirty="0" err="1"/>
              <a:t>Gantry_State_Block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xdot_norm</a:t>
            </a:r>
            <a:r>
              <a:rPr lang="en-US" dirty="0"/>
              <a:t> = </a:t>
            </a:r>
            <a:r>
              <a:rPr lang="en-US" dirty="0" err="1"/>
              <a:t>xdot_phys</a:t>
            </a:r>
            <a:r>
              <a:rPr lang="en-US" dirty="0"/>
              <a:t> / </a:t>
            </a:r>
            <a:r>
              <a:rPr lang="en-US" dirty="0" err="1"/>
              <a:t>std_x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9D49D-4D0C-42BB-8EA2-A161DF7E221E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77382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State normalization — z-score with mean subtraction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dirty="0" err="1"/>
              <a:t>x_norm</a:t>
            </a:r>
            <a:r>
              <a:rPr lang="en-US" dirty="0"/>
              <a:t> = (</a:t>
            </a:r>
            <a:r>
              <a:rPr lang="en-US" dirty="0" err="1"/>
              <a:t>x_phys</a:t>
            </a:r>
            <a:r>
              <a:rPr lang="en-US" dirty="0"/>
              <a:t> - </a:t>
            </a:r>
            <a:r>
              <a:rPr lang="en-US" dirty="0" err="1"/>
              <a:t>x_mean</a:t>
            </a:r>
            <a:r>
              <a:rPr lang="en-US" dirty="0"/>
              <a:t>) / </a:t>
            </a:r>
            <a:r>
              <a:rPr lang="en-US" dirty="0" err="1"/>
              <a:t>std_x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2. Input normalization — scaling only, no mean subtraction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u_norm</a:t>
            </a:r>
            <a:r>
              <a:rPr lang="en-US" dirty="0"/>
              <a:t> = u / </a:t>
            </a:r>
            <a:r>
              <a:rPr lang="en-US" dirty="0" err="1"/>
              <a:t>std_u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State derivative normalization (inside </a:t>
            </a:r>
            <a:r>
              <a:rPr lang="en-US" dirty="0" err="1"/>
              <a:t>Gantry_State_Block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xdot_norm</a:t>
            </a:r>
            <a:r>
              <a:rPr lang="en-US" dirty="0"/>
              <a:t> = </a:t>
            </a:r>
            <a:r>
              <a:rPr lang="en-US" dirty="0" err="1"/>
              <a:t>xdot_phys</a:t>
            </a:r>
            <a:r>
              <a:rPr lang="en-US" dirty="0"/>
              <a:t> / </a:t>
            </a:r>
            <a:r>
              <a:rPr lang="en-US" dirty="0" err="1"/>
              <a:t>std_x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9D49D-4D0C-42BB-8EA2-A161DF7E221E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0865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State normalization — z-score with mean subtraction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dirty="0" err="1"/>
              <a:t>x_norm</a:t>
            </a:r>
            <a:r>
              <a:rPr lang="en-US" dirty="0"/>
              <a:t> = (</a:t>
            </a:r>
            <a:r>
              <a:rPr lang="en-US" dirty="0" err="1"/>
              <a:t>x_phys</a:t>
            </a:r>
            <a:r>
              <a:rPr lang="en-US" dirty="0"/>
              <a:t> - </a:t>
            </a:r>
            <a:r>
              <a:rPr lang="en-US" dirty="0" err="1"/>
              <a:t>x_mean</a:t>
            </a:r>
            <a:r>
              <a:rPr lang="en-US" dirty="0"/>
              <a:t>) / </a:t>
            </a:r>
            <a:r>
              <a:rPr lang="en-US" dirty="0" err="1"/>
              <a:t>std_x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2. Input normalization — scaling only, no mean subtraction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u_norm</a:t>
            </a:r>
            <a:r>
              <a:rPr lang="en-US" dirty="0"/>
              <a:t> = u / </a:t>
            </a:r>
            <a:r>
              <a:rPr lang="en-US" dirty="0" err="1"/>
              <a:t>std_u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State derivative normalization (inside </a:t>
            </a:r>
            <a:r>
              <a:rPr lang="en-US" dirty="0" err="1"/>
              <a:t>Gantry_State_Block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xdot_norm</a:t>
            </a:r>
            <a:r>
              <a:rPr lang="en-US" dirty="0"/>
              <a:t> = </a:t>
            </a:r>
            <a:r>
              <a:rPr lang="en-US" dirty="0" err="1"/>
              <a:t>xdot_phys</a:t>
            </a:r>
            <a:r>
              <a:rPr lang="en-US" dirty="0"/>
              <a:t> / </a:t>
            </a:r>
            <a:r>
              <a:rPr lang="en-US" dirty="0" err="1"/>
              <a:t>std_x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9D49D-4D0C-42BB-8EA2-A161DF7E221E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12173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State normalization — z-score with mean subtraction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dirty="0" err="1"/>
              <a:t>x_norm</a:t>
            </a:r>
            <a:r>
              <a:rPr lang="en-US" dirty="0"/>
              <a:t> = (</a:t>
            </a:r>
            <a:r>
              <a:rPr lang="en-US" dirty="0" err="1"/>
              <a:t>x_phys</a:t>
            </a:r>
            <a:r>
              <a:rPr lang="en-US" dirty="0"/>
              <a:t> - </a:t>
            </a:r>
            <a:r>
              <a:rPr lang="en-US" dirty="0" err="1"/>
              <a:t>x_mean</a:t>
            </a:r>
            <a:r>
              <a:rPr lang="en-US" dirty="0"/>
              <a:t>) / </a:t>
            </a:r>
            <a:r>
              <a:rPr lang="en-US" dirty="0" err="1"/>
              <a:t>std_x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2. Input normalization — scaling only, no mean subtraction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u_norm</a:t>
            </a:r>
            <a:r>
              <a:rPr lang="en-US" dirty="0"/>
              <a:t> = u / </a:t>
            </a:r>
            <a:r>
              <a:rPr lang="en-US" dirty="0" err="1"/>
              <a:t>std_u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State derivative normalization (inside </a:t>
            </a:r>
            <a:r>
              <a:rPr lang="en-US" dirty="0" err="1"/>
              <a:t>Gantry_State_Block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xdot_norm</a:t>
            </a:r>
            <a:r>
              <a:rPr lang="en-US" dirty="0"/>
              <a:t> = </a:t>
            </a:r>
            <a:r>
              <a:rPr lang="en-US" dirty="0" err="1"/>
              <a:t>xdot_phys</a:t>
            </a:r>
            <a:r>
              <a:rPr lang="en-US" dirty="0"/>
              <a:t> / </a:t>
            </a:r>
            <a:r>
              <a:rPr lang="en-US" dirty="0" err="1"/>
              <a:t>std_x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9D49D-4D0C-42BB-8EA2-A161DF7E221E}" type="slidenum">
              <a:rPr lang="en-NL" smtClean="0"/>
              <a:t>24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75517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For each trajectory, for each output channel (X1, X2, Y): the mean RMS error across all rollout</a:t>
            </a:r>
          </a:p>
          <a:p>
            <a:r>
              <a:rPr lang="en-US" dirty="0"/>
              <a:t>   windows in that trajectory, comparing encoder-</a:t>
            </a:r>
            <a:r>
              <a:rPr lang="en-US" dirty="0" err="1"/>
              <a:t>init</a:t>
            </a:r>
            <a:r>
              <a:rPr lang="en-US" dirty="0"/>
              <a:t> vs analytical-</a:t>
            </a:r>
            <a:r>
              <a:rPr lang="en-US" dirty="0" err="1"/>
              <a:t>init.</a:t>
            </a:r>
            <a:endParaRPr lang="en-US" dirty="0"/>
          </a:p>
          <a:p>
            <a:r>
              <a:rPr lang="en-US" dirty="0"/>
              <a:t>                                                                                                 </a:t>
            </a:r>
          </a:p>
          <a:p>
            <a:r>
              <a:rPr lang="en-US" dirty="0"/>
              <a:t>  Concretely, for one bar:</a:t>
            </a:r>
          </a:p>
          <a:p>
            <a:r>
              <a:rPr lang="en-US" dirty="0"/>
              <a:t>  1. Take all windows in that trajectory (up to 10, evenly spaced)                              </a:t>
            </a:r>
          </a:p>
          <a:p>
            <a:r>
              <a:rPr lang="en-US" dirty="0"/>
              <a:t>  2. For each window, compute per-channel RMS: sqrt(mean((</a:t>
            </a:r>
            <a:r>
              <a:rPr lang="en-US" dirty="0" err="1"/>
              <a:t>y_hat</a:t>
            </a:r>
            <a:r>
              <a:rPr lang="en-US" dirty="0"/>
              <a:t>[:, </a:t>
            </a:r>
            <a:r>
              <a:rPr lang="en-US" dirty="0" err="1"/>
              <a:t>ch</a:t>
            </a:r>
            <a:r>
              <a:rPr lang="en-US" dirty="0"/>
              <a:t>] - </a:t>
            </a:r>
            <a:r>
              <a:rPr lang="en-US" dirty="0" err="1"/>
              <a:t>y_ref</a:t>
            </a:r>
            <a:r>
              <a:rPr lang="en-US" dirty="0"/>
              <a:t>[:, </a:t>
            </a:r>
            <a:r>
              <a:rPr lang="en-US" dirty="0" err="1"/>
              <a:t>ch</a:t>
            </a:r>
            <a:r>
              <a:rPr lang="en-US" dirty="0"/>
              <a:t>])^2)) over</a:t>
            </a:r>
          </a:p>
          <a:p>
            <a:r>
              <a:rPr lang="en-US" dirty="0"/>
              <a:t>  the </a:t>
            </a:r>
            <a:r>
              <a:rPr lang="en-US" dirty="0" err="1"/>
              <a:t>nf</a:t>
            </a:r>
            <a:r>
              <a:rPr lang="en-US" dirty="0"/>
              <a:t>=350 rollout steps</a:t>
            </a:r>
          </a:p>
          <a:p>
            <a:r>
              <a:rPr lang="en-US" dirty="0"/>
              <a:t>  3. Average those per-window RMS values across windows</a:t>
            </a:r>
          </a:p>
          <a:p>
            <a:endParaRPr lang="en-US" dirty="0"/>
          </a:p>
          <a:p>
            <a:r>
              <a:rPr lang="en-US" dirty="0"/>
              <a:t>  So each bar = average rollout prediction error on one channel of one trajectory, over 350 steps</a:t>
            </a:r>
          </a:p>
          <a:p>
            <a:r>
              <a:rPr lang="en-US" dirty="0"/>
              <a:t>   (0.35s at 1kHz).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3E8C8-0C25-4345-BFD3-EAD19DE0CE37}" type="slidenum">
              <a:rPr lang="en-NL" smtClean="0"/>
              <a:t>50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01204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tells you:</a:t>
            </a:r>
          </a:p>
          <a:p>
            <a:r>
              <a:rPr lang="en-US" dirty="0"/>
              <a:t>  - How fast the prediction diverges from reality as you simulate</a:t>
            </a:r>
          </a:p>
          <a:p>
            <a:r>
              <a:rPr lang="en-US" dirty="0"/>
              <a:t>   further from the initial state</a:t>
            </a:r>
          </a:p>
          <a:p>
            <a:r>
              <a:rPr lang="en-US" dirty="0"/>
              <a:t>  - Whether the encoder gives a better starting point (lower</a:t>
            </a:r>
          </a:p>
          <a:p>
            <a:r>
              <a:rPr lang="en-US" dirty="0"/>
              <a:t>  error at t=0) and whether that advantage persists or vanishes</a:t>
            </a:r>
          </a:p>
          <a:p>
            <a:r>
              <a:rPr lang="en-US" dirty="0"/>
              <a:t>  over time</a:t>
            </a:r>
          </a:p>
          <a:p>
            <a:r>
              <a:rPr lang="en-US" dirty="0"/>
              <a:t>  - If both curves converge to the same error after some steps,</a:t>
            </a:r>
          </a:p>
          <a:p>
            <a:r>
              <a:rPr lang="en-US" dirty="0"/>
              <a:t>  the x0 difference washes out and the model dynamics dominate.</a:t>
            </a:r>
          </a:p>
          <a:p>
            <a:r>
              <a:rPr lang="en-US" dirty="0"/>
              <a:t>  If they stay separated, the initial state quality matters</a:t>
            </a:r>
          </a:p>
          <a:p>
            <a:r>
              <a:rPr lang="en-US" dirty="0"/>
              <a:t>  throughout the whole rollout horizon.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3E8C8-0C25-4345-BFD3-EAD19DE0CE37}" type="slidenum">
              <a:rPr lang="en-NL" smtClean="0"/>
              <a:t>51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53659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is not differentiable, so gradients cannot improve x0 during training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3E8C8-0C25-4345-BFD3-EAD19DE0CE37}" type="slidenum">
              <a:rPr lang="en-NL" smtClean="0"/>
              <a:t>70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29804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10/06/2026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19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/>
              <a:t>Augmentation</a:t>
            </a:r>
            <a:endParaRPr lang="en-US" dirty="0"/>
          </a:p>
          <a:p>
            <a:pPr lvl="1"/>
            <a:r>
              <a:rPr lang="en-US" dirty="0"/>
              <a:t>Encoder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Discussed fix </a:t>
            </a:r>
            <a:r>
              <a:rPr lang="en-US" dirty="0" err="1"/>
              <a:t>simscape</a:t>
            </a:r>
            <a:endParaRPr lang="en-US" dirty="0"/>
          </a:p>
          <a:p>
            <a:r>
              <a:rPr lang="en-US" dirty="0"/>
              <a:t>Error between system with and without MSD</a:t>
            </a:r>
          </a:p>
          <a:p>
            <a:r>
              <a:rPr lang="en-US" dirty="0"/>
              <a:t>Compared LTI vs LPV (did not move Y)</a:t>
            </a:r>
          </a:p>
          <a:p>
            <a:pPr lvl="1"/>
            <a:r>
              <a:rPr lang="en-US" dirty="0"/>
              <a:t>Thought it was harder to implement LPV for augmentation, but Jan’s framework directly supported this</a:t>
            </a:r>
          </a:p>
          <a:p>
            <a:r>
              <a:rPr lang="en-US" dirty="0"/>
              <a:t>ASMPT </a:t>
            </a:r>
            <a:r>
              <a:rPr lang="en-US" dirty="0" err="1"/>
              <a:t>kamtin</a:t>
            </a:r>
            <a:r>
              <a:rPr lang="en-US" dirty="0"/>
              <a:t> unclear when or if it will arrive, might bring back the </a:t>
            </a:r>
            <a:r>
              <a:rPr lang="en-US" dirty="0" err="1"/>
              <a:t>telica</a:t>
            </a:r>
            <a:r>
              <a:rPr lang="en-US" dirty="0"/>
              <a:t> gantry system</a:t>
            </a:r>
          </a:p>
          <a:p>
            <a:pPr lvl="1"/>
            <a:r>
              <a:rPr lang="en-US" dirty="0"/>
              <a:t>In the mean time can use data from Quinten. But this is one movement, improving feedforward with ILC.</a:t>
            </a:r>
          </a:p>
          <a:p>
            <a:endParaRPr lang="en-US" dirty="0"/>
          </a:p>
          <a:p>
            <a:pPr marL="0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EA98-8D1B-6CE2-E115-DA1A87D3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0950-7F8C-D5A6-B65B-87476C8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759E-3ACF-EF89-6CE3-7927E207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3C349-FF01-6CFE-81A2-DDA64151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E3484-94F2-14D6-31CA-9FAE07C6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CE78-B9D1-45C7-4074-CA9FD738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4970-240D-E8B5-D9FB-7F973C49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F7AEE-FE93-C857-4A68-4D907138D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C86B106-CFF8-302B-FE52-85E0AD584BA7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5DC95B-5EFB-972A-3B1B-33CE8266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B0D30DC-25C2-1DFF-F1F4-D297D6260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0280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4722-ACD1-24E0-59E7-0B4B464A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7EBDF-0657-1B12-7DB0-EC4297F52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A15E40-924D-2A06-FCC2-5105DCF9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50" y="1492628"/>
            <a:ext cx="11698656" cy="401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139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2CC6-8BFC-ABD5-9CD7-7CB3A47C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B07D4-FD42-BF4B-781A-331B56A38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D6BBB-9B2D-18F5-C884-F2A77F026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53" y="1494504"/>
            <a:ext cx="9665086" cy="516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2506C-05CC-BE4F-DA31-6CBCC8710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97B34-9594-5E65-4E1B-E6D876DC3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205601"/>
            <a:ext cx="10515600" cy="4351338"/>
          </a:xfrm>
        </p:spPr>
        <p:txBody>
          <a:bodyPr/>
          <a:lstStyle/>
          <a:p>
            <a:r>
              <a:rPr lang="en-US" dirty="0"/>
              <a:t>Only added offset L0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0A34E-D2E5-1073-5632-C493C07C8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68433"/>
            <a:ext cx="9976316" cy="466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37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BF4E-215B-314B-861B-A35887E1A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verified against </a:t>
            </a:r>
            <a:r>
              <a:rPr lang="en-US" dirty="0" err="1"/>
              <a:t>simscape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741D6-32F7-39D4-0312-7950F0B17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with MSD vs </a:t>
            </a:r>
            <a:r>
              <a:rPr lang="en-US" dirty="0" err="1"/>
              <a:t>Simscape</a:t>
            </a:r>
            <a:r>
              <a:rPr lang="en-US" dirty="0"/>
              <a:t> with MSD</a:t>
            </a:r>
            <a:br>
              <a:rPr lang="en-US" dirty="0"/>
            </a:br>
            <a:r>
              <a:rPr lang="en-US" dirty="0"/>
              <a:t>RMSE X1 : 2.4919e-07 m</a:t>
            </a:r>
            <a:br>
              <a:rPr lang="en-US" dirty="0"/>
            </a:br>
            <a:r>
              <a:rPr lang="en-US" dirty="0"/>
              <a:t>RMSE X2 : 1.6463e-07 m</a:t>
            </a:r>
            <a:br>
              <a:rPr lang="en-US" dirty="0"/>
            </a:br>
            <a:r>
              <a:rPr lang="en-US" dirty="0"/>
              <a:t>RMSE Y : 5.0275e-09 m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System without MSD vs </a:t>
            </a:r>
            <a:r>
              <a:rPr lang="en-US" dirty="0" err="1"/>
              <a:t>Simscape</a:t>
            </a:r>
            <a:r>
              <a:rPr lang="en-US" dirty="0"/>
              <a:t> with MSD</a:t>
            </a:r>
            <a:br>
              <a:rPr lang="en-US" dirty="0"/>
            </a:br>
            <a:r>
              <a:rPr lang="en-US" dirty="0"/>
              <a:t>RMSE X1 : 4.4957e-07 m</a:t>
            </a:r>
            <a:br>
              <a:rPr lang="en-US" dirty="0"/>
            </a:br>
            <a:r>
              <a:rPr lang="en-US" dirty="0"/>
              <a:t>RMSE X2 : 2.9607e-07 m</a:t>
            </a:r>
            <a:br>
              <a:rPr lang="en-US" dirty="0"/>
            </a:br>
            <a:r>
              <a:rPr lang="en-US" dirty="0"/>
              <a:t>RMSE Y : 7.6171e-09 m</a:t>
            </a:r>
            <a:br>
              <a:rPr lang="en-US" dirty="0"/>
            </a:b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A14C7-4539-8E77-69D2-90ECDF97E594}"/>
              </a:ext>
            </a:extLst>
          </p:cNvPr>
          <p:cNvSpPr txBox="1"/>
          <p:nvPr/>
        </p:nvSpPr>
        <p:spPr>
          <a:xfrm flipH="1">
            <a:off x="838200" y="5988734"/>
            <a:ext cx="6208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ASMPT it was required that the formulas for the additional state are correct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29422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318A-F33A-FD35-A7E5-E30379323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Update: verify augmented model against </a:t>
            </a:r>
            <a:r>
              <a:rPr lang="en-US" dirty="0" err="1"/>
              <a:t>simscape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D7558-096E-C915-4889-30A0B4753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Offset was incorrect in </a:t>
            </a:r>
            <a:r>
              <a:rPr lang="en-US" dirty="0" err="1"/>
              <a:t>simscape</a:t>
            </a:r>
            <a:r>
              <a:rPr lang="en-US" dirty="0"/>
              <a:t> model</a:t>
            </a:r>
          </a:p>
          <a:p>
            <a:r>
              <a:rPr lang="en-US" dirty="0"/>
              <a:t>Previous in range e^-7 both models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1885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E039D-AAD4-C628-AB77-A630A4A95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Correction </a:t>
            </a:r>
            <a:r>
              <a:rPr lang="en-US" dirty="0" err="1"/>
              <a:t>simscape</a:t>
            </a:r>
            <a:r>
              <a:rPr lang="en-US" dirty="0"/>
              <a:t> model</a:t>
            </a:r>
            <a:br>
              <a:rPr lang="en-US" dirty="0"/>
            </a:br>
            <a:r>
              <a:rPr lang="en-US" dirty="0"/>
              <a:t>Offset not properly connected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5B9A4-B100-FE5C-64EF-62750D74D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L" dirty="0"/>
              <a:t>RMSE of system with MSD vs </a:t>
            </a:r>
            <a:r>
              <a:rPr lang="en-NL" dirty="0" err="1"/>
              <a:t>Simscape</a:t>
            </a:r>
            <a:r>
              <a:rPr lang="en-NL" dirty="0"/>
              <a:t> with MSD</a:t>
            </a:r>
            <a:br>
              <a:rPr lang="en-NL" dirty="0"/>
            </a:br>
            <a:r>
              <a:rPr lang="en-NL" dirty="0"/>
              <a:t>RMSE X1 : 5.4695e-09 m</a:t>
            </a:r>
            <a:br>
              <a:rPr lang="en-NL" dirty="0"/>
            </a:br>
            <a:r>
              <a:rPr lang="en-NL" dirty="0"/>
              <a:t>RMSE X2 : 4.3447e-09 m</a:t>
            </a:r>
            <a:br>
              <a:rPr lang="en-NL" dirty="0"/>
            </a:br>
            <a:r>
              <a:rPr lang="en-NL" dirty="0"/>
              <a:t>RMSE Y  : 8.5888e-10 m</a:t>
            </a:r>
            <a:br>
              <a:rPr lang="en-NL" dirty="0"/>
            </a:br>
            <a:br>
              <a:rPr lang="en-NL" dirty="0"/>
            </a:br>
            <a:r>
              <a:rPr lang="en-NL" dirty="0"/>
              <a:t>RMSE of system without MSD vs </a:t>
            </a:r>
            <a:r>
              <a:rPr lang="en-NL" dirty="0" err="1"/>
              <a:t>Simscape</a:t>
            </a:r>
            <a:r>
              <a:rPr lang="en-NL" dirty="0"/>
              <a:t> with MSD</a:t>
            </a:r>
            <a:br>
              <a:rPr lang="en-NL" dirty="0"/>
            </a:br>
            <a:r>
              <a:rPr lang="en-NL" dirty="0"/>
              <a:t>RMSE X1 : 1.9981e-07 m</a:t>
            </a:r>
            <a:br>
              <a:rPr lang="en-NL" dirty="0"/>
            </a:br>
            <a:r>
              <a:rPr lang="en-NL" dirty="0"/>
              <a:t>RMSE X2 : 1.3203e-07 m</a:t>
            </a:r>
            <a:br>
              <a:rPr lang="en-NL" dirty="0"/>
            </a:br>
            <a:r>
              <a:rPr lang="en-NL" dirty="0"/>
              <a:t>RMSE Y  : 6.0441e-09 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C3E54-CF36-1731-770E-B7DD73FCADAD}"/>
              </a:ext>
            </a:extLst>
          </p:cNvPr>
          <p:cNvSpPr txBox="1"/>
          <p:nvPr/>
        </p:nvSpPr>
        <p:spPr>
          <a:xfrm>
            <a:off x="314632" y="5988734"/>
            <a:ext cx="8003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 same error range as original baseline vs original </a:t>
            </a:r>
            <a:r>
              <a:rPr lang="en-US" dirty="0" err="1"/>
              <a:t>simscape</a:t>
            </a:r>
            <a:r>
              <a:rPr lang="en-US" dirty="0"/>
              <a:t> model</a:t>
            </a:r>
          </a:p>
          <a:p>
            <a:r>
              <a:rPr lang="en-US" dirty="0"/>
              <a:t>Clear difference between baseline and augmented system (MSD)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92017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B32ED-9893-443D-1B86-4B4E3DC1E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EB916-4F09-C64D-10C1-85D331240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C73B27-E47C-1074-49A0-8F8895762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593"/>
            <a:ext cx="12192000" cy="633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288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66181-B03E-13D9-1CAE-52CE7524F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3E5E7-046D-90BF-8C86-57F4C69EE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ECCB28-DD7C-F59F-F0E9-8146E95119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04"/>
          <a:stretch>
            <a:fillRect/>
          </a:stretch>
        </p:blipFill>
        <p:spPr>
          <a:xfrm>
            <a:off x="0" y="609600"/>
            <a:ext cx="12192000" cy="589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96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D1EC-7C85-E734-C193-A73FDAA22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vs augmented system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6BA9C-6940-12A4-40A9-CA195709F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the added MSD to the payload observable in our data</a:t>
            </a:r>
          </a:p>
          <a:p>
            <a:r>
              <a:rPr lang="en-US" dirty="0"/>
              <a:t>FRF comparison</a:t>
            </a:r>
          </a:p>
          <a:p>
            <a:pPr lvl="1"/>
            <a:r>
              <a:rPr lang="en-US" dirty="0"/>
              <a:t>Closed-loop</a:t>
            </a:r>
          </a:p>
          <a:p>
            <a:pPr lvl="1"/>
            <a:r>
              <a:rPr lang="en-US" dirty="0"/>
              <a:t>Plant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056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ACC1-C5F1-879D-D74A-8E122C1B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96CE2-C3F9-C2B6-945F-6E29FEFE4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26214-2957-FB01-58DF-64100061E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442"/>
            <a:ext cx="12192000" cy="573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67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5FB59-B0F2-7BDE-CDBE-8DEA04E88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F20D9-2280-5CE3-35E5-5A1BE6AE5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F81B67-111B-49AD-F2CF-8B6C4956F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9246"/>
            <a:ext cx="12192000" cy="579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715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FA61-B9A5-DA06-B8EE-95E480EA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83D33-F259-1273-E3C9-6B8538912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8C7C60-876B-0A99-FBB0-CC3BFFC03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4461"/>
            <a:ext cx="12192000" cy="592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14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99FBD-E93F-0EC1-1D83-C4183EED9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9E34D-B4FB-3C37-F552-562D373C8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29492-9032-5D4A-D406-F72E57064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5645"/>
            <a:ext cx="12192000" cy="588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07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574AC-1470-F4C9-A60A-EC48EAB0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between baseline and augmented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AEF3B-506F-48B0-393D-D83E414BD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same input from closed-loop augmented system to the baseline system.</a:t>
            </a:r>
          </a:p>
          <a:p>
            <a:pPr lvl="1"/>
            <a:r>
              <a:rPr lang="en-US" dirty="0"/>
              <a:t>What is the difference</a:t>
            </a:r>
          </a:p>
          <a:p>
            <a:r>
              <a:rPr lang="en-US" dirty="0"/>
              <a:t>Why:</a:t>
            </a:r>
          </a:p>
          <a:p>
            <a:pPr lvl="1"/>
            <a:r>
              <a:rPr lang="en-US" dirty="0"/>
              <a:t>Want to know whether the baseline model given the input from the augmented system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18572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2213-3457-C3EB-CB1E-F862656E2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3F736-7404-A0CE-DF24-36E55D470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455" y="4317206"/>
            <a:ext cx="10515600" cy="4351338"/>
          </a:xfrm>
        </p:spPr>
        <p:txBody>
          <a:bodyPr/>
          <a:lstStyle/>
          <a:p>
            <a:r>
              <a:rPr lang="en-US" dirty="0"/>
              <a:t>System with added MSD vs system without MSD</a:t>
            </a:r>
          </a:p>
          <a:p>
            <a:pPr lvl="1"/>
            <a:r>
              <a:rPr lang="en-US" dirty="0"/>
              <a:t>Used the same input, compared the difference</a:t>
            </a:r>
          </a:p>
          <a:p>
            <a:r>
              <a:rPr lang="en-US" dirty="0"/>
              <a:t>Parameter recovery was able to get in the range e^-7</a:t>
            </a:r>
          </a:p>
          <a:p>
            <a:pPr lvl="1"/>
            <a:r>
              <a:rPr lang="en-US" dirty="0"/>
              <a:t>With perfect parameters / perfect model is able to get in that range</a:t>
            </a:r>
          </a:p>
          <a:p>
            <a:pPr lvl="1"/>
            <a:r>
              <a:rPr lang="en-US" dirty="0"/>
              <a:t>We have no noise currently</a:t>
            </a:r>
          </a:p>
          <a:p>
            <a:pPr marL="0" indent="0">
              <a:buNone/>
            </a:pP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3CC4F-4C9A-2253-05B8-ACC0AE897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3408"/>
            <a:ext cx="12192000" cy="263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213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F7872-2A05-82CF-3A92-A4A88B59D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gantry model implementation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E92FB-8406-185A-18E1-D920D77CC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Why:</a:t>
            </a:r>
          </a:p>
          <a:p>
            <a:pPr lvl="1"/>
            <a:r>
              <a:rPr lang="en-US" dirty="0"/>
              <a:t>Wanted to verify model implementation in code structure</a:t>
            </a:r>
          </a:p>
          <a:p>
            <a:pPr lvl="1"/>
            <a:r>
              <a:rPr lang="en-US" dirty="0"/>
              <a:t>Also see the effects of LTI against LPV, to justify whether LPV will dominate error or not</a:t>
            </a:r>
          </a:p>
          <a:p>
            <a:pPr lvl="2"/>
            <a:r>
              <a:rPr lang="en-US" dirty="0"/>
              <a:t>For augmentation to be able to capture additional states</a:t>
            </a:r>
          </a:p>
          <a:p>
            <a:pPr lvl="2"/>
            <a:r>
              <a:rPr lang="en-US" dirty="0"/>
              <a:t>Only “small” Y-movements because the current model is LTI, need to know if this information is informative</a:t>
            </a:r>
          </a:p>
          <a:p>
            <a:pPr lvl="3"/>
            <a:r>
              <a:rPr lang="en-US" dirty="0"/>
              <a:t>Compared to data used in parameter recovery (now LTI)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3760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92251D-58CE-DB8E-8E0D-3C4E8F0A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32E87-7ADD-9B9F-4F38-D2EC805B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0FC7DC-3D11-6C35-8A5D-637D78729F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30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8D10700-9A28-3CE8-8B53-22CB9B07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D4BCB-D3F9-A42F-EB48-A391BB525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36F2A4-277A-9E71-E1C0-1250DC7DF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32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639576-629D-8F2C-84F2-CB9E7780C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96843-398C-69E9-5F6E-3D104B403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FE77C-CB5E-7574-9CA6-28E0384E6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395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62FF941-CE68-15A7-41BD-A2807AA01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EAFC-C419-6135-928B-9F87F99C1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AF237-FBFE-8866-1663-6E848EFAC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84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5EF19-F9AE-7453-DECB-54B856FBF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A718F-9D2B-CB07-3CC5-3C8901187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one trajectory only</a:t>
            </a:r>
          </a:p>
          <a:p>
            <a:r>
              <a:rPr lang="en-US" dirty="0"/>
              <a:t>No LPV implementation kept at one Y-operating point</a:t>
            </a:r>
          </a:p>
          <a:p>
            <a:r>
              <a:rPr lang="en-US" dirty="0"/>
              <a:t>The MSD is attached to the Y-beam</a:t>
            </a:r>
          </a:p>
          <a:p>
            <a:pPr lvl="1"/>
            <a:r>
              <a:rPr lang="en-US" dirty="0"/>
              <a:t>Will first have to implement LPV before augmentation (dynamic parallel) of the additional state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60908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79EE1-400F-6944-6CB7-4C4AB61B2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660AD-73CB-2AF9-3BF0-AA173F732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Estimates where the gantry is and how fast it’s moving at the start of the trajectory</a:t>
            </a:r>
          </a:p>
          <a:p>
            <a:r>
              <a:rPr lang="en-US" dirty="0"/>
              <a:t>Compare:</a:t>
            </a:r>
          </a:p>
          <a:p>
            <a:pPr lvl="1"/>
            <a:r>
              <a:rPr lang="en-US" dirty="0"/>
              <a:t>Encoder-</a:t>
            </a:r>
            <a:r>
              <a:rPr lang="en-US" dirty="0" err="1"/>
              <a:t>init</a:t>
            </a:r>
            <a:r>
              <a:rPr lang="en-US" dirty="0"/>
              <a:t>: simulation started from the encoder's estimated   position/velocity</a:t>
            </a:r>
          </a:p>
          <a:p>
            <a:pPr lvl="1"/>
            <a:r>
              <a:rPr lang="en-US" dirty="0"/>
              <a:t>Zero-state: simulation started from rest at the origin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36637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AF3DA-F5CE-8C95-52ED-54F8CEB1E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0B797-0410-FCAC-B366-73C98324D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1F54E1-CA9F-27B3-5179-C5AA41DEB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439"/>
            <a:ext cx="12192000" cy="628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740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D837-1D1B-89D6-AFEB-9A8FE91C4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ADE61-F8F4-BCD4-FE5A-5C5FE94B3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2BB365-2758-0C98-6C25-AFF86638D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615"/>
            <a:ext cx="12192000" cy="609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9334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754A6-1C9A-9EFF-FC27-232189571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9C8CB-2838-4D48-D97A-4B89C0D73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C80DE-92DD-5839-BE1F-2125542D6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330"/>
            <a:ext cx="12192000" cy="60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0447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D69B-AB49-5BA2-D072-F9997D54C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C404-4341-E0C7-3A7B-5702AFC23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50081"/>
            <a:ext cx="10515600" cy="919163"/>
          </a:xfrm>
        </p:spPr>
        <p:txBody>
          <a:bodyPr/>
          <a:lstStyle/>
          <a:p>
            <a:r>
              <a:rPr lang="en-US" dirty="0"/>
              <a:t>Ran for 50 epochs, but saved up till the best epoch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F537D-5A8D-F6B5-F452-D47B9E924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8" y="241418"/>
            <a:ext cx="12192000" cy="573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068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25586-7581-BA7E-6D9C-86D316514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8C72E-3F39-82FE-722E-9CEF72691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Encoder </a:t>
            </a:r>
            <a:r>
              <a:rPr lang="en-US" dirty="0" err="1"/>
              <a:t>mimo</a:t>
            </a:r>
            <a:r>
              <a:rPr lang="en-US" dirty="0"/>
              <a:t> data verification</a:t>
            </a:r>
          </a:p>
          <a:p>
            <a:r>
              <a:rPr lang="en-US" dirty="0"/>
              <a:t>What after… dynamic parallel…? </a:t>
            </a:r>
            <a:r>
              <a:rPr lang="en-US" dirty="0" err="1"/>
              <a:t>Lpv</a:t>
            </a:r>
            <a:r>
              <a:rPr lang="en-US" dirty="0"/>
              <a:t>? I need LPV to excite the MSD, so…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56203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8981-CC0D-8B79-76A9-E56E443C4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32992-3672-5A8F-DBDD-8969CACDD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Frf</a:t>
            </a:r>
            <a:r>
              <a:rPr lang="en-US" dirty="0"/>
              <a:t> voor sample length </a:t>
            </a:r>
            <a:r>
              <a:rPr lang="en-US" dirty="0" err="1"/>
              <a:t>etc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608841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9BAD8-8230-5AFA-F44B-CCA556A28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A3772-A708-9004-94ED-AD9660EB3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 - The FAIL is not a model failure. The encoder slightly</a:t>
            </a:r>
          </a:p>
          <a:p>
            <a:r>
              <a:rPr lang="en-US" dirty="0"/>
              <a:t>  </a:t>
            </a:r>
            <a:r>
              <a:rPr lang="en-US" dirty="0" err="1"/>
              <a:t>miscalibrates</a:t>
            </a:r>
            <a:r>
              <a:rPr lang="en-US" dirty="0"/>
              <a:t> the Y initial condition, which has negligible</a:t>
            </a:r>
          </a:p>
          <a:p>
            <a:r>
              <a:rPr lang="en-US" dirty="0"/>
              <a:t>  physical effect (~microns), but dividing by near-zero std makes</a:t>
            </a:r>
          </a:p>
          <a:p>
            <a:r>
              <a:rPr lang="en-US" dirty="0"/>
              <a:t>   it look catastrophic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For Phase 1, report X1 and X2 only, and explicitly note that Y</a:t>
            </a:r>
          </a:p>
          <a:p>
            <a:r>
              <a:rPr lang="en-US" dirty="0"/>
              <a:t>  is excluded because it is frozen (zero variance, NRMS is not a</a:t>
            </a:r>
          </a:p>
          <a:p>
            <a:r>
              <a:rPr lang="en-US" dirty="0"/>
              <a:t>  meaningful metric). The actual research result is: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81918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19A5A-5C8B-0AF4-B018-363629AB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792C3-B2E1-7E53-B510-3039BC1CE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gantry_subnet_verification.py</a:t>
            </a:r>
          </a:p>
          <a:p>
            <a:r>
              <a:rPr lang="en-US" dirty="0"/>
              <a:t>------------------------------</a:t>
            </a:r>
          </a:p>
          <a:p>
            <a:r>
              <a:rPr lang="en-US" dirty="0"/>
              <a:t>Verify that the full </a:t>
            </a:r>
            <a:r>
              <a:rPr lang="en-US" dirty="0" err="1"/>
              <a:t>SSE_Interconnect</a:t>
            </a:r>
            <a:r>
              <a:rPr lang="en-US" dirty="0"/>
              <a:t> pipeline (encoder + </a:t>
            </a:r>
            <a:r>
              <a:rPr lang="en-US" dirty="0" err="1"/>
              <a:t>Gantry_State_Block</a:t>
            </a:r>
            <a:r>
              <a:rPr lang="en-US" dirty="0"/>
              <a:t> +</a:t>
            </a:r>
          </a:p>
          <a:p>
            <a:r>
              <a:rPr lang="en-US" dirty="0" err="1"/>
              <a:t>Linear_Output_Block</a:t>
            </a:r>
            <a:r>
              <a:rPr lang="en-US" dirty="0"/>
              <a:t>) trains correctly on matched MATLAB data (Phase 1).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422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3AE4-0CA2-3A3A-C7B3-8E95ACAF7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9C9C-3DDB-2E88-2445-8210DAEDF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RK4 implementation of continuous model</a:t>
            </a:r>
          </a:p>
          <a:p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Gantry_State_Block</a:t>
            </a:r>
            <a:r>
              <a:rPr lang="en-US" dirty="0"/>
              <a:t> — the core contribution. A</a:t>
            </a:r>
          </a:p>
          <a:p>
            <a:r>
              <a:rPr lang="en-US" dirty="0"/>
              <a:t>  physics block for the 3-DOF gantry with</a:t>
            </a:r>
          </a:p>
          <a:p>
            <a:r>
              <a:rPr lang="en-US" dirty="0"/>
              <a:t>  LFR-structured RK4 integration.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535201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004C-B9CC-7077-849D-A6CDB14C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38A9-5DEF-8B7F-5618-9B9F3239F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one trajectory Y does not move no </a:t>
            </a:r>
            <a:r>
              <a:rPr lang="en-US" dirty="0" err="1"/>
              <a:t>lpv</a:t>
            </a:r>
            <a:r>
              <a:rPr lang="en-US" dirty="0"/>
              <a:t> model treated as LTI (one Y-operating point)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368721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87FD-B3FE-D465-CC67-013BD5BBE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336B2-5576-433F-BA68-A42C39E4D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plots encoder</a:t>
            </a:r>
          </a:p>
          <a:p>
            <a:r>
              <a:rPr lang="en-US" dirty="0"/>
              <a:t>What does the encoder do; explain</a:t>
            </a:r>
          </a:p>
          <a:p>
            <a:r>
              <a:rPr lang="en-US" dirty="0"/>
              <a:t>Plot of validation? Plot of trajectory + input forces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919707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0D77-A1D8-A19D-B5A6-00B60468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CBF43-5261-A99F-D8CB-CB57386BE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484D1-BB88-9D69-691D-C1DAE924A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480" y="1690688"/>
            <a:ext cx="3953427" cy="20957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85D40D-8FC4-DE28-0520-0399FEB640FC}"/>
              </a:ext>
            </a:extLst>
          </p:cNvPr>
          <p:cNvSpPr txBox="1"/>
          <p:nvPr/>
        </p:nvSpPr>
        <p:spPr>
          <a:xfrm>
            <a:off x="6321276" y="3016251"/>
            <a:ext cx="60942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The wiring calls (</a:t>
            </a:r>
            <a:r>
              <a:rPr lang="en-NL" dirty="0" err="1"/>
              <a:t>connect_signals</a:t>
            </a:r>
            <a:r>
              <a:rPr lang="en-NL" dirty="0"/>
              <a:t>,</a:t>
            </a:r>
          </a:p>
          <a:p>
            <a:r>
              <a:rPr lang="en-NL" dirty="0"/>
              <a:t>  </a:t>
            </a:r>
            <a:r>
              <a:rPr lang="en-NL" dirty="0" err="1"/>
              <a:t>connect_block_signals</a:t>
            </a:r>
            <a:r>
              <a:rPr lang="en-NL" dirty="0"/>
              <a:t>) tell the Interconnect which named</a:t>
            </a:r>
          </a:p>
          <a:p>
            <a:r>
              <a:rPr lang="en-NL" dirty="0"/>
              <a:t>   signals to feed into each block's inputs. At runtime,</a:t>
            </a:r>
          </a:p>
          <a:p>
            <a:r>
              <a:rPr lang="en-NL" dirty="0"/>
              <a:t>  interconnect(x, u) executes all blocks in order and</a:t>
            </a:r>
          </a:p>
          <a:p>
            <a:r>
              <a:rPr lang="en-NL" dirty="0"/>
              <a:t>  returns (y, </a:t>
            </a:r>
            <a:r>
              <a:rPr lang="en-NL" dirty="0" err="1"/>
              <a:t>x_next</a:t>
            </a:r>
            <a:r>
              <a:rPr lang="en-NL" dirty="0"/>
              <a:t>).</a:t>
            </a:r>
          </a:p>
          <a:p>
            <a:endParaRPr lang="en-NL" dirty="0"/>
          </a:p>
          <a:p>
            <a:r>
              <a:rPr lang="en-NL" dirty="0"/>
              <a:t>  </a:t>
            </a:r>
            <a:r>
              <a:rPr lang="en-NL" dirty="0" err="1"/>
              <a:t>SSE_Interconnect</a:t>
            </a:r>
            <a:r>
              <a:rPr lang="en-NL" dirty="0"/>
              <a:t> wraps this: it adds an encoder network</a:t>
            </a:r>
          </a:p>
          <a:p>
            <a:r>
              <a:rPr lang="en-NL" dirty="0"/>
              <a:t>  on top. During training, the encoder maps (</a:t>
            </a:r>
            <a:r>
              <a:rPr lang="en-NL" dirty="0" err="1"/>
              <a:t>u_past</a:t>
            </a:r>
            <a:r>
              <a:rPr lang="en-NL" dirty="0"/>
              <a:t>,</a:t>
            </a:r>
          </a:p>
          <a:p>
            <a:r>
              <a:rPr lang="en-NL" dirty="0"/>
              <a:t>  </a:t>
            </a:r>
            <a:r>
              <a:rPr lang="en-NL" dirty="0" err="1"/>
              <a:t>y_past</a:t>
            </a:r>
            <a:r>
              <a:rPr lang="en-NL" dirty="0"/>
              <a:t>) → x̂₀, then the interconnect rolls forward for NF</a:t>
            </a:r>
          </a:p>
          <a:p>
            <a:r>
              <a:rPr lang="en-NL" dirty="0"/>
              <a:t>   steps. The loss is the BPTT error over those steps.</a:t>
            </a:r>
          </a:p>
        </p:txBody>
      </p:sp>
    </p:spTree>
    <p:extLst>
      <p:ext uri="{BB962C8B-B14F-4D97-AF65-F5344CB8AC3E}">
        <p14:creationId xmlns:p14="http://schemas.microsoft.com/office/powerpoint/2010/main" val="38592967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D566-C799-71A5-2D6F-A20DB4ADA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problems to be careful for, for LPV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51994-1452-B87E-C0AF-41EE356B5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Jacobian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State estimation..?</a:t>
            </a:r>
          </a:p>
        </p:txBody>
      </p:sp>
    </p:spTree>
    <p:extLst>
      <p:ext uri="{BB962C8B-B14F-4D97-AF65-F5344CB8AC3E}">
        <p14:creationId xmlns:p14="http://schemas.microsoft.com/office/powerpoint/2010/main" val="29731772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DA82-033F-A5A9-8242-2D5896D9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68050-ABAC-21A7-30BB-2C997CD1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question needs to be answered. Make clear here what the problem/question is that needs to be answered. Questions can always be asked outside the meeting, but we may say prepare to explain what you really mean.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2B2196-272F-FC1F-4220-C87739CBF73F}"/>
              </a:ext>
            </a:extLst>
          </p:cNvPr>
          <p:cNvSpPr/>
          <p:nvPr/>
        </p:nvSpPr>
        <p:spPr>
          <a:xfrm>
            <a:off x="6985686" y="3273553"/>
            <a:ext cx="4827373" cy="30383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figure explaining the concept</a:t>
            </a:r>
          </a:p>
          <a:p>
            <a:pPr algn="ctr"/>
            <a:r>
              <a:rPr lang="en-US" dirty="0"/>
              <a:t>When applicable, the same as will go in final report. Otherwise just take screenshots from relevant papers.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752994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055FC-892F-E27B-A32A-81B92A5D3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Should I add the velocities as states?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32E76-A473-BFD0-ABEB-75A49A7CD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Encoder becomes better because…</a:t>
            </a:r>
          </a:p>
          <a:p>
            <a:r>
              <a:rPr lang="en-US" dirty="0"/>
              <a:t>Does the system save these?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341042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BCF98-E996-649C-A5B0-55496D86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F6C75-9B34-56D5-BD13-7E01071E1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Float64 compared against float32</a:t>
            </a:r>
            <a:br>
              <a:rPr lang="en-US" dirty="0"/>
            </a:br>
            <a:r>
              <a:rPr lang="en-US" dirty="0"/>
              <a:t>but I save </a:t>
            </a:r>
            <a:r>
              <a:rPr lang="en-US" dirty="0" err="1"/>
              <a:t>matlab</a:t>
            </a:r>
            <a:r>
              <a:rPr lang="en-US" dirty="0"/>
              <a:t> files as float32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114549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E1F39-732A-9B18-3CC8-1A3D8B2D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35474-BE65-362B-199E-171C2D8BC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Kijken</a:t>
            </a:r>
            <a:r>
              <a:rPr lang="en-US" dirty="0"/>
              <a:t> Kleine </a:t>
            </a:r>
            <a:r>
              <a:rPr lang="en-US" dirty="0" err="1"/>
              <a:t>hoek</a:t>
            </a:r>
            <a:r>
              <a:rPr lang="en-US" dirty="0"/>
              <a:t> parameter recovery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037704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305EA-5B6D-BB7D-C3DE-C8C943E1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9EEDE-5EEA-DA67-C3EF-0614C2701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Cpu</a:t>
            </a:r>
            <a:r>
              <a:rPr lang="en-US" dirty="0"/>
              <a:t> vs </a:t>
            </a:r>
            <a:r>
              <a:rPr lang="en-US" dirty="0" err="1"/>
              <a:t>gpu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794020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6875B-C4EA-B5AD-F032-195637E68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B9F75-51AE-7938-55C0-DE81CE10F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Kijken</a:t>
            </a:r>
            <a:r>
              <a:rPr lang="en-US" dirty="0"/>
              <a:t> of </a:t>
            </a:r>
            <a:r>
              <a:rPr lang="en-US" dirty="0" err="1"/>
              <a:t>ik</a:t>
            </a:r>
            <a:r>
              <a:rPr lang="en-US" dirty="0"/>
              <a:t> een script </a:t>
            </a:r>
            <a:r>
              <a:rPr lang="en-US" dirty="0" err="1"/>
              <a:t>heb</a:t>
            </a:r>
            <a:r>
              <a:rPr lang="en-US" dirty="0"/>
              <a:t> voor LPV </a:t>
            </a:r>
            <a:r>
              <a:rPr lang="en-US" dirty="0" err="1"/>
              <a:t>verifiëren</a:t>
            </a:r>
            <a:r>
              <a:rPr lang="en-US" dirty="0"/>
              <a:t> door hele interconnect etc.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482917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53C63-4EF7-5D08-DD35-50879C381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908BF-4061-39A5-2750-C46C61D1A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Augmentation difference static and parallel</a:t>
            </a:r>
          </a:p>
          <a:p>
            <a:r>
              <a:rPr lang="en-US" dirty="0"/>
              <a:t>Know </a:t>
            </a:r>
            <a:r>
              <a:rPr lang="en-US" dirty="0" err="1"/>
              <a:t>x_tilde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006946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11489-6887-2421-0663-39C3A59E1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7C403-F104-3A3F-FC16-2384F026F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Benefit encoder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F6C1A-04F4-88F2-EB19-52C217A5C13D}"/>
              </a:ext>
            </a:extLst>
          </p:cNvPr>
          <p:cNvSpPr txBox="1"/>
          <p:nvPr/>
        </p:nvSpPr>
        <p:spPr>
          <a:xfrm>
            <a:off x="7323463" y="-1307852"/>
            <a:ext cx="6097836" cy="10618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The encoder exists because of how the training works: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</a:t>
            </a:r>
          </a:p>
          <a:p>
            <a:r>
              <a:rPr lang="en-NL" dirty="0"/>
              <a:t>  The core problem: Jan's framework trains via multi-step rollout (BPTT). To roll out </a:t>
            </a:r>
            <a:r>
              <a:rPr lang="en-NL" dirty="0" err="1"/>
              <a:t>y_hat</a:t>
            </a:r>
            <a:r>
              <a:rPr lang="en-NL" dirty="0"/>
              <a:t>,     </a:t>
            </a:r>
          </a:p>
          <a:p>
            <a:r>
              <a:rPr lang="en-NL" dirty="0"/>
              <a:t>  </a:t>
            </a:r>
            <a:r>
              <a:rPr lang="en-NL" dirty="0" err="1"/>
              <a:t>x_next</a:t>
            </a:r>
            <a:r>
              <a:rPr lang="en-NL" dirty="0"/>
              <a:t> = </a:t>
            </a:r>
            <a:r>
              <a:rPr lang="en-NL" dirty="0" err="1"/>
              <a:t>hfn</a:t>
            </a:r>
            <a:r>
              <a:rPr lang="en-NL" dirty="0"/>
              <a:t>(x, u) for </a:t>
            </a:r>
            <a:r>
              <a:rPr lang="en-NL" dirty="0" err="1"/>
              <a:t>nf</a:t>
            </a:r>
            <a:r>
              <a:rPr lang="en-NL" dirty="0"/>
              <a:t> steps, you need an initial state x0. But you never measure the full</a:t>
            </a:r>
          </a:p>
          <a:p>
            <a:r>
              <a:rPr lang="en-NL" dirty="0"/>
              <a:t>  state directly, you only have input/output measurements (u, y).                                </a:t>
            </a:r>
          </a:p>
          <a:p>
            <a:r>
              <a:rPr lang="en-NL" dirty="0"/>
              <a:t>                  </a:t>
            </a:r>
          </a:p>
          <a:p>
            <a:r>
              <a:rPr lang="en-NL" dirty="0"/>
              <a:t>  Why you can't just use the analytical baseline during training:                               </a:t>
            </a:r>
          </a:p>
          <a:p>
            <a:r>
              <a:rPr lang="en-NL" dirty="0"/>
              <a:t>  1. Velocities from finite differences are noisy and only approximate the true state</a:t>
            </a:r>
          </a:p>
          <a:p>
            <a:r>
              <a:rPr lang="en-NL" dirty="0"/>
              <a:t>  2. ANN states have no physical meaning, so there's no analytical way to set them. Zero is just</a:t>
            </a:r>
          </a:p>
          <a:p>
            <a:r>
              <a:rPr lang="en-NL" dirty="0"/>
              <a:t>  a guess.</a:t>
            </a:r>
          </a:p>
          <a:p>
            <a:r>
              <a:rPr lang="en-NL" dirty="0"/>
              <a:t>  3. Most importantly: x0 needs to be differentiable with respect to the network parameters. A</a:t>
            </a:r>
          </a:p>
          <a:p>
            <a:r>
              <a:rPr lang="en-NL" dirty="0"/>
              <a:t>  fixed analytical x0 is a constant, so gradients from the rollout loss can't improve the</a:t>
            </a:r>
          </a:p>
          <a:p>
            <a:r>
              <a:rPr lang="en-NL" dirty="0"/>
              <a:t>  initialization. The encoder is a neural network, so it's part of the computation graph and</a:t>
            </a:r>
          </a:p>
          <a:p>
            <a:r>
              <a:rPr lang="en-NL" dirty="0"/>
              <a:t>  gradients flow through it.</a:t>
            </a:r>
          </a:p>
          <a:p>
            <a:endParaRPr lang="en-NL" dirty="0"/>
          </a:p>
          <a:p>
            <a:r>
              <a:rPr lang="en-NL" dirty="0"/>
              <a:t>  In short: the encoder solves the state reconstruction problem, mapping (</a:t>
            </a:r>
            <a:r>
              <a:rPr lang="en-NL" dirty="0" err="1"/>
              <a:t>u_past</a:t>
            </a:r>
            <a:r>
              <a:rPr lang="en-NL" dirty="0"/>
              <a:t>, </a:t>
            </a:r>
            <a:r>
              <a:rPr lang="en-NL" dirty="0" err="1"/>
              <a:t>y_past</a:t>
            </a:r>
            <a:r>
              <a:rPr lang="en-NL" dirty="0"/>
              <a:t>) → x0,</a:t>
            </a:r>
          </a:p>
          <a:p>
            <a:r>
              <a:rPr lang="en-NL" dirty="0"/>
              <a:t>  in a way that is:</a:t>
            </a:r>
          </a:p>
          <a:p>
            <a:r>
              <a:rPr lang="en-NL" dirty="0"/>
              <a:t>  - Learned from data (adapts to the actual system)</a:t>
            </a:r>
          </a:p>
          <a:p>
            <a:r>
              <a:rPr lang="en-NL" dirty="0"/>
              <a:t>  - Differentiable (enables end-to-end BPTT training)</a:t>
            </a:r>
          </a:p>
          <a:p>
            <a:r>
              <a:rPr lang="en-NL" dirty="0"/>
              <a:t>  - Complete (estimates both physical states and ANN latent states)</a:t>
            </a:r>
          </a:p>
          <a:p>
            <a:endParaRPr lang="en-NL" dirty="0"/>
          </a:p>
          <a:p>
            <a:r>
              <a:rPr lang="en-NL" dirty="0"/>
              <a:t>  Without it, every rollout window would start from a suboptimal, non-differentiable guess, and</a:t>
            </a:r>
          </a:p>
          <a:p>
            <a:r>
              <a:rPr lang="en-NL" dirty="0"/>
              <a:t>  the ANN augmentation states would always start at zero. The encoder lets the model "warm up"</a:t>
            </a:r>
          </a:p>
          <a:p>
            <a:r>
              <a:rPr lang="en-NL" dirty="0"/>
              <a:t>  its internal state from measurement history before predicting forward.</a:t>
            </a:r>
          </a:p>
        </p:txBody>
      </p:sp>
    </p:spTree>
    <p:extLst>
      <p:ext uri="{BB962C8B-B14F-4D97-AF65-F5344CB8AC3E}">
        <p14:creationId xmlns:p14="http://schemas.microsoft.com/office/powerpoint/2010/main" val="27479765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4CFD-A7CC-C7B2-999F-F809EBCF1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3FF7B-33E5-E1B1-8CE2-B960D5C46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7FE77B-98A9-26E0-764B-212DFB73187E}"/>
              </a:ext>
            </a:extLst>
          </p:cNvPr>
          <p:cNvSpPr txBox="1"/>
          <p:nvPr/>
        </p:nvSpPr>
        <p:spPr>
          <a:xfrm>
            <a:off x="3048918" y="-1461893"/>
            <a:ext cx="6097836" cy="9787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Good question. The encoder doesn't get evaluated on how well it</a:t>
            </a:r>
          </a:p>
          <a:p>
            <a:r>
              <a:rPr lang="en-NL" dirty="0"/>
              <a:t>   estimates x0 directly. There's no ground truth for x0 to     </a:t>
            </a:r>
          </a:p>
          <a:p>
            <a:r>
              <a:rPr lang="en-NL" dirty="0"/>
              <a:t>  compare against (especially not for the ANN states).           </a:t>
            </a:r>
          </a:p>
          <a:p>
            <a:r>
              <a:rPr lang="en-NL" dirty="0"/>
              <a:t>   </a:t>
            </a:r>
          </a:p>
          <a:p>
            <a:r>
              <a:rPr lang="en-NL" dirty="0"/>
              <a:t>  Instead, the evaluation is indirect, via rollout quality:      </a:t>
            </a:r>
          </a:p>
          <a:p>
            <a:r>
              <a:rPr lang="en-NL" dirty="0"/>
              <a:t>                  </a:t>
            </a:r>
          </a:p>
          <a:p>
            <a:r>
              <a:rPr lang="en-NL" dirty="0"/>
              <a:t>  1. Encoder produces x0 from the past I/O window               </a:t>
            </a:r>
          </a:p>
          <a:p>
            <a:r>
              <a:rPr lang="en-NL" dirty="0"/>
              <a:t>  2. We roll forward from that x0 for </a:t>
            </a:r>
            <a:r>
              <a:rPr lang="en-NL" dirty="0" err="1"/>
              <a:t>nf</a:t>
            </a:r>
            <a:r>
              <a:rPr lang="en-NL" dirty="0"/>
              <a:t>=350 steps using </a:t>
            </a:r>
            <a:r>
              <a:rPr lang="en-NL" dirty="0" err="1"/>
              <a:t>hfn</a:t>
            </a:r>
            <a:r>
              <a:rPr lang="en-NL" dirty="0"/>
              <a:t>(x,</a:t>
            </a:r>
          </a:p>
          <a:p>
            <a:r>
              <a:rPr lang="en-NL" dirty="0"/>
              <a:t>  u) with the actual future inputs</a:t>
            </a:r>
          </a:p>
          <a:p>
            <a:r>
              <a:rPr lang="en-NL" dirty="0"/>
              <a:t>  3. The rolled-out output </a:t>
            </a:r>
            <a:r>
              <a:rPr lang="en-NL" dirty="0" err="1"/>
              <a:t>y_hat</a:t>
            </a:r>
            <a:r>
              <a:rPr lang="en-NL" dirty="0"/>
              <a:t> (positions X1, X2, Y) is</a:t>
            </a:r>
          </a:p>
          <a:p>
            <a:r>
              <a:rPr lang="en-NL" dirty="0"/>
              <a:t>  compared against the measured output </a:t>
            </a:r>
            <a:r>
              <a:rPr lang="en-NL" dirty="0" err="1"/>
              <a:t>y_ref</a:t>
            </a:r>
            <a:endParaRPr lang="en-NL" dirty="0"/>
          </a:p>
          <a:p>
            <a:r>
              <a:rPr lang="en-NL" dirty="0"/>
              <a:t>  4. RMS = sqrt(mean((</a:t>
            </a:r>
            <a:r>
              <a:rPr lang="en-NL" dirty="0" err="1"/>
              <a:t>y_hat</a:t>
            </a:r>
            <a:r>
              <a:rPr lang="en-NL" dirty="0"/>
              <a:t> - </a:t>
            </a:r>
            <a:r>
              <a:rPr lang="en-NL" dirty="0" err="1"/>
              <a:t>y_ref</a:t>
            </a:r>
            <a:r>
              <a:rPr lang="en-NL" dirty="0"/>
              <a:t>)^2))</a:t>
            </a:r>
          </a:p>
          <a:p>
            <a:endParaRPr lang="en-NL" dirty="0"/>
          </a:p>
          <a:p>
            <a:r>
              <a:rPr lang="en-NL" dirty="0"/>
              <a:t>  So the RMS is purely on the output prediction error over the</a:t>
            </a:r>
          </a:p>
          <a:p>
            <a:r>
              <a:rPr lang="en-NL" dirty="0"/>
              <a:t>  rollout horizon, not on the state estimate itself. A good x0</a:t>
            </a:r>
          </a:p>
          <a:p>
            <a:r>
              <a:rPr lang="en-NL" dirty="0"/>
              <a:t>  produces a rollout that tracks the measured output well; a bad</a:t>
            </a:r>
          </a:p>
          <a:p>
            <a:r>
              <a:rPr lang="en-NL" dirty="0"/>
              <a:t>  x0 causes the rollout to drift.</a:t>
            </a:r>
          </a:p>
          <a:p>
            <a:endParaRPr lang="en-NL" dirty="0"/>
          </a:p>
          <a:p>
            <a:r>
              <a:rPr lang="en-NL" dirty="0"/>
              <a:t>  This is why the analytical baseline comparison is meaningful:</a:t>
            </a:r>
          </a:p>
          <a:p>
            <a:r>
              <a:rPr lang="en-NL" dirty="0"/>
              <a:t>  if you initialize with (measured positions, finite-diff</a:t>
            </a:r>
          </a:p>
          <a:p>
            <a:r>
              <a:rPr lang="en-NL" dirty="0"/>
              <a:t>  velocities, ANN=0) and roll forward, you get some output error.</a:t>
            </a:r>
          </a:p>
          <a:p>
            <a:r>
              <a:rPr lang="en-NL" dirty="0"/>
              <a:t>   If the encoder's x0 produces a rollout with less output error,</a:t>
            </a:r>
          </a:p>
          <a:p>
            <a:r>
              <a:rPr lang="en-NL" dirty="0"/>
              <a:t>   the encoder is doing something useful, likely estimating</a:t>
            </a:r>
          </a:p>
          <a:p>
            <a:r>
              <a:rPr lang="en-NL" dirty="0"/>
              <a:t>  better velocities and/or non-zero ANN states that improve the</a:t>
            </a:r>
          </a:p>
          <a:p>
            <a:r>
              <a:rPr lang="en-NL" dirty="0"/>
              <a:t>  prediction.</a:t>
            </a:r>
          </a:p>
          <a:p>
            <a:endParaRPr lang="en-NL" dirty="0"/>
          </a:p>
          <a:p>
            <a:r>
              <a:rPr lang="en-NL" dirty="0"/>
              <a:t>  You never directly compare encoder states to "true" states</a:t>
            </a:r>
          </a:p>
          <a:p>
            <a:r>
              <a:rPr lang="en-NL" dirty="0"/>
              <a:t>  because there is no ground truth state, only ground truth</a:t>
            </a:r>
          </a:p>
          <a:p>
            <a:r>
              <a:rPr lang="en-NL" dirty="0"/>
              <a:t>  outputs.</a:t>
            </a:r>
          </a:p>
        </p:txBody>
      </p:sp>
    </p:spTree>
    <p:extLst>
      <p:ext uri="{BB962C8B-B14F-4D97-AF65-F5344CB8AC3E}">
        <p14:creationId xmlns:p14="http://schemas.microsoft.com/office/powerpoint/2010/main" val="27295016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480B-D0EF-AE45-9667-E1E131866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evaluate it?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91C07-3635-EB79-16AB-22CA929A6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from system with added MSD</a:t>
            </a:r>
          </a:p>
          <a:p>
            <a:r>
              <a:rPr lang="en-US" dirty="0"/>
              <a:t>Evaluate indirectly: roll forward </a:t>
            </a:r>
            <a:r>
              <a:rPr lang="en-US" dirty="0" err="1"/>
              <a:t>i</a:t>
            </a:r>
            <a:r>
              <a:rPr lang="en-US" dirty="0"/>
              <a:t> steps from x0 through the full augmented model and compare predicted output </a:t>
            </a:r>
            <a:r>
              <a:rPr lang="en-US" dirty="0" err="1"/>
              <a:t>y_hat</a:t>
            </a:r>
            <a:r>
              <a:rPr lang="en-US" dirty="0"/>
              <a:t> against measured output </a:t>
            </a:r>
            <a:r>
              <a:rPr lang="en-US" dirty="0" err="1"/>
              <a:t>y_ref</a:t>
            </a:r>
            <a:r>
              <a:rPr lang="en-US" dirty="0"/>
              <a:t> over the rollout horizon</a:t>
            </a:r>
          </a:p>
          <a:p>
            <a:r>
              <a:rPr lang="en-US" dirty="0"/>
              <a:t>Compare encoder-initialized rollouts against analytical baseline rollouts (same trained model, different x0)</a:t>
            </a:r>
          </a:p>
          <a:p>
            <a:r>
              <a:rPr lang="en-US" dirty="0"/>
              <a:t>Analytical baseline: x0 = [measured positions, finite-diff velocities, 0 for ANN states]</a:t>
            </a:r>
          </a:p>
        </p:txBody>
      </p:sp>
    </p:spTree>
    <p:extLst>
      <p:ext uri="{BB962C8B-B14F-4D97-AF65-F5344CB8AC3E}">
        <p14:creationId xmlns:p14="http://schemas.microsoft.com/office/powerpoint/2010/main" val="22331211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744EA-2DD8-2489-1EF6-842B60BDB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AB1A6E-486E-E06D-0695-414C6382E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7906"/>
            <a:ext cx="12192000" cy="34834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4F4AE-2C98-A117-CD2F-4EA49F8B6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305" y="4511335"/>
            <a:ext cx="11588827" cy="2065735"/>
          </a:xfrm>
        </p:spPr>
        <p:txBody>
          <a:bodyPr>
            <a:normAutofit/>
          </a:bodyPr>
          <a:lstStyle/>
          <a:p>
            <a:r>
              <a:rPr lang="en-US" dirty="0"/>
              <a:t>Trajectories divided into windows</a:t>
            </a:r>
          </a:p>
          <a:p>
            <a:r>
              <a:rPr lang="en-US" dirty="0"/>
              <a:t>For each window compute per-channel RMS over rollout steps</a:t>
            </a:r>
          </a:p>
          <a:p>
            <a:r>
              <a:rPr lang="en-US" dirty="0"/>
              <a:t>Average those per-window RMS values across windows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7545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70FC7D3-4600-829F-2243-91DDA9EE5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A43F3-5326-6794-ECF5-81A64E744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E47495-0C34-3ED2-B533-D44EED125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99" y="97499"/>
            <a:ext cx="11105002" cy="666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218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FEB9307-821D-C62D-CEE9-D04E2A20B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3853-58E4-7A24-E4BF-A12B293E8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4B02A2-742A-9F9B-B5F4-211B4282A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01" y="958467"/>
            <a:ext cx="10600066" cy="530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9275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F08EDE7-2999-FF15-583B-D47DC2400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A0E3-DC0B-0CBD-C224-8A70382F8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723B7D-C560-17F4-A5B8-BC6706770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508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F25AD27-E157-63C7-F5EA-16CE347EC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FAA87-0D2A-1475-7427-CF5FBFDA0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C467D3-0C78-3C49-9988-1C8B46BEE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611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878C-24D3-9026-0ADA-69EA4452D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C33BE-EDD0-BA66-E460-0DA189018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Was incorrectly normalizing stage coordinates, mismatch with logical coordinates used in the model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032048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67A1-77BF-AFAF-8858-38E7AD348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to compare encoder against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88A77-571F-2206-307B-815100280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 slide</a:t>
            </a:r>
          </a:p>
          <a:p>
            <a:r>
              <a:rPr lang="en-US" dirty="0"/>
              <a:t>Matches error </a:t>
            </a:r>
            <a:r>
              <a:rPr lang="en-US" dirty="0" err="1"/>
              <a:t>matlab</a:t>
            </a:r>
            <a:r>
              <a:rPr lang="en-US" dirty="0"/>
              <a:t> same input system with and without MSD with no encoder, windows, rollout</a:t>
            </a:r>
          </a:p>
          <a:p>
            <a:r>
              <a:rPr lang="en-US" dirty="0"/>
              <a:t>Encoder needs to improve over this baseline</a:t>
            </a:r>
          </a:p>
          <a:p>
            <a:r>
              <a:rPr lang="en-US" dirty="0"/>
              <a:t>Correct order of magnitude for the error (same as </a:t>
            </a:r>
            <a:r>
              <a:rPr lang="en-US" dirty="0" err="1"/>
              <a:t>matlab</a:t>
            </a:r>
            <a:r>
              <a:rPr lang="en-US" dirty="0"/>
              <a:t> input matching). Should be able to get in this range for the order of magnitude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019384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7B4DE-F2AC-8D76-23CC-5D0A7EDB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F4A46-41CF-9039-FF78-ED5645E8B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26532A-A6C8-F206-4073-A3A5739DD7F9}"/>
              </a:ext>
            </a:extLst>
          </p:cNvPr>
          <p:cNvSpPr txBox="1"/>
          <p:nvPr/>
        </p:nvSpPr>
        <p:spPr>
          <a:xfrm>
            <a:off x="3048000" y="-8666619"/>
            <a:ext cx="6096000" cy="24191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 err="1"/>
              <a:t>job_id</a:t>
            </a:r>
            <a:r>
              <a:rPr lang="en-NL" dirty="0"/>
              <a:t>=65624</a:t>
            </a:r>
          </a:p>
          <a:p>
            <a:r>
              <a:rPr lang="en-NL" dirty="0" err="1"/>
              <a:t>node_list</a:t>
            </a:r>
            <a:r>
              <a:rPr lang="en-NL" dirty="0"/>
              <a:t>=blade3</a:t>
            </a:r>
          </a:p>
          <a:p>
            <a:r>
              <a:rPr lang="en-NL" dirty="0" err="1"/>
              <a:t>cpus_per_task</a:t>
            </a:r>
            <a:r>
              <a:rPr lang="en-NL" dirty="0"/>
              <a:t>=4</a:t>
            </a:r>
          </a:p>
          <a:p>
            <a:r>
              <a:rPr lang="en-NL" dirty="0" err="1"/>
              <a:t>cuda_visible_devices</a:t>
            </a:r>
            <a:r>
              <a:rPr lang="en-NL" dirty="0"/>
              <a:t>=&lt;unset&gt;</a:t>
            </a:r>
          </a:p>
          <a:p>
            <a:r>
              <a:rPr lang="en-NL" dirty="0"/>
              <a:t>Mon Jun  8 01:34:23 PM CEST 2026</a:t>
            </a:r>
          </a:p>
          <a:p>
            <a:r>
              <a:rPr lang="en-NL" dirty="0"/>
              <a:t>=== CPU info ===</a:t>
            </a:r>
          </a:p>
          <a:p>
            <a:r>
              <a:rPr lang="en-NL" dirty="0"/>
              <a:t>CPU(s):                                  64</a:t>
            </a:r>
          </a:p>
          <a:p>
            <a:r>
              <a:rPr lang="en-NL" dirty="0"/>
              <a:t>On-line CPU(s) list:                     0-63</a:t>
            </a:r>
          </a:p>
          <a:p>
            <a:r>
              <a:rPr lang="en-NL" dirty="0"/>
              <a:t>Model name:                              AMD EPYC 7302 16-Core Processor</a:t>
            </a:r>
          </a:p>
          <a:p>
            <a:r>
              <a:rPr lang="en-NL" dirty="0"/>
              <a:t>Thread(s) per core:                      2</a:t>
            </a:r>
          </a:p>
          <a:p>
            <a:r>
              <a:rPr lang="en-NL" dirty="0"/>
              <a:t>Core(s) per socket:                      16</a:t>
            </a:r>
          </a:p>
          <a:p>
            <a:r>
              <a:rPr lang="en-NL" dirty="0"/>
              <a:t>Socket(s):                               2</a:t>
            </a:r>
          </a:p>
          <a:p>
            <a:r>
              <a:rPr lang="en-NL" dirty="0"/>
              <a:t>NUMA node0 CPU(s):                       0-15,32-47</a:t>
            </a:r>
          </a:p>
          <a:p>
            <a:r>
              <a:rPr lang="en-NL" dirty="0"/>
              <a:t>NUMA node1 CPU(s):                       16-31,48-63</a:t>
            </a:r>
          </a:p>
          <a:p>
            <a:r>
              <a:rPr lang="en-NL" dirty="0"/>
              <a:t>=== </a:t>
            </a:r>
            <a:r>
              <a:rPr lang="en-NL" dirty="0" err="1"/>
              <a:t>gantry_subnet_verification</a:t>
            </a:r>
            <a:r>
              <a:rPr lang="en-NL" dirty="0"/>
              <a:t> CPU ===</a:t>
            </a:r>
          </a:p>
          <a:p>
            <a:r>
              <a:rPr lang="en-NL" dirty="0"/>
              <a:t>Gym has been unmaintained since 2022 and does not support NumPy 2.0 amongst other critical functionality.</a:t>
            </a:r>
          </a:p>
          <a:p>
            <a:r>
              <a:rPr lang="en-NL" dirty="0"/>
              <a:t>Please upgrade to Gymnasium, the maintained drop-in replacement of Gym, or contact the authors of your software and request that they upgrade.</a:t>
            </a:r>
          </a:p>
          <a:p>
            <a:r>
              <a:rPr lang="en-NL" dirty="0"/>
              <a:t>Users of this version of Gym should be able to simply replace 'import gym' with 'import gymnasium as gym' in the vast majority of cases.</a:t>
            </a:r>
          </a:p>
          <a:p>
            <a:r>
              <a:rPr lang="en-NL" dirty="0"/>
              <a:t>See the migration guide at https://gymnasium.farama.org/introduction/migration_guide/ for additional information.</a:t>
            </a:r>
          </a:p>
          <a:p>
            <a:r>
              <a:rPr lang="en-NL" dirty="0"/>
              <a:t>Loaded 8 training + 1 </a:t>
            </a:r>
            <a:r>
              <a:rPr lang="en-NL" dirty="0" err="1"/>
              <a:t>val</a:t>
            </a:r>
            <a:r>
              <a:rPr lang="en-NL" dirty="0"/>
              <a:t> + 1 test trajectories</a:t>
            </a:r>
          </a:p>
          <a:p>
            <a:endParaRPr lang="en-NL" dirty="0"/>
          </a:p>
          <a:p>
            <a:r>
              <a:rPr lang="en-NL" dirty="0"/>
              <a:t>Building Config A: physics only (</a:t>
            </a:r>
            <a:r>
              <a:rPr lang="en-NL" dirty="0" err="1"/>
              <a:t>nxd</a:t>
            </a:r>
            <a:r>
              <a:rPr lang="en-NL" dirty="0"/>
              <a:t>=6)</a:t>
            </a:r>
          </a:p>
          <a:p>
            <a:r>
              <a:rPr lang="en-NL" dirty="0"/>
              <a:t>Building Config B: physics + inert ANN (</a:t>
            </a:r>
            <a:r>
              <a:rPr lang="en-NL" dirty="0" err="1"/>
              <a:t>nxd</a:t>
            </a:r>
            <a:r>
              <a:rPr lang="en-NL" dirty="0"/>
              <a:t>=8)</a:t>
            </a:r>
          </a:p>
          <a:p>
            <a:endParaRPr lang="en-NL" dirty="0"/>
          </a:p>
          <a:p>
            <a:r>
              <a:rPr lang="en-NL" dirty="0"/>
              <a:t>======================================================================</a:t>
            </a:r>
          </a:p>
          <a:p>
            <a:r>
              <a:rPr lang="en-NL" dirty="0"/>
              <a:t>Windowed rollout evaluation (</a:t>
            </a:r>
            <a:r>
              <a:rPr lang="en-NL" dirty="0" err="1"/>
              <a:t>nf</a:t>
            </a:r>
            <a:r>
              <a:rPr lang="en-NL" dirty="0"/>
              <a:t>=350 steps = 0.350 s)</a:t>
            </a:r>
          </a:p>
          <a:p>
            <a:r>
              <a:rPr lang="en-NL" dirty="0"/>
              <a:t>======================================================================</a:t>
            </a:r>
          </a:p>
          <a:p>
            <a:r>
              <a:rPr lang="en-NL" dirty="0"/>
              <a:t>  Trajectory                                 Win       A:X1      A:X2       A:Y       B:X1      B:X2       B:Y    </a:t>
            </a:r>
            <a:r>
              <a:rPr lang="en-NL" dirty="0" err="1"/>
              <a:t>maxdiff</a:t>
            </a:r>
            <a:endParaRPr lang="en-NL" dirty="0"/>
          </a:p>
          <a:p>
            <a:r>
              <a:rPr lang="en-NL" dirty="0"/>
              <a:t>  -----------------------------------------------------------------------------------------------------------------------</a:t>
            </a:r>
          </a:p>
          <a:p>
            <a:r>
              <a:rPr lang="en-NL" dirty="0"/>
              <a:t>  T1_Y_sweep_conservative.mat                  4   0.000000  0.000000  0.000243   0.000000  0.000000  0.000243   0.00e+00</a:t>
            </a:r>
          </a:p>
          <a:p>
            <a:r>
              <a:rPr lang="en-NL" dirty="0"/>
              <a:t>  T2_X_sym_Y030.mat                            4   0.000514  0.000512  0.000014   0.000514  0.000512  0.000014   0.00e+00</a:t>
            </a:r>
          </a:p>
          <a:p>
            <a:r>
              <a:rPr lang="en-NL" dirty="0"/>
              <a:t>  T3_X_sym_Y000.mat                            4   0.000520  0.000506  0.000014   0.000520  0.000506  0.000014   0.00e+00</a:t>
            </a:r>
          </a:p>
          <a:p>
            <a:r>
              <a:rPr lang="en-NL" dirty="0"/>
              <a:t>  T4_X_antisym_Y020.mat                        4   0.000044  0.000037  0.000055   0.000044  0.000037  0.000055   0.00e+00</a:t>
            </a:r>
          </a:p>
          <a:p>
            <a:r>
              <a:rPr lang="en-NL" dirty="0"/>
              <a:t>  T5_X_sym_Y_sweep.mat                         4   0.000389  0.000378  0.000332   0.000389  0.000378  0.000332   0.00e+00</a:t>
            </a:r>
          </a:p>
          <a:p>
            <a:r>
              <a:rPr lang="en-NL" dirty="0"/>
              <a:t>  T6_Y_sweep_aggressive.mat                    4   0.000000  0.000000  0.000449   0.000000  0.000000  0.000449   0.00e+00</a:t>
            </a:r>
          </a:p>
          <a:p>
            <a:r>
              <a:rPr lang="en-NL" dirty="0"/>
              <a:t>  T7_X_antisym_Y_sweep.mat                     4   0.000040  0.000036  0.000393   0.000040  0.000036  0.000393   0.00e+00</a:t>
            </a:r>
          </a:p>
          <a:p>
            <a:r>
              <a:rPr lang="en-NL" dirty="0"/>
              <a:t>  T8_X_sym_anti_Y_sweep.mat                    4   0.000239  0.000245  0.000232   0.000239  0.000245  0.000232   0.00e+00</a:t>
            </a:r>
          </a:p>
          <a:p>
            <a:r>
              <a:rPr lang="en-NL" dirty="0"/>
              <a:t>  V1_X_sym_Y_mid_sweep.mat                     4   0.000306  0.000298  0.000263   0.000306  0.000298  0.000263   0.00e+00</a:t>
            </a:r>
          </a:p>
          <a:p>
            <a:r>
              <a:rPr lang="en-NL" dirty="0"/>
              <a:t>  E1_X_sym_anti_Y_low_offset_sweep.mat         4   0.000298  0.000297  0.000195   0.000298  0.000297  0.000195   0.00e+00</a:t>
            </a:r>
          </a:p>
          <a:p>
            <a:endParaRPr lang="en-NL" dirty="0"/>
          </a:p>
          <a:p>
            <a:r>
              <a:rPr lang="en-NL" dirty="0"/>
              <a:t>======================================================================</a:t>
            </a:r>
          </a:p>
          <a:p>
            <a:r>
              <a:rPr lang="en-NL" dirty="0"/>
              <a:t>SUMMARY</a:t>
            </a:r>
          </a:p>
          <a:p>
            <a:r>
              <a:rPr lang="en-NL" dirty="0"/>
              <a:t>======================================================================</a:t>
            </a:r>
          </a:p>
          <a:p>
            <a:r>
              <a:rPr lang="en-NL" dirty="0"/>
              <a:t>  Overall mean RMS per channel (Config A, physics only):</a:t>
            </a:r>
          </a:p>
          <a:p>
            <a:r>
              <a:rPr lang="en-NL" dirty="0"/>
              <a:t>    X1: 0.000235 m    X2: 0.000231 m    Y: 0.000219 m</a:t>
            </a:r>
          </a:p>
          <a:p>
            <a:r>
              <a:rPr lang="en-NL" dirty="0"/>
              <a:t>  Overall mean RMS per channel (Config B, physics + inert ANN):</a:t>
            </a:r>
          </a:p>
          <a:p>
            <a:r>
              <a:rPr lang="en-NL" dirty="0"/>
              <a:t>    X1: 0.000235 m    X2: 0.000231 m    Y: 0.000219 m</a:t>
            </a:r>
          </a:p>
          <a:p>
            <a:endParaRPr lang="en-NL" dirty="0"/>
          </a:p>
          <a:p>
            <a:r>
              <a:rPr lang="en-NL" dirty="0"/>
              <a:t>  Max </a:t>
            </a:r>
            <a:r>
              <a:rPr lang="en-NL" dirty="0" err="1"/>
              <a:t>A-vs</a:t>
            </a:r>
            <a:r>
              <a:rPr lang="en-NL" dirty="0"/>
              <a:t>-B difference: 0.00e+00 m</a:t>
            </a:r>
          </a:p>
          <a:p>
            <a:r>
              <a:rPr lang="en-NL" dirty="0"/>
              <a:t>  PASS: Config A and B are identical (ANN is truly inert)</a:t>
            </a:r>
          </a:p>
          <a:p>
            <a:endParaRPr lang="en-NL" dirty="0"/>
          </a:p>
          <a:p>
            <a:r>
              <a:rPr lang="en-NL" dirty="0"/>
              <a:t>  Expected range: ~1e-04 m per channel (from MATLAB MSD comparison)</a:t>
            </a:r>
          </a:p>
          <a:p>
            <a:r>
              <a:rPr lang="en-NL" dirty="0"/>
              <a:t>    X1: 2.35e-04 m = 2.4x target</a:t>
            </a:r>
          </a:p>
          <a:p>
            <a:r>
              <a:rPr lang="en-NL" dirty="0"/>
              <a:t>    X2: 2.31e-04 m = 2.3x target</a:t>
            </a:r>
          </a:p>
          <a:p>
            <a:r>
              <a:rPr lang="en-NL" dirty="0"/>
              <a:t>    Y: 2.19e-04 m = 2.2x target</a:t>
            </a:r>
          </a:p>
        </p:txBody>
      </p:sp>
    </p:spTree>
    <p:extLst>
      <p:ext uri="{BB962C8B-B14F-4D97-AF65-F5344CB8AC3E}">
        <p14:creationId xmlns:p14="http://schemas.microsoft.com/office/powerpoint/2010/main" val="24906285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ADD8F-0B5D-EC51-9134-38505752D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FB862-840B-D266-F7FD-BC5190F9F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the encoder keep improving with the ANN for estimation of the additional states (Augmentation)…?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264017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41A77-BB99-94F1-E985-F9E060539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5E501-7144-67B2-7E26-D0B159BD9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Float64 vs float32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305931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601F-9A89-2E61-6D02-481C7088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121F8-E722-A11D-3E39-ADF5EB8E2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ACF6E-3EA3-4BBE-8DE6-505EDD98D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091" y="658967"/>
            <a:ext cx="7869582" cy="55400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82DCF0-4E24-AF97-B00A-66CF7BEAE403}"/>
              </a:ext>
            </a:extLst>
          </p:cNvPr>
          <p:cNvSpPr txBox="1"/>
          <p:nvPr/>
        </p:nvSpPr>
        <p:spPr>
          <a:xfrm>
            <a:off x="6638658" y="2964532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The selection matrix at the output block is a separate,</a:t>
            </a:r>
          </a:p>
          <a:p>
            <a:r>
              <a:rPr lang="en-NL" dirty="0"/>
              <a:t>  independent choice: do augmented states appear in the</a:t>
            </a:r>
          </a:p>
          <a:p>
            <a:r>
              <a:rPr lang="en-NL" dirty="0"/>
              <a:t>  observation equation? You could have parallel augmentation</a:t>
            </a:r>
          </a:p>
          <a:p>
            <a:r>
              <a:rPr lang="en-NL" dirty="0"/>
              <a:t>  where augmented states do appear in the output (extend C to</a:t>
            </a:r>
          </a:p>
          <a:p>
            <a:r>
              <a:rPr lang="en-NL" dirty="0"/>
              <a:t>  include columns for </a:t>
            </a:r>
            <a:r>
              <a:rPr lang="en-NL" dirty="0" err="1"/>
              <a:t>x_ann</a:t>
            </a:r>
            <a:r>
              <a:rPr lang="en-NL" dirty="0"/>
              <a:t>), or where they don't (current</a:t>
            </a:r>
          </a:p>
          <a:p>
            <a:r>
              <a:rPr lang="en-NL" dirty="0"/>
              <a:t>  setup). Either way it's still parallel, because the defining</a:t>
            </a:r>
          </a:p>
          <a:p>
            <a:r>
              <a:rPr lang="en-NL" dirty="0"/>
              <a:t>   feature is the additive state update, not what the output</a:t>
            </a:r>
          </a:p>
          <a:p>
            <a:r>
              <a:rPr lang="en-NL" dirty="0"/>
              <a:t>  block sees.</a:t>
            </a:r>
          </a:p>
        </p:txBody>
      </p:sp>
    </p:spTree>
    <p:extLst>
      <p:ext uri="{BB962C8B-B14F-4D97-AF65-F5344CB8AC3E}">
        <p14:creationId xmlns:p14="http://schemas.microsoft.com/office/powerpoint/2010/main" val="39063425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5CBDD-760C-8E10-6BAC-8D34A9DA8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071A4-60BA-09EF-AA6B-E2DFDED9C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Analytical baseline</a:t>
            </a:r>
          </a:p>
          <a:p>
            <a:r>
              <a:rPr lang="en-US" dirty="0"/>
              <a:t>Problem encoder</a:t>
            </a:r>
          </a:p>
          <a:p>
            <a:pPr lvl="1"/>
            <a:r>
              <a:rPr lang="en-US" dirty="0"/>
              <a:t>Hybrid encoder</a:t>
            </a:r>
          </a:p>
          <a:p>
            <a:r>
              <a:rPr lang="en-US" dirty="0" err="1"/>
              <a:t>Multisine</a:t>
            </a:r>
            <a:r>
              <a:rPr lang="en-US" dirty="0"/>
              <a:t>?</a:t>
            </a:r>
          </a:p>
          <a:p>
            <a:r>
              <a:rPr lang="en-US" dirty="0" err="1"/>
              <a:t>Downsampling</a:t>
            </a:r>
            <a:endParaRPr lang="en-US" dirty="0"/>
          </a:p>
          <a:p>
            <a:r>
              <a:rPr lang="en-US" dirty="0"/>
              <a:t>NF NA_NB</a:t>
            </a:r>
          </a:p>
          <a:p>
            <a:r>
              <a:rPr lang="en-US" dirty="0"/>
              <a:t>How did I implement the current structure</a:t>
            </a:r>
          </a:p>
          <a:p>
            <a:r>
              <a:rPr lang="en-US" dirty="0"/>
              <a:t>PLANNING UPDATE…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79890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5631-8A8A-211B-55AD-365E7E2BB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9F3C9-CFF5-E1E8-600F-59B6AD235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5EF456-68B5-8D6D-274F-09F52AE26A8B}"/>
              </a:ext>
            </a:extLst>
          </p:cNvPr>
          <p:cNvSpPr txBox="1"/>
          <p:nvPr/>
        </p:nvSpPr>
        <p:spPr>
          <a:xfrm>
            <a:off x="3048000" y="-3680638"/>
            <a:ext cx="6096000" cy="1421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Good results. Let me address your questions.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The </a:t>
            </a:r>
            <a:r>
              <a:rPr lang="en-NL" dirty="0" err="1"/>
              <a:t>dlyap</a:t>
            </a:r>
            <a:r>
              <a:rPr lang="en-NL" dirty="0"/>
              <a:t> error: Two eigenvalues are exactly at z=1.0 (the integrator modes, X and Y rigid-body translation with zero stiffness). The discrete      </a:t>
            </a:r>
          </a:p>
          <a:p>
            <a:r>
              <a:rPr lang="en-NL" dirty="0"/>
              <a:t>  Lyapunov equation requires all eigenvalues strictly inside the unit circle. Not a bug in the script, just a property of the system. We can either   </a:t>
            </a:r>
          </a:p>
          <a:p>
            <a:r>
              <a:rPr lang="en-NL" dirty="0"/>
              <a:t>  skip the </a:t>
            </a:r>
            <a:r>
              <a:rPr lang="en-NL" dirty="0" err="1"/>
              <a:t>Gramian</a:t>
            </a:r>
            <a:r>
              <a:rPr lang="en-NL" dirty="0"/>
              <a:t> or stabilize those modes with a tiny damping. But honestly, the PBH test and per-mode observability already give us what we need.  </a:t>
            </a:r>
          </a:p>
          <a:p>
            <a:r>
              <a:rPr lang="en-NL" dirty="0"/>
              <a:t>  The </a:t>
            </a:r>
            <a:r>
              <a:rPr lang="en-NL" dirty="0" err="1"/>
              <a:t>Gramian</a:t>
            </a:r>
            <a:r>
              <a:rPr lang="en-NL" dirty="0"/>
              <a:t> is redundant here.                                                                                                                   </a:t>
            </a:r>
          </a:p>
          <a:p>
            <a:endParaRPr lang="en-NL" dirty="0"/>
          </a:p>
          <a:p>
            <a:r>
              <a:rPr lang="en-NL" dirty="0"/>
              <a:t>  Is the method clean for deriving fs, </a:t>
            </a:r>
            <a:r>
              <a:rPr lang="en-NL" dirty="0" err="1"/>
              <a:t>nf</a:t>
            </a:r>
            <a:r>
              <a:rPr lang="en-NL" dirty="0"/>
              <a:t>, </a:t>
            </a:r>
            <a:r>
              <a:rPr lang="en-NL" dirty="0" err="1"/>
              <a:t>na_nb</a:t>
            </a:r>
            <a:r>
              <a:rPr lang="en-NL" dirty="0"/>
              <a:t>?</a:t>
            </a:r>
          </a:p>
          <a:p>
            <a:endParaRPr lang="en-NL" dirty="0"/>
          </a:p>
          <a:p>
            <a:r>
              <a:rPr lang="en-NL" dirty="0"/>
              <a:t>  It's correct but overcomplicated. Here's what the eigenvalue table already tells us in plain language:</a:t>
            </a:r>
          </a:p>
          <a:p>
            <a:endParaRPr lang="en-NL" dirty="0"/>
          </a:p>
          <a:p>
            <a:r>
              <a:rPr lang="en-NL" dirty="0"/>
              <a:t>  - fs: Fastest mode is MSD at 158 Hz. Nyquist says fs &gt; 316 Hz. With 10x RK4 sub-stepping that's the same bound. fs=4000 Hz is 12.7x oversampled.</a:t>
            </a:r>
          </a:p>
          <a:p>
            <a:r>
              <a:rPr lang="en-NL" dirty="0"/>
              <a:t>  Done.</a:t>
            </a:r>
          </a:p>
          <a:p>
            <a:r>
              <a:rPr lang="en-NL" dirty="0"/>
              <a:t>  - </a:t>
            </a:r>
            <a:r>
              <a:rPr lang="en-NL" dirty="0" err="1"/>
              <a:t>nf</a:t>
            </a:r>
            <a:r>
              <a:rPr lang="en-NL" dirty="0"/>
              <a:t>: MSD settling time is 95 </a:t>
            </a:r>
            <a:r>
              <a:rPr lang="en-NL" dirty="0" err="1"/>
              <a:t>ms</a:t>
            </a:r>
            <a:r>
              <a:rPr lang="en-NL" dirty="0"/>
              <a:t>. The loss needs to see at least one full ring-down. At 4000 Hz that's 382 samples. Current </a:t>
            </a:r>
            <a:r>
              <a:rPr lang="en-NL" dirty="0" err="1"/>
              <a:t>nf</a:t>
            </a:r>
            <a:r>
              <a:rPr lang="en-NL" dirty="0"/>
              <a:t>=1200 (300 </a:t>
            </a:r>
            <a:r>
              <a:rPr lang="en-NL" dirty="0" err="1"/>
              <a:t>ms</a:t>
            </a:r>
            <a:r>
              <a:rPr lang="en-NL" dirty="0"/>
              <a:t>) is 3x</a:t>
            </a:r>
          </a:p>
          <a:p>
            <a:r>
              <a:rPr lang="en-NL" dirty="0"/>
              <a:t>  more than needed. Done.</a:t>
            </a:r>
          </a:p>
          <a:p>
            <a:r>
              <a:rPr lang="en-NL" dirty="0"/>
              <a:t>  - </a:t>
            </a:r>
            <a:r>
              <a:rPr lang="en-NL" dirty="0" err="1"/>
              <a:t>na_nb</a:t>
            </a:r>
            <a:r>
              <a:rPr lang="en-NL" dirty="0"/>
              <a:t>: MSD period is 6.3 </a:t>
            </a:r>
            <a:r>
              <a:rPr lang="en-NL" dirty="0" err="1"/>
              <a:t>ms</a:t>
            </a:r>
            <a:r>
              <a:rPr lang="en-NL" dirty="0"/>
              <a:t>. The encoder needs to see at least a couple of oscillation cycles to estimate phase and amplitude. Two periods = 12.8</a:t>
            </a:r>
          </a:p>
          <a:p>
            <a:r>
              <a:rPr lang="en-NL" dirty="0"/>
              <a:t>  </a:t>
            </a:r>
            <a:r>
              <a:rPr lang="en-NL" dirty="0" err="1"/>
              <a:t>ms</a:t>
            </a:r>
            <a:r>
              <a:rPr lang="en-NL" dirty="0"/>
              <a:t> = 51 samples. Current </a:t>
            </a:r>
            <a:r>
              <a:rPr lang="en-NL" dirty="0" err="1"/>
              <a:t>na_nb</a:t>
            </a:r>
            <a:r>
              <a:rPr lang="en-NL" dirty="0"/>
              <a:t>=400 (100 </a:t>
            </a:r>
            <a:r>
              <a:rPr lang="en-NL" dirty="0" err="1"/>
              <a:t>ms</a:t>
            </a:r>
            <a:r>
              <a:rPr lang="en-NL" dirty="0"/>
              <a:t>) is 8x more than the minimum. Done.</a:t>
            </a:r>
          </a:p>
          <a:p>
            <a:endParaRPr lang="en-NL" dirty="0"/>
          </a:p>
          <a:p>
            <a:r>
              <a:rPr lang="en-NL" dirty="0"/>
              <a:t>  That's it. Three numbers from </a:t>
            </a:r>
            <a:r>
              <a:rPr lang="en-NL" dirty="0" err="1"/>
              <a:t>eig</a:t>
            </a:r>
            <a:r>
              <a:rPr lang="en-NL" dirty="0"/>
              <a:t>(</a:t>
            </a:r>
            <a:r>
              <a:rPr lang="en-NL" dirty="0" err="1"/>
              <a:t>A_c</a:t>
            </a:r>
            <a:r>
              <a:rPr lang="en-NL" dirty="0"/>
              <a:t>). The FRF and observability sections answer different questions (is the MSD visible? can it be observed?) but</a:t>
            </a:r>
          </a:p>
          <a:p>
            <a:r>
              <a:rPr lang="en-NL" dirty="0"/>
              <a:t>  they don't change the hyperparameter derivation. They're useful context for interpreting training results later, but for the hyperparameter</a:t>
            </a:r>
          </a:p>
          <a:p>
            <a:r>
              <a:rPr lang="en-NL" dirty="0"/>
              <a:t>  justification itself, Section 1 alone is sufficient.</a:t>
            </a:r>
          </a:p>
          <a:p>
            <a:endParaRPr lang="en-NL" dirty="0"/>
          </a:p>
          <a:p>
            <a:r>
              <a:rPr lang="en-NL" dirty="0"/>
              <a:t>  The simpler version: eigenvalues give natural frequencies and time constants. Natural frequencies set fs. Settling time sets </a:t>
            </a:r>
            <a:r>
              <a:rPr lang="en-NL" dirty="0" err="1"/>
              <a:t>nf</a:t>
            </a:r>
            <a:r>
              <a:rPr lang="en-NL" dirty="0"/>
              <a:t>. Oscillation period</a:t>
            </a:r>
          </a:p>
          <a:p>
            <a:r>
              <a:rPr lang="en-NL" dirty="0"/>
              <a:t>  sets </a:t>
            </a:r>
            <a:r>
              <a:rPr lang="en-NL" dirty="0" err="1"/>
              <a:t>na_nb</a:t>
            </a:r>
            <a:r>
              <a:rPr lang="en-NL" dirty="0"/>
              <a:t>. Three lines of reasoning, each one sentence. The rest (FRF, PBH, </a:t>
            </a:r>
            <a:r>
              <a:rPr lang="en-NL" dirty="0" err="1"/>
              <a:t>Gramian</a:t>
            </a:r>
            <a:r>
              <a:rPr lang="en-NL" dirty="0"/>
              <a:t>) is supporting evidence for the thesis, not for hyperparameter</a:t>
            </a:r>
          </a:p>
          <a:p>
            <a:r>
              <a:rPr lang="en-NL" dirty="0"/>
              <a:t>  selection.</a:t>
            </a:r>
          </a:p>
          <a:p>
            <a:endParaRPr lang="en-NL" dirty="0"/>
          </a:p>
          <a:p>
            <a:r>
              <a:rPr lang="en-NL" dirty="0"/>
              <a:t>  Do you want me to trim the script to just the eigenvalue section + summary, and keep the FRF/observability as a separate diagnostic?</a:t>
            </a:r>
          </a:p>
        </p:txBody>
      </p:sp>
    </p:spTree>
    <p:extLst>
      <p:ext uri="{BB962C8B-B14F-4D97-AF65-F5344CB8AC3E}">
        <p14:creationId xmlns:p14="http://schemas.microsoft.com/office/powerpoint/2010/main" val="42280329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A78DD-D214-EF8A-C068-70124C51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718F3-3FF1-6BB5-D508-AC8760090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Structure used for augmentation for gantry and how copied from ECC, </a:t>
            </a:r>
            <a:r>
              <a:rPr lang="en-US" dirty="0" err="1"/>
              <a:t>jan</a:t>
            </a:r>
            <a:r>
              <a:rPr lang="en-US" dirty="0"/>
              <a:t> also gave a rk4 method we copied. For LPV we just use nonlinear, how does it work. I want to show the blocks we use and why, given our model struct.</a:t>
            </a:r>
          </a:p>
          <a:p>
            <a:pPr lvl="1"/>
            <a:r>
              <a:rPr lang="en-US" dirty="0"/>
              <a:t>RK4</a:t>
            </a:r>
          </a:p>
          <a:p>
            <a:pPr lvl="1"/>
            <a:r>
              <a:rPr lang="en-US" dirty="0"/>
              <a:t>Also explain normalization due to physics model </a:t>
            </a:r>
            <a:r>
              <a:rPr lang="en-US" dirty="0" err="1"/>
              <a:t>etc</a:t>
            </a:r>
            <a:r>
              <a:rPr lang="en-US" dirty="0"/>
              <a:t>, so </a:t>
            </a:r>
            <a:r>
              <a:rPr lang="en-US" dirty="0" err="1"/>
              <a:t>denormalize</a:t>
            </a:r>
            <a:r>
              <a:rPr lang="en-US" dirty="0"/>
              <a:t>, does Jan do this..?</a:t>
            </a:r>
          </a:p>
          <a:p>
            <a:r>
              <a:rPr lang="en-US" dirty="0"/>
              <a:t>Determine </a:t>
            </a:r>
            <a:r>
              <a:rPr lang="en-US" dirty="0" err="1"/>
              <a:t>downsampling</a:t>
            </a:r>
            <a:r>
              <a:rPr lang="en-US" dirty="0"/>
              <a:t>, </a:t>
            </a:r>
            <a:r>
              <a:rPr lang="en-US" dirty="0" err="1"/>
              <a:t>nf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nb</a:t>
            </a:r>
            <a:r>
              <a:rPr lang="en-US" dirty="0"/>
              <a:t>, rk4 steps</a:t>
            </a:r>
          </a:p>
          <a:p>
            <a:r>
              <a:rPr lang="en-US" dirty="0"/>
              <a:t>Encoder cant compete with analytical baseline</a:t>
            </a:r>
          </a:p>
          <a:p>
            <a:pPr lvl="1"/>
            <a:r>
              <a:rPr lang="en-US" dirty="0"/>
              <a:t>Hybrid encoder?</a:t>
            </a:r>
          </a:p>
          <a:p>
            <a:pPr lvl="1"/>
            <a:r>
              <a:rPr lang="en-US" dirty="0" err="1"/>
              <a:t>Analytisch</a:t>
            </a:r>
            <a:r>
              <a:rPr lang="en-US" dirty="0"/>
              <a:t> laten </a:t>
            </a:r>
            <a:r>
              <a:rPr lang="en-US" dirty="0" err="1"/>
              <a:t>zien</a:t>
            </a:r>
            <a:r>
              <a:rPr lang="en-US" dirty="0"/>
              <a:t>, cant beat that… for augmented system</a:t>
            </a:r>
          </a:p>
          <a:p>
            <a:r>
              <a:rPr lang="en-US" dirty="0"/>
              <a:t>Data not informative enough? Added </a:t>
            </a:r>
            <a:r>
              <a:rPr lang="en-US" dirty="0" err="1"/>
              <a:t>multisine</a:t>
            </a:r>
            <a:r>
              <a:rPr lang="en-US" dirty="0"/>
              <a:t> as solution</a:t>
            </a:r>
          </a:p>
          <a:p>
            <a:endParaRPr lang="en-US" dirty="0"/>
          </a:p>
          <a:p>
            <a:r>
              <a:rPr lang="en-US" dirty="0"/>
              <a:t>Look at gantry_test_diagnose_default_encoder_65974.out!!</a:t>
            </a:r>
          </a:p>
          <a:p>
            <a:r>
              <a:rPr lang="en-US" dirty="0"/>
              <a:t>Laten </a:t>
            </a:r>
            <a:r>
              <a:rPr lang="en-US" dirty="0" err="1"/>
              <a:t>zien</a:t>
            </a:r>
            <a:r>
              <a:rPr lang="en-US" dirty="0"/>
              <a:t> met MSD informative enough… of </a:t>
            </a:r>
            <a:r>
              <a:rPr lang="en-US" dirty="0" err="1"/>
              <a:t>ene</a:t>
            </a:r>
            <a:r>
              <a:rPr lang="en-US" dirty="0"/>
              <a:t> plot mismatch al??</a:t>
            </a:r>
          </a:p>
          <a:p>
            <a:endParaRPr lang="en-US" dirty="0"/>
          </a:p>
          <a:p>
            <a:r>
              <a:rPr lang="en-US" dirty="0"/>
              <a:t>Trajectories laten </a:t>
            </a:r>
            <a:r>
              <a:rPr lang="en-US" dirty="0" err="1"/>
              <a:t>zien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ook</a:t>
            </a:r>
            <a:r>
              <a:rPr lang="en-US" dirty="0"/>
              <a:t> met </a:t>
            </a:r>
            <a:r>
              <a:rPr lang="en-US" dirty="0" err="1"/>
              <a:t>multisine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433634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CA5E-DE7F-EEE8-2F5F-739610A4F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structure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2BF38-7FD7-C320-3F1B-D2597FAAC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x(k+1) = </a:t>
            </a:r>
            <a:r>
              <a:rPr lang="en-US" dirty="0" err="1"/>
              <a:t>f_phys</a:t>
            </a:r>
            <a:r>
              <a:rPr lang="en-US" dirty="0"/>
              <a:t>(</a:t>
            </a:r>
            <a:r>
              <a:rPr lang="en-US" dirty="0" err="1"/>
              <a:t>x_phys</a:t>
            </a:r>
            <a:r>
              <a:rPr lang="en-US" dirty="0"/>
              <a:t>, u) + </a:t>
            </a:r>
            <a:r>
              <a:rPr lang="en-US" dirty="0" err="1"/>
              <a:t>f_NN</a:t>
            </a:r>
            <a:r>
              <a:rPr lang="en-US" dirty="0"/>
              <a:t>(x, u)</a:t>
            </a:r>
          </a:p>
          <a:p>
            <a:pPr lvl="1"/>
            <a:r>
              <a:rPr lang="en-US" dirty="0"/>
              <a:t> x is the full 8-dimensional state vector (6 physical + 2 augmented)                                                                       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x_phys</a:t>
            </a:r>
            <a:r>
              <a:rPr lang="en-US" dirty="0"/>
              <a:t> is the first 6 entries of x (just the physical states, selected via S) </a:t>
            </a:r>
          </a:p>
          <a:p>
            <a:r>
              <a:rPr lang="en-US" dirty="0"/>
              <a:t>Physics block: known LPV gantry model (fixed, not trained)</a:t>
            </a:r>
          </a:p>
          <a:p>
            <a:r>
              <a:rPr lang="en-US" dirty="0"/>
              <a:t>NN correction: feedforward network, zero-</a:t>
            </a:r>
            <a:r>
              <a:rPr lang="en-US" dirty="0" err="1"/>
              <a:t>initialised</a:t>
            </a:r>
            <a:r>
              <a:rPr lang="en-US" dirty="0"/>
              <a:t> (starts as pure physics)</a:t>
            </a:r>
          </a:p>
          <a:p>
            <a:r>
              <a:rPr lang="en-US" dirty="0"/>
              <a:t> State = 6 physical + 2 augmented </a:t>
            </a:r>
          </a:p>
          <a:p>
            <a:r>
              <a:rPr lang="en-US" dirty="0"/>
              <a:t>Output: y = C </a:t>
            </a:r>
            <a:r>
              <a:rPr lang="en-US" dirty="0" err="1"/>
              <a:t>x_phys</a:t>
            </a:r>
            <a:r>
              <a:rPr lang="en-US" dirty="0"/>
              <a:t> + D u (known, not trained)</a:t>
            </a:r>
          </a:p>
        </p:txBody>
      </p:sp>
    </p:spTree>
    <p:extLst>
      <p:ext uri="{BB962C8B-B14F-4D97-AF65-F5344CB8AC3E}">
        <p14:creationId xmlns:p14="http://schemas.microsoft.com/office/powerpoint/2010/main" val="12505175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89EEE-D863-8A54-348F-83BFED3D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justification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E0E97-2F38-A1AF-6914-7295B783C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FRF</a:t>
            </a:r>
          </a:p>
          <a:p>
            <a:r>
              <a:rPr lang="en-US" dirty="0"/>
              <a:t>Chosen parameters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668355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B2F87-CC34-70B3-8F68-A3DBCB6A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E9408-0C1A-777C-DEA3-6812ECA14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A483A-DEB6-EE3C-9880-DF2C9B2A6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6FDF8C-9B2A-CAE5-B4F0-ADD5BE8DF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442"/>
            <a:ext cx="12192000" cy="573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187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07475-08E3-DE4E-EDF4-48409D66B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B2F9-68BB-A95E-AC1D-13E83D26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D117C-8A78-F803-3959-3BA571B71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7C696A-E39D-B675-0B71-315AF3543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9246"/>
            <a:ext cx="12192000" cy="579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0386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FCE61-A088-03F6-98F6-9E941A713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9A80-AB36-EA02-9CA8-21D46E243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justification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D774A-D802-3B4B-60C9-F9051001F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472D3-0BA1-E2E6-8C35-FC2ADC6A0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379" y="1310640"/>
            <a:ext cx="8955170" cy="518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9033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A8B2F-D438-20FA-82BD-CC784961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encoder?                                          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384A6-4578-0B30-A7C3-C24BB3E72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neural network that maps past I/O history (</a:t>
            </a:r>
            <a:r>
              <a:rPr lang="en-US" dirty="0" err="1"/>
              <a:t>u_past</a:t>
            </a:r>
            <a:r>
              <a:rPr lang="en-US" dirty="0"/>
              <a:t>, </a:t>
            </a:r>
            <a:r>
              <a:rPr lang="en-US" dirty="0" err="1"/>
              <a:t>y_past</a:t>
            </a:r>
            <a:r>
              <a:rPr lang="en-US" dirty="0"/>
              <a:t>) to an initial state x0                                         </a:t>
            </a:r>
          </a:p>
          <a:p>
            <a:r>
              <a:rPr lang="en-US" dirty="0"/>
              <a:t>x0 contains both physical states (positions, velocities) and</a:t>
            </a:r>
          </a:p>
          <a:p>
            <a:pPr marL="0" indent="0">
              <a:buNone/>
            </a:pPr>
            <a:r>
              <a:rPr lang="en-US" dirty="0"/>
              <a:t>  ANN augmentation states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124196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D979-B7A7-2D1A-461E-5760034DE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it?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2C362-C878-ADF8-565F-803ECB886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BPTT training rolls out the model for </a:t>
            </a:r>
            <a:r>
              <a:rPr lang="en-US" dirty="0" err="1"/>
              <a:t>i</a:t>
            </a:r>
            <a:r>
              <a:rPr lang="en-US" dirty="0"/>
              <a:t>-amount of steps from an initial state x0, but we only measure outputs (positions), not the full state</a:t>
            </a:r>
          </a:p>
          <a:p>
            <a:r>
              <a:rPr lang="en-US" dirty="0"/>
              <a:t>Analytical alternative positions from measurements, velocities from finite differences, ANN states = 0</a:t>
            </a:r>
          </a:p>
          <a:p>
            <a:r>
              <a:rPr lang="en-US" dirty="0"/>
              <a:t>ANN augmentation states have no physical meaning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665594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1371B-B02A-6E17-5726-B381CB574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encoder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A0004-DAE6-BD80-CCC1-E4F440264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Baseline encoder couldn’t outperform analytical baseline for data with MSD</a:t>
            </a:r>
          </a:p>
          <a:p>
            <a:pPr lvl="1"/>
            <a:r>
              <a:rPr lang="en-US" dirty="0"/>
              <a:t>Analytical baseline compute positions and velocities directly from output data</a:t>
            </a:r>
          </a:p>
          <a:p>
            <a:r>
              <a:rPr lang="en-US" dirty="0"/>
              <a:t>What the hybrid encoder does:</a:t>
            </a:r>
          </a:p>
          <a:p>
            <a:pPr lvl="1"/>
            <a:r>
              <a:rPr lang="en-US" dirty="0"/>
              <a:t>Splits the job in two:</a:t>
            </a:r>
          </a:p>
          <a:p>
            <a:pPr lvl="2"/>
            <a:r>
              <a:rPr lang="en-US" dirty="0"/>
              <a:t> Physical states (x_{1:6}): computed analytically. Detached from the computation graph so no gradients flow through them</a:t>
            </a:r>
          </a:p>
          <a:p>
            <a:pPr lvl="2"/>
            <a:r>
              <a:rPr lang="en-US" dirty="0"/>
              <a:t> Augmented states (x_{7:8}): a small zero-</a:t>
            </a:r>
            <a:r>
              <a:rPr lang="en-US" dirty="0" err="1"/>
              <a:t>init</a:t>
            </a:r>
            <a:r>
              <a:rPr lang="en-US" dirty="0"/>
              <a:t> ANN learns these from the same past window</a:t>
            </a:r>
          </a:p>
          <a:p>
            <a:r>
              <a:rPr lang="en-US" dirty="0"/>
              <a:t>Trajectories not informative enough? </a:t>
            </a:r>
            <a:r>
              <a:rPr lang="en-US" dirty="0">
                <a:sym typeface="Wingdings" panose="05000000000000000000" pitchFamily="2" charset="2"/>
              </a:rPr>
              <a:t> added </a:t>
            </a:r>
            <a:r>
              <a:rPr lang="en-US" dirty="0" err="1">
                <a:sym typeface="Wingdings" panose="05000000000000000000" pitchFamily="2" charset="2"/>
              </a:rPr>
              <a:t>multisine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2581190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B99C3-6B73-8762-15C1-C366A5D1A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D5E04-74B5-A837-4A80-8A5430452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encoder + </a:t>
            </a:r>
            <a:r>
              <a:rPr lang="en-US" dirty="0" err="1"/>
              <a:t>Multisine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26948-5FFD-5B9D-70A0-B65F00054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Baseline encoder couldn’t outperform analytical baseline for data with MSD</a:t>
            </a:r>
          </a:p>
          <a:p>
            <a:pPr lvl="1"/>
            <a:r>
              <a:rPr lang="en-US" dirty="0"/>
              <a:t>Analytical baseline compute positions and velocities directly from output data</a:t>
            </a:r>
          </a:p>
          <a:p>
            <a:r>
              <a:rPr lang="en-US" dirty="0"/>
              <a:t>What the hybrid encoder does:</a:t>
            </a:r>
          </a:p>
          <a:p>
            <a:pPr lvl="1"/>
            <a:r>
              <a:rPr lang="en-US" dirty="0"/>
              <a:t>Splits the job in two:</a:t>
            </a:r>
          </a:p>
          <a:p>
            <a:pPr lvl="2"/>
            <a:r>
              <a:rPr lang="en-US" dirty="0"/>
              <a:t> Physical states (x_{1:6}): computed analytically. Detached from the computation graph so no gradients flow through them</a:t>
            </a:r>
          </a:p>
          <a:p>
            <a:pPr lvl="2"/>
            <a:r>
              <a:rPr lang="en-US" dirty="0"/>
              <a:t> Augmented states (x_{7:8}): a small zero-</a:t>
            </a:r>
            <a:r>
              <a:rPr lang="en-US" dirty="0" err="1"/>
              <a:t>init</a:t>
            </a:r>
            <a:r>
              <a:rPr lang="en-US" dirty="0"/>
              <a:t> ANN learns these from the same past window</a:t>
            </a:r>
          </a:p>
          <a:p>
            <a:r>
              <a:rPr lang="en-US" dirty="0"/>
              <a:t>Even with hybrid encoder good initialization but did not learn </a:t>
            </a:r>
            <a:r>
              <a:rPr lang="en-US" dirty="0">
                <a:sym typeface="Wingdings" panose="05000000000000000000" pitchFamily="2" charset="2"/>
              </a:rPr>
              <a:t> data</a:t>
            </a:r>
            <a:r>
              <a:rPr lang="en-US" dirty="0"/>
              <a:t> not informative enough? </a:t>
            </a:r>
            <a:r>
              <a:rPr lang="en-US" dirty="0">
                <a:sym typeface="Wingdings" panose="05000000000000000000" pitchFamily="2" charset="2"/>
              </a:rPr>
              <a:t> added </a:t>
            </a:r>
            <a:r>
              <a:rPr lang="en-US" dirty="0" err="1">
                <a:sym typeface="Wingdings" panose="05000000000000000000" pitchFamily="2" charset="2"/>
              </a:rPr>
              <a:t>multisine</a:t>
            </a:r>
            <a:r>
              <a:rPr lang="en-US" dirty="0">
                <a:sym typeface="Wingdings" panose="05000000000000000000" pitchFamily="2" charset="2"/>
              </a:rPr>
              <a:t> to trajectories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0826405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701F5-D007-5EB1-A2CA-CBF95CD48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DE7C7-3D47-78EF-A343-5A341127E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DE012-473C-2BC7-F158-0FF76364F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616"/>
            <a:ext cx="12192000" cy="655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011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0B622-91F5-FC4E-071D-86024B940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4C8CC-2B20-A313-C373-5B75118CA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8602" y="1764665"/>
            <a:ext cx="3216797" cy="4351338"/>
          </a:xfrm>
        </p:spPr>
        <p:txBody>
          <a:bodyPr/>
          <a:lstStyle/>
          <a:p>
            <a:r>
              <a:rPr lang="en-US" dirty="0"/>
              <a:t>Analytical baseline order of magnitude e^-5 RMS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7FE0D4-EA0B-A666-9032-3D476F38A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125"/>
            <a:ext cx="9363919" cy="62426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ED8309-553D-9BDE-A44E-1E81EAD19BC0}"/>
              </a:ext>
            </a:extLst>
          </p:cNvPr>
          <p:cNvSpPr txBox="1"/>
          <p:nvPr/>
        </p:nvSpPr>
        <p:spPr>
          <a:xfrm>
            <a:off x="5303520" y="2939534"/>
            <a:ext cx="636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0.003563 RMS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9380-802A-2120-18F2-FE3440C543C2}"/>
              </a:ext>
            </a:extLst>
          </p:cNvPr>
          <p:cNvSpPr txBox="1"/>
          <p:nvPr/>
        </p:nvSpPr>
        <p:spPr>
          <a:xfrm>
            <a:off x="528320" y="2970791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0.123539 RMS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3AD40C-BE2C-C163-8ADB-B09665B6F54E}"/>
              </a:ext>
            </a:extLst>
          </p:cNvPr>
          <p:cNvSpPr txBox="1"/>
          <p:nvPr/>
        </p:nvSpPr>
        <p:spPr>
          <a:xfrm>
            <a:off x="629920" y="5729866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0.045276 RMS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17A2CD-DBF5-BA39-F777-61D5B2581DF2}"/>
              </a:ext>
            </a:extLst>
          </p:cNvPr>
          <p:cNvSpPr txBox="1"/>
          <p:nvPr/>
        </p:nvSpPr>
        <p:spPr>
          <a:xfrm>
            <a:off x="5303520" y="5762688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0.000068 RMS</a:t>
            </a:r>
          </a:p>
        </p:txBody>
      </p:sp>
    </p:spTree>
    <p:extLst>
      <p:ext uri="{BB962C8B-B14F-4D97-AF65-F5344CB8AC3E}">
        <p14:creationId xmlns:p14="http://schemas.microsoft.com/office/powerpoint/2010/main" val="6501896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04281-3DA0-E1DA-DF88-9293C5F57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C94E6-242A-445E-B4DA-8A28CC00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102AD-2110-0E10-35E2-1C476B0C6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Update planning</a:t>
            </a:r>
          </a:p>
          <a:p>
            <a:pPr lvl="1"/>
            <a:r>
              <a:rPr lang="en-US" dirty="0"/>
              <a:t>Complete planning</a:t>
            </a:r>
          </a:p>
          <a:p>
            <a:pPr lvl="1"/>
            <a:r>
              <a:rPr lang="en-US" dirty="0"/>
              <a:t>If possible add gantry experiments </a:t>
            </a:r>
          </a:p>
          <a:p>
            <a:r>
              <a:rPr lang="en-US" dirty="0"/>
              <a:t>Verify that with the real physical angle constraints we can still recover the parameters</a:t>
            </a:r>
          </a:p>
          <a:p>
            <a:r>
              <a:rPr lang="en-US" dirty="0"/>
              <a:t>Augmentation additional states</a:t>
            </a:r>
          </a:p>
          <a:p>
            <a:pPr lvl="1"/>
            <a:r>
              <a:rPr lang="en-US" dirty="0"/>
              <a:t>Low error</a:t>
            </a:r>
          </a:p>
        </p:txBody>
      </p:sp>
    </p:spTree>
    <p:extLst>
      <p:ext uri="{BB962C8B-B14F-4D97-AF65-F5344CB8AC3E}">
        <p14:creationId xmlns:p14="http://schemas.microsoft.com/office/powerpoint/2010/main" val="16441034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8700A-2832-214C-0636-A68D3F15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343EB-C319-46BE-FD21-BA551DEE7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14900-88EE-C9A2-0031-32E666292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F5D4D9-2173-638A-E6A6-E1EA77A67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19" y="0"/>
            <a:ext cx="114445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27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9959</TotalTime>
  <Words>4079</Words>
  <Application>Microsoft Office PowerPoint</Application>
  <PresentationFormat>Widescreen</PresentationFormat>
  <Paragraphs>415</Paragraphs>
  <Slides>76</Slides>
  <Notes>9</Notes>
  <HiddenSlides>49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1" baseType="lpstr">
      <vt:lpstr>Aptos</vt:lpstr>
      <vt:lpstr>Aptos Display</vt:lpstr>
      <vt:lpstr>Arial</vt:lpstr>
      <vt:lpstr>Wingdings</vt:lpstr>
      <vt:lpstr>Office Theme</vt:lpstr>
      <vt:lpstr>Meeting Week 19</vt:lpstr>
      <vt:lpstr>Last week summary</vt:lpstr>
      <vt:lpstr>PowerPoint Presentation</vt:lpstr>
      <vt:lpstr>PowerPoint Presentation</vt:lpstr>
      <vt:lpstr>Lagrange-Euler - Garcia</vt:lpstr>
      <vt:lpstr>Lagrange-Euler - Garcia</vt:lpstr>
      <vt:lpstr>Lagrange-Euler – Additional state</vt:lpstr>
      <vt:lpstr>Results verified against simscape</vt:lpstr>
      <vt:lpstr>Update: verify augmented model against simscape</vt:lpstr>
      <vt:lpstr>Correction simscape model Offset not properly connected</vt:lpstr>
      <vt:lpstr>PowerPoint Presentation</vt:lpstr>
      <vt:lpstr>PowerPoint Presentation</vt:lpstr>
      <vt:lpstr>Baseline vs augmented system</vt:lpstr>
      <vt:lpstr>PowerPoint Presentation</vt:lpstr>
      <vt:lpstr>PowerPoint Presentation</vt:lpstr>
      <vt:lpstr>PowerPoint Presentation</vt:lpstr>
      <vt:lpstr>PowerPoint Presentation</vt:lpstr>
      <vt:lpstr>Error between baseline and augmented</vt:lpstr>
      <vt:lpstr>PowerPoint Presentation</vt:lpstr>
      <vt:lpstr>Verify gantry model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Encoder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Lists problems to be careful for, for LPV</vt:lpstr>
      <vt:lpstr>Question 1</vt:lpstr>
      <vt:lpstr>Should I add the velocities as states?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do we evaluate it?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Baseline to compare encoder against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Augmentation structure</vt:lpstr>
      <vt:lpstr>Parameter justification</vt:lpstr>
      <vt:lpstr>PowerPoint Presentation</vt:lpstr>
      <vt:lpstr>PowerPoint Presentation</vt:lpstr>
      <vt:lpstr>Parameter justification</vt:lpstr>
      <vt:lpstr>What is the encoder?                                           </vt:lpstr>
      <vt:lpstr>Why do we need it?</vt:lpstr>
      <vt:lpstr>Hybrid encoder</vt:lpstr>
      <vt:lpstr>Hybrid encoder + Multisine</vt:lpstr>
      <vt:lpstr>PowerPoint Presentation</vt:lpstr>
      <vt:lpstr>PowerPoint Presentation</vt:lpstr>
      <vt:lpstr>Outline next week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2</cp:revision>
  <dcterms:created xsi:type="dcterms:W3CDTF">2026-02-02T15:14:22Z</dcterms:created>
  <dcterms:modified xsi:type="dcterms:W3CDTF">2026-06-11T11:33:10Z</dcterms:modified>
</cp:coreProperties>
</file>