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747" r:id="rId2"/>
    <p:sldId id="748" r:id="rId3"/>
    <p:sldId id="725" r:id="rId4"/>
    <p:sldId id="692" r:id="rId5"/>
    <p:sldId id="274" r:id="rId6"/>
    <p:sldId id="713" r:id="rId7"/>
    <p:sldId id="714" r:id="rId8"/>
    <p:sldId id="690" r:id="rId9"/>
    <p:sldId id="726" r:id="rId10"/>
    <p:sldId id="727" r:id="rId11"/>
    <p:sldId id="728" r:id="rId12"/>
    <p:sldId id="729" r:id="rId13"/>
    <p:sldId id="730" r:id="rId14"/>
    <p:sldId id="731" r:id="rId15"/>
    <p:sldId id="732" r:id="rId16"/>
    <p:sldId id="733" r:id="rId17"/>
    <p:sldId id="734" r:id="rId18"/>
    <p:sldId id="296" r:id="rId19"/>
    <p:sldId id="295" r:id="rId20"/>
    <p:sldId id="294" r:id="rId21"/>
    <p:sldId id="735" r:id="rId22"/>
    <p:sldId id="721" r:id="rId23"/>
    <p:sldId id="736" r:id="rId24"/>
    <p:sldId id="716" r:id="rId25"/>
    <p:sldId id="720" r:id="rId26"/>
    <p:sldId id="715" r:id="rId27"/>
    <p:sldId id="717" r:id="rId28"/>
    <p:sldId id="293" r:id="rId29"/>
    <p:sldId id="282" r:id="rId30"/>
    <p:sldId id="283" r:id="rId31"/>
    <p:sldId id="286" r:id="rId32"/>
    <p:sldId id="287" r:id="rId33"/>
    <p:sldId id="289" r:id="rId34"/>
    <p:sldId id="288" r:id="rId35"/>
    <p:sldId id="292" r:id="rId36"/>
    <p:sldId id="290" r:id="rId37"/>
    <p:sldId id="291" r:id="rId38"/>
    <p:sldId id="284" r:id="rId39"/>
    <p:sldId id="737" r:id="rId40"/>
    <p:sldId id="742" r:id="rId41"/>
    <p:sldId id="743" r:id="rId42"/>
    <p:sldId id="741" r:id="rId43"/>
    <p:sldId id="723" r:id="rId44"/>
    <p:sldId id="738" r:id="rId45"/>
    <p:sldId id="724" r:id="rId46"/>
    <p:sldId id="655" r:id="rId47"/>
    <p:sldId id="656" r:id="rId48"/>
    <p:sldId id="548" r:id="rId49"/>
    <p:sldId id="549" r:id="rId50"/>
    <p:sldId id="569" r:id="rId51"/>
    <p:sldId id="606" r:id="rId52"/>
    <p:sldId id="740" r:id="rId53"/>
    <p:sldId id="744" r:id="rId54"/>
    <p:sldId id="745" r:id="rId55"/>
    <p:sldId id="746" r:id="rId56"/>
    <p:sldId id="285" r:id="rId57"/>
    <p:sldId id="278" r:id="rId58"/>
    <p:sldId id="279" r:id="rId59"/>
    <p:sldId id="277" r:id="rId60"/>
    <p:sldId id="280" r:id="rId61"/>
    <p:sldId id="275" r:id="rId62"/>
    <p:sldId id="268" r:id="rId63"/>
    <p:sldId id="261" r:id="rId64"/>
    <p:sldId id="262" r:id="rId65"/>
    <p:sldId id="263" r:id="rId66"/>
    <p:sldId id="264" r:id="rId67"/>
    <p:sldId id="266" r:id="rId68"/>
    <p:sldId id="269" r:id="rId69"/>
    <p:sldId id="270" r:id="rId70"/>
    <p:sldId id="271" r:id="rId71"/>
    <p:sldId id="272" r:id="rId72"/>
    <p:sldId id="265" r:id="rId73"/>
    <p:sldId id="273" r:id="rId74"/>
    <p:sldId id="257" r:id="rId75"/>
    <p:sldId id="258" r:id="rId76"/>
    <p:sldId id="259" r:id="rId77"/>
    <p:sldId id="260" r:id="rId78"/>
    <p:sldId id="267" r:id="rId79"/>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970" autoAdjust="0"/>
    <p:restoredTop sz="77255" autoAdjust="0"/>
  </p:normalViewPr>
  <p:slideViewPr>
    <p:cSldViewPr snapToGrid="0">
      <p:cViewPr varScale="1">
        <p:scale>
          <a:sx n="63" d="100"/>
          <a:sy n="63"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9-13T17:58:45.333" v="2473" actId="27636"/>
      <pc:docMkLst>
        <pc:docMk/>
      </pc:docMkLst>
      <pc:sldChg chg="modSp">
        <pc:chgData name="Berg, Dirk van den" userId="035ecb32-01d9-4b47-a105-eacf059a4647" providerId="ADAL" clId="{F7FF961E-CF96-44AC-93C2-93612F62D46D}" dt="2026-09-07T10:02:56.227" v="3"/>
        <pc:sldMkLst>
          <pc:docMk/>
          <pc:sldMk cId="3806560209" sldId="258"/>
        </pc:sldMkLst>
        <pc:spChg chg="mod">
          <ac:chgData name="Berg, Dirk van den" userId="035ecb32-01d9-4b47-a105-eacf059a4647" providerId="ADAL" clId="{F7FF961E-CF96-44AC-93C2-93612F62D46D}" dt="2026-09-07T10:00:08.486" v="2"/>
          <ac:spMkLst>
            <pc:docMk/>
            <pc:sldMk cId="3806560209" sldId="258"/>
            <ac:spMk id="2" creationId="{2BAEC26C-E301-E818-8C8D-CEDE573A6D13}"/>
          </ac:spMkLst>
        </pc:spChg>
        <pc:spChg chg="mod">
          <ac:chgData name="Berg, Dirk van den" userId="035ecb32-01d9-4b47-a105-eacf059a4647" providerId="ADAL" clId="{F7FF961E-CF96-44AC-93C2-93612F62D46D}" dt="2026-09-07T10:02:56.227" v="3"/>
          <ac:spMkLst>
            <pc:docMk/>
            <pc:sldMk cId="3806560209" sldId="258"/>
            <ac:spMk id="3" creationId="{B5F8DDC4-20E5-EE39-31DF-72DF331926E2}"/>
          </ac:spMkLst>
        </pc:spChg>
      </pc:sldChg>
      <pc:sldChg chg="addSp modSp">
        <pc:chgData name="Berg, Dirk van den" userId="035ecb32-01d9-4b47-a105-eacf059a4647" providerId="ADAL" clId="{F7FF961E-CF96-44AC-93C2-93612F62D46D}" dt="2026-09-07T10:06:40.124" v="4"/>
        <pc:sldMkLst>
          <pc:docMk/>
          <pc:sldMk cId="3272919472" sldId="259"/>
        </pc:sldMkLst>
        <pc:spChg chg="add">
          <ac:chgData name="Berg, Dirk van den" userId="035ecb32-01d9-4b47-a105-eacf059a4647" providerId="ADAL" clId="{F7FF961E-CF96-44AC-93C2-93612F62D46D}" dt="2026-09-07T10:06:40.124" v="4"/>
          <ac:spMkLst>
            <pc:docMk/>
            <pc:sldMk cId="3272919472" sldId="259"/>
            <ac:spMk id="5" creationId="{961C0ED5-6B29-665A-6FF6-ACD3B3FA8E08}"/>
          </ac:spMkLst>
        </pc:spChg>
      </pc:sldChg>
      <pc:sldChg chg="modSp">
        <pc:chgData name="Berg, Dirk van den" userId="035ecb32-01d9-4b47-a105-eacf059a4647" providerId="ADAL" clId="{F7FF961E-CF96-44AC-93C2-93612F62D46D}" dt="2026-09-07T11:08:29.905" v="6"/>
        <pc:sldMkLst>
          <pc:docMk/>
          <pc:sldMk cId="1598009785" sldId="260"/>
        </pc:sldMkLst>
        <pc:spChg chg="mod">
          <ac:chgData name="Berg, Dirk van den" userId="035ecb32-01d9-4b47-a105-eacf059a4647" providerId="ADAL" clId="{F7FF961E-CF96-44AC-93C2-93612F62D46D}" dt="2026-09-07T11:08:29.905" v="6"/>
          <ac:spMkLst>
            <pc:docMk/>
            <pc:sldMk cId="1598009785" sldId="260"/>
            <ac:spMk id="2" creationId="{D1108AE6-6838-B7C2-6A29-C5D640057264}"/>
          </ac:spMkLst>
        </pc:spChg>
        <pc:spChg chg="mod">
          <ac:chgData name="Berg, Dirk van den" userId="035ecb32-01d9-4b47-a105-eacf059a4647" providerId="ADAL" clId="{F7FF961E-CF96-44AC-93C2-93612F62D46D}" dt="2026-09-07T11:08:20.118" v="5"/>
          <ac:spMkLst>
            <pc:docMk/>
            <pc:sldMk cId="1598009785" sldId="260"/>
            <ac:spMk id="3" creationId="{DE8B89EA-479C-F4ED-FF56-C90B840352BC}"/>
          </ac:spMkLst>
        </pc:spChg>
      </pc:sldChg>
      <pc:sldChg chg="modSp">
        <pc:chgData name="Berg, Dirk van den" userId="035ecb32-01d9-4b47-a105-eacf059a4647" providerId="ADAL" clId="{F7FF961E-CF96-44AC-93C2-93612F62D46D}" dt="2026-09-07T11:16:05.232" v="7"/>
        <pc:sldMkLst>
          <pc:docMk/>
          <pc:sldMk cId="1884746937" sldId="261"/>
        </pc:sldMkLst>
        <pc:spChg chg="mod">
          <ac:chgData name="Berg, Dirk van den" userId="035ecb32-01d9-4b47-a105-eacf059a4647" providerId="ADAL" clId="{F7FF961E-CF96-44AC-93C2-93612F62D46D}" dt="2026-09-07T11:16:05.232" v="7"/>
          <ac:spMkLst>
            <pc:docMk/>
            <pc:sldMk cId="1884746937" sldId="261"/>
            <ac:spMk id="3" creationId="{6102FD36-A133-C200-31B8-7DDF3691BA34}"/>
          </ac:spMkLst>
        </pc:spChg>
      </pc:sldChg>
      <pc:sldChg chg="modSp ord">
        <pc:chgData name="Berg, Dirk van den" userId="035ecb32-01d9-4b47-a105-eacf059a4647" providerId="ADAL" clId="{F7FF961E-CF96-44AC-93C2-93612F62D46D}" dt="2026-09-07T14:59:01.053" v="10"/>
        <pc:sldMkLst>
          <pc:docMk/>
          <pc:sldMk cId="645462731" sldId="265"/>
        </pc:sldMkLst>
        <pc:spChg chg="mod">
          <ac:chgData name="Berg, Dirk van den" userId="035ecb32-01d9-4b47-a105-eacf059a4647" providerId="ADAL" clId="{F7FF961E-CF96-44AC-93C2-93612F62D46D}" dt="2026-09-07T14:59:01.053" v="10"/>
          <ac:spMkLst>
            <pc:docMk/>
            <pc:sldMk cId="645462731" sldId="265"/>
            <ac:spMk id="3" creationId="{CE8CFCE7-D12A-641D-9022-355ACB07737D}"/>
          </ac:spMkLst>
        </pc:spChg>
      </pc:sldChg>
      <pc:sldChg chg="addSp modSp mod">
        <pc:chgData name="Berg, Dirk van den" userId="035ecb32-01d9-4b47-a105-eacf059a4647" providerId="ADAL" clId="{F7FF961E-CF96-44AC-93C2-93612F62D46D}" dt="2026-09-09T08:39:16.536" v="84" actId="20577"/>
        <pc:sldMkLst>
          <pc:docMk/>
          <pc:sldMk cId="3034793284" sldId="266"/>
        </pc:sldMkLst>
        <pc:spChg chg="mod">
          <ac:chgData name="Berg, Dirk van den" userId="035ecb32-01d9-4b47-a105-eacf059a4647" providerId="ADAL" clId="{F7FF961E-CF96-44AC-93C2-93612F62D46D}" dt="2026-09-09T08:39:16.536" v="84" actId="20577"/>
          <ac:spMkLst>
            <pc:docMk/>
            <pc:sldMk cId="3034793284" sldId="266"/>
            <ac:spMk id="3" creationId="{8438DA23-FB7F-087E-988F-D8EEB85DFF9F}"/>
          </ac:spMkLst>
        </pc:spChg>
        <pc:picChg chg="add mod">
          <ac:chgData name="Berg, Dirk van den" userId="035ecb32-01d9-4b47-a105-eacf059a4647" providerId="ADAL" clId="{F7FF961E-CF96-44AC-93C2-93612F62D46D}" dt="2026-09-09T08:38:51.474" v="12" actId="1076"/>
          <ac:picMkLst>
            <pc:docMk/>
            <pc:sldMk cId="3034793284" sldId="266"/>
            <ac:picMk id="5" creationId="{58F43E6C-3B10-ACD6-DFDB-F64C95CF21C5}"/>
          </ac:picMkLst>
        </pc:picChg>
      </pc:sldChg>
      <pc:sldChg chg="addSp modSp new mod">
        <pc:chgData name="Berg, Dirk van den" userId="035ecb32-01d9-4b47-a105-eacf059a4647" providerId="ADAL" clId="{F7FF961E-CF96-44AC-93C2-93612F62D46D}" dt="2026-09-09T08:53:47.167" v="488" actId="1076"/>
        <pc:sldMkLst>
          <pc:docMk/>
          <pc:sldMk cId="2013090404" sldId="269"/>
        </pc:sldMkLst>
        <pc:spChg chg="mod">
          <ac:chgData name="Berg, Dirk van den" userId="035ecb32-01d9-4b47-a105-eacf059a4647" providerId="ADAL" clId="{F7FF961E-CF96-44AC-93C2-93612F62D46D}" dt="2026-09-09T08:43:36.465" v="122" actId="20577"/>
          <ac:spMkLst>
            <pc:docMk/>
            <pc:sldMk cId="2013090404" sldId="269"/>
            <ac:spMk id="2" creationId="{2242242B-C1D3-A740-3359-9E8F81783586}"/>
          </ac:spMkLst>
        </pc:spChg>
        <pc:spChg chg="mod">
          <ac:chgData name="Berg, Dirk van den" userId="035ecb32-01d9-4b47-a105-eacf059a4647" providerId="ADAL" clId="{F7FF961E-CF96-44AC-93C2-93612F62D46D}" dt="2026-09-09T08:51:04.553" v="486" actId="20577"/>
          <ac:spMkLst>
            <pc:docMk/>
            <pc:sldMk cId="2013090404" sldId="269"/>
            <ac:spMk id="3" creationId="{9B8B49DF-0127-3068-5040-228FEA2EED8C}"/>
          </ac:spMkLst>
        </pc:spChg>
        <pc:picChg chg="add mod">
          <ac:chgData name="Berg, Dirk van den" userId="035ecb32-01d9-4b47-a105-eacf059a4647" providerId="ADAL" clId="{F7FF961E-CF96-44AC-93C2-93612F62D46D}" dt="2026-09-09T08:45:55.370" v="177" actId="1076"/>
          <ac:picMkLst>
            <pc:docMk/>
            <pc:sldMk cId="2013090404" sldId="269"/>
            <ac:picMk id="5" creationId="{0903ADB2-45B8-AF0E-DD14-974A0BDD6649}"/>
          </ac:picMkLst>
        </pc:picChg>
        <pc:picChg chg="add mod">
          <ac:chgData name="Berg, Dirk van den" userId="035ecb32-01d9-4b47-a105-eacf059a4647" providerId="ADAL" clId="{F7FF961E-CF96-44AC-93C2-93612F62D46D}" dt="2026-09-09T08:45:57.671" v="179" actId="1076"/>
          <ac:picMkLst>
            <pc:docMk/>
            <pc:sldMk cId="2013090404" sldId="269"/>
            <ac:picMk id="7" creationId="{9EF41E5F-10E6-3D73-C992-EEB97238C181}"/>
          </ac:picMkLst>
        </pc:picChg>
        <pc:picChg chg="add mod">
          <ac:chgData name="Berg, Dirk van den" userId="035ecb32-01d9-4b47-a105-eacf059a4647" providerId="ADAL" clId="{F7FF961E-CF96-44AC-93C2-93612F62D46D}" dt="2026-09-09T08:53:47.167" v="488" actId="1076"/>
          <ac:picMkLst>
            <pc:docMk/>
            <pc:sldMk cId="2013090404" sldId="269"/>
            <ac:picMk id="9" creationId="{7D4848C1-4A1C-71F1-BD46-6852A9EF11DE}"/>
          </ac:picMkLst>
        </pc:picChg>
      </pc:sldChg>
      <pc:sldChg chg="addSp modSp new mod">
        <pc:chgData name="Berg, Dirk van den" userId="035ecb32-01d9-4b47-a105-eacf059a4647" providerId="ADAL" clId="{F7FF961E-CF96-44AC-93C2-93612F62D46D}" dt="2026-09-09T09:05:08.843" v="540" actId="27636"/>
        <pc:sldMkLst>
          <pc:docMk/>
          <pc:sldMk cId="2890325438" sldId="270"/>
        </pc:sldMkLst>
        <pc:spChg chg="mod">
          <ac:chgData name="Berg, Dirk van den" userId="035ecb32-01d9-4b47-a105-eacf059a4647" providerId="ADAL" clId="{F7FF961E-CF96-44AC-93C2-93612F62D46D}" dt="2026-09-09T09:05:08.843" v="540" actId="27636"/>
          <ac:spMkLst>
            <pc:docMk/>
            <pc:sldMk cId="2890325438" sldId="270"/>
            <ac:spMk id="2" creationId="{57DAB264-F22C-FB14-502F-75CEBC5B426F}"/>
          </ac:spMkLst>
        </pc:spChg>
        <pc:picChg chg="add mod">
          <ac:chgData name="Berg, Dirk van den" userId="035ecb32-01d9-4b47-a105-eacf059a4647" providerId="ADAL" clId="{F7FF961E-CF96-44AC-93C2-93612F62D46D}" dt="2026-09-09T09:04:27.459" v="491" actId="1076"/>
          <ac:picMkLst>
            <pc:docMk/>
            <pc:sldMk cId="2890325438" sldId="270"/>
            <ac:picMk id="5" creationId="{1E560229-6686-7824-A070-F9C2702A38A9}"/>
          </ac:picMkLst>
        </pc:picChg>
      </pc:sldChg>
      <pc:sldChg chg="addSp delSp modSp new mod">
        <pc:chgData name="Berg, Dirk van den" userId="035ecb32-01d9-4b47-a105-eacf059a4647" providerId="ADAL" clId="{F7FF961E-CF96-44AC-93C2-93612F62D46D}" dt="2026-09-09T09:29:16.116" v="553" actId="1076"/>
        <pc:sldMkLst>
          <pc:docMk/>
          <pc:sldMk cId="1703830573" sldId="271"/>
        </pc:sldMkLst>
        <pc:spChg chg="add del mod">
          <ac:chgData name="Berg, Dirk van den" userId="035ecb32-01d9-4b47-a105-eacf059a4647" providerId="ADAL" clId="{F7FF961E-CF96-44AC-93C2-93612F62D46D}" dt="2026-09-09T09:29:16.116" v="553" actId="1076"/>
          <ac:spMkLst>
            <pc:docMk/>
            <pc:sldMk cId="1703830573" sldId="271"/>
            <ac:spMk id="3" creationId="{F9952C96-3240-7D22-5F58-22587B199304}"/>
          </ac:spMkLst>
        </pc:spChg>
        <pc:picChg chg="add mod">
          <ac:chgData name="Berg, Dirk van den" userId="035ecb32-01d9-4b47-a105-eacf059a4647" providerId="ADAL" clId="{F7FF961E-CF96-44AC-93C2-93612F62D46D}" dt="2026-09-09T09:29:12.894" v="552" actId="1076"/>
          <ac:picMkLst>
            <pc:docMk/>
            <pc:sldMk cId="1703830573" sldId="271"/>
            <ac:picMk id="7" creationId="{F772DDFE-C7E4-5110-B55F-35CFBBA3E6E4}"/>
          </ac:picMkLst>
        </pc:picChg>
        <pc:picChg chg="add mod">
          <ac:chgData name="Berg, Dirk van den" userId="035ecb32-01d9-4b47-a105-eacf059a4647" providerId="ADAL" clId="{F7FF961E-CF96-44AC-93C2-93612F62D46D}" dt="2026-09-09T09:28:49.062" v="549" actId="1076"/>
          <ac:picMkLst>
            <pc:docMk/>
            <pc:sldMk cId="1703830573" sldId="271"/>
            <ac:picMk id="9" creationId="{71C3F937-E5BC-DB93-7E0B-400B00290766}"/>
          </ac:picMkLst>
        </pc:picChg>
      </pc:sldChg>
      <pc:sldChg chg="addSp modSp new mod">
        <pc:chgData name="Berg, Dirk van den" userId="035ecb32-01d9-4b47-a105-eacf059a4647" providerId="ADAL" clId="{F7FF961E-CF96-44AC-93C2-93612F62D46D}" dt="2026-09-09T11:26:07.905" v="634" actId="15"/>
        <pc:sldMkLst>
          <pc:docMk/>
          <pc:sldMk cId="2979072286" sldId="272"/>
        </pc:sldMkLst>
        <pc:spChg chg="mod">
          <ac:chgData name="Berg, Dirk van den" userId="035ecb32-01d9-4b47-a105-eacf059a4647" providerId="ADAL" clId="{F7FF961E-CF96-44AC-93C2-93612F62D46D}" dt="2026-09-09T11:25:50.821" v="630" actId="20577"/>
          <ac:spMkLst>
            <pc:docMk/>
            <pc:sldMk cId="2979072286" sldId="272"/>
            <ac:spMk id="2" creationId="{17ECBC62-25A9-A1A5-6720-80AFD6A71AA3}"/>
          </ac:spMkLst>
        </pc:spChg>
        <pc:spChg chg="mod">
          <ac:chgData name="Berg, Dirk van den" userId="035ecb32-01d9-4b47-a105-eacf059a4647" providerId="ADAL" clId="{F7FF961E-CF96-44AC-93C2-93612F62D46D}" dt="2026-09-09T11:26:07.905" v="634" actId="15"/>
          <ac:spMkLst>
            <pc:docMk/>
            <pc:sldMk cId="2979072286" sldId="272"/>
            <ac:spMk id="3" creationId="{E523B56D-1B50-846E-444D-69ADC22E26A6}"/>
          </ac:spMkLst>
        </pc:spChg>
        <pc:picChg chg="add mod">
          <ac:chgData name="Berg, Dirk van den" userId="035ecb32-01d9-4b47-a105-eacf059a4647" providerId="ADAL" clId="{F7FF961E-CF96-44AC-93C2-93612F62D46D}" dt="2026-09-09T11:25:53.503" v="632" actId="1076"/>
          <ac:picMkLst>
            <pc:docMk/>
            <pc:sldMk cId="2979072286" sldId="272"/>
            <ac:picMk id="5" creationId="{B0BB3747-9F71-BED2-A9CA-63C29ADD1C8B}"/>
          </ac:picMkLst>
        </pc:picChg>
      </pc:sldChg>
      <pc:sldChg chg="modSp new mod">
        <pc:chgData name="Berg, Dirk van den" userId="035ecb32-01d9-4b47-a105-eacf059a4647" providerId="ADAL" clId="{F7FF961E-CF96-44AC-93C2-93612F62D46D}" dt="2026-09-09T13:35:44.745" v="640"/>
        <pc:sldMkLst>
          <pc:docMk/>
          <pc:sldMk cId="3894639376" sldId="273"/>
        </pc:sldMkLst>
        <pc:spChg chg="mod">
          <ac:chgData name="Berg, Dirk van den" userId="035ecb32-01d9-4b47-a105-eacf059a4647" providerId="ADAL" clId="{F7FF961E-CF96-44AC-93C2-93612F62D46D}" dt="2026-09-09T13:35:44.745" v="640"/>
          <ac:spMkLst>
            <pc:docMk/>
            <pc:sldMk cId="3894639376" sldId="273"/>
            <ac:spMk id="2" creationId="{546D080E-ED96-FE0E-D2FD-F75EB71F0BD7}"/>
          </ac:spMkLst>
        </pc:spChg>
      </pc:sldChg>
      <pc:sldChg chg="add mod ord modShow">
        <pc:chgData name="Berg, Dirk van den" userId="035ecb32-01d9-4b47-a105-eacf059a4647" providerId="ADAL" clId="{F7FF961E-CF96-44AC-93C2-93612F62D46D}" dt="2026-09-10T18:36:55.153" v="1574"/>
        <pc:sldMkLst>
          <pc:docMk/>
          <pc:sldMk cId="870925354" sldId="274"/>
        </pc:sldMkLst>
      </pc:sldChg>
      <pc:sldChg chg="modSp new mod">
        <pc:chgData name="Berg, Dirk van den" userId="035ecb32-01d9-4b47-a105-eacf059a4647" providerId="ADAL" clId="{F7FF961E-CF96-44AC-93C2-93612F62D46D}" dt="2026-09-10T07:57:41.494" v="899" actId="20577"/>
        <pc:sldMkLst>
          <pc:docMk/>
          <pc:sldMk cId="346662358" sldId="275"/>
        </pc:sldMkLst>
        <pc:spChg chg="mod">
          <ac:chgData name="Berg, Dirk van den" userId="035ecb32-01d9-4b47-a105-eacf059a4647" providerId="ADAL" clId="{F7FF961E-CF96-44AC-93C2-93612F62D46D}" dt="2026-09-10T07:57:41.494" v="899" actId="20577"/>
          <ac:spMkLst>
            <pc:docMk/>
            <pc:sldMk cId="346662358" sldId="275"/>
            <ac:spMk id="2" creationId="{71A4097A-9BC6-CFA2-5C95-1303523D55D3}"/>
          </ac:spMkLst>
        </pc:spChg>
        <pc:spChg chg="mod">
          <ac:chgData name="Berg, Dirk van den" userId="035ecb32-01d9-4b47-a105-eacf059a4647" providerId="ADAL" clId="{F7FF961E-CF96-44AC-93C2-93612F62D46D}" dt="2026-09-10T07:57:29.088" v="840" actId="27636"/>
          <ac:spMkLst>
            <pc:docMk/>
            <pc:sldMk cId="346662358" sldId="275"/>
            <ac:spMk id="3" creationId="{04392C48-70C3-C2FE-4829-BD76B22BCDCD}"/>
          </ac:spMkLst>
        </pc:spChg>
      </pc:sldChg>
      <pc:sldChg chg="addSp new mod">
        <pc:chgData name="Berg, Dirk van den" userId="035ecb32-01d9-4b47-a105-eacf059a4647" providerId="ADAL" clId="{F7FF961E-CF96-44AC-93C2-93612F62D46D}" dt="2026-09-10T12:48:16.546" v="1099" actId="22"/>
        <pc:sldMkLst>
          <pc:docMk/>
          <pc:sldMk cId="168198665" sldId="277"/>
        </pc:sldMkLst>
        <pc:spChg chg="add">
          <ac:chgData name="Berg, Dirk van den" userId="035ecb32-01d9-4b47-a105-eacf059a4647" providerId="ADAL" clId="{F7FF961E-CF96-44AC-93C2-93612F62D46D}" dt="2026-09-10T12:48:16.546" v="1099" actId="22"/>
          <ac:spMkLst>
            <pc:docMk/>
            <pc:sldMk cId="168198665" sldId="277"/>
            <ac:spMk id="5" creationId="{CC1695A2-2675-5770-7081-ED6641C8524D}"/>
          </ac:spMkLst>
        </pc:spChg>
      </pc:sldChg>
      <pc:sldChg chg="addSp delSp modSp new mod ord">
        <pc:chgData name="Berg, Dirk van den" userId="035ecb32-01d9-4b47-a105-eacf059a4647" providerId="ADAL" clId="{F7FF961E-CF96-44AC-93C2-93612F62D46D}" dt="2026-09-10T12:46:13.366" v="1083"/>
        <pc:sldMkLst>
          <pc:docMk/>
          <pc:sldMk cId="3355499262" sldId="278"/>
        </pc:sldMkLst>
        <pc:spChg chg="add del mod">
          <ac:chgData name="Berg, Dirk van den" userId="035ecb32-01d9-4b47-a105-eacf059a4647" providerId="ADAL" clId="{F7FF961E-CF96-44AC-93C2-93612F62D46D}" dt="2026-09-10T12:39:42.617" v="1044" actId="1076"/>
          <ac:spMkLst>
            <pc:docMk/>
            <pc:sldMk cId="3355499262" sldId="278"/>
            <ac:spMk id="4" creationId="{8F76AD34-C07B-2089-BFE6-1F683FF3844D}"/>
          </ac:spMkLst>
        </pc:spChg>
      </pc:sldChg>
      <pc:sldChg chg="addSp delSp modSp new mod">
        <pc:chgData name="Berg, Dirk van den" userId="035ecb32-01d9-4b47-a105-eacf059a4647" providerId="ADAL" clId="{F7FF961E-CF96-44AC-93C2-93612F62D46D}" dt="2026-09-10T12:55:37.781" v="1106"/>
        <pc:sldMkLst>
          <pc:docMk/>
          <pc:sldMk cId="1393625732" sldId="279"/>
        </pc:sldMkLst>
        <pc:spChg chg="mod">
          <ac:chgData name="Berg, Dirk van den" userId="035ecb32-01d9-4b47-a105-eacf059a4647" providerId="ADAL" clId="{F7FF961E-CF96-44AC-93C2-93612F62D46D}" dt="2026-09-10T12:48:04.344" v="1093"/>
          <ac:spMkLst>
            <pc:docMk/>
            <pc:sldMk cId="1393625732" sldId="279"/>
            <ac:spMk id="2" creationId="{B0F72F0A-92E7-672E-46A8-90D5ABF9E774}"/>
          </ac:spMkLst>
        </pc:spChg>
        <pc:spChg chg="add mod">
          <ac:chgData name="Berg, Dirk van den" userId="035ecb32-01d9-4b47-a105-eacf059a4647" providerId="ADAL" clId="{F7FF961E-CF96-44AC-93C2-93612F62D46D}" dt="2026-09-10T12:48:32.080" v="1102" actId="1076"/>
          <ac:spMkLst>
            <pc:docMk/>
            <pc:sldMk cId="1393625732" sldId="279"/>
            <ac:spMk id="7" creationId="{78E950A2-45CA-9C39-A8D7-D3F8B8D8AED8}"/>
          </ac:spMkLst>
        </pc:spChg>
        <pc:spChg chg="add mod">
          <ac:chgData name="Berg, Dirk van den" userId="035ecb32-01d9-4b47-a105-eacf059a4647" providerId="ADAL" clId="{F7FF961E-CF96-44AC-93C2-93612F62D46D}" dt="2026-09-10T12:55:37.781" v="1106"/>
          <ac:spMkLst>
            <pc:docMk/>
            <pc:sldMk cId="1393625732" sldId="279"/>
            <ac:spMk id="9" creationId="{B39B41E5-FEAE-023F-4D13-F11FC1EA014A}"/>
          </ac:spMkLst>
        </pc:spChg>
      </pc:sldChg>
      <pc:sldChg chg="add">
        <pc:chgData name="Berg, Dirk van den" userId="035ecb32-01d9-4b47-a105-eacf059a4647" providerId="ADAL" clId="{F7FF961E-CF96-44AC-93C2-93612F62D46D}" dt="2026-09-10T12:48:19.935" v="1100" actId="2890"/>
        <pc:sldMkLst>
          <pc:docMk/>
          <pc:sldMk cId="2989166126" sldId="280"/>
        </pc:sldMkLst>
      </pc:sldChg>
      <pc:sldChg chg="addSp delSp modSp new mod modNotesTx">
        <pc:chgData name="Berg, Dirk van den" userId="035ecb32-01d9-4b47-a105-eacf059a4647" providerId="ADAL" clId="{F7FF961E-CF96-44AC-93C2-93612F62D46D}" dt="2026-09-11T06:35:28.201" v="2154" actId="20577"/>
        <pc:sldMkLst>
          <pc:docMk/>
          <pc:sldMk cId="920205057" sldId="282"/>
        </pc:sldMkLst>
        <pc:picChg chg="add mod">
          <ac:chgData name="Berg, Dirk van den" userId="035ecb32-01d9-4b47-a105-eacf059a4647" providerId="ADAL" clId="{F7FF961E-CF96-44AC-93C2-93612F62D46D}" dt="2026-09-10T14:19:03.965" v="1372" actId="14100"/>
          <ac:picMkLst>
            <pc:docMk/>
            <pc:sldMk cId="920205057" sldId="282"/>
            <ac:picMk id="7" creationId="{004E5977-BE5D-7BDB-9ACE-739CF32A48A8}"/>
          </ac:picMkLst>
        </pc:picChg>
      </pc:sldChg>
      <pc:sldChg chg="addSp modSp new mod modNotesTx">
        <pc:chgData name="Berg, Dirk van den" userId="035ecb32-01d9-4b47-a105-eacf059a4647" providerId="ADAL" clId="{F7FF961E-CF96-44AC-93C2-93612F62D46D}" dt="2026-09-10T20:33:12.477" v="1991" actId="20577"/>
        <pc:sldMkLst>
          <pc:docMk/>
          <pc:sldMk cId="2879110414" sldId="283"/>
        </pc:sldMkLst>
        <pc:picChg chg="add mod">
          <ac:chgData name="Berg, Dirk van den" userId="035ecb32-01d9-4b47-a105-eacf059a4647" providerId="ADAL" clId="{F7FF961E-CF96-44AC-93C2-93612F62D46D}" dt="2026-09-10T14:19:22.669" v="1376" actId="14100"/>
          <ac:picMkLst>
            <pc:docMk/>
            <pc:sldMk cId="2879110414" sldId="283"/>
            <ac:picMk id="5" creationId="{6563C6C5-8A95-D5CE-694B-6FF9A52FF347}"/>
          </ac:picMkLst>
        </pc:picChg>
      </pc:sldChg>
      <pc:sldChg chg="addSp new mod modNotesTx">
        <pc:chgData name="Berg, Dirk van den" userId="035ecb32-01d9-4b47-a105-eacf059a4647" providerId="ADAL" clId="{F7FF961E-CF96-44AC-93C2-93612F62D46D}" dt="2026-09-11T06:54:29.427" v="2161" actId="20577"/>
        <pc:sldMkLst>
          <pc:docMk/>
          <pc:sldMk cId="3576518790" sldId="284"/>
        </pc:sldMkLst>
        <pc:picChg chg="add">
          <ac:chgData name="Berg, Dirk van den" userId="035ecb32-01d9-4b47-a105-eacf059a4647" providerId="ADAL" clId="{F7FF961E-CF96-44AC-93C2-93612F62D46D}" dt="2026-09-10T18:38:49.874" v="1887" actId="22"/>
          <ac:picMkLst>
            <pc:docMk/>
            <pc:sldMk cId="3576518790" sldId="284"/>
            <ac:picMk id="5" creationId="{74AD736A-CC46-AD9A-EFA0-A22EB833A137}"/>
          </ac:picMkLst>
        </pc:picChg>
      </pc:sldChg>
      <pc:sldChg chg="modSp new">
        <pc:chgData name="Berg, Dirk van den" userId="035ecb32-01d9-4b47-a105-eacf059a4647" providerId="ADAL" clId="{F7FF961E-CF96-44AC-93C2-93612F62D46D}" dt="2026-09-10T16:45:15.925" v="1379"/>
        <pc:sldMkLst>
          <pc:docMk/>
          <pc:sldMk cId="2362660489" sldId="285"/>
        </pc:sldMkLst>
        <pc:spChg chg="mod">
          <ac:chgData name="Berg, Dirk van den" userId="035ecb32-01d9-4b47-a105-eacf059a4647" providerId="ADAL" clId="{F7FF961E-CF96-44AC-93C2-93612F62D46D}" dt="2026-09-10T16:45:15.925" v="1379"/>
          <ac:spMkLst>
            <pc:docMk/>
            <pc:sldMk cId="2362660489" sldId="285"/>
            <ac:spMk id="3" creationId="{E084DFD7-99DD-1CE0-DA1F-E70147D316E4}"/>
          </ac:spMkLst>
        </pc:spChg>
      </pc:sldChg>
      <pc:sldChg chg="addSp modSp new mod modNotesTx">
        <pc:chgData name="Berg, Dirk van den" userId="035ecb32-01d9-4b47-a105-eacf059a4647" providerId="ADAL" clId="{F7FF961E-CF96-44AC-93C2-93612F62D46D}" dt="2026-09-10T20:35:45.449" v="1995" actId="20577"/>
        <pc:sldMkLst>
          <pc:docMk/>
          <pc:sldMk cId="3161455988" sldId="286"/>
        </pc:sldMkLst>
        <pc:picChg chg="add mod">
          <ac:chgData name="Berg, Dirk van den" userId="035ecb32-01d9-4b47-a105-eacf059a4647" providerId="ADAL" clId="{F7FF961E-CF96-44AC-93C2-93612F62D46D}" dt="2026-09-10T17:34:24.014" v="1389" actId="1076"/>
          <ac:picMkLst>
            <pc:docMk/>
            <pc:sldMk cId="3161455988" sldId="286"/>
            <ac:picMk id="5" creationId="{D05EC043-FA8D-6F0B-F4EF-E458AE8BC524}"/>
          </ac:picMkLst>
        </pc:picChg>
      </pc:sldChg>
      <pc:sldChg chg="addSp delSp modSp new mod">
        <pc:chgData name="Berg, Dirk van den" userId="035ecb32-01d9-4b47-a105-eacf059a4647" providerId="ADAL" clId="{F7FF961E-CF96-44AC-93C2-93612F62D46D}" dt="2026-09-10T19:06:01.481" v="1898" actId="14100"/>
        <pc:sldMkLst>
          <pc:docMk/>
          <pc:sldMk cId="790469362" sldId="287"/>
        </pc:sldMkLst>
        <pc:picChg chg="add mod">
          <ac:chgData name="Berg, Dirk van den" userId="035ecb32-01d9-4b47-a105-eacf059a4647" providerId="ADAL" clId="{F7FF961E-CF96-44AC-93C2-93612F62D46D}" dt="2026-09-10T19:06:01.481" v="1898" actId="14100"/>
          <ac:picMkLst>
            <pc:docMk/>
            <pc:sldMk cId="790469362" sldId="287"/>
            <ac:picMk id="7" creationId="{3F3DC2D4-1428-5892-B539-6E71797A696B}"/>
          </ac:picMkLst>
        </pc:picChg>
      </pc:sldChg>
      <pc:sldChg chg="addSp delSp modSp new mod">
        <pc:chgData name="Berg, Dirk van den" userId="035ecb32-01d9-4b47-a105-eacf059a4647" providerId="ADAL" clId="{F7FF961E-CF96-44AC-93C2-93612F62D46D}" dt="2026-09-10T19:06:31.128" v="1902" actId="14100"/>
        <pc:sldMkLst>
          <pc:docMk/>
          <pc:sldMk cId="3620592397" sldId="288"/>
        </pc:sldMkLst>
        <pc:picChg chg="add mod">
          <ac:chgData name="Berg, Dirk van den" userId="035ecb32-01d9-4b47-a105-eacf059a4647" providerId="ADAL" clId="{F7FF961E-CF96-44AC-93C2-93612F62D46D}" dt="2026-09-10T19:06:31.128" v="1902" actId="14100"/>
          <ac:picMkLst>
            <pc:docMk/>
            <pc:sldMk cId="3620592397" sldId="288"/>
            <ac:picMk id="7" creationId="{8FD634F0-D62D-F8C2-020C-1C62E87477F0}"/>
          </ac:picMkLst>
        </pc:picChg>
      </pc:sldChg>
      <pc:sldChg chg="addSp delSp modSp new mod ord">
        <pc:chgData name="Berg, Dirk van den" userId="035ecb32-01d9-4b47-a105-eacf059a4647" providerId="ADAL" clId="{F7FF961E-CF96-44AC-93C2-93612F62D46D}" dt="2026-09-11T06:40:19.902" v="2156"/>
        <pc:sldMkLst>
          <pc:docMk/>
          <pc:sldMk cId="2434592097" sldId="289"/>
        </pc:sldMkLst>
        <pc:picChg chg="add mod">
          <ac:chgData name="Berg, Dirk van den" userId="035ecb32-01d9-4b47-a105-eacf059a4647" providerId="ADAL" clId="{F7FF961E-CF96-44AC-93C2-93612F62D46D}" dt="2026-09-10T19:07:00.827" v="1906" actId="14100"/>
          <ac:picMkLst>
            <pc:docMk/>
            <pc:sldMk cId="2434592097" sldId="289"/>
            <ac:picMk id="7" creationId="{602CD4C8-7BD6-3E6D-6D4F-8E2AB75AADC4}"/>
          </ac:picMkLst>
        </pc:picChg>
      </pc:sldChg>
      <pc:sldChg chg="addSp delSp modSp new mod modNotesTx">
        <pc:chgData name="Berg, Dirk van den" userId="035ecb32-01d9-4b47-a105-eacf059a4647" providerId="ADAL" clId="{F7FF961E-CF96-44AC-93C2-93612F62D46D}" dt="2026-09-11T06:31:48.633" v="2142" actId="20577"/>
        <pc:sldMkLst>
          <pc:docMk/>
          <pc:sldMk cId="763231833" sldId="290"/>
        </pc:sldMkLst>
        <pc:picChg chg="add mod">
          <ac:chgData name="Berg, Dirk van den" userId="035ecb32-01d9-4b47-a105-eacf059a4647" providerId="ADAL" clId="{F7FF961E-CF96-44AC-93C2-93612F62D46D}" dt="2026-09-10T19:08:14.542" v="1914" actId="14100"/>
          <ac:picMkLst>
            <pc:docMk/>
            <pc:sldMk cId="763231833" sldId="290"/>
            <ac:picMk id="7" creationId="{EEC43AD4-BF78-60FC-EEB7-B0E350504CDB}"/>
          </ac:picMkLst>
        </pc:picChg>
      </pc:sldChg>
      <pc:sldChg chg="addSp modSp new mod">
        <pc:chgData name="Berg, Dirk van den" userId="035ecb32-01d9-4b47-a105-eacf059a4647" providerId="ADAL" clId="{F7FF961E-CF96-44AC-93C2-93612F62D46D}" dt="2026-09-10T18:38:43.947" v="1886" actId="22"/>
        <pc:sldMkLst>
          <pc:docMk/>
          <pc:sldMk cId="3612304857" sldId="291"/>
        </pc:sldMkLst>
        <pc:spChg chg="mod">
          <ac:chgData name="Berg, Dirk van den" userId="035ecb32-01d9-4b47-a105-eacf059a4647" providerId="ADAL" clId="{F7FF961E-CF96-44AC-93C2-93612F62D46D}" dt="2026-09-10T17:39:35.581" v="1439" actId="5793"/>
          <ac:spMkLst>
            <pc:docMk/>
            <pc:sldMk cId="3612304857" sldId="291"/>
            <ac:spMk id="3" creationId="{427558BC-A1D7-B585-704D-7D5CDD9AB278}"/>
          </ac:spMkLst>
        </pc:spChg>
        <pc:picChg chg="add">
          <ac:chgData name="Berg, Dirk van den" userId="035ecb32-01d9-4b47-a105-eacf059a4647" providerId="ADAL" clId="{F7FF961E-CF96-44AC-93C2-93612F62D46D}" dt="2026-09-10T18:38:43.947" v="1886" actId="22"/>
          <ac:picMkLst>
            <pc:docMk/>
            <pc:sldMk cId="3612304857" sldId="291"/>
            <ac:picMk id="5" creationId="{3B645C63-60EC-68ED-1D44-C1DC8E75521D}"/>
          </ac:picMkLst>
        </pc:picChg>
      </pc:sldChg>
      <pc:sldChg chg="addSp delSp modSp new mod modNotesTx">
        <pc:chgData name="Berg, Dirk van den" userId="035ecb32-01d9-4b47-a105-eacf059a4647" providerId="ADAL" clId="{F7FF961E-CF96-44AC-93C2-93612F62D46D}" dt="2026-09-11T06:43:37.710" v="2158" actId="20577"/>
        <pc:sldMkLst>
          <pc:docMk/>
          <pc:sldMk cId="1233303079" sldId="292"/>
        </pc:sldMkLst>
        <pc:picChg chg="add mod">
          <ac:chgData name="Berg, Dirk van den" userId="035ecb32-01d9-4b47-a105-eacf059a4647" providerId="ADAL" clId="{F7FF961E-CF96-44AC-93C2-93612F62D46D}" dt="2026-09-10T19:07:52.118" v="1910" actId="14100"/>
          <ac:picMkLst>
            <pc:docMk/>
            <pc:sldMk cId="1233303079" sldId="292"/>
            <ac:picMk id="7" creationId="{24C672DA-A121-554B-EB0C-D1C5FFD39C63}"/>
          </ac:picMkLst>
        </pc:picChg>
      </pc:sldChg>
      <pc:sldChg chg="add">
        <pc:chgData name="Berg, Dirk van den" userId="035ecb32-01d9-4b47-a105-eacf059a4647" providerId="ADAL" clId="{F7FF961E-CF96-44AC-93C2-93612F62D46D}" dt="2026-09-10T18:28:10.215" v="1557"/>
        <pc:sldMkLst>
          <pc:docMk/>
          <pc:sldMk cId="2478246118" sldId="293"/>
        </pc:sldMkLst>
      </pc:sldChg>
      <pc:sldChg chg="add">
        <pc:chgData name="Berg, Dirk van den" userId="035ecb32-01d9-4b47-a105-eacf059a4647" providerId="ADAL" clId="{F7FF961E-CF96-44AC-93C2-93612F62D46D}" dt="2026-09-10T18:28:10.215" v="1557"/>
        <pc:sldMkLst>
          <pc:docMk/>
          <pc:sldMk cId="3462204043" sldId="294"/>
        </pc:sldMkLst>
      </pc:sldChg>
      <pc:sldChg chg="add">
        <pc:chgData name="Berg, Dirk van den" userId="035ecb32-01d9-4b47-a105-eacf059a4647" providerId="ADAL" clId="{F7FF961E-CF96-44AC-93C2-93612F62D46D}" dt="2026-09-10T18:28:10.215" v="1557"/>
        <pc:sldMkLst>
          <pc:docMk/>
          <pc:sldMk cId="3546975773" sldId="295"/>
        </pc:sldMkLst>
      </pc:sldChg>
      <pc:sldChg chg="add">
        <pc:chgData name="Berg, Dirk van den" userId="035ecb32-01d9-4b47-a105-eacf059a4647" providerId="ADAL" clId="{F7FF961E-CF96-44AC-93C2-93612F62D46D}" dt="2026-09-10T18:28:10.215" v="1557"/>
        <pc:sldMkLst>
          <pc:docMk/>
          <pc:sldMk cId="2831078896" sldId="296"/>
        </pc:sldMkLst>
      </pc:sldChg>
      <pc:sldChg chg="add">
        <pc:chgData name="Berg, Dirk van den" userId="035ecb32-01d9-4b47-a105-eacf059a4647" providerId="ADAL" clId="{F7FF961E-CF96-44AC-93C2-93612F62D46D}" dt="2026-09-10T19:28:12.295" v="1952"/>
        <pc:sldMkLst>
          <pc:docMk/>
          <pc:sldMk cId="2864597027" sldId="548"/>
        </pc:sldMkLst>
      </pc:sldChg>
      <pc:sldChg chg="add">
        <pc:chgData name="Berg, Dirk van den" userId="035ecb32-01d9-4b47-a105-eacf059a4647" providerId="ADAL" clId="{F7FF961E-CF96-44AC-93C2-93612F62D46D}" dt="2026-09-10T19:28:12.295" v="1952"/>
        <pc:sldMkLst>
          <pc:docMk/>
          <pc:sldMk cId="3223135088" sldId="549"/>
        </pc:sldMkLst>
      </pc:sldChg>
      <pc:sldChg chg="add">
        <pc:chgData name="Berg, Dirk van den" userId="035ecb32-01d9-4b47-a105-eacf059a4647" providerId="ADAL" clId="{F7FF961E-CF96-44AC-93C2-93612F62D46D}" dt="2026-09-10T19:28:12.295" v="1952"/>
        <pc:sldMkLst>
          <pc:docMk/>
          <pc:sldMk cId="458560000" sldId="569"/>
        </pc:sldMkLst>
      </pc:sldChg>
      <pc:sldChg chg="add">
        <pc:chgData name="Berg, Dirk van den" userId="035ecb32-01d9-4b47-a105-eacf059a4647" providerId="ADAL" clId="{F7FF961E-CF96-44AC-93C2-93612F62D46D}" dt="2026-09-10T19:28:12.295" v="1952"/>
        <pc:sldMkLst>
          <pc:docMk/>
          <pc:sldMk cId="1292336844" sldId="606"/>
        </pc:sldMkLst>
      </pc:sldChg>
      <pc:sldChg chg="add">
        <pc:chgData name="Berg, Dirk van den" userId="035ecb32-01d9-4b47-a105-eacf059a4647" providerId="ADAL" clId="{F7FF961E-CF96-44AC-93C2-93612F62D46D}" dt="2026-09-10T19:28:12.295" v="1952"/>
        <pc:sldMkLst>
          <pc:docMk/>
          <pc:sldMk cId="2588143863" sldId="655"/>
        </pc:sldMkLst>
      </pc:sldChg>
      <pc:sldChg chg="add">
        <pc:chgData name="Berg, Dirk van den" userId="035ecb32-01d9-4b47-a105-eacf059a4647" providerId="ADAL" clId="{F7FF961E-CF96-44AC-93C2-93612F62D46D}" dt="2026-09-10T19:28:12.295" v="1952"/>
        <pc:sldMkLst>
          <pc:docMk/>
          <pc:sldMk cId="3080546448" sldId="656"/>
        </pc:sldMkLst>
      </pc:sldChg>
      <pc:sldChg chg="add">
        <pc:chgData name="Berg, Dirk van den" userId="035ecb32-01d9-4b47-a105-eacf059a4647" providerId="ADAL" clId="{F7FF961E-CF96-44AC-93C2-93612F62D46D}" dt="2026-09-10T18:28:10.215" v="1557"/>
        <pc:sldMkLst>
          <pc:docMk/>
          <pc:sldMk cId="2216163527" sldId="690"/>
        </pc:sldMkLst>
      </pc:sldChg>
      <pc:sldChg chg="add">
        <pc:chgData name="Berg, Dirk van den" userId="035ecb32-01d9-4b47-a105-eacf059a4647" providerId="ADAL" clId="{F7FF961E-CF96-44AC-93C2-93612F62D46D}" dt="2026-09-10T18:28:10.215" v="1557"/>
        <pc:sldMkLst>
          <pc:docMk/>
          <pc:sldMk cId="436403324" sldId="692"/>
        </pc:sldMkLst>
      </pc:sldChg>
      <pc:sldChg chg="add">
        <pc:chgData name="Berg, Dirk van den" userId="035ecb32-01d9-4b47-a105-eacf059a4647" providerId="ADAL" clId="{F7FF961E-CF96-44AC-93C2-93612F62D46D}" dt="2026-09-10T18:28:10.215" v="1557"/>
        <pc:sldMkLst>
          <pc:docMk/>
          <pc:sldMk cId="1764723338" sldId="713"/>
        </pc:sldMkLst>
      </pc:sldChg>
      <pc:sldChg chg="add">
        <pc:chgData name="Berg, Dirk van den" userId="035ecb32-01d9-4b47-a105-eacf059a4647" providerId="ADAL" clId="{F7FF961E-CF96-44AC-93C2-93612F62D46D}" dt="2026-09-10T18:28:10.215" v="1557"/>
        <pc:sldMkLst>
          <pc:docMk/>
          <pc:sldMk cId="2193077345" sldId="714"/>
        </pc:sldMkLst>
      </pc:sldChg>
      <pc:sldChg chg="add">
        <pc:chgData name="Berg, Dirk van den" userId="035ecb32-01d9-4b47-a105-eacf059a4647" providerId="ADAL" clId="{F7FF961E-CF96-44AC-93C2-93612F62D46D}" dt="2026-09-10T18:28:10.215" v="1557"/>
        <pc:sldMkLst>
          <pc:docMk/>
          <pc:sldMk cId="78729875" sldId="715"/>
        </pc:sldMkLst>
      </pc:sldChg>
      <pc:sldChg chg="add">
        <pc:chgData name="Berg, Dirk van den" userId="035ecb32-01d9-4b47-a105-eacf059a4647" providerId="ADAL" clId="{F7FF961E-CF96-44AC-93C2-93612F62D46D}" dt="2026-09-10T18:28:10.215" v="1557"/>
        <pc:sldMkLst>
          <pc:docMk/>
          <pc:sldMk cId="1887859907" sldId="716"/>
        </pc:sldMkLst>
      </pc:sldChg>
      <pc:sldChg chg="add modNotesTx">
        <pc:chgData name="Berg, Dirk van den" userId="035ecb32-01d9-4b47-a105-eacf059a4647" providerId="ADAL" clId="{F7FF961E-CF96-44AC-93C2-93612F62D46D}" dt="2026-09-11T05:59:56.811" v="2025" actId="20577"/>
        <pc:sldMkLst>
          <pc:docMk/>
          <pc:sldMk cId="3188215190" sldId="717"/>
        </pc:sldMkLst>
      </pc:sldChg>
      <pc:sldChg chg="add">
        <pc:chgData name="Berg, Dirk van den" userId="035ecb32-01d9-4b47-a105-eacf059a4647" providerId="ADAL" clId="{F7FF961E-CF96-44AC-93C2-93612F62D46D}" dt="2026-09-10T18:28:10.215" v="1557"/>
        <pc:sldMkLst>
          <pc:docMk/>
          <pc:sldMk cId="3299491028" sldId="720"/>
        </pc:sldMkLst>
      </pc:sldChg>
      <pc:sldChg chg="add">
        <pc:chgData name="Berg, Dirk van den" userId="035ecb32-01d9-4b47-a105-eacf059a4647" providerId="ADAL" clId="{F7FF961E-CF96-44AC-93C2-93612F62D46D}" dt="2026-09-10T18:28:10.215" v="1557"/>
        <pc:sldMkLst>
          <pc:docMk/>
          <pc:sldMk cId="521342783" sldId="721"/>
        </pc:sldMkLst>
      </pc:sldChg>
      <pc:sldChg chg="modSp add mod ord">
        <pc:chgData name="Berg, Dirk van den" userId="035ecb32-01d9-4b47-a105-eacf059a4647" providerId="ADAL" clId="{F7FF961E-CF96-44AC-93C2-93612F62D46D}" dt="2026-09-11T06:13:44.511" v="2125"/>
        <pc:sldMkLst>
          <pc:docMk/>
          <pc:sldMk cId="127795043" sldId="723"/>
        </pc:sldMkLst>
        <pc:spChg chg="mod">
          <ac:chgData name="Berg, Dirk van den" userId="035ecb32-01d9-4b47-a105-eacf059a4647" providerId="ADAL" clId="{F7FF961E-CF96-44AC-93C2-93612F62D46D}" dt="2026-09-11T05:54:28.219" v="2022" actId="20577"/>
          <ac:spMkLst>
            <pc:docMk/>
            <pc:sldMk cId="127795043" sldId="723"/>
            <ac:spMk id="3" creationId="{C219B3B1-6053-D0FD-FFA0-DBBBC8D60C6D}"/>
          </ac:spMkLst>
        </pc:spChg>
      </pc:sldChg>
      <pc:sldChg chg="add">
        <pc:chgData name="Berg, Dirk van den" userId="035ecb32-01d9-4b47-a105-eacf059a4647" providerId="ADAL" clId="{F7FF961E-CF96-44AC-93C2-93612F62D46D}" dt="2026-09-10T19:28:12.295" v="1952"/>
        <pc:sldMkLst>
          <pc:docMk/>
          <pc:sldMk cId="41327933" sldId="724"/>
        </pc:sldMkLst>
      </pc:sldChg>
      <pc:sldChg chg="modSp add mod modNotesTx">
        <pc:chgData name="Berg, Dirk van den" userId="035ecb32-01d9-4b47-a105-eacf059a4647" providerId="ADAL" clId="{F7FF961E-CF96-44AC-93C2-93612F62D46D}" dt="2026-09-13T17:58:45.333" v="2473" actId="27636"/>
        <pc:sldMkLst>
          <pc:docMk/>
          <pc:sldMk cId="1102904052" sldId="725"/>
        </pc:sldMkLst>
        <pc:spChg chg="mod">
          <ac:chgData name="Berg, Dirk van den" userId="035ecb32-01d9-4b47-a105-eacf059a4647" providerId="ADAL" clId="{F7FF961E-CF96-44AC-93C2-93612F62D46D}" dt="2026-09-13T17:58:45.333" v="2473" actId="27636"/>
          <ac:spMkLst>
            <pc:docMk/>
            <pc:sldMk cId="1102904052" sldId="725"/>
            <ac:spMk id="3" creationId="{A397E29C-EA55-3CD2-9E0C-4507D5578F3D}"/>
          </ac:spMkLst>
        </pc:spChg>
      </pc:sldChg>
      <pc:sldChg chg="add">
        <pc:chgData name="Berg, Dirk van den" userId="035ecb32-01d9-4b47-a105-eacf059a4647" providerId="ADAL" clId="{F7FF961E-CF96-44AC-93C2-93612F62D46D}" dt="2026-09-10T18:28:10.215" v="1557"/>
        <pc:sldMkLst>
          <pc:docMk/>
          <pc:sldMk cId="3325455120" sldId="726"/>
        </pc:sldMkLst>
      </pc:sldChg>
      <pc:sldChg chg="add">
        <pc:chgData name="Berg, Dirk van den" userId="035ecb32-01d9-4b47-a105-eacf059a4647" providerId="ADAL" clId="{F7FF961E-CF96-44AC-93C2-93612F62D46D}" dt="2026-09-10T18:28:10.215" v="1557"/>
        <pc:sldMkLst>
          <pc:docMk/>
          <pc:sldMk cId="3076958915" sldId="727"/>
        </pc:sldMkLst>
      </pc:sldChg>
      <pc:sldChg chg="add">
        <pc:chgData name="Berg, Dirk van den" userId="035ecb32-01d9-4b47-a105-eacf059a4647" providerId="ADAL" clId="{F7FF961E-CF96-44AC-93C2-93612F62D46D}" dt="2026-09-10T18:28:10.215" v="1557"/>
        <pc:sldMkLst>
          <pc:docMk/>
          <pc:sldMk cId="2534888542" sldId="728"/>
        </pc:sldMkLst>
      </pc:sldChg>
      <pc:sldChg chg="add">
        <pc:chgData name="Berg, Dirk van den" userId="035ecb32-01d9-4b47-a105-eacf059a4647" providerId="ADAL" clId="{F7FF961E-CF96-44AC-93C2-93612F62D46D}" dt="2026-09-10T18:28:10.215" v="1557"/>
        <pc:sldMkLst>
          <pc:docMk/>
          <pc:sldMk cId="1122669949" sldId="729"/>
        </pc:sldMkLst>
      </pc:sldChg>
      <pc:sldChg chg="add">
        <pc:chgData name="Berg, Dirk van den" userId="035ecb32-01d9-4b47-a105-eacf059a4647" providerId="ADAL" clId="{F7FF961E-CF96-44AC-93C2-93612F62D46D}" dt="2026-09-10T18:28:10.215" v="1557"/>
        <pc:sldMkLst>
          <pc:docMk/>
          <pc:sldMk cId="1290086026" sldId="730"/>
        </pc:sldMkLst>
      </pc:sldChg>
      <pc:sldChg chg="add">
        <pc:chgData name="Berg, Dirk van den" userId="035ecb32-01d9-4b47-a105-eacf059a4647" providerId="ADAL" clId="{F7FF961E-CF96-44AC-93C2-93612F62D46D}" dt="2026-09-10T18:28:10.215" v="1557"/>
        <pc:sldMkLst>
          <pc:docMk/>
          <pc:sldMk cId="1822476110" sldId="731"/>
        </pc:sldMkLst>
      </pc:sldChg>
      <pc:sldChg chg="add">
        <pc:chgData name="Berg, Dirk van den" userId="035ecb32-01d9-4b47-a105-eacf059a4647" providerId="ADAL" clId="{F7FF961E-CF96-44AC-93C2-93612F62D46D}" dt="2026-09-10T18:28:10.215" v="1557"/>
        <pc:sldMkLst>
          <pc:docMk/>
          <pc:sldMk cId="4157036938" sldId="732"/>
        </pc:sldMkLst>
      </pc:sldChg>
      <pc:sldChg chg="add">
        <pc:chgData name="Berg, Dirk van den" userId="035ecb32-01d9-4b47-a105-eacf059a4647" providerId="ADAL" clId="{F7FF961E-CF96-44AC-93C2-93612F62D46D}" dt="2026-09-10T18:28:10.215" v="1557"/>
        <pc:sldMkLst>
          <pc:docMk/>
          <pc:sldMk cId="194777491" sldId="733"/>
        </pc:sldMkLst>
      </pc:sldChg>
      <pc:sldChg chg="add">
        <pc:chgData name="Berg, Dirk van den" userId="035ecb32-01d9-4b47-a105-eacf059a4647" providerId="ADAL" clId="{F7FF961E-CF96-44AC-93C2-93612F62D46D}" dt="2026-09-10T18:28:10.215" v="1557"/>
        <pc:sldMkLst>
          <pc:docMk/>
          <pc:sldMk cId="3327187096" sldId="734"/>
        </pc:sldMkLst>
      </pc:sldChg>
      <pc:sldChg chg="add">
        <pc:chgData name="Berg, Dirk van den" userId="035ecb32-01d9-4b47-a105-eacf059a4647" providerId="ADAL" clId="{F7FF961E-CF96-44AC-93C2-93612F62D46D}" dt="2026-09-10T18:28:10.215" v="1557"/>
        <pc:sldMkLst>
          <pc:docMk/>
          <pc:sldMk cId="2440223652" sldId="735"/>
        </pc:sldMkLst>
      </pc:sldChg>
      <pc:sldChg chg="add">
        <pc:chgData name="Berg, Dirk van den" userId="035ecb32-01d9-4b47-a105-eacf059a4647" providerId="ADAL" clId="{F7FF961E-CF96-44AC-93C2-93612F62D46D}" dt="2026-09-10T18:28:10.215" v="1557"/>
        <pc:sldMkLst>
          <pc:docMk/>
          <pc:sldMk cId="3204310414" sldId="736"/>
        </pc:sldMkLst>
      </pc:sldChg>
      <pc:sldChg chg="addSp modSp new mod modNotesTx">
        <pc:chgData name="Berg, Dirk van den" userId="035ecb32-01d9-4b47-a105-eacf059a4647" providerId="ADAL" clId="{F7FF961E-CF96-44AC-93C2-93612F62D46D}" dt="2026-09-11T06:08:09.488" v="2118" actId="20577"/>
        <pc:sldMkLst>
          <pc:docMk/>
          <pc:sldMk cId="2232576804" sldId="737"/>
        </pc:sldMkLst>
        <pc:picChg chg="add mod">
          <ac:chgData name="Berg, Dirk van den" userId="035ecb32-01d9-4b47-a105-eacf059a4647" providerId="ADAL" clId="{F7FF961E-CF96-44AC-93C2-93612F62D46D}" dt="2026-09-10T19:48:54.879" v="1956" actId="14100"/>
          <ac:picMkLst>
            <pc:docMk/>
            <pc:sldMk cId="2232576804" sldId="737"/>
            <ac:picMk id="5" creationId="{7896DA5A-B3FA-16B0-BECF-862462389531}"/>
          </ac:picMkLst>
        </pc:picChg>
      </pc:sldChg>
      <pc:sldChg chg="addSp delSp modSp new mod">
        <pc:chgData name="Berg, Dirk van den" userId="035ecb32-01d9-4b47-a105-eacf059a4647" providerId="ADAL" clId="{F7FF961E-CF96-44AC-93C2-93612F62D46D}" dt="2026-09-10T19:16:42.362" v="1943" actId="1076"/>
        <pc:sldMkLst>
          <pc:docMk/>
          <pc:sldMk cId="1308889817" sldId="738"/>
        </pc:sldMkLst>
        <pc:spChg chg="add mod">
          <ac:chgData name="Berg, Dirk van den" userId="035ecb32-01d9-4b47-a105-eacf059a4647" providerId="ADAL" clId="{F7FF961E-CF96-44AC-93C2-93612F62D46D}" dt="2026-09-10T19:16:42.362" v="1943" actId="1076"/>
          <ac:spMkLst>
            <pc:docMk/>
            <pc:sldMk cId="1308889817" sldId="738"/>
            <ac:spMk id="6" creationId="{F77D6442-3CFD-B255-876B-BD3101A4B6A5}"/>
          </ac:spMkLst>
        </pc:spChg>
        <pc:picChg chg="add mod ord">
          <ac:chgData name="Berg, Dirk van den" userId="035ecb32-01d9-4b47-a105-eacf059a4647" providerId="ADAL" clId="{F7FF961E-CF96-44AC-93C2-93612F62D46D}" dt="2026-09-10T19:16:19.633" v="1926" actId="1076"/>
          <ac:picMkLst>
            <pc:docMk/>
            <pc:sldMk cId="1308889817" sldId="738"/>
            <ac:picMk id="5" creationId="{4359FBE9-0358-7A7A-6277-54EC1B201A12}"/>
          </ac:picMkLst>
        </pc:picChg>
      </pc:sldChg>
      <pc:sldChg chg="new">
        <pc:chgData name="Berg, Dirk van den" userId="035ecb32-01d9-4b47-a105-eacf059a4647" providerId="ADAL" clId="{F7FF961E-CF96-44AC-93C2-93612F62D46D}" dt="2026-09-10T19:16:02" v="1918" actId="680"/>
        <pc:sldMkLst>
          <pc:docMk/>
          <pc:sldMk cId="2904489350" sldId="740"/>
        </pc:sldMkLst>
      </pc:sldChg>
      <pc:sldChg chg="addSp modSp new mod modNotesTx">
        <pc:chgData name="Berg, Dirk van den" userId="035ecb32-01d9-4b47-a105-eacf059a4647" providerId="ADAL" clId="{F7FF961E-CF96-44AC-93C2-93612F62D46D}" dt="2026-09-11T06:23:21.267" v="2139" actId="20577"/>
        <pc:sldMkLst>
          <pc:docMk/>
          <pc:sldMk cId="4276580557" sldId="741"/>
        </pc:sldMkLst>
        <pc:picChg chg="add mod">
          <ac:chgData name="Berg, Dirk van den" userId="035ecb32-01d9-4b47-a105-eacf059a4647" providerId="ADAL" clId="{F7FF961E-CF96-44AC-93C2-93612F62D46D}" dt="2026-09-10T20:18:56.005" v="1966" actId="14100"/>
          <ac:picMkLst>
            <pc:docMk/>
            <pc:sldMk cId="4276580557" sldId="741"/>
            <ac:picMk id="5" creationId="{31BFD0A3-99ED-EF33-8F45-5A707755D1D2}"/>
          </ac:picMkLst>
        </pc:picChg>
      </pc:sldChg>
      <pc:sldChg chg="addSp modSp new mod modNotesTx">
        <pc:chgData name="Berg, Dirk van den" userId="035ecb32-01d9-4b47-a105-eacf059a4647" providerId="ADAL" clId="{F7FF961E-CF96-44AC-93C2-93612F62D46D}" dt="2026-09-11T06:12:29.843" v="2123" actId="20577"/>
        <pc:sldMkLst>
          <pc:docMk/>
          <pc:sldMk cId="722828855" sldId="742"/>
        </pc:sldMkLst>
        <pc:picChg chg="add mod">
          <ac:chgData name="Berg, Dirk van den" userId="035ecb32-01d9-4b47-a105-eacf059a4647" providerId="ADAL" clId="{F7FF961E-CF96-44AC-93C2-93612F62D46D}" dt="2026-09-10T19:58:04.166" v="1959" actId="14100"/>
          <ac:picMkLst>
            <pc:docMk/>
            <pc:sldMk cId="722828855" sldId="742"/>
            <ac:picMk id="5" creationId="{B5599499-C70D-2623-5926-4FD9B3DED84F}"/>
          </ac:picMkLst>
        </pc:picChg>
      </pc:sldChg>
      <pc:sldChg chg="addSp modSp new mod modNotesTx">
        <pc:chgData name="Berg, Dirk van den" userId="035ecb32-01d9-4b47-a105-eacf059a4647" providerId="ADAL" clId="{F7FF961E-CF96-44AC-93C2-93612F62D46D}" dt="2026-09-11T06:21:48.284" v="2136" actId="20577"/>
        <pc:sldMkLst>
          <pc:docMk/>
          <pc:sldMk cId="1004673319" sldId="743"/>
        </pc:sldMkLst>
        <pc:picChg chg="add mod">
          <ac:chgData name="Berg, Dirk van den" userId="035ecb32-01d9-4b47-a105-eacf059a4647" providerId="ADAL" clId="{F7FF961E-CF96-44AC-93C2-93612F62D46D}" dt="2026-09-10T20:15:14.890" v="1963" actId="14100"/>
          <ac:picMkLst>
            <pc:docMk/>
            <pc:sldMk cId="1004673319" sldId="743"/>
            <ac:picMk id="5" creationId="{30144309-3EF8-520B-A2A6-D7BD5F65AC4A}"/>
          </ac:picMkLst>
        </pc:picChg>
      </pc:sldChg>
      <pc:sldChg chg="new">
        <pc:chgData name="Berg, Dirk van den" userId="035ecb32-01d9-4b47-a105-eacf059a4647" providerId="ADAL" clId="{F7FF961E-CF96-44AC-93C2-93612F62D46D}" dt="2026-09-11T06:13:50.898" v="2126" actId="680"/>
        <pc:sldMkLst>
          <pc:docMk/>
          <pc:sldMk cId="1603846457" sldId="744"/>
        </pc:sldMkLst>
      </pc:sldChg>
      <pc:sldChg chg="new">
        <pc:chgData name="Berg, Dirk van den" userId="035ecb32-01d9-4b47-a105-eacf059a4647" providerId="ADAL" clId="{F7FF961E-CF96-44AC-93C2-93612F62D46D}" dt="2026-09-11T06:13:51.030" v="2127" actId="680"/>
        <pc:sldMkLst>
          <pc:docMk/>
          <pc:sldMk cId="2037430190" sldId="745"/>
        </pc:sldMkLst>
      </pc:sldChg>
      <pc:sldChg chg="new">
        <pc:chgData name="Berg, Dirk van den" userId="035ecb32-01d9-4b47-a105-eacf059a4647" providerId="ADAL" clId="{F7FF961E-CF96-44AC-93C2-93612F62D46D}" dt="2026-09-11T06:13:51.198" v="2128" actId="680"/>
        <pc:sldMkLst>
          <pc:docMk/>
          <pc:sldMk cId="1311098046" sldId="746"/>
        </pc:sldMkLst>
      </pc:sldChg>
      <pc:sldChg chg="modSp new mod ord">
        <pc:chgData name="Berg, Dirk van den" userId="035ecb32-01d9-4b47-a105-eacf059a4647" providerId="ADAL" clId="{F7FF961E-CF96-44AC-93C2-93612F62D46D}" dt="2026-09-12T15:09:05.049" v="2230"/>
        <pc:sldMkLst>
          <pc:docMk/>
          <pc:sldMk cId="1100134299" sldId="747"/>
        </pc:sldMkLst>
        <pc:spChg chg="mod">
          <ac:chgData name="Berg, Dirk van den" userId="035ecb32-01d9-4b47-a105-eacf059a4647" providerId="ADAL" clId="{F7FF961E-CF96-44AC-93C2-93612F62D46D}" dt="2026-09-12T15:09:02.723" v="2228" actId="20577"/>
          <ac:spMkLst>
            <pc:docMk/>
            <pc:sldMk cId="1100134299" sldId="747"/>
            <ac:spMk id="3" creationId="{5317E37C-3283-B699-B204-3ABB3F546A53}"/>
          </ac:spMkLst>
        </pc:spChg>
      </pc:sldChg>
      <pc:sldChg chg="modSp new mod">
        <pc:chgData name="Berg, Dirk van den" userId="035ecb32-01d9-4b47-a105-eacf059a4647" providerId="ADAL" clId="{F7FF961E-CF96-44AC-93C2-93612F62D46D}" dt="2026-09-13T16:08:51.446" v="2448" actId="20577"/>
        <pc:sldMkLst>
          <pc:docMk/>
          <pc:sldMk cId="1220498347" sldId="748"/>
        </pc:sldMkLst>
        <pc:spChg chg="mod">
          <ac:chgData name="Berg, Dirk van den" userId="035ecb32-01d9-4b47-a105-eacf059a4647" providerId="ADAL" clId="{F7FF961E-CF96-44AC-93C2-93612F62D46D}" dt="2026-09-13T16:08:51.446" v="2448" actId="20577"/>
          <ac:spMkLst>
            <pc:docMk/>
            <pc:sldMk cId="1220498347" sldId="748"/>
            <ac:spMk id="3" creationId="{DA7DAF0F-A5FF-005C-FB35-E5A76E67E9B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9C5D5-3528-4427-8002-517F8DC18710}" type="datetimeFigureOut">
              <a:rPr lang="en-NL" smtClean="0"/>
              <a:t>12/09/2026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3F4C4-4D63-4FEA-9C67-9E0E7CA0EDA8}" type="slidenum">
              <a:rPr lang="en-NL" smtClean="0"/>
              <a:t>‹#›</a:t>
            </a:fld>
            <a:endParaRPr lang="en-NL"/>
          </a:p>
        </p:txBody>
      </p:sp>
    </p:spTree>
    <p:extLst>
      <p:ext uri="{BB962C8B-B14F-4D97-AF65-F5344CB8AC3E}">
        <p14:creationId xmlns:p14="http://schemas.microsoft.com/office/powerpoint/2010/main" val="221265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go a bit over </a:t>
            </a:r>
            <a:r>
              <a:rPr lang="en-US" dirty="0" err="1"/>
              <a:t>Gyorok</a:t>
            </a:r>
            <a:r>
              <a:rPr lang="en-US" dirty="0"/>
              <a:t> his paper and how I expand on it for the routing only through the physical states.</a:t>
            </a:r>
            <a:br>
              <a:rPr lang="en-US" dirty="0"/>
            </a:br>
            <a:r>
              <a:rPr lang="en-US" dirty="0"/>
              <a:t>Currently it is not capable of penalizing the additional states, I have some suggestions for extending that and would prefer getting feedback on that.</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a:t>
            </a:fld>
            <a:endParaRPr lang="en-NL"/>
          </a:p>
        </p:txBody>
      </p:sp>
    </p:spTree>
    <p:extLst>
      <p:ext uri="{BB962C8B-B14F-4D97-AF65-F5344CB8AC3E}">
        <p14:creationId xmlns:p14="http://schemas.microsoft.com/office/powerpoint/2010/main" val="4209087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ratio is not 5x across the dataset. It ranges 0.98x to 5.07x.- Standstills and Y-sweeps: ~5.0x on X, ~3.75x on Y (T1-T7, V1, V3, E2)- APRBS and </a:t>
            </a:r>
            <a:r>
              <a:rPr lang="en-US" dirty="0" err="1"/>
              <a:t>lissajous</a:t>
            </a:r>
            <a:r>
              <a:rPr lang="en-US" dirty="0"/>
              <a:t>: 1.2x to 2.9x- E4_multisine_off: 1.00x, </a:t>
            </a:r>
            <a:r>
              <a:rPr lang="en-US" dirty="0" err="1"/>
              <a:t>unchangedBecause</a:t>
            </a:r>
            <a:r>
              <a:rPr lang="en-US" dirty="0"/>
              <a:t> AMP_SCALE scales the excitation, not the total input. On a standstill the force is almost pure excitation so it scales ~5x; on an APRBS record the trajectory-following force dominates and barely moves.</a:t>
            </a:r>
          </a:p>
          <a:p>
            <a:endParaRPr lang="en-US" dirty="0"/>
          </a:p>
          <a:p>
            <a:endParaRPr lang="en-US" dirty="0"/>
          </a:p>
          <a:p>
            <a:endParaRPr lang="en-US" dirty="0"/>
          </a:p>
          <a:p>
            <a:r>
              <a:rPr lang="en-US" dirty="0"/>
              <a:t>Net effect on the absorber displacement, which is what the augmentation has to learn: 2.19e-05 m to 3.17e-05 m, a factor 1.45, because the mass-fraction change worked against the amplitude change.</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4</a:t>
            </a:fld>
            <a:endParaRPr lang="en-NL"/>
          </a:p>
        </p:txBody>
      </p:sp>
    </p:spTree>
    <p:extLst>
      <p:ext uri="{BB962C8B-B14F-4D97-AF65-F5344CB8AC3E}">
        <p14:creationId xmlns:p14="http://schemas.microsoft.com/office/powerpoint/2010/main" val="890682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After Adam, not instead of it: Adam explores, the quasi-Newton phase converges.</a:t>
            </a:r>
          </a:p>
          <a:p>
            <a:pPr marL="171450" indent="-171450">
              <a:buFontTx/>
              <a:buChar char="-"/>
            </a:pPr>
            <a:r>
              <a:rPr lang="en-US" dirty="0"/>
              <a:t>- One fixed batch of 16384 windows, held constant for the whole phase, because a fresh minibatch each iteration would break both the curvature estimate and the line search.</a:t>
            </a:r>
          </a:p>
          <a:p>
            <a:pPr marL="171450" indent="-171450">
              <a:buFontTx/>
              <a:buChar char="-"/>
            </a:pPr>
            <a:r>
              <a:rPr lang="en-US" dirty="0"/>
              <a:t>- All parameters in one vector, m = 50 stored pairs, strong-Wolfe line search.</a:t>
            </a:r>
          </a:p>
          <a:p>
            <a:pPr marL="171450" indent="-171450">
              <a:buFontTx/>
              <a:buChar char="-"/>
            </a:pPr>
            <a:r>
              <a:rPr lang="en-US" dirty="0"/>
              <a:t>- The result is kept only if it improves the closed-loop validation; otherwise the weights are restored exactly.</a:t>
            </a:r>
            <a:endParaRPr lang="en-NL" dirty="0"/>
          </a:p>
        </p:txBody>
      </p:sp>
      <p:sp>
        <p:nvSpPr>
          <p:cNvPr id="4" name="Slide Number Placeholder 3"/>
          <p:cNvSpPr>
            <a:spLocks noGrp="1"/>
          </p:cNvSpPr>
          <p:nvPr>
            <p:ph type="sldNum" sz="quarter" idx="5"/>
          </p:nvPr>
        </p:nvSpPr>
        <p:spPr/>
        <p:txBody>
          <a:bodyPr/>
          <a:lstStyle/>
          <a:p>
            <a:fld id="{26B64C4C-CBD2-4257-926A-E23DC8EC0706}" type="slidenum">
              <a:rPr lang="en-NL" smtClean="0"/>
              <a:t>23</a:t>
            </a:fld>
            <a:endParaRPr lang="en-NL"/>
          </a:p>
        </p:txBody>
      </p:sp>
    </p:spTree>
    <p:extLst>
      <p:ext uri="{BB962C8B-B14F-4D97-AF65-F5344CB8AC3E}">
        <p14:creationId xmlns:p14="http://schemas.microsoft.com/office/powerpoint/2010/main" val="1960724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step                    │ change  │ share │</a:t>
            </a:r>
          </a:p>
          <a:p>
            <a:r>
              <a:rPr lang="en-US" dirty="0"/>
              <a:t>│ 81262 → 81757 (50 more epochs, no burn-in) │ −0.274% │ 81%   │</a:t>
            </a:r>
          </a:p>
          <a:p>
            <a:r>
              <a:rPr lang="en-US" dirty="0"/>
              <a:t>│ 81757 → 81758 (burn-in 100 instead of 0)   │ −0.066% │ 19%   │</a:t>
            </a:r>
          </a:p>
          <a:p>
            <a:r>
              <a:rPr lang="en-US" dirty="0"/>
              <a:t>│ 81262 → 81758 (total)                      │ −0.339% │ 100%  │</a:t>
            </a:r>
          </a:p>
          <a:p>
            <a:endParaRPr lang="en-US" dirty="0"/>
          </a:p>
          <a:p>
            <a:endParaRPr lang="en-US" dirty="0"/>
          </a:p>
          <a:p>
            <a:r>
              <a:rPr lang="en-US" dirty="0"/>
              <a:t>│         run         │ iterations │ closure evals │ wall  │     loss before → after     │   outcome   │</a:t>
            </a:r>
          </a:p>
          <a:p>
            <a:r>
              <a:rPr lang="en-US" dirty="0"/>
              <a:t>│ 81757 (burn-in 0)   │ 12         │ 27            │ 466 s │ 1.180768e-09 → 1.137518e-09 │ accepted    │</a:t>
            </a:r>
          </a:p>
          <a:p>
            <a:r>
              <a:rPr lang="en-US" dirty="0"/>
              <a:t>│ 81758 (burn-in 100) │ 13         │ 28            │ 512 s │ 1.042195e-09 → 1.040041e-09 │ rolled back │</a:t>
            </a:r>
            <a:endParaRPr lang="en-NL" dirty="0"/>
          </a:p>
        </p:txBody>
      </p:sp>
      <p:sp>
        <p:nvSpPr>
          <p:cNvPr id="4" name="Slide Number Placeholder 3"/>
          <p:cNvSpPr>
            <a:spLocks noGrp="1"/>
          </p:cNvSpPr>
          <p:nvPr>
            <p:ph type="sldNum" sz="quarter" idx="5"/>
          </p:nvPr>
        </p:nvSpPr>
        <p:spPr/>
        <p:txBody>
          <a:bodyPr/>
          <a:lstStyle/>
          <a:p>
            <a:fld id="{26B64C4C-CBD2-4257-926A-E23DC8EC0706}" type="slidenum">
              <a:rPr lang="en-NL" smtClean="0"/>
              <a:t>27</a:t>
            </a:fld>
            <a:endParaRPr lang="en-NL"/>
          </a:p>
        </p:txBody>
      </p:sp>
    </p:spTree>
    <p:extLst>
      <p:ext uri="{BB962C8B-B14F-4D97-AF65-F5344CB8AC3E}">
        <p14:creationId xmlns:p14="http://schemas.microsoft.com/office/powerpoint/2010/main" val="2223428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Your model cannot be written that way exactly. So Györök's Section 4 locally linearizes with respect to the </a:t>
                </a:r>
                <a:r>
                  <a:rPr lang="en-NL" b="1" dirty="0"/>
                  <a:t>parameters</a:t>
                </a:r>
                <a:r>
                  <a:rPr lang="en-NL" dirty="0"/>
                  <a:t>, not the state:</a:t>
                </a:r>
                <a:endParaRPr lang="en-US" dirty="0"/>
              </a:p>
              <a:p>
                <a:r>
                  <a:rPr lang="en-NL" dirty="0" err="1"/>
                  <a:t>fθ</a:t>
                </a:r>
                <a:r>
                  <a:rPr lang="en-NL" dirty="0"/>
                  <a:t>​(X,U)≈</a:t>
                </a:r>
                <a:r>
                  <a:rPr lang="en-NL" dirty="0" err="1"/>
                  <a:t>fθ</a:t>
                </a:r>
                <a:r>
                  <a:rPr lang="en-NL" dirty="0"/>
                  <a:t>ˉ​(X,U)+∂</a:t>
                </a:r>
                <a:r>
                  <a:rPr lang="en-NL" dirty="0" err="1"/>
                  <a:t>θ∂fθ</a:t>
                </a:r>
                <a:r>
                  <a:rPr lang="en-NL" dirty="0"/>
                  <a:t>​(X,U)​​θˉ​(θ−θˉ). </a:t>
                </a:r>
              </a:p>
              <a:p>
                <a:r>
                  <a:rPr lang="en-NL" dirty="0"/>
                  <a:t>Define</a:t>
                </a:r>
              </a:p>
              <a:p>
                <a:pPr/>
                <a14:m>
                  <m:oMathPara xmlns:m="http://schemas.openxmlformats.org/officeDocument/2006/math">
                    <m:oMath>
                      <m:sSub>
                        <m:sSubPr>
                          <m:ctrlPr>
                            <a:rPr lang="en-NL" sz="1200" kern="1200">
                              <a:solidFill>
                                <a:schemeClr val="tx1"/>
                              </a:solidFill>
                              <a:latin typeface="Cambria Math" panose="02040503050406030204" pitchFamily="18" charset="0"/>
                              <a:ea typeface="+mn-ea"/>
                              <a:cs typeface="+mn-cs"/>
                            </a:rPr>
                          </m:ctrlPr>
                        </m:sSubPr>
                        <m:e>
                          <m:r>
                            <m:rPr>
                              <m:sty m:val="p"/>
                            </m:rPr>
                            <a:rPr lang="en-NL" sz="1200" kern="1200">
                              <a:solidFill>
                                <a:schemeClr val="tx1"/>
                              </a:solidFill>
                              <a:latin typeface="Cambria Math" panose="02040503050406030204" pitchFamily="18" charset="0"/>
                              <a:ea typeface="+mn-ea"/>
                              <a:cs typeface="+mn-cs"/>
                            </a:rPr>
                            <m:t>Φ</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r>
                        <a:rPr lang="en-NL" sz="1200" i="0" kern="1200">
                          <a:solidFill>
                            <a:schemeClr val="tx1"/>
                          </a:solidFill>
                          <a:latin typeface="Cambria Math" panose="02040503050406030204" pitchFamily="18" charset="0"/>
                          <a:ea typeface="+mn-ea"/>
                          <a:cs typeface="+mn-cs"/>
                        </a:rPr>
                        <m:t>=</m:t>
                      </m:r>
                      <m:sSub>
                        <m:sSubPr>
                          <m:ctrlPr>
                            <a:rPr lang="en-NL" sz="1200" i="1" kern="1200">
                              <a:solidFill>
                                <a:schemeClr val="tx1"/>
                              </a:solidFill>
                              <a:latin typeface="Cambria Math" panose="02040503050406030204" pitchFamily="18" charset="0"/>
                              <a:ea typeface="+mn-ea"/>
                              <a:cs typeface="+mn-cs"/>
                            </a:rPr>
                          </m:ctrlPr>
                        </m:sSubPr>
                        <m:e>
                          <m:d>
                            <m:dPr>
                              <m:begChr m:val=""/>
                              <m:endChr m:val="∣"/>
                              <m:ctrlPr>
                                <a:rPr lang="en-NL" sz="1200" i="1" kern="1200">
                                  <a:solidFill>
                                    <a:schemeClr val="tx1"/>
                                  </a:solidFill>
                                  <a:latin typeface="Cambria Math" panose="02040503050406030204" pitchFamily="18" charset="0"/>
                                  <a:ea typeface="+mn-ea"/>
                                  <a:cs typeface="+mn-cs"/>
                                </a:rPr>
                              </m:ctrlPr>
                            </m:dPr>
                            <m:e>
                              <m:f>
                                <m:fPr>
                                  <m:ctrlPr>
                                    <a:rPr lang="en-NL" sz="1200" i="0" kern="1200">
                                      <a:solidFill>
                                        <a:schemeClr val="tx1"/>
                                      </a:solidFill>
                                      <a:latin typeface="Cambria Math" panose="02040503050406030204" pitchFamily="18" charset="0"/>
                                      <a:ea typeface="+mn-ea"/>
                                      <a:cs typeface="+mn-cs"/>
                                    </a:rPr>
                                  </m:ctrlPr>
                                </m:fPr>
                                <m:num>
                                  <m:r>
                                    <a:rPr lang="en-NL" sz="1200" i="0" kern="1200">
                                      <a:solidFill>
                                        <a:schemeClr val="tx1"/>
                                      </a:solidFill>
                                      <a:latin typeface="Cambria Math" panose="02040503050406030204" pitchFamily="18" charset="0"/>
                                      <a:ea typeface="+mn-ea"/>
                                      <a:cs typeface="+mn-cs"/>
                                    </a:rPr>
                                    <m:t>𝜕</m:t>
                                  </m:r>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𝜃</m:t>
                                      </m:r>
                                    </m:sub>
                                  </m:sSub>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num>
                                <m:den>
                                  <m:r>
                                    <a:rPr lang="en-NL" sz="1200" i="0" kern="1200">
                                      <a:solidFill>
                                        <a:schemeClr val="tx1"/>
                                      </a:solidFill>
                                      <a:latin typeface="Cambria Math" panose="02040503050406030204" pitchFamily="18" charset="0"/>
                                      <a:ea typeface="+mn-ea"/>
                                      <a:cs typeface="+mn-cs"/>
                                    </a:rPr>
                                    <m:t>𝜕</m:t>
                                  </m:r>
                                  <m:r>
                                    <a:rPr lang="en-NL" sz="1200" i="1" kern="1200">
                                      <a:solidFill>
                                        <a:schemeClr val="tx1"/>
                                      </a:solidFill>
                                      <a:latin typeface="Cambria Math" panose="02040503050406030204" pitchFamily="18" charset="0"/>
                                      <a:ea typeface="+mn-ea"/>
                                      <a:cs typeface="+mn-cs"/>
                                    </a:rPr>
                                    <m:t>𝜃</m:t>
                                  </m:r>
                                </m:den>
                              </m:f>
                            </m:e>
                          </m:d>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r>
                        <a:rPr lang="en-NL" sz="1200" i="0" kern="1200">
                          <a:solidFill>
                            <a:schemeClr val="tx1"/>
                          </a:solidFill>
                          <a:latin typeface="Cambria Math" panose="02040503050406030204" pitchFamily="18" charset="0"/>
                          <a:ea typeface="+mn-ea"/>
                          <a:cs typeface="+mn-cs"/>
                        </a:rPr>
                        <m:t>.</m:t>
                      </m:r>
                    </m:oMath>
                  </m:oMathPara>
                </a14:m>
                <a:endParaRPr lang="en-NL" dirty="0"/>
              </a:p>
              <a:p>
                <a:r>
                  <a:rPr lang="en-NL" dirty="0"/>
                  <a:t>Then rearrange:</a:t>
                </a:r>
              </a:p>
              <a:p>
                <a:r>
                  <a:rPr lang="en-NL" dirty="0" err="1"/>
                  <a:t>fθ</a:t>
                </a:r>
                <a:r>
                  <a:rPr lang="en-NL" dirty="0"/>
                  <a:t>​≈</a:t>
                </a:r>
                <a:r>
                  <a:rPr lang="en-NL" dirty="0" err="1"/>
                  <a:t>Φθ</a:t>
                </a:r>
                <a:r>
                  <a:rPr lang="en-NL" dirty="0"/>
                  <a:t>ˉ​</a:t>
                </a:r>
                <a:r>
                  <a:rPr lang="en-NL" dirty="0" err="1"/>
                  <a:t>θ+Γθ</a:t>
                </a:r>
                <a:r>
                  <a:rPr lang="en-NL" dirty="0"/>
                  <a:t>ˉ​</a:t>
                </a:r>
                <a:r>
                  <a:rPr lang="en-NL" dirty="0" err="1"/>
                  <a:t>fθ</a:t>
                </a:r>
                <a:r>
                  <a:rPr lang="en-NL" dirty="0"/>
                  <a:t>ˉ​−</a:t>
                </a:r>
                <a:r>
                  <a:rPr lang="en-NL" dirty="0" err="1"/>
                  <a:t>Φθ</a:t>
                </a:r>
                <a:r>
                  <a:rPr lang="en-NL" dirty="0"/>
                  <a:t>ˉ​θˉ​​.</a:t>
                </a:r>
                <a:endParaRPr lang="en-US" dirty="0"/>
              </a:p>
              <a:p>
                <a:endParaRPr lang="en-US" dirty="0"/>
              </a:p>
              <a:p>
                <a:r>
                  <a:rPr lang="en-NL" b="1" dirty="0"/>
                  <a:t>What does </a:t>
                </a:r>
                <a14:m>
                  <m:oMath xmlns:m="http://schemas.openxmlformats.org/officeDocument/2006/math">
                    <m:sSub>
                      <m:sSubPr>
                        <m:ctrlPr>
                          <a:rPr lang="en-NL" sz="1200" kern="1200">
                            <a:solidFill>
                              <a:schemeClr val="tx1"/>
                            </a:solidFill>
                            <a:latin typeface="Cambria Math" panose="02040503050406030204" pitchFamily="18" charset="0"/>
                            <a:ea typeface="+mn-ea"/>
                            <a:cs typeface="+mn-cs"/>
                          </a:rPr>
                        </m:ctrlPr>
                      </m:sSubPr>
                      <m:e>
                        <m:r>
                          <m:rPr>
                            <m:sty m:val="p"/>
                          </m:rPr>
                          <a:rPr lang="en-NL" sz="1200" kern="1200">
                            <a:solidFill>
                              <a:schemeClr val="tx1"/>
                            </a:solidFill>
                            <a:latin typeface="Cambria Math" panose="02040503050406030204" pitchFamily="18" charset="0"/>
                            <a:ea typeface="+mn-ea"/>
                            <a:cs typeface="+mn-cs"/>
                          </a:rPr>
                          <m:t>Φ</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oMath>
                </a14:m>
                <a:r>
                  <a:rPr lang="en-NL" b="1" dirty="0"/>
                  <a:t>mean?</a:t>
                </a:r>
              </a:p>
              <a:p>
                <a:r>
                  <a:rPr lang="en-NL" dirty="0"/>
                  <a:t>Each column answers approximately:</a:t>
                </a:r>
              </a:p>
              <a:p>
                <a:r>
                  <a:rPr lang="en-NL" dirty="0"/>
                  <a:t>“If I perturb this physical parameter, what pattern of change does the physical state transition produce over all the selected operating points?”</a:t>
                </a:r>
              </a:p>
              <a:p>
                <a:endParaRPr lang="en-US" dirty="0"/>
              </a:p>
              <a:p>
                <a:endParaRPr lang="en-US" dirty="0"/>
              </a:p>
              <a:p>
                <a:r>
                  <a:rPr lang="en-NL" b="1" dirty="0"/>
                  <a:t>Why is </a:t>
                </a:r>
                <a14:m>
                  <m:oMath xmlns:m="http://schemas.openxmlformats.org/officeDocument/2006/math">
                    <m:r>
                      <m:rPr>
                        <m:sty m:val="p"/>
                      </m:rPr>
                      <a:rPr lang="en-NL" sz="1200" kern="1200">
                        <a:solidFill>
                          <a:schemeClr val="tx1"/>
                        </a:solidFill>
                        <a:latin typeface="Cambria Math" panose="02040503050406030204" pitchFamily="18" charset="0"/>
                        <a:ea typeface="+mn-ea"/>
                        <a:cs typeface="+mn-cs"/>
                      </a:rPr>
                      <m:t>Γ</m:t>
                    </m:r>
                  </m:oMath>
                </a14:m>
                <a:r>
                  <a:rPr lang="en-NL" b="1" dirty="0"/>
                  <a:t>needed?</a:t>
                </a:r>
              </a:p>
              <a:p>
                <a:r>
                  <a:rPr lang="en-NL" dirty="0"/>
                  <a:t>This is easy to explain incorrectly.</a:t>
                </a:r>
              </a:p>
              <a:p>
                <a:pPr/>
                <a14:m>
                  <m:oMathPara xmlns:m="http://schemas.openxmlformats.org/officeDocument/2006/math">
                    <m:oMath>
                      <m:sSub>
                        <m:sSubPr>
                          <m:ctrlPr>
                            <a:rPr lang="en-NL" sz="1200" kern="1200">
                              <a:solidFill>
                                <a:schemeClr val="tx1"/>
                              </a:solidFill>
                              <a:latin typeface="Cambria Math" panose="02040503050406030204" pitchFamily="18" charset="0"/>
                              <a:ea typeface="+mn-ea"/>
                              <a:cs typeface="+mn-cs"/>
                            </a:rPr>
                          </m:ctrlPr>
                        </m:sSubPr>
                        <m:e>
                          <m:r>
                            <m:rPr>
                              <m:sty m:val="p"/>
                            </m:rPr>
                            <a:rPr lang="en-NL" sz="1200" kern="1200">
                              <a:solidFill>
                                <a:schemeClr val="tx1"/>
                              </a:solidFill>
                              <a:latin typeface="Cambria Math" panose="02040503050406030204" pitchFamily="18" charset="0"/>
                              <a:ea typeface="+mn-ea"/>
                              <a:cs typeface="+mn-cs"/>
                            </a:rPr>
                            <m:t>Γ</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r>
                        <a:rPr lang="en-NL" sz="1200" i="0" kern="1200">
                          <a:solidFill>
                            <a:schemeClr val="tx1"/>
                          </a:solidFill>
                          <a:latin typeface="Cambria Math" panose="02040503050406030204" pitchFamily="18" charset="0"/>
                          <a:ea typeface="+mn-ea"/>
                          <a:cs typeface="+mn-cs"/>
                        </a:rPr>
                        <m:t>=</m:t>
                      </m:r>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𝑓</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r>
                        <a:rPr lang="en-NL" sz="1200" i="0" kern="1200">
                          <a:solidFill>
                            <a:schemeClr val="tx1"/>
                          </a:solidFill>
                          <a:latin typeface="Cambria Math" panose="02040503050406030204" pitchFamily="18" charset="0"/>
                          <a:ea typeface="+mn-ea"/>
                          <a:cs typeface="+mn-cs"/>
                        </a:rPr>
                        <m:t>−</m:t>
                      </m:r>
                      <m:sSub>
                        <m:sSubPr>
                          <m:ctrlPr>
                            <a:rPr lang="en-NL" sz="1200" i="0" kern="1200">
                              <a:solidFill>
                                <a:schemeClr val="tx1"/>
                              </a:solidFill>
                              <a:latin typeface="Cambria Math" panose="02040503050406030204" pitchFamily="18" charset="0"/>
                              <a:ea typeface="+mn-ea"/>
                              <a:cs typeface="+mn-cs"/>
                            </a:rPr>
                          </m:ctrlPr>
                        </m:sSubPr>
                        <m:e>
                          <m:r>
                            <m:rPr>
                              <m:sty m:val="p"/>
                            </m:rPr>
                            <a:rPr lang="en-NL" sz="1200" i="0" kern="1200">
                              <a:solidFill>
                                <a:schemeClr val="tx1"/>
                              </a:solidFill>
                              <a:latin typeface="Cambria Math" panose="02040503050406030204" pitchFamily="18" charset="0"/>
                              <a:ea typeface="+mn-ea"/>
                              <a:cs typeface="+mn-cs"/>
                            </a:rPr>
                            <m:t>Φ</m:t>
                          </m:r>
                        </m:e>
                        <m: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sub>
                      </m:sSub>
                      <m:acc>
                        <m:accPr>
                          <m:chr m:val="̅"/>
                          <m:ctrlPr>
                            <a:rPr lang="en-NL" sz="1200" i="1" kern="1200">
                              <a:solidFill>
                                <a:schemeClr val="tx1"/>
                              </a:solidFill>
                              <a:latin typeface="Cambria Math" panose="02040503050406030204" pitchFamily="18" charset="0"/>
                              <a:ea typeface="+mn-ea"/>
                              <a:cs typeface="+mn-cs"/>
                            </a:rPr>
                          </m:ctrlPr>
                        </m:accPr>
                        <m:e>
                          <m:r>
                            <a:rPr lang="en-NL" sz="1200" i="1" kern="1200">
                              <a:solidFill>
                                <a:schemeClr val="tx1"/>
                              </a:solidFill>
                              <a:latin typeface="Cambria Math" panose="02040503050406030204" pitchFamily="18" charset="0"/>
                              <a:ea typeface="+mn-ea"/>
                              <a:cs typeface="+mn-cs"/>
                            </a:rPr>
                            <m:t>𝜃</m:t>
                          </m:r>
                        </m:e>
                      </m:acc>
                    </m:oMath>
                  </m:oMathPara>
                </a14:m>
                <a:endParaRPr lang="en-NL" dirty="0"/>
              </a:p>
              <a:p>
                <a:r>
                  <a:rPr lang="en-NL" dirty="0"/>
                  <a:t>is the </a:t>
                </a:r>
                <a:r>
                  <a:rPr lang="en-NL" b="1" dirty="0"/>
                  <a:t>affine offset of the local Taylor approximation</a:t>
                </a:r>
                <a:r>
                  <a:rPr lang="en-NL" dirty="0"/>
                  <a:t>.</a:t>
                </a:r>
              </a:p>
              <a:p>
                <a:endParaRPr lang="en-US" dirty="0"/>
              </a:p>
              <a:p>
                <a:r>
                  <a:rPr lang="en-NL" dirty="0"/>
                  <a:t>If the physical model had been linear in parameters, you would simply have</a:t>
                </a:r>
              </a:p>
              <a:p>
                <a:pPr/>
                <a14:m>
                  <m:oMathPara xmlns:m="http://schemas.openxmlformats.org/officeDocument/2006/math">
                    <m:o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𝜃</m:t>
                          </m:r>
                        </m:sub>
                      </m:sSub>
                      <m:r>
                        <a:rPr lang="en-NL" sz="1200" i="0" kern="1200">
                          <a:solidFill>
                            <a:schemeClr val="tx1"/>
                          </a:solidFill>
                          <a:latin typeface="Cambria Math" panose="02040503050406030204" pitchFamily="18" charset="0"/>
                          <a:ea typeface="+mn-ea"/>
                          <a:cs typeface="+mn-cs"/>
                        </a:rPr>
                        <m:t>=</m:t>
                      </m:r>
                      <m:r>
                        <m:rPr>
                          <m:sty m:val="p"/>
                        </m:rPr>
                        <a:rPr lang="en-NL" sz="1200" i="0" kern="1200">
                          <a:solidFill>
                            <a:schemeClr val="tx1"/>
                          </a:solidFill>
                          <a:latin typeface="Cambria Math" panose="02040503050406030204" pitchFamily="18" charset="0"/>
                          <a:ea typeface="+mn-ea"/>
                          <a:cs typeface="+mn-cs"/>
                        </a:rPr>
                        <m:t>Φ</m:t>
                      </m:r>
                      <m:r>
                        <a:rPr lang="en-NL" sz="1200" i="1" kern="1200">
                          <a:solidFill>
                            <a:schemeClr val="tx1"/>
                          </a:solidFill>
                          <a:latin typeface="Cambria Math" panose="02040503050406030204" pitchFamily="18" charset="0"/>
                          <a:ea typeface="+mn-ea"/>
                          <a:cs typeface="+mn-cs"/>
                        </a:rPr>
                        <m:t>𝜃</m:t>
                      </m:r>
                      <m:r>
                        <a:rPr lang="en-NL" sz="1200" i="0" kern="1200">
                          <a:solidFill>
                            <a:schemeClr val="tx1"/>
                          </a:solidFill>
                          <a:latin typeface="Cambria Math" panose="02040503050406030204" pitchFamily="18" charset="0"/>
                          <a:ea typeface="+mn-ea"/>
                          <a:cs typeface="+mn-cs"/>
                        </a:rPr>
                        <m:t>.</m:t>
                      </m:r>
                    </m:oMath>
                  </m:oMathPara>
                </a14:m>
                <a:endParaRPr lang="en-NL" dirty="0"/>
              </a:p>
              <a:p>
                <a:r>
                  <a:rPr lang="en-NL" dirty="0"/>
                  <a:t>But after linearizing a nonlinear parameterization you obtain an affine model:</a:t>
                </a:r>
              </a:p>
              <a:p>
                <a:r>
                  <a:rPr lang="en-NL" dirty="0" err="1"/>
                  <a:t>fθ</a:t>
                </a:r>
                <a:r>
                  <a:rPr lang="en-NL" dirty="0"/>
                  <a:t>​≈</a:t>
                </a:r>
                <a:r>
                  <a:rPr lang="en-NL" dirty="0" err="1"/>
                  <a:t>Φθ+Γ</a:t>
                </a:r>
                <a:r>
                  <a:rPr lang="en-NL" dirty="0"/>
                  <a:t>.</a:t>
                </a:r>
                <a:endParaRPr lang="en-US" dirty="0"/>
              </a:p>
              <a:p>
                <a:endParaRPr lang="en-US" dirty="0"/>
              </a:p>
              <a:p>
                <a:r>
                  <a:rPr lang="en-NL" dirty="0"/>
                  <a:t>Györök therefore introduces the extended coordinate</a:t>
                </a:r>
              </a:p>
              <a:p>
                <a:r>
                  <a:rPr lang="en-NL" dirty="0"/>
                  <a:t>θ=[θ1​]</a:t>
                </a:r>
                <a:endParaRPr lang="en-US" dirty="0"/>
              </a:p>
              <a:p>
                <a:endParaRPr lang="en-US" dirty="0"/>
              </a:p>
              <a:p>
                <a:r>
                  <a:rPr lang="en-US" dirty="0"/>
                  <a:t>WHY THIS SLIDE EXISTS</a:t>
                </a:r>
              </a:p>
              <a:p>
                <a:r>
                  <a:rPr lang="en-US" dirty="0" err="1"/>
                  <a:t>Gyorok's</a:t>
                </a:r>
                <a:r>
                  <a:rPr lang="en-US" dirty="0"/>
                  <a:t> Eq. 9 needs f = </a:t>
                </a:r>
                <a:r>
                  <a:rPr lang="en-US" dirty="0" err="1"/>
                  <a:t>Φθ</a:t>
                </a:r>
                <a:r>
                  <a:rPr lang="en-US" dirty="0"/>
                  <a:t>, linear in the parameters.</a:t>
                </a:r>
              </a:p>
              <a:p>
                <a:r>
                  <a:rPr lang="en-US" dirty="0"/>
                  <a:t>Ours is not: the mass matrix is rational in the masses.</a:t>
                </a:r>
              </a:p>
              <a:p>
                <a:r>
                  <a:rPr lang="en-US" dirty="0"/>
                  <a:t>Sect. 4 is his own fix for exactly that case.</a:t>
                </a:r>
              </a:p>
              <a:p>
                <a:endParaRPr lang="en-US" dirty="0"/>
              </a:p>
              <a:p>
                <a:r>
                  <a:rPr lang="el-GR" dirty="0"/>
                  <a:t>Φ </a:t>
                </a:r>
                <a:r>
                  <a:rPr lang="en-US" dirty="0"/>
                  <a:t>AND </a:t>
                </a:r>
                <a:r>
                  <a:rPr lang="el-GR" dirty="0"/>
                  <a:t>Γ  = </a:t>
                </a:r>
                <a:r>
                  <a:rPr lang="en-US" dirty="0"/>
                  <a:t>first-order Taylor of f around </a:t>
                </a:r>
                <a:r>
                  <a:rPr lang="el-GR" dirty="0"/>
                  <a:t>θ̄ </a:t>
                </a:r>
                <a:endParaRPr lang="en-US" dirty="0"/>
              </a:p>
              <a:p>
                <a:r>
                  <a:rPr lang="el-GR" dirty="0"/>
                  <a:t>  </a:t>
                </a:r>
                <a:r>
                  <a:rPr lang="en-US" dirty="0"/>
                  <a:t>f_</a:t>
                </a:r>
                <a:r>
                  <a:rPr lang="el-GR" dirty="0"/>
                  <a:t>θ  ≈  Φ_θ̄ · θ  +  [ </a:t>
                </a:r>
                <a:r>
                  <a:rPr lang="en-US" dirty="0"/>
                  <a:t>f_</a:t>
                </a:r>
                <a:r>
                  <a:rPr lang="el-GR" dirty="0"/>
                  <a:t>θ̄ − Φ_θ̄ θ̄ ]</a:t>
                </a:r>
                <a:endParaRPr lang="en-US" dirty="0"/>
              </a:p>
              <a:p>
                <a:r>
                  <a:rPr lang="el-GR" dirty="0"/>
                  <a:t>                          </a:t>
                </a:r>
                <a:r>
                  <a:rPr lang="en-US" dirty="0"/>
                  <a:t>this bracket is </a:t>
                </a:r>
                <a:r>
                  <a:rPr lang="el-GR" dirty="0"/>
                  <a:t>Γ</a:t>
                </a:r>
                <a:endParaRPr lang="en-US" dirty="0"/>
              </a:p>
              <a:p>
                <a:endParaRPr lang="en-US" dirty="0"/>
              </a:p>
              <a:p>
                <a:r>
                  <a:rPr lang="en-US" dirty="0" err="1"/>
                  <a:t>Φ_θ</a:t>
                </a:r>
                <a:r>
                  <a:rPr lang="en-US" dirty="0"/>
                  <a:t>̄ = what the physics can CHANGE. </a:t>
                </a:r>
              </a:p>
              <a:p>
                <a:r>
                  <a:rPr lang="en-US" dirty="0"/>
                  <a:t>      Column </a:t>
                </a:r>
                <a:r>
                  <a:rPr lang="en-US" dirty="0" err="1"/>
                  <a:t>i</a:t>
                </a:r>
                <a:r>
                  <a:rPr lang="en-US" dirty="0"/>
                  <a:t> = how the predicted next state moves if parameter </a:t>
                </a:r>
                <a:r>
                  <a:rPr lang="en-US" dirty="0" err="1"/>
                  <a:t>i</a:t>
                </a:r>
                <a:r>
                  <a:rPr lang="en-US" dirty="0"/>
                  <a:t> moves.</a:t>
                </a:r>
              </a:p>
              <a:p>
                <a:r>
                  <a:rPr lang="en-US" dirty="0"/>
                  <a:t>       6 rows per sample, 14 columns. Stacked: 134400 x 14.Γ_θ̄ = what the physics ALREADY DOES at θ̄. No θ in it. One column.</a:t>
                </a:r>
              </a:p>
              <a:p>
                <a:r>
                  <a:rPr lang="en-US" dirty="0"/>
                  <a:t>       Stacked: 134400 x 1.Together [Φ | Γ] times θ̃ = [θ ; 1] recovers the linear form of Eq. 9.That is the whole trick: a nonlinear baseline made linear in an </a:t>
                </a:r>
                <a:r>
                  <a:rPr lang="en-US" dirty="0" err="1"/>
                  <a:t>extendedparameter</a:t>
                </a:r>
                <a:r>
                  <a:rPr lang="en-US" dirty="0"/>
                  <a:t> vector.</a:t>
                </a:r>
              </a:p>
              <a:p>
                <a:endParaRPr lang="en-US" dirty="0"/>
              </a:p>
              <a:p>
                <a:endParaRPr lang="en-US" dirty="0"/>
              </a:p>
              <a:p>
                <a:r>
                  <a:rPr lang="en-US" dirty="0"/>
                  <a:t>THE SVD  (Φ̃ = Q̃ Σ̃ Ṽᵀ, so 134400 x 15)</a:t>
                </a:r>
              </a:p>
              <a:p>
                <a:r>
                  <a:rPr lang="en-US" dirty="0"/>
                  <a:t>Q̃ columns: directions in PREDICTION space the baseline can produce.</a:t>
                </a:r>
              </a:p>
              <a:p>
                <a:r>
                  <a:rPr lang="en-US" dirty="0"/>
                  <a:t>Ṽ columns: the PARAMETER combinations that produce them.</a:t>
                </a:r>
              </a:p>
              <a:p>
                <a:r>
                  <a:rPr lang="en-US" dirty="0"/>
                  <a:t>Σ̃: how strongly each combination shows up in this data.</a:t>
                </a:r>
              </a:p>
              <a:p>
                <a:endParaRPr lang="en-US" dirty="0"/>
              </a:p>
              <a:p>
                <a:endParaRPr lang="en-US" dirty="0"/>
              </a:p>
              <a:p>
                <a:r>
                  <a:rPr lang="en-US" dirty="0"/>
                  <a:t>IF </a:t>
                </a:r>
                <a:r>
                  <a:rPr lang="en-US" dirty="0" err="1"/>
                  <a:t>ASKEDWhy</a:t>
                </a:r>
                <a:r>
                  <a:rPr lang="en-US" dirty="0"/>
                  <a:t> keep Γ at all: without it we protect only directions reached </a:t>
                </a:r>
                <a:r>
                  <a:rPr lang="en-US" dirty="0" err="1"/>
                  <a:t>byCHANGING</a:t>
                </a:r>
                <a:r>
                  <a:rPr lang="en-US" dirty="0"/>
                  <a:t> parameters, not the baseline's own </a:t>
                </a:r>
                <a:r>
                  <a:rPr lang="en-US" dirty="0" err="1"/>
                  <a:t>response.A</a:t>
                </a:r>
                <a:r>
                  <a:rPr lang="en-US" dirty="0"/>
                  <a:t> tiny σ with its Ṽ column = a parameter combination the data cannot </a:t>
                </a:r>
                <a:r>
                  <a:rPr lang="en-US" dirty="0" err="1"/>
                  <a:t>see.We</a:t>
                </a:r>
                <a:r>
                  <a:rPr lang="en-US" dirty="0"/>
                  <a:t> have four of those, at 1e-18: kb1−kb2, cb1−cb2, </a:t>
                </a:r>
                <a:r>
                  <a:rPr lang="en-US" dirty="0" err="1"/>
                  <a:t>Jb−Jh</a:t>
                </a:r>
                <a:r>
                  <a:rPr lang="en-US" dirty="0"/>
                  <a:t>, and a mass </a:t>
                </a:r>
                <a:r>
                  <a:rPr lang="en-US" dirty="0" err="1"/>
                  <a:t>split.So</a:t>
                </a:r>
                <a:r>
                  <a:rPr lang="en-US" dirty="0"/>
                  <a:t> Q̃ is truncated, not all 15 columns. Slide 2 fixes θ̄ = θ0.</a:t>
                </a:r>
                <a:endParaRPr lang="en-NL" dirty="0"/>
              </a:p>
            </p:txBody>
          </p:sp>
        </mc:Choice>
        <mc:Fallback xmlns="">
          <p:sp>
            <p:nvSpPr>
              <p:cNvPr id="3" name="Notes Placeholder 2"/>
              <p:cNvSpPr>
                <a:spLocks noGrp="1"/>
              </p:cNvSpPr>
              <p:nvPr>
                <p:ph type="body" idx="1"/>
              </p:nvPr>
            </p:nvSpPr>
            <p:spPr/>
            <p:txBody>
              <a:bodyPr/>
              <a:lstStyle/>
              <a:p>
                <a:r>
                  <a:rPr lang="en-NL" dirty="0"/>
                  <a:t>Your model cannot be written that way exactly. So Györök's Section 4 locally linearizes with respect to the </a:t>
                </a:r>
                <a:r>
                  <a:rPr lang="en-NL" b="1" dirty="0"/>
                  <a:t>parameters</a:t>
                </a:r>
                <a:r>
                  <a:rPr lang="en-NL" dirty="0"/>
                  <a:t>, not the state:</a:t>
                </a:r>
                <a:endParaRPr lang="en-US" dirty="0"/>
              </a:p>
              <a:p>
                <a:r>
                  <a:rPr lang="en-NL" dirty="0" err="1"/>
                  <a:t>fθ</a:t>
                </a:r>
                <a:r>
                  <a:rPr lang="en-NL" dirty="0"/>
                  <a:t>​(X,U)≈</a:t>
                </a:r>
                <a:r>
                  <a:rPr lang="en-NL" dirty="0" err="1"/>
                  <a:t>fθ</a:t>
                </a:r>
                <a:r>
                  <a:rPr lang="en-NL" dirty="0"/>
                  <a:t>ˉ​(X,U)+∂</a:t>
                </a:r>
                <a:r>
                  <a:rPr lang="en-NL" dirty="0" err="1"/>
                  <a:t>θ∂fθ</a:t>
                </a:r>
                <a:r>
                  <a:rPr lang="en-NL" dirty="0"/>
                  <a:t>​(X,U)​​θˉ​(θ−θˉ). </a:t>
                </a:r>
              </a:p>
              <a:p>
                <a:r>
                  <a:rPr lang="en-NL" dirty="0"/>
                  <a:t>Define</a:t>
                </a:r>
              </a:p>
              <a:p>
                <a:r>
                  <a:rPr lang="en-NL" sz="1200" i="0" kern="1200">
                    <a:solidFill>
                      <a:schemeClr val="tx1"/>
                    </a:solidFill>
                    <a:latin typeface="+mn-lt"/>
                    <a:ea typeface="+mn-ea"/>
                    <a:cs typeface="+mn-cs"/>
                  </a:rPr>
                  <a:t>Φ_𝜃 ̅  (𝑋ⓜ,𝑈)=├ (∂𝑓_𝜃 (𝑋ⓜ,𝑈))/∂𝜃∣_𝜃 ̅ .</a:t>
                </a:r>
                <a:endParaRPr lang="en-NL" dirty="0"/>
              </a:p>
              <a:p>
                <a:r>
                  <a:rPr lang="en-NL" dirty="0"/>
                  <a:t>Then rearrange:</a:t>
                </a:r>
              </a:p>
              <a:p>
                <a:r>
                  <a:rPr lang="en-NL" dirty="0" err="1"/>
                  <a:t>fθ</a:t>
                </a:r>
                <a:r>
                  <a:rPr lang="en-NL" dirty="0"/>
                  <a:t>​≈</a:t>
                </a:r>
                <a:r>
                  <a:rPr lang="en-NL" dirty="0" err="1"/>
                  <a:t>Φθ</a:t>
                </a:r>
                <a:r>
                  <a:rPr lang="en-NL" dirty="0"/>
                  <a:t>ˉ​</a:t>
                </a:r>
                <a:r>
                  <a:rPr lang="en-NL" dirty="0" err="1"/>
                  <a:t>θ+Γθ</a:t>
                </a:r>
                <a:r>
                  <a:rPr lang="en-NL" dirty="0"/>
                  <a:t>ˉ​</a:t>
                </a:r>
                <a:r>
                  <a:rPr lang="en-NL" dirty="0" err="1"/>
                  <a:t>fθ</a:t>
                </a:r>
                <a:r>
                  <a:rPr lang="en-NL" dirty="0"/>
                  <a:t>ˉ​−</a:t>
                </a:r>
                <a:r>
                  <a:rPr lang="en-NL" dirty="0" err="1"/>
                  <a:t>Φθ</a:t>
                </a:r>
                <a:r>
                  <a:rPr lang="en-NL" dirty="0"/>
                  <a:t>ˉ​θˉ​​.</a:t>
                </a:r>
                <a:endParaRPr lang="en-US" dirty="0"/>
              </a:p>
              <a:p>
                <a:endParaRPr lang="en-US" dirty="0"/>
              </a:p>
              <a:p>
                <a:r>
                  <a:rPr lang="en-NL" b="1" dirty="0"/>
                  <a:t>What does </a:t>
                </a:r>
                <a:r>
                  <a:rPr lang="en-NL" sz="1200" i="0" kern="1200">
                    <a:solidFill>
                      <a:schemeClr val="tx1"/>
                    </a:solidFill>
                    <a:latin typeface="+mn-lt"/>
                    <a:ea typeface="+mn-ea"/>
                    <a:cs typeface="+mn-cs"/>
                  </a:rPr>
                  <a:t>Φ_𝜃 ̅ </a:t>
                </a:r>
                <a:r>
                  <a:rPr lang="en-NL" b="1" dirty="0"/>
                  <a:t>mean?</a:t>
                </a:r>
              </a:p>
              <a:p>
                <a:r>
                  <a:rPr lang="en-NL" dirty="0"/>
                  <a:t>Each column answers approximately:</a:t>
                </a:r>
              </a:p>
              <a:p>
                <a:r>
                  <a:rPr lang="en-NL" dirty="0"/>
                  <a:t>“If I perturb this physical parameter, what pattern of change does the physical state transition produce over all the selected operating points?”</a:t>
                </a:r>
              </a:p>
              <a:p>
                <a:endParaRPr lang="en-US" dirty="0"/>
              </a:p>
              <a:p>
                <a:endParaRPr lang="en-US" dirty="0"/>
              </a:p>
              <a:p>
                <a:r>
                  <a:rPr lang="en-NL" b="1" dirty="0"/>
                  <a:t>Why is </a:t>
                </a:r>
                <a:r>
                  <a:rPr lang="en-NL" sz="1200" i="0" kern="1200">
                    <a:solidFill>
                      <a:schemeClr val="tx1"/>
                    </a:solidFill>
                    <a:latin typeface="+mn-lt"/>
                    <a:ea typeface="+mn-ea"/>
                    <a:cs typeface="+mn-cs"/>
                  </a:rPr>
                  <a:t>Γ</a:t>
                </a:r>
                <a:r>
                  <a:rPr lang="en-NL" b="1" dirty="0"/>
                  <a:t>needed?</a:t>
                </a:r>
              </a:p>
              <a:p>
                <a:r>
                  <a:rPr lang="en-NL" dirty="0"/>
                  <a:t>This is easy to explain incorrectly.</a:t>
                </a:r>
              </a:p>
              <a:p>
                <a:r>
                  <a:rPr lang="en-NL" sz="1200" i="0" kern="1200">
                    <a:solidFill>
                      <a:schemeClr val="tx1"/>
                    </a:solidFill>
                    <a:latin typeface="+mn-lt"/>
                    <a:ea typeface="+mn-ea"/>
                    <a:cs typeface="+mn-cs"/>
                  </a:rPr>
                  <a:t>Γ_𝜃 ̅ =𝑓_𝜃 ̅ −Φ_𝜃 ̅  𝜃 ̅</a:t>
                </a:r>
                <a:endParaRPr lang="en-NL" dirty="0"/>
              </a:p>
              <a:p>
                <a:r>
                  <a:rPr lang="en-NL" dirty="0"/>
                  <a:t>is the </a:t>
                </a:r>
                <a:r>
                  <a:rPr lang="en-NL" b="1" dirty="0"/>
                  <a:t>affine offset of the local Taylor approximation</a:t>
                </a:r>
                <a:r>
                  <a:rPr lang="en-NL" dirty="0"/>
                  <a:t>.</a:t>
                </a:r>
              </a:p>
              <a:p>
                <a:endParaRPr lang="en-US" dirty="0"/>
              </a:p>
              <a:p>
                <a:r>
                  <a:rPr lang="en-NL" dirty="0"/>
                  <a:t>If the physical model had been linear in parameters, you would simply have</a:t>
                </a:r>
              </a:p>
              <a:p>
                <a:r>
                  <a:rPr lang="en-NL" sz="1200" i="0" kern="1200">
                    <a:solidFill>
                      <a:schemeClr val="tx1"/>
                    </a:solidFill>
                    <a:latin typeface="+mn-lt"/>
                    <a:ea typeface="+mn-ea"/>
                    <a:cs typeface="+mn-cs"/>
                  </a:rPr>
                  <a:t>𝑓_𝜃=Φ𝜃.</a:t>
                </a:r>
                <a:endParaRPr lang="en-NL" dirty="0"/>
              </a:p>
              <a:p>
                <a:r>
                  <a:rPr lang="en-NL" dirty="0"/>
                  <a:t>But after linearizing a nonlinear parameterization you obtain an affine model:</a:t>
                </a:r>
              </a:p>
              <a:p>
                <a:r>
                  <a:rPr lang="en-NL" dirty="0" err="1"/>
                  <a:t>fθ</a:t>
                </a:r>
                <a:r>
                  <a:rPr lang="en-NL" dirty="0"/>
                  <a:t>​≈</a:t>
                </a:r>
                <a:r>
                  <a:rPr lang="en-NL" dirty="0" err="1"/>
                  <a:t>Φθ+Γ</a:t>
                </a:r>
                <a:r>
                  <a:rPr lang="en-NL" dirty="0"/>
                  <a:t>.</a:t>
                </a:r>
                <a:endParaRPr lang="en-US" dirty="0"/>
              </a:p>
              <a:p>
                <a:endParaRPr lang="en-US" dirty="0"/>
              </a:p>
              <a:p>
                <a:r>
                  <a:rPr lang="en-NL" dirty="0"/>
                  <a:t>Györök therefore introduces the extended coordinate</a:t>
                </a:r>
              </a:p>
              <a:p>
                <a:r>
                  <a:rPr lang="en-NL" dirty="0"/>
                  <a:t>θ=[θ1​]</a:t>
                </a:r>
                <a:endParaRPr lang="en-US" dirty="0"/>
              </a:p>
              <a:p>
                <a:endParaRPr lang="en-US" dirty="0"/>
              </a:p>
              <a:p>
                <a:r>
                  <a:rPr lang="en-US" dirty="0"/>
                  <a:t>WHY THIS SLIDE EXISTS</a:t>
                </a:r>
              </a:p>
              <a:p>
                <a:r>
                  <a:rPr lang="en-US" dirty="0" err="1"/>
                  <a:t>Gyorok's</a:t>
                </a:r>
                <a:r>
                  <a:rPr lang="en-US" dirty="0"/>
                  <a:t> Eq. 9 needs f = </a:t>
                </a:r>
                <a:r>
                  <a:rPr lang="en-US" dirty="0" err="1"/>
                  <a:t>Φθ</a:t>
                </a:r>
                <a:r>
                  <a:rPr lang="en-US" dirty="0"/>
                  <a:t>, linear in the parameters.</a:t>
                </a:r>
              </a:p>
              <a:p>
                <a:r>
                  <a:rPr lang="en-US" dirty="0"/>
                  <a:t>Ours is not: the mass matrix is rational in the masses.</a:t>
                </a:r>
              </a:p>
              <a:p>
                <a:r>
                  <a:rPr lang="en-US" dirty="0"/>
                  <a:t>Sect. 4 is his own fix for exactly that case.</a:t>
                </a:r>
              </a:p>
              <a:p>
                <a:endParaRPr lang="en-US" dirty="0"/>
              </a:p>
              <a:p>
                <a:r>
                  <a:rPr lang="el-GR" dirty="0"/>
                  <a:t>Φ </a:t>
                </a:r>
                <a:r>
                  <a:rPr lang="en-US" dirty="0"/>
                  <a:t>AND </a:t>
                </a:r>
                <a:r>
                  <a:rPr lang="el-GR" dirty="0"/>
                  <a:t>Γ  = </a:t>
                </a:r>
                <a:r>
                  <a:rPr lang="en-US" dirty="0"/>
                  <a:t>first-order Taylor of f around </a:t>
                </a:r>
                <a:r>
                  <a:rPr lang="el-GR" dirty="0"/>
                  <a:t>θ̄ </a:t>
                </a:r>
                <a:endParaRPr lang="en-US" dirty="0"/>
              </a:p>
              <a:p>
                <a:r>
                  <a:rPr lang="el-GR" dirty="0"/>
                  <a:t>  </a:t>
                </a:r>
                <a:r>
                  <a:rPr lang="en-US" dirty="0"/>
                  <a:t>f_</a:t>
                </a:r>
                <a:r>
                  <a:rPr lang="el-GR" dirty="0"/>
                  <a:t>θ  ≈  Φ_θ̄ · θ  +  [ </a:t>
                </a:r>
                <a:r>
                  <a:rPr lang="en-US" dirty="0"/>
                  <a:t>f_</a:t>
                </a:r>
                <a:r>
                  <a:rPr lang="el-GR" dirty="0"/>
                  <a:t>θ̄ − Φ_θ̄ θ̄ ]</a:t>
                </a:r>
                <a:endParaRPr lang="en-US" dirty="0"/>
              </a:p>
              <a:p>
                <a:r>
                  <a:rPr lang="el-GR" dirty="0"/>
                  <a:t>                          </a:t>
                </a:r>
                <a:r>
                  <a:rPr lang="en-US" dirty="0"/>
                  <a:t>this bracket is </a:t>
                </a:r>
                <a:r>
                  <a:rPr lang="el-GR" dirty="0"/>
                  <a:t>Γ</a:t>
                </a:r>
                <a:endParaRPr lang="en-US" dirty="0"/>
              </a:p>
              <a:p>
                <a:endParaRPr lang="en-US" dirty="0"/>
              </a:p>
              <a:p>
                <a:r>
                  <a:rPr lang="en-US" dirty="0" err="1"/>
                  <a:t>Φ_θ</a:t>
                </a:r>
                <a:r>
                  <a:rPr lang="en-US" dirty="0"/>
                  <a:t>̄ = what the physics can CHANGE. </a:t>
                </a:r>
              </a:p>
              <a:p>
                <a:r>
                  <a:rPr lang="en-US" dirty="0"/>
                  <a:t>      Column </a:t>
                </a:r>
                <a:r>
                  <a:rPr lang="en-US" dirty="0" err="1"/>
                  <a:t>i</a:t>
                </a:r>
                <a:r>
                  <a:rPr lang="en-US" dirty="0"/>
                  <a:t> = how the predicted next state moves if parameter </a:t>
                </a:r>
                <a:r>
                  <a:rPr lang="en-US" dirty="0" err="1"/>
                  <a:t>i</a:t>
                </a:r>
                <a:r>
                  <a:rPr lang="en-US" dirty="0"/>
                  <a:t> moves.</a:t>
                </a:r>
              </a:p>
              <a:p>
                <a:r>
                  <a:rPr lang="en-US" dirty="0"/>
                  <a:t>       6 rows per sample, 14 columns. Stacked: 134400 x 14.Γ_θ̄ = what the physics ALREADY DOES at θ̄. No θ in it. One column.</a:t>
                </a:r>
              </a:p>
              <a:p>
                <a:r>
                  <a:rPr lang="en-US" dirty="0"/>
                  <a:t>       Stacked: 134400 x 1.Together [Φ | Γ] times θ̃ = [θ ; 1] recovers the linear form of Eq. 9.That is the whole trick: a nonlinear baseline made linear in an </a:t>
                </a:r>
                <a:r>
                  <a:rPr lang="en-US" dirty="0" err="1"/>
                  <a:t>extendedparameter</a:t>
                </a:r>
                <a:r>
                  <a:rPr lang="en-US" dirty="0"/>
                  <a:t> vector.</a:t>
                </a:r>
              </a:p>
              <a:p>
                <a:endParaRPr lang="en-US" dirty="0"/>
              </a:p>
              <a:p>
                <a:endParaRPr lang="en-US" dirty="0"/>
              </a:p>
              <a:p>
                <a:r>
                  <a:rPr lang="en-US" dirty="0"/>
                  <a:t>THE SVD  (Φ̃ = Q̃ Σ̃ Ṽᵀ, so 134400 x 15)</a:t>
                </a:r>
              </a:p>
              <a:p>
                <a:r>
                  <a:rPr lang="en-US" dirty="0"/>
                  <a:t>Q̃ columns: directions in PREDICTION space the baseline can produce.</a:t>
                </a:r>
              </a:p>
              <a:p>
                <a:r>
                  <a:rPr lang="en-US" dirty="0"/>
                  <a:t>Ṽ columns: the PARAMETER combinations that produce them.</a:t>
                </a:r>
              </a:p>
              <a:p>
                <a:r>
                  <a:rPr lang="en-US" dirty="0"/>
                  <a:t>Σ̃: how strongly each combination shows up in this data.</a:t>
                </a:r>
              </a:p>
              <a:p>
                <a:endParaRPr lang="en-US" dirty="0"/>
              </a:p>
              <a:p>
                <a:endParaRPr lang="en-US" dirty="0"/>
              </a:p>
              <a:p>
                <a:r>
                  <a:rPr lang="en-US" dirty="0"/>
                  <a:t>IF </a:t>
                </a:r>
                <a:r>
                  <a:rPr lang="en-US" dirty="0" err="1"/>
                  <a:t>ASKEDWhy</a:t>
                </a:r>
                <a:r>
                  <a:rPr lang="en-US" dirty="0"/>
                  <a:t> keep Γ at all: without it we protect only directions reached </a:t>
                </a:r>
                <a:r>
                  <a:rPr lang="en-US" dirty="0" err="1"/>
                  <a:t>byCHANGING</a:t>
                </a:r>
                <a:r>
                  <a:rPr lang="en-US" dirty="0"/>
                  <a:t> parameters, not the baseline's own </a:t>
                </a:r>
                <a:r>
                  <a:rPr lang="en-US" dirty="0" err="1"/>
                  <a:t>response.A</a:t>
                </a:r>
                <a:r>
                  <a:rPr lang="en-US" dirty="0"/>
                  <a:t> tiny σ with its Ṽ column = a parameter combination the data cannot </a:t>
                </a:r>
                <a:r>
                  <a:rPr lang="en-US" dirty="0" err="1"/>
                  <a:t>see.We</a:t>
                </a:r>
                <a:r>
                  <a:rPr lang="en-US" dirty="0"/>
                  <a:t> have four of those, at 1e-18: kb1−kb2, cb1−cb2, </a:t>
                </a:r>
                <a:r>
                  <a:rPr lang="en-US" dirty="0" err="1"/>
                  <a:t>Jb−Jh</a:t>
                </a:r>
                <a:r>
                  <a:rPr lang="en-US" dirty="0"/>
                  <a:t>, and a mass </a:t>
                </a:r>
                <a:r>
                  <a:rPr lang="en-US" dirty="0" err="1"/>
                  <a:t>split.So</a:t>
                </a:r>
                <a:r>
                  <a:rPr lang="en-US" dirty="0"/>
                  <a:t> Q̃ is truncated, not all 15 columns. Slide 2 fixes θ̄ = θ0.</a:t>
                </a:r>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29</a:t>
            </a:fld>
            <a:endParaRPr lang="en-NL"/>
          </a:p>
        </p:txBody>
      </p:sp>
    </p:spTree>
    <p:extLst>
      <p:ext uri="{BB962C8B-B14F-4D97-AF65-F5344CB8AC3E}">
        <p14:creationId xmlns:p14="http://schemas.microsoft.com/office/powerpoint/2010/main" val="284147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this is done with detuned parameters, instead of obtaining the parameters from the data.</a:t>
            </a:r>
          </a:p>
          <a:p>
            <a:endParaRPr lang="en-US" dirty="0"/>
          </a:p>
          <a:p>
            <a:r>
              <a:rPr lang="en-NL" dirty="0"/>
              <a:t>SAY — WHAT THE TWO TERMS ARE</a:t>
            </a:r>
          </a:p>
          <a:p>
            <a:r>
              <a:rPr lang="en-NL" dirty="0"/>
              <a:t>• V(sec) = the loss we already minimise.</a:t>
            </a:r>
          </a:p>
          <a:p>
            <a:pPr lvl="0"/>
            <a:r>
              <a:rPr lang="en-NL" dirty="0"/>
              <a:t>Take a window.</a:t>
            </a:r>
          </a:p>
          <a:p>
            <a:pPr lvl="0"/>
            <a:r>
              <a:rPr lang="en-NL" dirty="0"/>
              <a:t>Encode x̂₀ from past measurements.</a:t>
            </a:r>
          </a:p>
          <a:p>
            <a:pPr lvl="0"/>
            <a:r>
              <a:rPr lang="en-NL" dirty="0"/>
              <a:t>Roll the model 400 steps forward with the controller closed around it.</a:t>
            </a:r>
          </a:p>
          <a:p>
            <a:pPr lvl="0"/>
            <a:r>
              <a:rPr lang="en-NL" dirty="0"/>
              <a:t>Compare predicted output to measured output using mean squared error.</a:t>
            </a:r>
          </a:p>
          <a:p>
            <a:pPr lvl="0"/>
            <a:r>
              <a:rPr lang="en-NL" dirty="0"/>
              <a:t>“sec” = sections: the paper splits the data into overlapping subsections.</a:t>
            </a:r>
          </a:p>
          <a:p>
            <a:r>
              <a:rPr lang="en-NL" dirty="0"/>
              <a:t>• β‖Q̃ᵀ </a:t>
            </a:r>
            <a:r>
              <a:rPr lang="en-NL" dirty="0" err="1"/>
              <a:t>f_ANN</a:t>
            </a:r>
            <a:r>
              <a:rPr lang="en-NL" dirty="0"/>
              <a:t>(X,U)‖² = the new term.</a:t>
            </a:r>
          </a:p>
          <a:p>
            <a:pPr lvl="0"/>
            <a:r>
              <a:rPr lang="en-NL" dirty="0"/>
              <a:t>Evaluate the ANN on the FIXED point set from the previous slides.</a:t>
            </a:r>
          </a:p>
          <a:p>
            <a:pPr lvl="0"/>
            <a:r>
              <a:rPr lang="en-NL" dirty="0"/>
              <a:t>Project its output onto the physical response space.</a:t>
            </a:r>
          </a:p>
          <a:p>
            <a:pPr lvl="0"/>
            <a:r>
              <a:rPr lang="en-NL" dirty="0"/>
              <a:t>Square that projection.</a:t>
            </a:r>
          </a:p>
          <a:p>
            <a:pPr lvl="0"/>
            <a:r>
              <a:rPr lang="en-NL" dirty="0"/>
              <a:t>This measures the part of the ANN correction that could instead have been produced by the physical parameters.</a:t>
            </a:r>
          </a:p>
          <a:p>
            <a:pPr lvl="0"/>
            <a:r>
              <a:rPr lang="en-NL" dirty="0"/>
              <a:t>β controls how strongly we penalise that overlap.</a:t>
            </a:r>
          </a:p>
          <a:p>
            <a:r>
              <a:rPr lang="en-NL" dirty="0"/>
              <a:t>WHY Q̃ᵀ AND NOT Q̃Q̃ᵀ?</a:t>
            </a:r>
          </a:p>
          <a:p>
            <a:r>
              <a:rPr lang="en-NL" dirty="0"/>
              <a:t>• Q̃ has orthonormal columns.</a:t>
            </a:r>
          </a:p>
          <a:p>
            <a:r>
              <a:rPr lang="en-NL" dirty="0"/>
              <a:t>• Therefore:</a:t>
            </a:r>
            <a:br>
              <a:rPr lang="en-NL" dirty="0"/>
            </a:br>
            <a:r>
              <a:rPr lang="en-NL" dirty="0"/>
              <a:t>‖Q̃Q̃ᵀf‖² = ‖Q̃ᵀf‖²</a:t>
            </a:r>
          </a:p>
          <a:p>
            <a:r>
              <a:rPr lang="en-NL" dirty="0"/>
              <a:t>• So they give exactly the same penalty.</a:t>
            </a:r>
          </a:p>
          <a:p>
            <a:r>
              <a:rPr lang="en-NL" dirty="0"/>
              <a:t>• Computationally:</a:t>
            </a:r>
          </a:p>
          <a:p>
            <a:pPr lvl="0"/>
            <a:r>
              <a:rPr lang="en-NL" dirty="0"/>
              <a:t>Q̃ᵀf requires only 15 dot products.</a:t>
            </a:r>
          </a:p>
          <a:p>
            <a:pPr lvl="0"/>
            <a:r>
              <a:rPr lang="en-NL" dirty="0"/>
              <a:t>Q̃Q̃ᵀ would involve a 134,400 × 134,400 projector.</a:t>
            </a:r>
          </a:p>
          <a:p>
            <a:r>
              <a:rPr lang="en-NL" dirty="0"/>
              <a:t>• This is an identity, not an approximation.</a:t>
            </a:r>
          </a:p>
          <a:p>
            <a:r>
              <a:rPr lang="en-NL" dirty="0"/>
              <a:t>THE CHOICE ON THIS SLIDE</a:t>
            </a:r>
          </a:p>
          <a:p>
            <a:r>
              <a:rPr lang="en-NL" dirty="0"/>
              <a:t>• θ̄ = the point around which the Taylor expansion was taken on the previous slide.</a:t>
            </a:r>
          </a:p>
          <a:p>
            <a:r>
              <a:rPr lang="en-NL" dirty="0"/>
              <a:t>• Option 1: θ̄ ← θ</a:t>
            </a:r>
          </a:p>
          <a:p>
            <a:pPr lvl="0"/>
            <a:r>
              <a:rPr lang="en-NL" dirty="0"/>
              <a:t>The basis follows the current physical parameters.</a:t>
            </a:r>
          </a:p>
          <a:p>
            <a:pPr lvl="0"/>
            <a:r>
              <a:rPr lang="en-NL" dirty="0"/>
              <a:t>Requires a new Jacobian and SVD every evaluation.</a:t>
            </a:r>
          </a:p>
          <a:p>
            <a:r>
              <a:rPr lang="en-NL" dirty="0"/>
              <a:t>• Option 2: θ̄ = θ₀</a:t>
            </a:r>
          </a:p>
          <a:p>
            <a:pPr lvl="0"/>
            <a:r>
              <a:rPr lang="en-NL" dirty="0"/>
              <a:t>Build the basis once before training.</a:t>
            </a:r>
          </a:p>
          <a:p>
            <a:pPr lvl="0"/>
            <a:r>
              <a:rPr lang="en-NL" dirty="0"/>
              <a:t>Keep it fixed during training.</a:t>
            </a:r>
          </a:p>
          <a:p>
            <a:pPr lvl="0"/>
            <a:r>
              <a:rPr lang="en-NL" dirty="0"/>
              <a:t>This is what we do.</a:t>
            </a:r>
          </a:p>
          <a:p>
            <a:r>
              <a:rPr lang="en-NL" dirty="0"/>
              <a:t>• Paper’s argument:</a:t>
            </a:r>
          </a:p>
          <a:p>
            <a:pPr lvl="0"/>
            <a:r>
              <a:rPr lang="en-NL" dirty="0"/>
              <a:t>θ₀ comes from physics.</a:t>
            </a:r>
          </a:p>
          <a:p>
            <a:pPr lvl="0"/>
            <a:r>
              <a:rPr lang="en-NL" dirty="0"/>
              <a:t>If θ₀ is sufficiently close to the true parameters, the basis remains valid.</a:t>
            </a:r>
          </a:p>
          <a:p>
            <a:r>
              <a:rPr lang="en-NL" dirty="0"/>
              <a:t>• So the fixed-basis approach is the paper’s efficient option, not a shortcut introduced by us.</a:t>
            </a:r>
          </a:p>
          <a:p>
            <a:r>
              <a:rPr lang="en-NL" dirty="0"/>
              <a:t>WHAT IT BUYS US</a:t>
            </a:r>
          </a:p>
          <a:p>
            <a:r>
              <a:rPr lang="en-NL" dirty="0"/>
              <a:t>• Φ̃ never depends on the ANN.</a:t>
            </a:r>
          </a:p>
          <a:p>
            <a:r>
              <a:rPr lang="en-NL" dirty="0"/>
              <a:t>• Therefore the basis requires only one precomputation.</a:t>
            </a:r>
          </a:p>
          <a:p>
            <a:r>
              <a:rPr lang="en-NL" dirty="0"/>
              <a:t>• The penalty gradient reaches only the ANN.</a:t>
            </a:r>
          </a:p>
          <a:p>
            <a:r>
              <a:rPr lang="en-NL" dirty="0"/>
              <a:t>• Physical parameters and encoder are updated through V(sec) alone.</a:t>
            </a:r>
          </a:p>
          <a:p>
            <a:r>
              <a:rPr lang="en-NL" dirty="0"/>
              <a:t>• Verified experimentally:</a:t>
            </a:r>
          </a:p>
          <a:p>
            <a:pPr lvl="0"/>
            <a:r>
              <a:rPr lang="en-NL" dirty="0"/>
              <a:t>Their gradients are bit-identical with β switched on and off.</a:t>
            </a:r>
          </a:p>
          <a:p>
            <a:r>
              <a:rPr lang="en-NL" dirty="0"/>
              <a:t>IF ASKED — COMPUTATIONAL COST</a:t>
            </a:r>
          </a:p>
          <a:p>
            <a:r>
              <a:rPr lang="en-NL" dirty="0"/>
              <a:t>• Recomputing the basis would require:</a:t>
            </a:r>
          </a:p>
          <a:p>
            <a:pPr lvl="0"/>
            <a:r>
              <a:rPr lang="en-NL" dirty="0"/>
              <a:t>One Jacobian.</a:t>
            </a:r>
          </a:p>
          <a:p>
            <a:pPr lvl="0"/>
            <a:r>
              <a:rPr lang="en-NL" dirty="0"/>
              <a:t>One SVD.</a:t>
            </a:r>
          </a:p>
          <a:p>
            <a:pPr lvl="0"/>
            <a:r>
              <a:rPr lang="en-NL" dirty="0"/>
              <a:t>At every update.</a:t>
            </a:r>
          </a:p>
          <a:p>
            <a:r>
              <a:rPr lang="en-NL" dirty="0"/>
              <a:t>• That would happen roughly 6,500 times per training arm.</a:t>
            </a:r>
          </a:p>
          <a:p>
            <a:r>
              <a:rPr lang="en-NL" dirty="0"/>
              <a:t>IF ASKED — IS θ₀ CLOSE ENOUGH?</a:t>
            </a:r>
          </a:p>
          <a:p>
            <a:r>
              <a:rPr lang="en-NL" dirty="0"/>
              <a:t>• In the paper:</a:t>
            </a:r>
          </a:p>
          <a:p>
            <a:pPr lvl="0"/>
            <a:r>
              <a:rPr lang="en-NL" dirty="0"/>
              <a:t>θ₀ is a datasheet-based prior.</a:t>
            </a:r>
          </a:p>
          <a:p>
            <a:r>
              <a:rPr lang="en-NL" dirty="0"/>
              <a:t>• In our case:</a:t>
            </a:r>
          </a:p>
          <a:p>
            <a:pPr lvl="0"/>
            <a:r>
              <a:rPr lang="en-NL" dirty="0"/>
              <a:t>θ₀ is deliberately detuned by 10%.</a:t>
            </a:r>
          </a:p>
          <a:p>
            <a:r>
              <a:rPr lang="en-NL" dirty="0"/>
              <a:t>• Therefore our fixed basis is potentially “staler” than in the paper’s setting.</a:t>
            </a:r>
          </a:p>
          <a:p>
            <a:r>
              <a:rPr lang="en-NL" dirty="0"/>
              <a:t>• We have not measured how much this affects the validity of the basis.</a:t>
            </a:r>
          </a:p>
          <a:p>
            <a:r>
              <a:rPr lang="en-NL" dirty="0"/>
              <a:t>IF ASKED — DIFFERENCE IN LOSS FUNCTION</a:t>
            </a:r>
          </a:p>
          <a:p>
            <a:r>
              <a:rPr lang="en-NL" dirty="0"/>
              <a:t>• Our V(sec):</a:t>
            </a:r>
          </a:p>
          <a:p>
            <a:pPr lvl="0"/>
            <a:r>
              <a:rPr lang="en-NL" dirty="0"/>
              <a:t>400-step prediction loss.</a:t>
            </a:r>
          </a:p>
          <a:p>
            <a:pPr lvl="0"/>
            <a:r>
              <a:rPr lang="en-NL" dirty="0"/>
              <a:t>Closed-loop rollout.</a:t>
            </a:r>
          </a:p>
          <a:p>
            <a:pPr lvl="0"/>
            <a:r>
              <a:rPr lang="en-NL" dirty="0"/>
              <a:t>Initial state obtained from the encoder.</a:t>
            </a:r>
          </a:p>
          <a:p>
            <a:r>
              <a:rPr lang="en-NL" dirty="0"/>
              <a:t>• Paper:</a:t>
            </a:r>
          </a:p>
          <a:p>
            <a:pPr lvl="0"/>
            <a:r>
              <a:rPr lang="en-NL" dirty="0"/>
              <a:t>15-step cost.</a:t>
            </a:r>
          </a:p>
          <a:p>
            <a:pPr lvl="0"/>
            <a:r>
              <a:rPr lang="en-NL" dirty="0"/>
              <a:t>Uses measured initial states.</a:t>
            </a:r>
          </a:p>
          <a:p>
            <a:r>
              <a:rPr lang="en-NL" dirty="0"/>
              <a:t>IF ASKED — WHY β DOES NOT TRANSFER FROM THE PAPER</a:t>
            </a:r>
          </a:p>
          <a:p>
            <a:r>
              <a:rPr lang="en-NL" dirty="0"/>
              <a:t>• Our orthogonality penalty is an </a:t>
            </a:r>
            <a:r>
              <a:rPr lang="en-NL" dirty="0" err="1"/>
              <a:t>unnormalised</a:t>
            </a:r>
            <a:r>
              <a:rPr lang="en-NL" dirty="0"/>
              <a:t> sum over 134,400 rows.</a:t>
            </a:r>
          </a:p>
          <a:p>
            <a:r>
              <a:rPr lang="en-NL" dirty="0"/>
              <a:t>• V(sec) is averaged.</a:t>
            </a:r>
          </a:p>
          <a:p>
            <a:r>
              <a:rPr lang="en-NL" dirty="0"/>
              <a:t>• Therefore the two terms have very different numerical scales.</a:t>
            </a:r>
          </a:p>
          <a:p>
            <a:r>
              <a:rPr lang="en-NL" dirty="0"/>
              <a:t>• β consequently absorbs both:</a:t>
            </a:r>
          </a:p>
          <a:p>
            <a:pPr lvl="0"/>
            <a:r>
              <a:rPr lang="en-NL" dirty="0"/>
              <a:t>The desired strength of the orthogonality constraint.</a:t>
            </a:r>
          </a:p>
          <a:p>
            <a:pPr lvl="0"/>
            <a:r>
              <a:rPr lang="en-NL" dirty="0"/>
              <a:t>The scale mismatch between the two loss terms.</a:t>
            </a:r>
          </a:p>
          <a:p>
            <a:r>
              <a:rPr lang="en-NL" dirty="0"/>
              <a:t>• Therefore the paper’s β value cannot be transferred directly.</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30</a:t>
            </a:fld>
            <a:endParaRPr lang="en-NL"/>
          </a:p>
        </p:txBody>
      </p:sp>
    </p:spTree>
    <p:extLst>
      <p:ext uri="{BB962C8B-B14F-4D97-AF65-F5344CB8AC3E}">
        <p14:creationId xmlns:p14="http://schemas.microsoft.com/office/powerpoint/2010/main" val="1187823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WHERE (X,U) COMES FROM</a:t>
            </a:r>
          </a:p>
          <a:p>
            <a:r>
              <a:rPr lang="en-NL" dirty="0"/>
              <a:t>• Slides 1 and 2 used (X,U) without explaining where it comes from.</a:t>
            </a:r>
          </a:p>
          <a:p>
            <a:r>
              <a:rPr lang="en-NL" dirty="0"/>
              <a:t>• This slide answers that.</a:t>
            </a:r>
          </a:p>
          <a:p>
            <a:r>
              <a:rPr lang="en-NL" dirty="0"/>
              <a:t>• X and U:</a:t>
            </a:r>
          </a:p>
          <a:p>
            <a:pPr lvl="0"/>
            <a:r>
              <a:rPr lang="en-NL" dirty="0"/>
              <a:t>Every visited state and input.</a:t>
            </a:r>
          </a:p>
          <a:p>
            <a:pPr lvl="0"/>
            <a:r>
              <a:rPr lang="en-NL" dirty="0"/>
              <a:t>Stacked into one long column.</a:t>
            </a:r>
          </a:p>
          <a:p>
            <a:r>
              <a:rPr lang="en-NL" dirty="0"/>
              <a:t>• Φ(X,U):</a:t>
            </a:r>
          </a:p>
          <a:p>
            <a:pPr lvl="0"/>
            <a:r>
              <a:rPr lang="en-NL" dirty="0"/>
              <a:t>The sensitivity block evaluated at every sample.</a:t>
            </a:r>
          </a:p>
          <a:p>
            <a:pPr lvl="0"/>
            <a:r>
              <a:rPr lang="en-NL" dirty="0"/>
              <a:t>Stacked in exactly the same way.</a:t>
            </a:r>
          </a:p>
          <a:p>
            <a:pPr lvl="0"/>
            <a:r>
              <a:rPr lang="en-NL" dirty="0"/>
              <a:t>6 rows per sample.</a:t>
            </a:r>
          </a:p>
          <a:p>
            <a:r>
              <a:rPr lang="en-NL" dirty="0"/>
              <a:t>CONNECTION TO THE PAPER</a:t>
            </a:r>
          </a:p>
          <a:p>
            <a:r>
              <a:rPr lang="en-NL" dirty="0"/>
              <a:t>• This is the paper’s LINEAR-in-parameters formulation:</a:t>
            </a:r>
          </a:p>
          <a:p>
            <a:pPr lvl="0"/>
            <a:r>
              <a:rPr lang="en-NL" dirty="0"/>
              <a:t>Equation 9.</a:t>
            </a:r>
          </a:p>
          <a:p>
            <a:r>
              <a:rPr lang="en-NL" dirty="0"/>
              <a:t>• We already saw the nonlinear version on slide 1.</a:t>
            </a:r>
          </a:p>
          <a:p>
            <a:r>
              <a:rPr lang="en-NL" dirty="0"/>
              <a:t>• The stacking is identical.</a:t>
            </a:r>
          </a:p>
          <a:p>
            <a:r>
              <a:rPr lang="en-NL" dirty="0"/>
              <a:t>• The only difference:</a:t>
            </a:r>
          </a:p>
          <a:p>
            <a:pPr lvl="0"/>
            <a:r>
              <a:rPr lang="en-NL" dirty="0"/>
              <a:t>Linear case: Φ</a:t>
            </a:r>
          </a:p>
          <a:p>
            <a:pPr lvl="0"/>
            <a:r>
              <a:rPr lang="en-NL" dirty="0"/>
              <a:t>Nonlinear extension: [Φ | Γ]</a:t>
            </a:r>
          </a:p>
          <a:p>
            <a:r>
              <a:rPr lang="en-NL" dirty="0"/>
              <a:t>• So Γ has not disappeared conceptually.</a:t>
            </a:r>
          </a:p>
          <a:p>
            <a:pPr lvl="0"/>
            <a:r>
              <a:rPr lang="en-NL" dirty="0"/>
              <a:t>Equation 9 is simply the linear special case.</a:t>
            </a:r>
          </a:p>
          <a:p>
            <a:r>
              <a:rPr lang="en-NL" dirty="0"/>
              <a:t>BOTTOM HALF — WHERE THE STATES COME FROM</a:t>
            </a:r>
          </a:p>
          <a:p>
            <a:r>
              <a:rPr lang="en-NL" dirty="0"/>
              <a:t>• The paper’s derivation assumes that the states are measured.</a:t>
            </a:r>
          </a:p>
          <a:p>
            <a:r>
              <a:rPr lang="en-NL" dirty="0"/>
              <a:t>• In our system:</a:t>
            </a:r>
          </a:p>
          <a:p>
            <a:pPr lvl="0"/>
            <a:r>
              <a:rPr lang="en-NL" dirty="0"/>
              <a:t>We measure 3 positions.</a:t>
            </a:r>
          </a:p>
          <a:p>
            <a:pPr lvl="0"/>
            <a:r>
              <a:rPr lang="en-NL" dirty="0"/>
              <a:t>We do NOT directly measure all 6 states.</a:t>
            </a:r>
          </a:p>
          <a:p>
            <a:r>
              <a:rPr lang="en-NL" dirty="0"/>
              <a:t>• The paper gives a fallback:</a:t>
            </a:r>
          </a:p>
          <a:p>
            <a:pPr lvl="0"/>
            <a:r>
              <a:rPr lang="en-NL" dirty="0"/>
              <a:t>Simulate the first-principles model on the training data.</a:t>
            </a:r>
          </a:p>
          <a:p>
            <a:pPr lvl="0"/>
            <a:r>
              <a:rPr lang="en-NL" dirty="0"/>
              <a:t>Use the resulting simulated states.</a:t>
            </a:r>
          </a:p>
          <a:p>
            <a:r>
              <a:rPr lang="en-NL" dirty="0"/>
              <a:t>• That is the branch we take.</a:t>
            </a:r>
          </a:p>
          <a:p>
            <a:r>
              <a:rPr lang="en-NL" dirty="0"/>
              <a:t>• The next slide shows how we perform that simulation.</a:t>
            </a:r>
          </a:p>
          <a:p>
            <a:r>
              <a:rPr lang="en-NL" dirty="0"/>
              <a:t>IF ASKED — IS THE POINT SET FIXED?</a:t>
            </a:r>
          </a:p>
          <a:p>
            <a:r>
              <a:rPr lang="en-NL" dirty="0"/>
              <a:t>• Yes.</a:t>
            </a:r>
          </a:p>
          <a:p>
            <a:r>
              <a:rPr lang="en-NL" dirty="0"/>
              <a:t>• The point set is chosen once, before training.</a:t>
            </a:r>
          </a:p>
          <a:p>
            <a:r>
              <a:rPr lang="en-NL" dirty="0"/>
              <a:t>• It never depends on the ANN.</a:t>
            </a:r>
          </a:p>
          <a:p>
            <a:r>
              <a:rPr lang="en-NL" dirty="0"/>
              <a:t>IF ASKED — HOW GOOD ARE THE SIMULATED STATES?</a:t>
            </a:r>
          </a:p>
          <a:p>
            <a:r>
              <a:rPr lang="en-NL" dirty="0"/>
              <a:t>• The simulated states reproduce the recorded outputs closely.</a:t>
            </a:r>
          </a:p>
          <a:p>
            <a:r>
              <a:rPr lang="en-NL" dirty="0"/>
              <a:t>• Tracking error:</a:t>
            </a:r>
          </a:p>
          <a:p>
            <a:pPr lvl="0"/>
            <a:r>
              <a:rPr lang="en-NL" dirty="0"/>
              <a:t>Approximately 1.4 × 10⁻⁴ in normalised units.</a:t>
            </a:r>
          </a:p>
          <a:p>
            <a:r>
              <a:rPr lang="en-NL" dirty="0"/>
              <a:t>IF ASKED — COULD WE CONSTRUCT THE STATES DIRECTLY FROM DATA?</a:t>
            </a:r>
          </a:p>
          <a:p>
            <a:r>
              <a:rPr lang="en-NL" dirty="0"/>
              <a:t>• Yes.</a:t>
            </a:r>
          </a:p>
          <a:p>
            <a:r>
              <a:rPr lang="en-NL" dirty="0"/>
              <a:t>• Alternative:</a:t>
            </a:r>
          </a:p>
          <a:p>
            <a:pPr lvl="0"/>
            <a:r>
              <a:rPr lang="en-NL" dirty="0"/>
              <a:t>Recover positions by inverting the output map.</a:t>
            </a:r>
          </a:p>
          <a:p>
            <a:pPr lvl="0"/>
            <a:r>
              <a:rPr lang="en-NL" dirty="0"/>
              <a:t>Estimate velocities using finite differences.</a:t>
            </a:r>
          </a:p>
          <a:p>
            <a:r>
              <a:rPr lang="en-NL" dirty="0"/>
              <a:t>• We compared this with the simulation-based states.</a:t>
            </a:r>
          </a:p>
          <a:p>
            <a:r>
              <a:rPr lang="en-NL" dirty="0"/>
              <a:t>• Result:</a:t>
            </a:r>
          </a:p>
          <a:p>
            <a:pPr lvl="0"/>
            <a:r>
              <a:rPr lang="en-NL" dirty="0"/>
              <a:t>Same rank.</a:t>
            </a:r>
          </a:p>
          <a:p>
            <a:pPr lvl="0"/>
            <a:r>
              <a:rPr lang="en-NL" dirty="0"/>
              <a:t>Same spectrum.</a:t>
            </a:r>
          </a:p>
          <a:p>
            <a:pPr lvl="0"/>
            <a:r>
              <a:rPr lang="en-NL" dirty="0"/>
              <a:t>Principal angles below 6° for the eight strongest directions.</a:t>
            </a:r>
          </a:p>
          <a:p>
            <a:r>
              <a:rPr lang="en-NL" dirty="0"/>
              <a:t>• We use the simulation-based approach because:</a:t>
            </a:r>
          </a:p>
          <a:p>
            <a:pPr lvl="0"/>
            <a:r>
              <a:rPr lang="en-NL" dirty="0"/>
              <a:t>It is the fallback explicitly proposed in the paper.</a:t>
            </a:r>
          </a:p>
          <a:p>
            <a:pPr lvl="0"/>
            <a:r>
              <a:rPr lang="en-NL" dirty="0"/>
              <a:t>It avoids differentiating measured signals.</a:t>
            </a:r>
          </a:p>
          <a:p>
            <a:r>
              <a:rPr lang="en-NL" dirty="0"/>
              <a:t>PRESENTING HAZARD — WHY IS Γ MISSING HERE?</a:t>
            </a:r>
          </a:p>
          <a:p>
            <a:r>
              <a:rPr lang="en-NL" dirty="0"/>
              <a:t>• Slide 1 already introduced the nonlinear sensitivity:</a:t>
            </a:r>
            <a:br>
              <a:rPr lang="en-NL" dirty="0"/>
            </a:br>
            <a:r>
              <a:rPr lang="en-NL" dirty="0"/>
              <a:t>Φ̃ = [Φ | Γ]</a:t>
            </a:r>
          </a:p>
          <a:p>
            <a:r>
              <a:rPr lang="en-NL" dirty="0"/>
              <a:t>• This slide shows Equation 9 from the paper using only Φ.</a:t>
            </a:r>
          </a:p>
          <a:p>
            <a:r>
              <a:rPr lang="en-NL" dirty="0"/>
              <a:t>• If asked:</a:t>
            </a:r>
          </a:p>
          <a:p>
            <a:pPr lvl="0"/>
            <a:r>
              <a:rPr lang="en-NL" dirty="0"/>
              <a:t>Equation 9 is the paper’s linear-in-parameters case.</a:t>
            </a:r>
          </a:p>
          <a:p>
            <a:pPr lvl="0"/>
            <a:r>
              <a:rPr lang="en-NL" dirty="0"/>
              <a:t>The nonlinear extension uses exactly the same stacking.</a:t>
            </a:r>
          </a:p>
          <a:p>
            <a:pPr lvl="0"/>
            <a:r>
              <a:rPr lang="en-NL" dirty="0"/>
              <a:t>It simply replaces Φ with [Φ | Γ].</a:t>
            </a:r>
          </a:p>
          <a:p>
            <a:r>
              <a:rPr lang="en-NL" dirty="0"/>
              <a:t>• If the deck order is still movable:</a:t>
            </a:r>
          </a:p>
          <a:p>
            <a:pPr lvl="0"/>
            <a:r>
              <a:rPr lang="en-NL" dirty="0"/>
              <a:t>This slide would read slightly more naturally BEFORE introducing the nonlinear extension.</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31</a:t>
            </a:fld>
            <a:endParaRPr lang="en-NL"/>
          </a:p>
        </p:txBody>
      </p:sp>
    </p:spTree>
    <p:extLst>
      <p:ext uri="{BB962C8B-B14F-4D97-AF65-F5344CB8AC3E}">
        <p14:creationId xmlns:p14="http://schemas.microsoft.com/office/powerpoint/2010/main" val="1630947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HOW THE POINT SET IS BUILT</a:t>
            </a:r>
          </a:p>
          <a:p>
            <a:r>
              <a:rPr lang="en-NL" dirty="0"/>
              <a:t>• Read the chain from left to right:</a:t>
            </a:r>
          </a:p>
          <a:p>
            <a:pPr lvl="0"/>
            <a:r>
              <a:rPr lang="en-NL" dirty="0"/>
              <a:t>Past measured inputs and outputs</a:t>
            </a:r>
          </a:p>
          <a:p>
            <a:pPr lvl="0"/>
            <a:r>
              <a:rPr lang="en-NL" dirty="0"/>
              <a:t>Encoder</a:t>
            </a:r>
          </a:p>
          <a:p>
            <a:pPr lvl="0"/>
            <a:r>
              <a:rPr lang="en-NL" dirty="0"/>
              <a:t>Initial state estimate x̂₀</a:t>
            </a:r>
          </a:p>
          <a:p>
            <a:pPr lvl="0"/>
            <a:r>
              <a:rPr lang="en-NL" dirty="0"/>
              <a:t>400-step rollout of the first-principles model</a:t>
            </a:r>
          </a:p>
          <a:p>
            <a:pPr lvl="0"/>
            <a:r>
              <a:rPr lang="en-NL" dirty="0"/>
              <a:t>Gantry controller remains closed around the model</a:t>
            </a:r>
          </a:p>
          <a:p>
            <a:pPr lvl="0"/>
            <a:r>
              <a:rPr lang="en-NL" dirty="0"/>
              <a:t>ANN is OFF</a:t>
            </a:r>
          </a:p>
          <a:p>
            <a:pPr lvl="0"/>
            <a:r>
              <a:rPr lang="en-NL" dirty="0"/>
              <a:t>Every visited (state, input) pair is stored as one operating point</a:t>
            </a:r>
          </a:p>
          <a:p>
            <a:r>
              <a:rPr lang="en-NL" dirty="0"/>
              <a:t>ROLE OF THE ENCODER</a:t>
            </a:r>
          </a:p>
          <a:p>
            <a:r>
              <a:rPr lang="en-NL" dirty="0"/>
              <a:t>• The encoder is used for ONE thing only:</a:t>
            </a:r>
          </a:p>
          <a:p>
            <a:pPr lvl="0"/>
            <a:r>
              <a:rPr lang="en-NL" dirty="0"/>
              <a:t>Estimating the initial state x̂₀ of each window.</a:t>
            </a:r>
          </a:p>
          <a:p>
            <a:r>
              <a:rPr lang="en-NL" dirty="0"/>
              <a:t>• </a:t>
            </a:r>
            <a:r>
              <a:rPr lang="en-NL" dirty="0" err="1"/>
              <a:t>Gyorok</a:t>
            </a:r>
            <a:r>
              <a:rPr lang="en-NL" dirty="0"/>
              <a:t> does not need an encoder because the state is measured directly.</a:t>
            </a:r>
          </a:p>
          <a:p>
            <a:r>
              <a:rPr lang="en-NL" dirty="0"/>
              <a:t>• We do not measure the full state.</a:t>
            </a:r>
          </a:p>
          <a:p>
            <a:r>
              <a:rPr lang="en-NL" dirty="0"/>
              <a:t>• Therefore our SUBNET encoder enters here:</a:t>
            </a:r>
          </a:p>
          <a:p>
            <a:pPr lvl="0"/>
            <a:r>
              <a:rPr lang="en-NL" dirty="0"/>
              <a:t>To initialise each rollout.</a:t>
            </a:r>
          </a:p>
          <a:p>
            <a:pPr lvl="0"/>
            <a:r>
              <a:rPr lang="en-NL" dirty="0"/>
              <a:t>Nowhere else in the point-set construction.</a:t>
            </a:r>
          </a:p>
          <a:p>
            <a:r>
              <a:rPr lang="en-NL" dirty="0"/>
              <a:t>THE ADAPTATION ON THIS SLIDE</a:t>
            </a:r>
          </a:p>
          <a:p>
            <a:r>
              <a:rPr lang="en-NL" dirty="0"/>
              <a:t>• </a:t>
            </a:r>
            <a:r>
              <a:rPr lang="en-NL" dirty="0" err="1"/>
              <a:t>Gyorok</a:t>
            </a:r>
            <a:r>
              <a:rPr lang="en-NL" dirty="0"/>
              <a:t>:</a:t>
            </a:r>
          </a:p>
          <a:p>
            <a:pPr lvl="0"/>
            <a:r>
              <a:rPr lang="en-NL" dirty="0"/>
              <a:t>Simulates the first-principles model OPEN LOOP.</a:t>
            </a:r>
          </a:p>
          <a:p>
            <a:pPr lvl="0"/>
            <a:r>
              <a:rPr lang="en-NL" dirty="0"/>
              <a:t>Uses the recorded input.</a:t>
            </a:r>
          </a:p>
          <a:p>
            <a:r>
              <a:rPr lang="en-NL" dirty="0"/>
              <a:t>• We:</a:t>
            </a:r>
          </a:p>
          <a:p>
            <a:pPr lvl="0"/>
            <a:r>
              <a:rPr lang="en-NL" dirty="0"/>
              <a:t>Simulate the first-principles model CLOSED LOOP.</a:t>
            </a:r>
          </a:p>
          <a:p>
            <a:pPr lvl="0"/>
            <a:r>
              <a:rPr lang="en-NL" dirty="0"/>
              <a:t>Recompute the controller action during the rollout.</a:t>
            </a:r>
          </a:p>
          <a:p>
            <a:r>
              <a:rPr lang="en-NL" dirty="0"/>
              <a:t>WHY CLOSED LOOP?</a:t>
            </a:r>
          </a:p>
          <a:p>
            <a:r>
              <a:rPr lang="en-NL" dirty="0"/>
              <a:t>• Our data only exist in closed loop.</a:t>
            </a:r>
          </a:p>
          <a:p>
            <a:r>
              <a:rPr lang="en-NL" dirty="0"/>
              <a:t>• An open-loop first-principles simulation drifts away from the data.</a:t>
            </a:r>
          </a:p>
          <a:p>
            <a:r>
              <a:rPr lang="en-NL" dirty="0"/>
              <a:t>• This is especially problematic because:</a:t>
            </a:r>
          </a:p>
          <a:p>
            <a:pPr lvl="0"/>
            <a:r>
              <a:rPr lang="en-NL" dirty="0"/>
              <a:t>The X and Y axes are marginally stable.</a:t>
            </a:r>
          </a:p>
          <a:p>
            <a:r>
              <a:rPr lang="en-NL" dirty="0"/>
              <a:t>• If we used that drifting rollout:</a:t>
            </a:r>
          </a:p>
          <a:p>
            <a:pPr lvl="0"/>
            <a:r>
              <a:rPr lang="en-NL" dirty="0"/>
              <a:t>The point set would describe operating conditions the model never actually sees.</a:t>
            </a:r>
          </a:p>
          <a:p>
            <a:r>
              <a:rPr lang="en-NL" dirty="0"/>
              <a:t>• With the controller closed:</a:t>
            </a:r>
          </a:p>
          <a:p>
            <a:pPr lvl="0"/>
            <a:r>
              <a:rPr lang="en-NL" dirty="0"/>
              <a:t>The simulated rollout stays close to the recorded trajectory.</a:t>
            </a:r>
          </a:p>
          <a:p>
            <a:r>
              <a:rPr lang="en-NL" dirty="0"/>
              <a:t>• Measured tracking error:</a:t>
            </a:r>
          </a:p>
          <a:p>
            <a:pPr lvl="0"/>
            <a:r>
              <a:rPr lang="en-NL" dirty="0"/>
              <a:t>Approximately 1.4 × 10⁻⁴ in normalised output units.</a:t>
            </a:r>
          </a:p>
          <a:p>
            <a:r>
              <a:rPr lang="en-NL" dirty="0"/>
              <a:t>THE COUNTS — WHERE 134,400 COMES FROM</a:t>
            </a:r>
          </a:p>
          <a:p>
            <a:r>
              <a:rPr lang="en-NL" dirty="0"/>
              <a:t>• 4 windows per trajectory</a:t>
            </a:r>
          </a:p>
          <a:p>
            <a:r>
              <a:rPr lang="en-NL" dirty="0"/>
              <a:t>• 14 training trajectories</a:t>
            </a:r>
          </a:p>
          <a:p>
            <a:r>
              <a:rPr lang="en-NL" dirty="0"/>
              <a:t>• Therefore:</a:t>
            </a:r>
            <a:br>
              <a:rPr lang="en-NL" dirty="0"/>
            </a:br>
            <a:r>
              <a:rPr lang="en-NL" dirty="0"/>
              <a:t>4 × 14 = 56 windows</a:t>
            </a:r>
          </a:p>
          <a:p>
            <a:r>
              <a:rPr lang="en-NL" dirty="0"/>
              <a:t>• Each window contains:</a:t>
            </a:r>
            <a:br>
              <a:rPr lang="en-NL" dirty="0"/>
            </a:br>
            <a:r>
              <a:rPr lang="en-NL" dirty="0"/>
              <a:t>400 samples</a:t>
            </a:r>
          </a:p>
          <a:p>
            <a:r>
              <a:rPr lang="en-NL" dirty="0"/>
              <a:t>• Therefore:</a:t>
            </a:r>
            <a:br>
              <a:rPr lang="en-NL" dirty="0"/>
            </a:br>
            <a:r>
              <a:rPr lang="en-NL" dirty="0"/>
              <a:t>56 × 400 = 22,400 operating points</a:t>
            </a:r>
          </a:p>
          <a:p>
            <a:r>
              <a:rPr lang="en-NL" dirty="0"/>
              <a:t>• Each operating point contributes:</a:t>
            </a:r>
            <a:br>
              <a:rPr lang="en-NL" dirty="0"/>
            </a:br>
            <a:r>
              <a:rPr lang="en-NL" dirty="0"/>
              <a:t>6 state rows</a:t>
            </a:r>
          </a:p>
          <a:p>
            <a:r>
              <a:rPr lang="en-NL" dirty="0"/>
              <a:t>• Therefore:</a:t>
            </a:r>
            <a:br>
              <a:rPr lang="en-NL" dirty="0"/>
            </a:br>
            <a:r>
              <a:rPr lang="en-NL" dirty="0"/>
              <a:t>22,400 × 6 = 134,400 rows</a:t>
            </a:r>
          </a:p>
          <a:p>
            <a:r>
              <a:rPr lang="en-NL" dirty="0"/>
              <a:t>• Final regressor size:</a:t>
            </a:r>
          </a:p>
          <a:p>
            <a:pPr lvl="0"/>
            <a:r>
              <a:rPr lang="en-NL" dirty="0"/>
              <a:t>134,400 rows</a:t>
            </a:r>
          </a:p>
          <a:p>
            <a:pPr lvl="0"/>
            <a:r>
              <a:rPr lang="en-NL" dirty="0"/>
              <a:t>15 columns</a:t>
            </a:r>
          </a:p>
          <a:p>
            <a:r>
              <a:rPr lang="en-NL" dirty="0"/>
              <a:t>IF ASKED — WHY IS THE ANN OFF?</a:t>
            </a:r>
          </a:p>
          <a:p>
            <a:r>
              <a:rPr lang="en-NL" dirty="0"/>
              <a:t>• The point set should describe what the BASELINE model can do.</a:t>
            </a:r>
          </a:p>
          <a:p>
            <a:r>
              <a:rPr lang="en-NL" dirty="0"/>
              <a:t>• It should not depend on the augmented model.</a:t>
            </a:r>
          </a:p>
          <a:p>
            <a:r>
              <a:rPr lang="en-NL" dirty="0"/>
              <a:t>• Therefore the ANN is disabled during construction.</a:t>
            </a:r>
          </a:p>
          <a:p>
            <a:r>
              <a:rPr lang="en-NL" dirty="0"/>
              <a:t>• Additional benefit with latent augmentation states:</a:t>
            </a:r>
          </a:p>
          <a:p>
            <a:pPr lvl="0"/>
            <a:r>
              <a:rPr lang="en-NL" dirty="0"/>
              <a:t>They remain exactly zero.</a:t>
            </a:r>
          </a:p>
          <a:p>
            <a:r>
              <a:rPr lang="en-NL" dirty="0"/>
              <a:t>IF ASKED — WHY 400 STEPS?</a:t>
            </a:r>
          </a:p>
          <a:p>
            <a:r>
              <a:rPr lang="en-NL" dirty="0"/>
              <a:t>• 400 steps is the training horizon.</a:t>
            </a:r>
          </a:p>
          <a:p>
            <a:r>
              <a:rPr lang="en-NL" dirty="0"/>
              <a:t>• So the operating points are collected over the same horizon used by the training objective.</a:t>
            </a:r>
          </a:p>
          <a:p>
            <a:r>
              <a:rPr lang="en-NL" dirty="0"/>
              <a:t>IF ASKED — WHY ONLY 4 WINDOWS PER TRAJECTORY?</a:t>
            </a:r>
          </a:p>
          <a:p>
            <a:r>
              <a:rPr lang="en-NL" dirty="0"/>
              <a:t>• It is a coverage-versus-computational-cost choice.</a:t>
            </a:r>
          </a:p>
          <a:p>
            <a:r>
              <a:rPr lang="en-NL" dirty="0"/>
              <a:t>• Even with only 4 windows:</a:t>
            </a:r>
          </a:p>
          <a:p>
            <a:pPr lvl="0"/>
            <a:r>
              <a:rPr lang="en-NL" dirty="0"/>
              <a:t>We obtain 22,400 operating points.</a:t>
            </a:r>
          </a:p>
          <a:p>
            <a:pPr lvl="0"/>
            <a:r>
              <a:rPr lang="en-NL" dirty="0"/>
              <a:t>The regressor has only 15 columns.</a:t>
            </a:r>
          </a:p>
          <a:p>
            <a:r>
              <a:rPr lang="en-NL" dirty="0"/>
              <a:t>• Therefore the stacked matrix is already extremely tall relative to its width.</a:t>
            </a:r>
          </a:p>
          <a:p>
            <a:r>
              <a:rPr lang="en-NL" dirty="0"/>
              <a:t>• This comfortably satisfies the paper’s requirement that the stack be much taller than it is wide.</a:t>
            </a:r>
          </a:p>
          <a:p>
            <a:r>
              <a:rPr lang="en-NL" dirty="0"/>
              <a:t>IF ASKED — WHICH WINDOWS ARE USED?</a:t>
            </a:r>
          </a:p>
          <a:p>
            <a:r>
              <a:rPr lang="en-NL" dirty="0"/>
              <a:t>• Windows come only from the training trajectories.</a:t>
            </a:r>
          </a:p>
          <a:p>
            <a:r>
              <a:rPr lang="en-NL" dirty="0"/>
              <a:t>• They are selected using a fixed random seed.</a:t>
            </a:r>
          </a:p>
          <a:p>
            <a:r>
              <a:rPr lang="en-NL" dirty="0"/>
              <a:t>• Therefore the point set is reproducible.</a:t>
            </a:r>
          </a:p>
          <a:p>
            <a:r>
              <a:rPr lang="en-NL" dirty="0"/>
              <a:t>IF ASKED — IS THE CONTROLLER REPLAYED OR RECOMPUTED?</a:t>
            </a:r>
          </a:p>
          <a:p>
            <a:r>
              <a:rPr lang="en-NL" dirty="0"/>
              <a:t>• Recomputed.</a:t>
            </a:r>
          </a:p>
          <a:p>
            <a:r>
              <a:rPr lang="en-NL" dirty="0"/>
              <a:t>• The controller is evaluated during the simulated rollout.</a:t>
            </a:r>
          </a:p>
          <a:p>
            <a:r>
              <a:rPr lang="en-NL" dirty="0"/>
              <a:t>• The next slide explains this in detail.</a:t>
            </a:r>
          </a:p>
          <a:p>
            <a:r>
              <a:rPr lang="en-NL" dirty="0"/>
              <a:t>WORDING — “NOMINAL FP MODEL”</a:t>
            </a:r>
          </a:p>
          <a:p>
            <a:r>
              <a:rPr lang="en-NL" dirty="0"/>
              <a:t>• On the slide, “nominal FP model” means:</a:t>
            </a:r>
          </a:p>
          <a:p>
            <a:pPr lvl="0"/>
            <a:r>
              <a:rPr lang="en-NL" dirty="0"/>
              <a:t>The first-principles model evaluated at θ₀.</a:t>
            </a:r>
          </a:p>
          <a:p>
            <a:r>
              <a:rPr lang="en-NL" dirty="0"/>
              <a:t>• θ₀ is the run’s STARTING parameter vector.</a:t>
            </a:r>
          </a:p>
          <a:p>
            <a:r>
              <a:rPr lang="en-NL" dirty="0"/>
              <a:t>• In these experiments:</a:t>
            </a:r>
          </a:p>
          <a:p>
            <a:pPr lvl="0"/>
            <a:r>
              <a:rPr lang="en-NL" dirty="0"/>
              <a:t>θ₀ is deliberately detuned by 10%.</a:t>
            </a:r>
          </a:p>
          <a:p>
            <a:pPr lvl="0"/>
            <a:r>
              <a:rPr lang="en-NL" dirty="0"/>
              <a:t>It is not the true parameter vector.</a:t>
            </a:r>
          </a:p>
          <a:p>
            <a:r>
              <a:rPr lang="en-NL" dirty="0"/>
              <a:t>• If there is any confusion, say:</a:t>
            </a:r>
            <a:br>
              <a:rPr lang="en-NL" dirty="0"/>
            </a:br>
            <a:r>
              <a:rPr lang="en-NL" dirty="0"/>
              <a:t>“First-principles model at θ₀.”</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32</a:t>
            </a:fld>
            <a:endParaRPr lang="en-NL"/>
          </a:p>
        </p:txBody>
      </p:sp>
    </p:spTree>
    <p:extLst>
      <p:ext uri="{BB962C8B-B14F-4D97-AF65-F5344CB8AC3E}">
        <p14:creationId xmlns:p14="http://schemas.microsoft.com/office/powerpoint/2010/main" val="4274016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THE ONE IDEA</a:t>
            </a:r>
          </a:p>
          <a:p>
            <a:r>
              <a:rPr lang="en-NL" dirty="0"/>
              <a:t>• This is a RESIDUAL feedback loop.</a:t>
            </a:r>
          </a:p>
          <a:p>
            <a:r>
              <a:rPr lang="en-NL" dirty="0"/>
              <a:t>• The model is driven by:</a:t>
            </a:r>
          </a:p>
          <a:p>
            <a:pPr lvl="0"/>
            <a:r>
              <a:rPr lang="en-NL" dirty="0"/>
              <a:t>The recorded plant input</a:t>
            </a:r>
          </a:p>
          <a:p>
            <a:pPr lvl="0"/>
            <a:r>
              <a:rPr lang="en-NL" dirty="0"/>
              <a:t>Plus a correction from the controller</a:t>
            </a:r>
          </a:p>
          <a:p>
            <a:r>
              <a:rPr lang="en-NL" dirty="0"/>
              <a:t>• That correction is based on the mismatch between:</a:t>
            </a:r>
          </a:p>
          <a:p>
            <a:pPr lvl="0"/>
            <a:r>
              <a:rPr lang="en-NL" dirty="0"/>
              <a:t>Measured output </a:t>
            </a:r>
            <a:r>
              <a:rPr lang="en-NL" dirty="0" err="1"/>
              <a:t>y_data</a:t>
            </a:r>
            <a:endParaRPr lang="en-NL" dirty="0"/>
          </a:p>
          <a:p>
            <a:pPr lvl="0"/>
            <a:r>
              <a:rPr lang="en-NL" dirty="0"/>
              <a:t>Simulated output ŷ</a:t>
            </a:r>
          </a:p>
          <a:p>
            <a:r>
              <a:rPr lang="en-NL" dirty="0"/>
              <a:t>• If the model were perfect:</a:t>
            </a:r>
          </a:p>
          <a:p>
            <a:pPr lvl="0"/>
            <a:r>
              <a:rPr lang="en-NL" dirty="0"/>
              <a:t>ŷ = </a:t>
            </a:r>
            <a:r>
              <a:rPr lang="en-NL" dirty="0" err="1"/>
              <a:t>y_data</a:t>
            </a:r>
            <a:endParaRPr lang="en-NL" dirty="0"/>
          </a:p>
          <a:p>
            <a:pPr lvl="0"/>
            <a:r>
              <a:rPr lang="en-NL" dirty="0"/>
              <a:t>The error is zero</a:t>
            </a:r>
          </a:p>
          <a:p>
            <a:pPr lvl="0"/>
            <a:r>
              <a:rPr lang="en-NL" dirty="0"/>
              <a:t>The controller correction is zero</a:t>
            </a:r>
          </a:p>
          <a:p>
            <a:pPr lvl="0"/>
            <a:r>
              <a:rPr lang="en-NL" dirty="0"/>
              <a:t>The model sees exactly the recorded input</a:t>
            </a:r>
          </a:p>
          <a:p>
            <a:r>
              <a:rPr lang="en-NL" dirty="0"/>
              <a:t>• So the correction acts ONLY when the simulation begins to deviate.</a:t>
            </a:r>
          </a:p>
          <a:p>
            <a:r>
              <a:rPr lang="en-NL" dirty="0"/>
              <a:t>• This is what keeps the simulated point set close to the measured data.</a:t>
            </a:r>
          </a:p>
          <a:p>
            <a:r>
              <a:rPr lang="en-NL" dirty="0"/>
              <a:t>STEP 1 — REPLAY THE RECORDED INPUT</a:t>
            </a:r>
          </a:p>
          <a:p>
            <a:r>
              <a:rPr lang="en-NL" dirty="0"/>
              <a:t>• The recorded input already contains the </a:t>
            </a:r>
            <a:r>
              <a:rPr lang="en-NL" dirty="0" err="1"/>
              <a:t>multisine</a:t>
            </a:r>
            <a:r>
              <a:rPr lang="en-NL" dirty="0"/>
              <a:t>.</a:t>
            </a:r>
          </a:p>
          <a:p>
            <a:r>
              <a:rPr lang="en-NL" dirty="0"/>
              <a:t>• That is how the original data were generated.</a:t>
            </a:r>
          </a:p>
          <a:p>
            <a:r>
              <a:rPr lang="en-NL" dirty="0"/>
              <a:t>• Therefore we replay:</a:t>
            </a:r>
            <a:br>
              <a:rPr lang="en-NL" dirty="0"/>
            </a:br>
            <a:r>
              <a:rPr lang="en-NL" dirty="0" err="1"/>
              <a:t>u_total</a:t>
            </a:r>
            <a:endParaRPr lang="en-NL" dirty="0"/>
          </a:p>
          <a:p>
            <a:r>
              <a:rPr lang="en-NL" dirty="0"/>
              <a:t>• We do NOT add the </a:t>
            </a:r>
            <a:r>
              <a:rPr lang="en-NL" dirty="0" err="1"/>
              <a:t>multisine</a:t>
            </a:r>
            <a:r>
              <a:rPr lang="en-NL" dirty="0"/>
              <a:t> again.</a:t>
            </a:r>
          </a:p>
          <a:p>
            <a:r>
              <a:rPr lang="en-NL" dirty="0"/>
              <a:t>• Otherwise we would inject it twice.</a:t>
            </a:r>
          </a:p>
          <a:p>
            <a:r>
              <a:rPr lang="en-NL" dirty="0"/>
              <a:t>• Verified from the stored data:</a:t>
            </a:r>
            <a:br>
              <a:rPr lang="en-NL" dirty="0"/>
            </a:br>
            <a:r>
              <a:rPr lang="en-NL" dirty="0" err="1"/>
              <a:t>u_total</a:t>
            </a:r>
            <a:r>
              <a:rPr lang="en-NL" dirty="0"/>
              <a:t> − (</a:t>
            </a:r>
            <a:r>
              <a:rPr lang="en-NL" dirty="0" err="1"/>
              <a:t>u_fb</a:t>
            </a:r>
            <a:r>
              <a:rPr lang="en-NL" dirty="0"/>
              <a:t> + </a:t>
            </a:r>
            <a:r>
              <a:rPr lang="en-NL" dirty="0" err="1"/>
              <a:t>f_ms</a:t>
            </a:r>
            <a:r>
              <a:rPr lang="en-NL" dirty="0"/>
              <a:t>) ≈ 1.5 × 10⁻⁵ N</a:t>
            </a:r>
          </a:p>
          <a:p>
            <a:r>
              <a:rPr lang="en-NL" dirty="0"/>
              <a:t>• So </a:t>
            </a:r>
            <a:r>
              <a:rPr lang="en-NL" dirty="0" err="1"/>
              <a:t>u_total</a:t>
            </a:r>
            <a:r>
              <a:rPr lang="en-NL" dirty="0"/>
              <a:t> already contains both:</a:t>
            </a:r>
          </a:p>
          <a:p>
            <a:pPr lvl="0"/>
            <a:r>
              <a:rPr lang="en-NL" dirty="0"/>
              <a:t>Feedback-controller input</a:t>
            </a:r>
          </a:p>
          <a:p>
            <a:pPr lvl="0"/>
            <a:r>
              <a:rPr lang="en-NL" dirty="0" err="1"/>
              <a:t>Multisine</a:t>
            </a:r>
            <a:r>
              <a:rPr lang="en-NL" dirty="0"/>
              <a:t> excitation</a:t>
            </a:r>
          </a:p>
          <a:p>
            <a:r>
              <a:rPr lang="en-NL" dirty="0"/>
              <a:t>STEP 2 — COMPUTE THE RESIDUAL CORRECTION</a:t>
            </a:r>
          </a:p>
          <a:p>
            <a:r>
              <a:rPr lang="en-NL" dirty="0"/>
              <a:t>• Compute the simulated output ŷ from the current model state.</a:t>
            </a:r>
          </a:p>
          <a:p>
            <a:r>
              <a:rPr lang="en-NL" dirty="0"/>
              <a:t>• Form the error against the MEASURED output:</a:t>
            </a:r>
            <a:br>
              <a:rPr lang="en-NL" dirty="0"/>
            </a:br>
            <a:r>
              <a:rPr lang="en-NL" dirty="0" err="1"/>
              <a:t>y_data</a:t>
            </a:r>
            <a:r>
              <a:rPr lang="en-NL" dirty="0"/>
              <a:t> − ŷ</a:t>
            </a:r>
          </a:p>
          <a:p>
            <a:r>
              <a:rPr lang="en-NL" dirty="0"/>
              <a:t>• Pass this error through controller </a:t>
            </a:r>
            <a:r>
              <a:rPr lang="en-NL" dirty="0" err="1"/>
              <a:t>C_j</a:t>
            </a:r>
            <a:r>
              <a:rPr lang="en-NL" dirty="0"/>
              <a:t>.</a:t>
            </a:r>
          </a:p>
          <a:p>
            <a:r>
              <a:rPr lang="en-NL" dirty="0"/>
              <a:t>• </a:t>
            </a:r>
            <a:r>
              <a:rPr lang="en-NL" dirty="0" err="1"/>
              <a:t>C_j</a:t>
            </a:r>
            <a:r>
              <a:rPr lang="en-NL" dirty="0"/>
              <a:t> is trajectory-specific.</a:t>
            </a:r>
          </a:p>
          <a:p>
            <a:r>
              <a:rPr lang="en-NL" dirty="0"/>
              <a:t>• Reason:</a:t>
            </a:r>
          </a:p>
          <a:p>
            <a:pPr lvl="0"/>
            <a:r>
              <a:rPr lang="en-NL" dirty="0"/>
              <a:t>The controller was designed for the Y position of that trajectory.</a:t>
            </a:r>
          </a:p>
          <a:p>
            <a:r>
              <a:rPr lang="en-NL" dirty="0"/>
              <a:t>• Across the 22 records:</a:t>
            </a:r>
          </a:p>
          <a:p>
            <a:pPr lvl="0"/>
            <a:r>
              <a:rPr lang="en-NL" dirty="0"/>
              <a:t>There are 9 distinct controllers.</a:t>
            </a:r>
          </a:p>
          <a:p>
            <a:r>
              <a:rPr lang="en-NL" dirty="0"/>
              <a:t>• Each </a:t>
            </a:r>
            <a:r>
              <a:rPr lang="en-NL" dirty="0" err="1"/>
              <a:t>C_j</a:t>
            </a:r>
            <a:r>
              <a:rPr lang="en-NL" dirty="0"/>
              <a:t> is dynamic:</a:t>
            </a:r>
          </a:p>
          <a:p>
            <a:pPr lvl="0"/>
            <a:r>
              <a:rPr lang="en-NL" dirty="0"/>
              <a:t>9 controller states.</a:t>
            </a:r>
          </a:p>
          <a:p>
            <a:r>
              <a:rPr lang="en-NL" dirty="0"/>
              <a:t>• At the start of every window:</a:t>
            </a:r>
          </a:p>
          <a:p>
            <a:pPr lvl="0"/>
            <a:r>
              <a:rPr lang="en-NL" dirty="0"/>
              <a:t>Controller state </a:t>
            </a:r>
            <a:r>
              <a:rPr lang="en-NL" dirty="0" err="1"/>
              <a:t>x_c</a:t>
            </a:r>
            <a:r>
              <a:rPr lang="en-NL" dirty="0"/>
              <a:t> = 0.</a:t>
            </a:r>
          </a:p>
          <a:p>
            <a:r>
              <a:rPr lang="en-NL" dirty="0"/>
              <a:t>STEP 3 — PROPAGATE THE FP MODEL</a:t>
            </a:r>
          </a:p>
          <a:p>
            <a:r>
              <a:rPr lang="en-NL" dirty="0"/>
              <a:t>• Add the controller correction to the replayed input.</a:t>
            </a:r>
          </a:p>
          <a:p>
            <a:r>
              <a:rPr lang="en-NL" dirty="0"/>
              <a:t>• Use that resulting input to step the first-principles model.</a:t>
            </a:r>
          </a:p>
          <a:p>
            <a:r>
              <a:rPr lang="en-NL" dirty="0"/>
              <a:t>• Model parameters:</a:t>
            </a:r>
            <a:br>
              <a:rPr lang="en-NL" dirty="0"/>
            </a:br>
            <a:r>
              <a:rPr lang="en-NL" dirty="0"/>
              <a:t>θ = θ₀</a:t>
            </a:r>
          </a:p>
          <a:p>
            <a:r>
              <a:rPr lang="en-NL" dirty="0"/>
              <a:t>• ANN:</a:t>
            </a:r>
            <a:br>
              <a:rPr lang="en-NL" dirty="0"/>
            </a:br>
            <a:r>
              <a:rPr lang="en-NL" dirty="0"/>
              <a:t>OFF</a:t>
            </a:r>
          </a:p>
          <a:p>
            <a:r>
              <a:rPr lang="en-NL" dirty="0"/>
              <a:t>• Repeat this for all 400 steps of the window.</a:t>
            </a:r>
          </a:p>
          <a:p>
            <a:r>
              <a:rPr lang="en-NL" dirty="0"/>
              <a:t>THE ADAPTATION RELATIVE TO GYOROK</a:t>
            </a:r>
          </a:p>
          <a:p>
            <a:r>
              <a:rPr lang="en-NL" dirty="0"/>
              <a:t>• </a:t>
            </a:r>
            <a:r>
              <a:rPr lang="en-NL" dirty="0" err="1"/>
              <a:t>Gyorok</a:t>
            </a:r>
            <a:r>
              <a:rPr lang="en-NL" dirty="0"/>
              <a:t> propagates the first-principles model using only the recorded input.</a:t>
            </a:r>
          </a:p>
          <a:p>
            <a:r>
              <a:rPr lang="en-NL" dirty="0"/>
              <a:t>• We add one adaptation:</a:t>
            </a:r>
          </a:p>
          <a:p>
            <a:pPr lvl="0"/>
            <a:r>
              <a:rPr lang="en-NL" dirty="0"/>
              <a:t>Close the controller around the simulated model using the measured-output mismatch.</a:t>
            </a:r>
          </a:p>
          <a:p>
            <a:r>
              <a:rPr lang="en-NL" dirty="0"/>
              <a:t>• Everything else follows the same point-set idea.</a:t>
            </a:r>
          </a:p>
          <a:p>
            <a:r>
              <a:rPr lang="en-NL" dirty="0"/>
              <a:t>IF ASKED — WHY NOT USE PURE OPEN LOOP?</a:t>
            </a:r>
          </a:p>
          <a:p>
            <a:r>
              <a:rPr lang="en-NL" dirty="0"/>
              <a:t>• The X and Y axes have no restoring stiffness.</a:t>
            </a:r>
          </a:p>
          <a:p>
            <a:r>
              <a:rPr lang="en-NL" dirty="0"/>
              <a:t>• Therefore small model errors can integrate over time.</a:t>
            </a:r>
          </a:p>
          <a:p>
            <a:r>
              <a:rPr lang="en-NL" dirty="0"/>
              <a:t>• In pure open-loop simulation:</a:t>
            </a:r>
          </a:p>
          <a:p>
            <a:pPr lvl="0"/>
            <a:r>
              <a:rPr lang="en-NL" dirty="0"/>
              <a:t>The model gradually leaves the measured trajectory.</a:t>
            </a:r>
          </a:p>
          <a:p>
            <a:pPr lvl="0"/>
            <a:r>
              <a:rPr lang="en-NL" dirty="0"/>
              <a:t>The resulting point set no longer represents the operating conditions actually seen in the data.</a:t>
            </a:r>
          </a:p>
          <a:p>
            <a:r>
              <a:rPr lang="en-NL" dirty="0"/>
              <a:t>• With the residual controller closed:</a:t>
            </a:r>
          </a:p>
          <a:p>
            <a:pPr lvl="0"/>
            <a:r>
              <a:rPr lang="en-NL" dirty="0"/>
              <a:t>The rollout tracks the measured outputs to approximately 1.4 × 10⁻⁴ in normalised units.</a:t>
            </a:r>
          </a:p>
          <a:p>
            <a:r>
              <a:rPr lang="en-NL" dirty="0"/>
              <a:t>IF ASKED — WHY THIS RESIDUAL FORM INSTEAD OF DRIVING THE REFERENCE?</a:t>
            </a:r>
          </a:p>
          <a:p>
            <a:r>
              <a:rPr lang="en-NL" dirty="0"/>
              <a:t>• This is the same form used in our training rollout.</a:t>
            </a:r>
          </a:p>
          <a:p>
            <a:r>
              <a:rPr lang="en-NL" dirty="0"/>
              <a:t>• Therefore the point set reflects the operating conditions the model actually experiences during training.</a:t>
            </a:r>
          </a:p>
          <a:p>
            <a:r>
              <a:rPr lang="en-NL" dirty="0"/>
              <a:t>• We are not trying to reproduce the original reference-tracking experiment.</a:t>
            </a:r>
          </a:p>
          <a:p>
            <a:r>
              <a:rPr lang="en-NL" dirty="0"/>
              <a:t>• We are trying to keep the simulated model close to the recorded trajectory while replaying the measured plant input.</a:t>
            </a:r>
          </a:p>
          <a:p>
            <a:r>
              <a:rPr lang="en-NL" dirty="0"/>
              <a:t>IF ASKED — WHY DOES </a:t>
            </a:r>
            <a:r>
              <a:rPr lang="en-NL" dirty="0" err="1"/>
              <a:t>x_c</a:t>
            </a:r>
            <a:r>
              <a:rPr lang="en-NL" dirty="0"/>
              <a:t> START AT ZERO?</a:t>
            </a:r>
          </a:p>
          <a:p>
            <a:r>
              <a:rPr lang="en-NL" dirty="0"/>
              <a:t>• </a:t>
            </a:r>
            <a:r>
              <a:rPr lang="en-NL" dirty="0" err="1"/>
              <a:t>x_c</a:t>
            </a:r>
            <a:r>
              <a:rPr lang="en-NL" dirty="0"/>
              <a:t> = 0 is the controller initialisation for which the residual correction vanishes when the model is exact.</a:t>
            </a:r>
          </a:p>
          <a:p>
            <a:r>
              <a:rPr lang="en-NL" dirty="0"/>
              <a:t>• If:</a:t>
            </a:r>
            <a:br>
              <a:rPr lang="en-NL" dirty="0"/>
            </a:br>
            <a:r>
              <a:rPr lang="en-NL" dirty="0"/>
              <a:t>ŷ = </a:t>
            </a:r>
            <a:r>
              <a:rPr lang="en-NL" dirty="0" err="1"/>
              <a:t>y_data</a:t>
            </a:r>
            <a:endParaRPr lang="en-NL" dirty="0"/>
          </a:p>
          <a:p>
            <a:r>
              <a:rPr lang="en-NL" dirty="0"/>
              <a:t>• Then:</a:t>
            </a:r>
          </a:p>
          <a:p>
            <a:pPr lvl="0"/>
            <a:r>
              <a:rPr lang="en-NL" dirty="0"/>
              <a:t>Error = 0</a:t>
            </a:r>
          </a:p>
          <a:p>
            <a:pPr lvl="0"/>
            <a:r>
              <a:rPr lang="en-NL" dirty="0"/>
              <a:t>Controller correction = 0</a:t>
            </a:r>
          </a:p>
          <a:p>
            <a:r>
              <a:rPr lang="en-NL" dirty="0"/>
              <a:t>• So the model receives exactly the replayed recorded input.</a:t>
            </a:r>
          </a:p>
          <a:p>
            <a:r>
              <a:rPr lang="en-NL" dirty="0"/>
              <a:t>IF ASKED — HOW LARGE IS THE CORRECTION?</a:t>
            </a:r>
          </a:p>
          <a:p>
            <a:r>
              <a:rPr lang="en-NL" dirty="0"/>
              <a:t>• Over the full point set:</a:t>
            </a:r>
          </a:p>
          <a:p>
            <a:pPr lvl="0"/>
            <a:r>
              <a:rPr lang="en-NL" dirty="0"/>
              <a:t>On the two X channels:</a:t>
            </a:r>
            <a:br>
              <a:rPr lang="en-NL" dirty="0"/>
            </a:br>
            <a:r>
              <a:rPr lang="en-NL" dirty="0"/>
              <a:t>correction RMS ≈ 12% of replayed-input RMS</a:t>
            </a:r>
          </a:p>
          <a:p>
            <a:pPr lvl="0"/>
            <a:r>
              <a:rPr lang="en-NL" dirty="0"/>
              <a:t>On the Y channel:</a:t>
            </a:r>
            <a:br>
              <a:rPr lang="en-NL" dirty="0"/>
            </a:br>
            <a:r>
              <a:rPr lang="en-NL" dirty="0"/>
              <a:t>correction RMS is comparable to the replayed input itself</a:t>
            </a:r>
          </a:p>
          <a:p>
            <a:r>
              <a:rPr lang="en-NL" dirty="0"/>
              <a:t>• So the residual correction is NOT always a small perturbation.</a:t>
            </a:r>
          </a:p>
          <a:p>
            <a:r>
              <a:rPr lang="en-NL" dirty="0"/>
              <a:t>• This also explains why pure open-loop propagation would not be adequate.</a:t>
            </a:r>
          </a:p>
          <a:p>
            <a:r>
              <a:rPr lang="en-NL" dirty="0"/>
              <a:t>CITATION / SLIDE NOTE</a:t>
            </a:r>
          </a:p>
          <a:p>
            <a:r>
              <a:rPr lang="en-NL" dirty="0"/>
              <a:t>• The current header cites Equation (4b).</a:t>
            </a:r>
          </a:p>
          <a:p>
            <a:r>
              <a:rPr lang="en-NL" dirty="0"/>
              <a:t>• That equation describes the paper’s training rollout and includes the ANN contribution.</a:t>
            </a:r>
          </a:p>
          <a:p>
            <a:r>
              <a:rPr lang="en-NL" dirty="0"/>
              <a:t>• The construction we are actually comparing against is different:</a:t>
            </a:r>
          </a:p>
          <a:p>
            <a:pPr lvl="0"/>
            <a:r>
              <a:rPr lang="en-NL" dirty="0"/>
              <a:t>The first-principles simulation described in Section 3, page 7.</a:t>
            </a:r>
          </a:p>
          <a:p>
            <a:r>
              <a:rPr lang="en-NL" dirty="0"/>
              <a:t>• Slide 3 already cites that location correctly.</a:t>
            </a:r>
          </a:p>
          <a:p>
            <a:r>
              <a:rPr lang="en-NL" dirty="0"/>
              <a:t>• Ideally, this slide should use the same Section 3 citation rather than Equation (4b).</a:t>
            </a:r>
          </a:p>
          <a:p>
            <a:r>
              <a:rPr lang="en-NL" dirty="0"/>
              <a:t>• Otherwise the two slides appear to cite different paper formulations for the same point-set construction.</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33</a:t>
            </a:fld>
            <a:endParaRPr lang="en-NL"/>
          </a:p>
        </p:txBody>
      </p:sp>
    </p:spTree>
    <p:extLst>
      <p:ext uri="{BB962C8B-B14F-4D97-AF65-F5344CB8AC3E}">
        <p14:creationId xmlns:p14="http://schemas.microsoft.com/office/powerpoint/2010/main" val="328159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SAY — THIS IS SLIDE 1 MADE CONCRETE</a:t>
            </a:r>
          </a:p>
          <a:p>
            <a:r>
              <a:rPr lang="en-NL" dirty="0"/>
              <a:t>• This is the same equation as on slide 1.</a:t>
            </a:r>
          </a:p>
          <a:p>
            <a:r>
              <a:rPr lang="en-NL" dirty="0"/>
              <a:t>• The difference is that (X,U) is now concrete.</a:t>
            </a:r>
          </a:p>
          <a:p>
            <a:r>
              <a:rPr lang="en-NL" dirty="0"/>
              <a:t>• Here, (X,U) is:</a:t>
            </a:r>
          </a:p>
          <a:p>
            <a:pPr lvl="0"/>
            <a:r>
              <a:rPr lang="en-NL" dirty="0"/>
              <a:t>The 22,400 operating points constructed on the previous slide.</a:t>
            </a:r>
          </a:p>
          <a:p>
            <a:r>
              <a:rPr lang="en-NL" dirty="0"/>
              <a:t>• So:</a:t>
            </a:r>
          </a:p>
          <a:p>
            <a:pPr lvl="0"/>
            <a:r>
              <a:rPr lang="en-NL" dirty="0"/>
              <a:t>Slide 1 = the general method.</a:t>
            </a:r>
          </a:p>
          <a:p>
            <a:pPr lvl="0"/>
            <a:r>
              <a:rPr lang="en-NL" dirty="0"/>
              <a:t>This slide = the method applied to our point set.</a:t>
            </a:r>
          </a:p>
          <a:p>
            <a:r>
              <a:rPr lang="en-NL" dirty="0"/>
              <a:t>FROM Φ̃ TO Q̃</a:t>
            </a:r>
          </a:p>
          <a:p>
            <a:r>
              <a:rPr lang="en-NL" dirty="0"/>
              <a:t>• Evaluate Φ̃ at all 22,400 operating points.</a:t>
            </a:r>
          </a:p>
          <a:p>
            <a:r>
              <a:rPr lang="en-NL" dirty="0"/>
              <a:t>• This gives a matrix with:</a:t>
            </a:r>
          </a:p>
          <a:p>
            <a:pPr lvl="0"/>
            <a:r>
              <a:rPr lang="en-NL" dirty="0"/>
              <a:t>134,400 rows</a:t>
            </a:r>
          </a:p>
          <a:p>
            <a:pPr lvl="0"/>
            <a:r>
              <a:rPr lang="en-NL" dirty="0"/>
              <a:t>15 columns</a:t>
            </a:r>
          </a:p>
          <a:p>
            <a:r>
              <a:rPr lang="en-NL" dirty="0"/>
              <a:t>• The 15 columns are:</a:t>
            </a:r>
          </a:p>
          <a:p>
            <a:pPr lvl="0"/>
            <a:r>
              <a:rPr lang="en-NL" dirty="0"/>
              <a:t>14 physical parameter-sensitivity columns</a:t>
            </a:r>
          </a:p>
          <a:p>
            <a:pPr lvl="0"/>
            <a:r>
              <a:rPr lang="en-NL" dirty="0"/>
              <a:t>1 Γ column</a:t>
            </a:r>
          </a:p>
          <a:p>
            <a:r>
              <a:rPr lang="en-NL" dirty="0"/>
              <a:t>• Then take the SVD.</a:t>
            </a:r>
          </a:p>
          <a:p>
            <a:r>
              <a:rPr lang="en-NL" dirty="0"/>
              <a:t>• Q̃ is the orthonormal basis of the directions that the physical model can produce locally at these operating points.</a:t>
            </a:r>
          </a:p>
          <a:p>
            <a:r>
              <a:rPr lang="en-NL" dirty="0"/>
              <a:t>THIS IS WHERE TRUNCATION ENTERS</a:t>
            </a:r>
          </a:p>
          <a:p>
            <a:r>
              <a:rPr lang="en-NL" dirty="0"/>
              <a:t>• The 15 singular values, relative to the largest, are:</a:t>
            </a:r>
          </a:p>
          <a:p>
            <a:r>
              <a:rPr lang="en-NL" dirty="0"/>
              <a:t>1</a:t>
            </a:r>
            <a:br>
              <a:rPr lang="en-NL" dirty="0"/>
            </a:br>
            <a:r>
              <a:rPr lang="en-NL" dirty="0"/>
              <a:t>2.2 × 10⁻¹</a:t>
            </a:r>
            <a:br>
              <a:rPr lang="en-NL" dirty="0"/>
            </a:br>
            <a:r>
              <a:rPr lang="en-NL" dirty="0"/>
              <a:t>3.7 × 10⁻²</a:t>
            </a:r>
            <a:br>
              <a:rPr lang="en-NL" dirty="0"/>
            </a:br>
            <a:r>
              <a:rPr lang="en-NL" dirty="0"/>
              <a:t>2.8 × 10⁻³</a:t>
            </a:r>
            <a:br>
              <a:rPr lang="en-NL" dirty="0"/>
            </a:br>
            <a:r>
              <a:rPr lang="en-NL" dirty="0"/>
              <a:t>1.1 × 10⁻³</a:t>
            </a:r>
            <a:br>
              <a:rPr lang="en-NL" dirty="0"/>
            </a:br>
            <a:r>
              <a:rPr lang="en-NL" dirty="0"/>
              <a:t>2.8 × 10⁻⁴</a:t>
            </a:r>
            <a:br>
              <a:rPr lang="en-NL" dirty="0"/>
            </a:br>
            <a:r>
              <a:rPr lang="en-NL" dirty="0"/>
              <a:t>4.0 × 10⁻⁵</a:t>
            </a:r>
            <a:br>
              <a:rPr lang="en-NL" dirty="0"/>
            </a:br>
            <a:r>
              <a:rPr lang="en-NL" dirty="0"/>
              <a:t>3.3 × 10⁻⁵</a:t>
            </a:r>
            <a:br>
              <a:rPr lang="en-NL" dirty="0"/>
            </a:br>
            <a:r>
              <a:rPr lang="en-NL" dirty="0"/>
              <a:t>3.0 × 10⁻⁵</a:t>
            </a:r>
            <a:br>
              <a:rPr lang="en-NL" dirty="0"/>
            </a:br>
            <a:r>
              <a:rPr lang="en-NL" dirty="0"/>
              <a:t>1.7 × 10⁻⁶</a:t>
            </a:r>
            <a:br>
              <a:rPr lang="en-NL" dirty="0"/>
            </a:br>
            <a:r>
              <a:rPr lang="en-NL" dirty="0"/>
              <a:t>4.9 × 10⁻⁷</a:t>
            </a:r>
            <a:br>
              <a:rPr lang="en-NL" dirty="0"/>
            </a:br>
            <a:r>
              <a:rPr lang="en-NL" dirty="0"/>
              <a:t>4.2 × 10⁻¹⁸</a:t>
            </a:r>
            <a:br>
              <a:rPr lang="en-NL" dirty="0"/>
            </a:br>
            <a:r>
              <a:rPr lang="en-NL" dirty="0"/>
              <a:t>2.6 × 10⁻¹⁸</a:t>
            </a:r>
            <a:br>
              <a:rPr lang="en-NL" dirty="0"/>
            </a:br>
            <a:r>
              <a:rPr lang="en-NL" dirty="0"/>
              <a:t>1.1 × 10⁻¹⁸</a:t>
            </a:r>
            <a:br>
              <a:rPr lang="en-NL" dirty="0"/>
            </a:br>
            <a:r>
              <a:rPr lang="en-NL" dirty="0"/>
              <a:t>1.7 × 10⁻²¹</a:t>
            </a:r>
          </a:p>
          <a:p>
            <a:r>
              <a:rPr lang="en-NL" dirty="0"/>
              <a:t>• Interpretation:</a:t>
            </a:r>
          </a:p>
          <a:p>
            <a:pPr lvl="0"/>
            <a:r>
              <a:rPr lang="en-NL" dirty="0"/>
              <a:t>11 physically real directions</a:t>
            </a:r>
          </a:p>
          <a:p>
            <a:pPr lvl="0"/>
            <a:r>
              <a:rPr lang="en-NL" dirty="0"/>
              <a:t>Then an approximately 11-decade gap</a:t>
            </a:r>
          </a:p>
          <a:p>
            <a:pPr lvl="0"/>
            <a:r>
              <a:rPr lang="en-NL" dirty="0"/>
              <a:t>Then 4 directions at numerical round-off</a:t>
            </a:r>
          </a:p>
          <a:p>
            <a:r>
              <a:rPr lang="en-NL" dirty="0"/>
              <a:t>WHY FOUR DIRECTIONS ARE EXACTLY NULL</a:t>
            </a:r>
          </a:p>
          <a:p>
            <a:r>
              <a:rPr lang="en-NL" dirty="0"/>
              <a:t>• These four directions correspond to:</a:t>
            </a:r>
          </a:p>
          <a:p>
            <a:pPr lvl="0"/>
            <a:r>
              <a:rPr lang="en-NL" dirty="0"/>
              <a:t>kb₁ − kb₂</a:t>
            </a:r>
          </a:p>
          <a:p>
            <a:pPr lvl="0"/>
            <a:r>
              <a:rPr lang="en-NL" dirty="0" err="1"/>
              <a:t>cb</a:t>
            </a:r>
            <a:r>
              <a:rPr lang="en-NL" dirty="0"/>
              <a:t>₁ − </a:t>
            </a:r>
            <a:r>
              <a:rPr lang="en-NL" dirty="0" err="1"/>
              <a:t>cb</a:t>
            </a:r>
            <a:r>
              <a:rPr lang="en-NL" dirty="0"/>
              <a:t>₂</a:t>
            </a:r>
          </a:p>
          <a:p>
            <a:pPr lvl="0"/>
            <a:r>
              <a:rPr lang="en-NL" dirty="0" err="1"/>
              <a:t>Jb</a:t>
            </a:r>
            <a:r>
              <a:rPr lang="en-NL" dirty="0"/>
              <a:t> − </a:t>
            </a:r>
            <a:r>
              <a:rPr lang="en-NL" dirty="0" err="1"/>
              <a:t>Jh</a:t>
            </a:r>
            <a:endParaRPr lang="en-NL" dirty="0"/>
          </a:p>
          <a:p>
            <a:pPr lvl="0"/>
            <a:r>
              <a:rPr lang="en-NL" dirty="0"/>
              <a:t>One mass-splitting direction</a:t>
            </a:r>
          </a:p>
          <a:p>
            <a:r>
              <a:rPr lang="en-NL" dirty="0"/>
              <a:t>• These are null by STRUCTURE.</a:t>
            </a:r>
          </a:p>
          <a:p>
            <a:r>
              <a:rPr lang="en-NL" dirty="0"/>
              <a:t>• This is not caused by insufficient excitation or poor data.</a:t>
            </a:r>
          </a:p>
          <a:p>
            <a:r>
              <a:rPr lang="en-NL" dirty="0"/>
              <a:t>• The governing equations only contain the corresponding parameter sums.</a:t>
            </a:r>
          </a:p>
          <a:p>
            <a:r>
              <a:rPr lang="en-NL" dirty="0"/>
              <a:t>• Therefore no experiment can separate those individual parameters.</a:t>
            </a:r>
          </a:p>
          <a:p>
            <a:r>
              <a:rPr lang="en-NL" dirty="0"/>
              <a:t>• They are structurally unidentifiable.</a:t>
            </a:r>
          </a:p>
          <a:p>
            <a:r>
              <a:rPr lang="en-NL" dirty="0"/>
              <a:t>THE BASIS WE ACTUALLY KEEP</a:t>
            </a:r>
          </a:p>
          <a:p>
            <a:r>
              <a:rPr lang="en-NL" dirty="0"/>
              <a:t>• Q̃ does NOT keep all 15 columns.</a:t>
            </a:r>
          </a:p>
          <a:p>
            <a:r>
              <a:rPr lang="en-NL" dirty="0"/>
              <a:t>• We use a singular-value tolerance of:</a:t>
            </a:r>
            <a:br>
              <a:rPr lang="en-NL" dirty="0"/>
            </a:br>
            <a:r>
              <a:rPr lang="en-NL" dirty="0"/>
              <a:t>10⁻⁶ relative to the largest singular value.</a:t>
            </a:r>
          </a:p>
          <a:p>
            <a:r>
              <a:rPr lang="en-NL" dirty="0"/>
              <a:t>• Therefore:</a:t>
            </a:r>
          </a:p>
          <a:p>
            <a:pPr lvl="0"/>
            <a:r>
              <a:rPr lang="en-NL" dirty="0"/>
              <a:t>The four round-off directions are removed.</a:t>
            </a:r>
          </a:p>
          <a:p>
            <a:pPr lvl="0"/>
            <a:r>
              <a:rPr lang="en-NL" dirty="0"/>
              <a:t>The 11th direction at 4.9 × 10⁻⁷ is also removed.</a:t>
            </a:r>
          </a:p>
          <a:p>
            <a:r>
              <a:rPr lang="en-NL" dirty="0"/>
              <a:t>• Final basis:</a:t>
            </a:r>
          </a:p>
          <a:p>
            <a:pPr lvl="0"/>
            <a:r>
              <a:rPr lang="en-NL" dirty="0"/>
              <a:t>10 columns</a:t>
            </a:r>
          </a:p>
          <a:p>
            <a:r>
              <a:rPr lang="en-NL" dirty="0"/>
              <a:t>IMPORTANT DETAIL — 11 REAL DIRECTIONS, BUT ONLY 10 KEPT</a:t>
            </a:r>
          </a:p>
          <a:p>
            <a:r>
              <a:rPr lang="en-NL" dirty="0"/>
              <a:t>• The 11th direction is not structurally zero.</a:t>
            </a:r>
          </a:p>
          <a:p>
            <a:r>
              <a:rPr lang="en-NL" dirty="0"/>
              <a:t>• Its singular value is:</a:t>
            </a:r>
            <a:br>
              <a:rPr lang="en-NL" dirty="0"/>
            </a:br>
            <a:r>
              <a:rPr lang="en-NL" dirty="0"/>
              <a:t>4.9 × 10⁻⁷</a:t>
            </a:r>
          </a:p>
          <a:p>
            <a:r>
              <a:rPr lang="en-NL" dirty="0"/>
              <a:t>• So it is weak, but real.</a:t>
            </a:r>
          </a:p>
          <a:p>
            <a:r>
              <a:rPr lang="en-NL" dirty="0"/>
              <a:t>• Because our cutoff is 10⁻⁶:</a:t>
            </a:r>
          </a:p>
          <a:p>
            <a:pPr lvl="0"/>
            <a:r>
              <a:rPr lang="en-NL" dirty="0"/>
              <a:t>It falls below the threshold.</a:t>
            </a:r>
          </a:p>
          <a:p>
            <a:pPr lvl="0"/>
            <a:r>
              <a:rPr lang="en-NL" dirty="0"/>
              <a:t>We deliberately drop it.</a:t>
            </a:r>
          </a:p>
          <a:p>
            <a:r>
              <a:rPr lang="en-NL" dirty="0"/>
              <a:t>• Therefore:</a:t>
            </a:r>
          </a:p>
          <a:p>
            <a:pPr lvl="0"/>
            <a:r>
              <a:rPr lang="en-NL" dirty="0"/>
              <a:t>11 physically nonzero directions</a:t>
            </a:r>
          </a:p>
          <a:p>
            <a:pPr lvl="0"/>
            <a:r>
              <a:rPr lang="en-NL" dirty="0"/>
              <a:t>10 directions retained in Q̃</a:t>
            </a:r>
          </a:p>
          <a:p>
            <a:r>
              <a:rPr lang="en-NL" dirty="0"/>
              <a:t>IF ASKED — WHY TRUNCATE AT ALL?</a:t>
            </a:r>
          </a:p>
          <a:p>
            <a:r>
              <a:rPr lang="en-NL" dirty="0"/>
              <a:t>• Singular values around 10⁻¹⁸ are numerical round-off.</a:t>
            </a:r>
          </a:p>
          <a:p>
            <a:r>
              <a:rPr lang="en-NL" dirty="0"/>
              <a:t>• Keeping those directions would make the penalty charge the ANN for overlapping with numerical noise.</a:t>
            </a:r>
          </a:p>
          <a:p>
            <a:r>
              <a:rPr lang="en-NL" dirty="0"/>
              <a:t>• Truncation therefore removes directions that do not represent meaningful physical sensitivity.</a:t>
            </a:r>
          </a:p>
          <a:p>
            <a:r>
              <a:rPr lang="en-NL" dirty="0"/>
              <a:t>IF ASKED — WHY DOES THE PAPER KEEP ALL COLUMNS?</a:t>
            </a:r>
          </a:p>
          <a:p>
            <a:r>
              <a:rPr lang="en-NL" dirty="0"/>
              <a:t>• The paper’s car regressor does not have this structural degeneracy.</a:t>
            </a:r>
          </a:p>
          <a:p>
            <a:r>
              <a:rPr lang="en-NL" dirty="0"/>
              <a:t>• In our system:</a:t>
            </a:r>
          </a:p>
          <a:p>
            <a:pPr lvl="0"/>
            <a:r>
              <a:rPr lang="en-NL" dirty="0"/>
              <a:t>Several parameter combinations are structurally indistinguishable.</a:t>
            </a:r>
          </a:p>
          <a:p>
            <a:r>
              <a:rPr lang="en-NL" dirty="0"/>
              <a:t>• Therefore truncation is necessary here.</a:t>
            </a:r>
          </a:p>
          <a:p>
            <a:r>
              <a:rPr lang="en-NL" dirty="0"/>
              <a:t>IF ASKED — DOES TRUNCATION CHANGE THE METHOD?</a:t>
            </a:r>
          </a:p>
          <a:p>
            <a:r>
              <a:rPr lang="en-NL" dirty="0"/>
              <a:t>• No.</a:t>
            </a:r>
          </a:p>
          <a:p>
            <a:r>
              <a:rPr lang="en-NL" dirty="0"/>
              <a:t>• The penalty is exactly the same.</a:t>
            </a:r>
          </a:p>
          <a:p>
            <a:r>
              <a:rPr lang="en-NL" dirty="0"/>
              <a:t>• We simply use a smaller basis containing only numerically meaningful directions.</a:t>
            </a:r>
          </a:p>
          <a:p>
            <a:r>
              <a:rPr lang="en-NL" dirty="0"/>
              <a:t>IF ASKED — IS THE JACOBIAN CORRECT?</a:t>
            </a:r>
          </a:p>
          <a:p>
            <a:r>
              <a:rPr lang="en-NL" dirty="0"/>
              <a:t>• Yes.</a:t>
            </a:r>
          </a:p>
          <a:p>
            <a:r>
              <a:rPr lang="en-NL" dirty="0"/>
              <a:t>• We checked the analytical Jacobian against central finite differences.</a:t>
            </a:r>
          </a:p>
          <a:p>
            <a:r>
              <a:rPr lang="en-NL" dirty="0"/>
              <a:t>• Worst relative column error:</a:t>
            </a:r>
            <a:br>
              <a:rPr lang="en-NL" dirty="0"/>
            </a:br>
            <a:r>
              <a:rPr lang="en-NL" dirty="0"/>
              <a:t>1.5 × 10⁻⁶</a:t>
            </a:r>
          </a:p>
          <a:p>
            <a:r>
              <a:rPr lang="en-NL" dirty="0"/>
              <a:t>IF ASKED — WHAT DOES “LOCALLY” MEAN?</a:t>
            </a:r>
          </a:p>
          <a:p>
            <a:r>
              <a:rPr lang="en-NL" dirty="0"/>
              <a:t>• “Locally” means:</a:t>
            </a:r>
          </a:p>
          <a:p>
            <a:pPr lvl="0"/>
            <a:r>
              <a:rPr lang="en-NL" dirty="0"/>
              <a:t>First-order sensitivity with respect to θ</a:t>
            </a:r>
          </a:p>
          <a:p>
            <a:pPr lvl="0"/>
            <a:r>
              <a:rPr lang="en-NL" dirty="0"/>
              <a:t>Around θ₀</a:t>
            </a:r>
          </a:p>
          <a:p>
            <a:pPr lvl="0"/>
            <a:r>
              <a:rPr lang="en-NL" dirty="0"/>
              <a:t>Evaluated at the selected operating points</a:t>
            </a:r>
          </a:p>
          <a:p>
            <a:r>
              <a:rPr lang="en-NL" dirty="0"/>
              <a:t>• So Q̃ describes the physical response space defined by the local Taylor expansion around θ₀.</a:t>
            </a:r>
          </a:p>
          <a:p>
            <a:r>
              <a:rPr lang="en-NL" dirty="0"/>
              <a:t>PRESENTING HAZARD — SAME EQUATION AS SLIDE 1</a:t>
            </a:r>
          </a:p>
          <a:p>
            <a:r>
              <a:rPr lang="en-NL" dirty="0"/>
              <a:t>• Slide 1 and this slide intentionally contain the same equation.</a:t>
            </a:r>
          </a:p>
          <a:p>
            <a:r>
              <a:rPr lang="en-NL" dirty="0"/>
              <a:t>• The distinction is:</a:t>
            </a:r>
          </a:p>
          <a:p>
            <a:pPr lvl="0"/>
            <a:r>
              <a:rPr lang="en-NL" dirty="0"/>
              <a:t>Slide 1 introduces the generalised method.</a:t>
            </a:r>
          </a:p>
          <a:p>
            <a:pPr lvl="0"/>
            <a:r>
              <a:rPr lang="en-NL" dirty="0"/>
              <a:t>This slide instantiates it using our actual operating points and shows the resulting spectrum.</a:t>
            </a:r>
          </a:p>
          <a:p>
            <a:r>
              <a:rPr lang="en-NL" dirty="0"/>
              <a:t>• The new information on this slide is therefore:</a:t>
            </a:r>
          </a:p>
          <a:p>
            <a:pPr lvl="0"/>
            <a:r>
              <a:rPr lang="en-NL" dirty="0"/>
              <a:t>The concrete matrix dimensions</a:t>
            </a:r>
          </a:p>
          <a:p>
            <a:pPr lvl="0"/>
            <a:r>
              <a:rPr lang="en-NL" dirty="0"/>
              <a:t>The SVD spectrum</a:t>
            </a:r>
          </a:p>
          <a:p>
            <a:pPr lvl="0"/>
            <a:r>
              <a:rPr lang="en-NL" dirty="0"/>
              <a:t>The structural null directions</a:t>
            </a:r>
          </a:p>
          <a:p>
            <a:pPr lvl="0"/>
            <a:r>
              <a:rPr lang="en-NL" dirty="0"/>
              <a:t>The truncation to 10 basis vectors</a:t>
            </a:r>
          </a:p>
          <a:p>
            <a:r>
              <a:rPr lang="en-NL" dirty="0"/>
              <a:t>OPTIONAL DECK CHANGE</a:t>
            </a:r>
          </a:p>
          <a:p>
            <a:r>
              <a:rPr lang="en-NL" dirty="0"/>
              <a:t>• If you want to avoid repeating the equation:</a:t>
            </a:r>
          </a:p>
          <a:p>
            <a:pPr lvl="0"/>
            <a:r>
              <a:rPr lang="en-NL" dirty="0"/>
              <a:t>Remove it from this slide.</a:t>
            </a:r>
          </a:p>
          <a:p>
            <a:pPr lvl="0"/>
            <a:r>
              <a:rPr lang="en-NL" dirty="0"/>
              <a:t>Keep the arrow diagram from Φ̃ to SVD to Q̃.</a:t>
            </a:r>
          </a:p>
          <a:p>
            <a:pPr lvl="0"/>
            <a:r>
              <a:rPr lang="en-NL" dirty="0"/>
              <a:t>Keep the singular-value spectrum.</a:t>
            </a:r>
          </a:p>
          <a:p>
            <a:r>
              <a:rPr lang="en-NL" dirty="0"/>
              <a:t>• The spectrum and truncation are the parts that are genuinely new here.</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34</a:t>
            </a:fld>
            <a:endParaRPr lang="en-NL"/>
          </a:p>
        </p:txBody>
      </p:sp>
    </p:spTree>
    <p:extLst>
      <p:ext uri="{BB962C8B-B14F-4D97-AF65-F5344CB8AC3E}">
        <p14:creationId xmlns:p14="http://schemas.microsoft.com/office/powerpoint/2010/main" val="1246799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You are </a:t>
                </a:r>
                <a:r>
                  <a:rPr lang="en-NL" b="1" dirty="0"/>
                  <a:t>not constructing </a:t>
                </a:r>
                <a14:m>
                  <m:oMath xmlns:m="http://schemas.openxmlformats.org/officeDocument/2006/math">
                    <m:r>
                      <a:rPr lang="en-NL" sz="1200" i="1" kern="1200">
                        <a:solidFill>
                          <a:schemeClr val="tx1"/>
                        </a:solidFill>
                        <a:latin typeface="Cambria Math" panose="02040503050406030204" pitchFamily="18" charset="0"/>
                        <a:ea typeface="+mn-ea"/>
                        <a:cs typeface="+mn-cs"/>
                      </a:rPr>
                      <m:t>𝑄</m:t>
                    </m:r>
                  </m:oMath>
                </a14:m>
                <a:r>
                  <a:rPr lang="en-NL" b="1" dirty="0"/>
                  <a:t>from every minibatch</a:t>
                </a:r>
                <a:r>
                  <a:rPr lang="en-NL" dirty="0"/>
                  <a:t>.</a:t>
                </a:r>
              </a:p>
              <a:p>
                <a:r>
                  <a:rPr lang="en-NL" dirty="0"/>
                  <a:t>Before training:</a:t>
                </a:r>
              </a:p>
              <a:p>
                <a:pPr/>
                <a14:m>
                  <m:oMathPara xmlns:m="http://schemas.openxmlformats.org/officeDocument/2006/math">
                    <m:oMath>
                      <m:r>
                        <a:rPr lang="en-NL" sz="1200" i="1" kern="1200">
                          <a:solidFill>
                            <a:schemeClr val="tx1"/>
                          </a:solidFill>
                          <a:latin typeface="Cambria Math" panose="02040503050406030204" pitchFamily="18" charset="0"/>
                          <a:ea typeface="+mn-ea"/>
                          <a:cs typeface="+mn-cs"/>
                        </a:rPr>
                        <m:t>𝑋</m:t>
                      </m:r>
                      <m:r>
                        <a:rPr lang="en-NL" sz="1200" i="0" kern="1200">
                          <a:solidFill>
                            <a:schemeClr val="tx1"/>
                          </a:solidFill>
                          <a:latin typeface="Cambria Math" panose="02040503050406030204" pitchFamily="18" charset="0"/>
                          <a:ea typeface="+mn-ea"/>
                          <a:cs typeface="+mn-cs"/>
                        </a:rPr>
                        <m:t>,</m:t>
                      </m:r>
                      <m:r>
                        <m:rPr>
                          <m:nor/>
                        </m:rPr>
                        <a:rPr lang="en-NL" sz="1200" b="0" i="0" kern="1200">
                          <a:solidFill>
                            <a:schemeClr val="tx1"/>
                          </a:solidFill>
                          <a:latin typeface="+mn-lt"/>
                          <a:ea typeface="+mn-ea"/>
                          <a:cs typeface="+mn-cs"/>
                        </a:rPr>
                        <m:t> </m:t>
                      </m:r>
                      <m:r>
                        <a:rPr lang="en-NL" sz="1200" b="0" i="1" kern="1200">
                          <a:solidFill>
                            <a:schemeClr val="tx1"/>
                          </a:solidFill>
                          <a:latin typeface="Cambria Math" panose="02040503050406030204" pitchFamily="18" charset="0"/>
                          <a:ea typeface="+mn-ea"/>
                          <a:cs typeface="+mn-cs"/>
                        </a:rPr>
                        <m:t>𝑈</m:t>
                      </m:r>
                      <m:r>
                        <a:rPr lang="en-NL" sz="1200" b="0" i="0" kern="1200">
                          <a:solidFill>
                            <a:schemeClr val="tx1"/>
                          </a:solidFill>
                          <a:latin typeface="Cambria Math" panose="02040503050406030204" pitchFamily="18" charset="0"/>
                          <a:ea typeface="+mn-ea"/>
                          <a:cs typeface="+mn-cs"/>
                        </a:rPr>
                        <m:t>,</m:t>
                      </m:r>
                      <m:r>
                        <m:rPr>
                          <m:nor/>
                        </m:rPr>
                        <a:rPr lang="en-NL" sz="1200" b="0" i="0" kern="1200">
                          <a:solidFill>
                            <a:schemeClr val="tx1"/>
                          </a:solidFill>
                          <a:latin typeface="+mn-lt"/>
                          <a:ea typeface="+mn-ea"/>
                          <a:cs typeface="+mn-cs"/>
                        </a:rPr>
                        <m:t> </m:t>
                      </m:r>
                      <m:r>
                        <a:rPr lang="en-NL" sz="1200" b="0" i="1" kern="1200">
                          <a:solidFill>
                            <a:schemeClr val="tx1"/>
                          </a:solidFill>
                          <a:latin typeface="Cambria Math" panose="02040503050406030204" pitchFamily="18" charset="0"/>
                          <a:ea typeface="+mn-ea"/>
                          <a:cs typeface="+mn-cs"/>
                        </a:rPr>
                        <m:t>𝑄</m:t>
                      </m:r>
                      <m:r>
                        <a:rPr lang="en-NL" sz="1200" b="0" i="0" kern="1200">
                          <a:solidFill>
                            <a:schemeClr val="tx1"/>
                          </a:solidFill>
                          <a:latin typeface="Cambria Math" panose="02040503050406030204" pitchFamily="18" charset="0"/>
                          <a:ea typeface="+mn-ea"/>
                          <a:cs typeface="+mn-cs"/>
                        </a:rPr>
                        <m:t> </m:t>
                      </m:r>
                      <m:r>
                        <m:rPr>
                          <m:nor/>
                        </m:rPr>
                        <a:rPr lang="en-NL" sz="1200" b="0" i="0" kern="1200">
                          <a:solidFill>
                            <a:schemeClr val="tx1"/>
                          </a:solidFill>
                          <a:latin typeface="+mn-lt"/>
                          <a:ea typeface="+mn-ea"/>
                          <a:cs typeface="+mn-cs"/>
                        </a:rPr>
                        <m:t>are frozen</m:t>
                      </m:r>
                      <m:r>
                        <a:rPr lang="en-NL" sz="1200" b="0" i="0" kern="1200">
                          <a:solidFill>
                            <a:schemeClr val="tx1"/>
                          </a:solidFill>
                          <a:latin typeface="Cambria Math" panose="02040503050406030204" pitchFamily="18" charset="0"/>
                          <a:ea typeface="+mn-ea"/>
                          <a:cs typeface="+mn-cs"/>
                        </a:rPr>
                        <m:t>.</m:t>
                      </m:r>
                    </m:oMath>
                  </m:oMathPara>
                </a14:m>
                <a:endParaRPr lang="en-NL" b="0" dirty="0"/>
              </a:p>
              <a:p>
                <a:r>
                  <a:rPr lang="en-NL" dirty="0"/>
                  <a:t>At every optimizer update you evaluate</a:t>
                </a:r>
              </a:p>
              <a:p>
                <a:pPr/>
                <a14:m>
                  <m:oMathPara xmlns:m="http://schemas.openxmlformats.org/officeDocument/2006/math">
                    <m:oMath>
                      <m:sSubSup>
                        <m:sSubSupPr>
                          <m:ctrlPr>
                            <a:rPr lang="en-NL" sz="1200" i="1" kern="1200">
                              <a:solidFill>
                                <a:schemeClr val="tx1"/>
                              </a:solidFill>
                              <a:latin typeface="Cambria Math" panose="02040503050406030204" pitchFamily="18" charset="0"/>
                              <a:ea typeface="+mn-ea"/>
                              <a:cs typeface="+mn-cs"/>
                            </a:rPr>
                          </m:ctrlPr>
                        </m:sSubSup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𝜂</m:t>
                          </m:r>
                        </m:sub>
                        <m:sup>
                          <m:r>
                            <a:rPr lang="en-NL" sz="1200" i="1" kern="1200">
                              <a:solidFill>
                                <a:schemeClr val="tx1"/>
                              </a:solidFill>
                              <a:latin typeface="Cambria Math" panose="02040503050406030204" pitchFamily="18" charset="0"/>
                              <a:ea typeface="+mn-ea"/>
                              <a:cs typeface="+mn-cs"/>
                            </a:rPr>
                            <m:t>𝐴𝑁𝑁</m:t>
                          </m:r>
                        </m:sup>
                      </m:sSubSup>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oMath>
                  </m:oMathPara>
                </a14:m>
                <a:endParaRPr lang="en-NL" dirty="0"/>
              </a:p>
              <a:p>
                <a:r>
                  <a:rPr lang="en-NL" dirty="0"/>
                  <a:t>on this fixed reference point set.</a:t>
                </a:r>
              </a:p>
              <a:p>
                <a:r>
                  <a:rPr lang="en-NL" dirty="0"/>
                  <a:t>Then:</a:t>
                </a:r>
              </a:p>
              <a:p>
                <a:pPr/>
                <a14:m>
                  <m:oMathPara xmlns:m="http://schemas.openxmlformats.org/officeDocument/2006/math">
                    <m:oMath>
                      <m:r>
                        <a:rPr lang="en-NL" sz="1200" i="1" kern="1200">
                          <a:solidFill>
                            <a:schemeClr val="tx1"/>
                          </a:solidFill>
                          <a:latin typeface="Cambria Math" panose="02040503050406030204" pitchFamily="18" charset="0"/>
                          <a:ea typeface="+mn-ea"/>
                          <a:cs typeface="+mn-cs"/>
                        </a:rPr>
                        <m:t>𝑐</m:t>
                      </m:r>
                      <m:r>
                        <a:rPr lang="en-NL" sz="1200" i="0" kern="1200">
                          <a:solidFill>
                            <a:schemeClr val="tx1"/>
                          </a:solidFill>
                          <a:latin typeface="Cambria Math" panose="02040503050406030204" pitchFamily="18" charset="0"/>
                          <a:ea typeface="+mn-ea"/>
                          <a:cs typeface="+mn-cs"/>
                        </a:rPr>
                        <m:t>=</m:t>
                      </m:r>
                      <m:sSup>
                        <m:sSupPr>
                          <m:ctrlPr>
                            <a:rPr lang="en-NL" sz="1200" i="1" kern="1200">
                              <a:solidFill>
                                <a:schemeClr val="tx1"/>
                              </a:solidFill>
                              <a:latin typeface="Cambria Math" panose="02040503050406030204" pitchFamily="18" charset="0"/>
                              <a:ea typeface="+mn-ea"/>
                              <a:cs typeface="+mn-cs"/>
                            </a:rPr>
                          </m:ctrlPr>
                        </m:sSupPr>
                        <m:e>
                          <m:r>
                            <a:rPr lang="en-NL" sz="1200" i="1" kern="1200">
                              <a:solidFill>
                                <a:schemeClr val="tx1"/>
                              </a:solidFill>
                              <a:latin typeface="Cambria Math" panose="02040503050406030204" pitchFamily="18" charset="0"/>
                              <a:ea typeface="+mn-ea"/>
                              <a:cs typeface="+mn-cs"/>
                            </a:rPr>
                            <m:t>𝑄</m:t>
                          </m:r>
                        </m:e>
                        <m:sup>
                          <m:r>
                            <a:rPr lang="en-NL" sz="1200" i="0" kern="1200">
                              <a:solidFill>
                                <a:schemeClr val="tx1"/>
                              </a:solidFill>
                              <a:latin typeface="Cambria Math" panose="02040503050406030204" pitchFamily="18" charset="0"/>
                              <a:ea typeface="+mn-ea"/>
                              <a:cs typeface="+mn-cs"/>
                            </a:rPr>
                            <m:t>⊤</m:t>
                          </m:r>
                        </m:sup>
                      </m:sSup>
                      <m:sSubSup>
                        <m:sSubSupPr>
                          <m:ctrlPr>
                            <a:rPr lang="en-NL" sz="1200" i="1" kern="1200">
                              <a:solidFill>
                                <a:schemeClr val="tx1"/>
                              </a:solidFill>
                              <a:latin typeface="Cambria Math" panose="02040503050406030204" pitchFamily="18" charset="0"/>
                              <a:ea typeface="+mn-ea"/>
                              <a:cs typeface="+mn-cs"/>
                            </a:rPr>
                          </m:ctrlPr>
                        </m:sSubSupPr>
                        <m:e>
                          <m:r>
                            <a:rPr lang="en-NL" sz="1200" i="1" kern="1200">
                              <a:solidFill>
                                <a:schemeClr val="tx1"/>
                              </a:solidFill>
                              <a:latin typeface="Cambria Math" panose="02040503050406030204" pitchFamily="18" charset="0"/>
                              <a:ea typeface="+mn-ea"/>
                              <a:cs typeface="+mn-cs"/>
                            </a:rPr>
                            <m:t>𝑓</m:t>
                          </m:r>
                        </m:e>
                        <m:sub>
                          <m:r>
                            <a:rPr lang="en-NL" sz="1200" i="1" kern="1200">
                              <a:solidFill>
                                <a:schemeClr val="tx1"/>
                              </a:solidFill>
                              <a:latin typeface="Cambria Math" panose="02040503050406030204" pitchFamily="18" charset="0"/>
                              <a:ea typeface="+mn-ea"/>
                              <a:cs typeface="+mn-cs"/>
                            </a:rPr>
                            <m:t>𝜂</m:t>
                          </m:r>
                        </m:sub>
                        <m:sup>
                          <m:r>
                            <a:rPr lang="en-NL" sz="1200" i="1" kern="1200">
                              <a:solidFill>
                                <a:schemeClr val="tx1"/>
                              </a:solidFill>
                              <a:latin typeface="Cambria Math" panose="02040503050406030204" pitchFamily="18" charset="0"/>
                              <a:ea typeface="+mn-ea"/>
                              <a:cs typeface="+mn-cs"/>
                            </a:rPr>
                            <m:t>𝐴𝑁𝑁</m:t>
                          </m:r>
                        </m:sup>
                      </m:sSubSup>
                      <m:d>
                        <m:dPr>
                          <m:sepChr m:val=","/>
                          <m:ctrlPr>
                            <a:rPr lang="en-NL" sz="1200" i="1" kern="1200">
                              <a:solidFill>
                                <a:schemeClr val="tx1"/>
                              </a:solidFill>
                              <a:latin typeface="Cambria Math" panose="02040503050406030204" pitchFamily="18" charset="0"/>
                              <a:ea typeface="+mn-ea"/>
                              <a:cs typeface="+mn-cs"/>
                            </a:rPr>
                          </m:ctrlPr>
                        </m:dPr>
                        <m:e>
                          <m:r>
                            <a:rPr lang="en-NL" sz="1200" i="1" kern="1200">
                              <a:solidFill>
                                <a:schemeClr val="tx1"/>
                              </a:solidFill>
                              <a:latin typeface="Cambria Math" panose="02040503050406030204" pitchFamily="18" charset="0"/>
                              <a:ea typeface="+mn-ea"/>
                              <a:cs typeface="+mn-cs"/>
                            </a:rPr>
                            <m:t>𝑋</m:t>
                          </m:r>
                        </m:e>
                        <m:e>
                          <m:r>
                            <a:rPr lang="en-NL" sz="1200" i="1" kern="1200">
                              <a:solidFill>
                                <a:schemeClr val="tx1"/>
                              </a:solidFill>
                              <a:latin typeface="Cambria Math" panose="02040503050406030204" pitchFamily="18" charset="0"/>
                              <a:ea typeface="+mn-ea"/>
                              <a:cs typeface="+mn-cs"/>
                            </a:rPr>
                            <m:t>𝑈</m:t>
                          </m:r>
                        </m:e>
                      </m:d>
                      <m:r>
                        <a:rPr lang="en-NL" sz="1200" i="0" kern="1200">
                          <a:solidFill>
                            <a:schemeClr val="tx1"/>
                          </a:solidFill>
                          <a:latin typeface="Cambria Math" panose="02040503050406030204" pitchFamily="18" charset="0"/>
                          <a:ea typeface="+mn-ea"/>
                          <a:cs typeface="+mn-cs"/>
                        </a:rPr>
                        <m:t>.</m:t>
                      </m:r>
                    </m:oMath>
                  </m:oMathPara>
                </a14:m>
                <a:endParaRPr lang="en-NL" dirty="0"/>
              </a:p>
              <a:p>
                <a:r>
                  <a:rPr lang="en-NL" dirty="0"/>
                  <a:t>If</a:t>
                </a:r>
              </a:p>
              <a:p>
                <a:pPr/>
                <a14:m>
                  <m:oMathPara xmlns:m="http://schemas.openxmlformats.org/officeDocument/2006/math">
                    <m:o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𝑐</m:t>
                          </m:r>
                        </m:e>
                        <m:sub>
                          <m:r>
                            <a:rPr lang="en-NL" sz="1200" i="1" kern="1200">
                              <a:solidFill>
                                <a:schemeClr val="tx1"/>
                              </a:solidFill>
                              <a:latin typeface="Cambria Math" panose="02040503050406030204" pitchFamily="18" charset="0"/>
                              <a:ea typeface="+mn-ea"/>
                              <a:cs typeface="+mn-cs"/>
                            </a:rPr>
                            <m:t>𝑖</m:t>
                          </m:r>
                        </m:sub>
                      </m:sSub>
                      <m:r>
                        <a:rPr lang="en-NL" sz="1200" i="0" kern="1200">
                          <a:solidFill>
                            <a:schemeClr val="tx1"/>
                          </a:solidFill>
                          <a:latin typeface="Cambria Math" panose="02040503050406030204" pitchFamily="18" charset="0"/>
                          <a:ea typeface="+mn-ea"/>
                          <a:cs typeface="+mn-cs"/>
                        </a:rPr>
                        <m:t>≠0,</m:t>
                      </m:r>
                    </m:oMath>
                  </m:oMathPara>
                </a14:m>
                <a:endParaRPr lang="en-NL" dirty="0"/>
              </a:p>
              <a:p>
                <a:r>
                  <a:rPr lang="en-NL" dirty="0"/>
                  <a:t>the ANN contains some amount of physical-response direction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𝑞</m:t>
                        </m:r>
                      </m:e>
                      <m:sub>
                        <m:r>
                          <a:rPr lang="en-NL" sz="1200" i="1" kern="1200">
                            <a:solidFill>
                              <a:schemeClr val="tx1"/>
                            </a:solidFill>
                            <a:latin typeface="Cambria Math" panose="02040503050406030204" pitchFamily="18" charset="0"/>
                            <a:ea typeface="+mn-ea"/>
                            <a:cs typeface="+mn-cs"/>
                          </a:rPr>
                          <m:t>𝑖</m:t>
                        </m:r>
                      </m:sub>
                    </m:sSub>
                  </m:oMath>
                </a14:m>
                <a:r>
                  <a:rPr lang="en-NL" dirty="0"/>
                  <a:t>.</a:t>
                </a:r>
              </a:p>
              <a:p>
                <a:endParaRPr lang="en-US" dirty="0"/>
              </a:p>
              <a:p>
                <a:endParaRPr lang="en-US" dirty="0"/>
              </a:p>
              <a:p>
                <a:r>
                  <a:rPr lang="en-NL" dirty="0"/>
                  <a:t>SAY — WHAT THIS SLIDE ADDS</a:t>
                </a:r>
              </a:p>
              <a:p>
                <a:r>
                  <a:rPr lang="en-NL" dirty="0"/>
                  <a:t>• The earlier penalty slide gave:</a:t>
                </a:r>
              </a:p>
              <a:p>
                <a:pPr lvl="0"/>
                <a:r>
                  <a:rPr lang="en-NL" dirty="0"/>
                  <a:t>The formula.</a:t>
                </a:r>
              </a:p>
              <a:p>
                <a:pPr lvl="0"/>
                <a:r>
                  <a:rPr lang="en-NL" dirty="0"/>
                  <a:t>The fixed-basis choice.</a:t>
                </a:r>
              </a:p>
              <a:p>
                <a:r>
                  <a:rPr lang="en-NL" dirty="0"/>
                  <a:t>• This slide explains the MECHANICS:</a:t>
                </a:r>
              </a:p>
              <a:p>
                <a:pPr lvl="0"/>
                <a:r>
                  <a:rPr lang="en-NL" dirty="0"/>
                  <a:t>What is computed once.</a:t>
                </a:r>
              </a:p>
              <a:p>
                <a:pPr lvl="0"/>
                <a:r>
                  <a:rPr lang="en-NL" dirty="0"/>
                  <a:t>What happens at every training update.</a:t>
                </a:r>
              </a:p>
              <a:p>
                <a:r>
                  <a:rPr lang="en-NL" dirty="0"/>
                  <a:t>ONCE — BEFORE TRAINING</a:t>
                </a:r>
              </a:p>
              <a:p>
                <a:r>
                  <a:rPr lang="en-NL" dirty="0"/>
                  <a:t>• Construct the 22,400 operating points.</a:t>
                </a:r>
              </a:p>
              <a:p>
                <a:r>
                  <a:rPr lang="en-NL" dirty="0"/>
                  <a:t>• Build the basis Q̃ from those points.</a:t>
                </a:r>
              </a:p>
              <a:p>
                <a:r>
                  <a:rPr lang="en-NL" dirty="0"/>
                  <a:t>• Both are fixed for the entire training run.</a:t>
                </a:r>
              </a:p>
              <a:p>
                <a:r>
                  <a:rPr lang="en-NL" dirty="0"/>
                  <a:t>• Neither depends on the ANN.</a:t>
                </a:r>
              </a:p>
              <a:p>
                <a:r>
                  <a:rPr lang="en-NL" dirty="0"/>
                  <a:t>EVERY TRAINING UPDATE</a:t>
                </a:r>
              </a:p>
              <a:p>
                <a:r>
                  <a:rPr lang="en-NL" dirty="0"/>
                  <a:t>• Evaluate the ANN on those same 22,400 fixed inputs.</a:t>
                </a:r>
              </a:p>
              <a:p>
                <a:r>
                  <a:rPr lang="en-NL" dirty="0"/>
                  <a:t>• Project the ANN output with Q̃ᵀ.</a:t>
                </a:r>
              </a:p>
              <a:p>
                <a:r>
                  <a:rPr lang="en-NL" dirty="0"/>
                  <a:t>• Square the projected component.</a:t>
                </a:r>
              </a:p>
              <a:p>
                <a:r>
                  <a:rPr lang="en-NL" dirty="0"/>
                  <a:t>• Multiply by β.</a:t>
                </a:r>
              </a:p>
              <a:p>
                <a:r>
                  <a:rPr lang="en-NL" dirty="0"/>
                  <a:t>• Add it to the prediction loss.</a:t>
                </a:r>
              </a:p>
              <a:p>
                <a:r>
                  <a:rPr lang="en-NL" dirty="0"/>
                  <a:t>• That is it.</a:t>
                </a:r>
              </a:p>
              <a:p>
                <a:r>
                  <a:rPr lang="en-NL" dirty="0"/>
                  <a:t>• There is:</a:t>
                </a:r>
              </a:p>
              <a:p>
                <a:pPr lvl="0"/>
                <a:r>
                  <a:rPr lang="en-NL" dirty="0"/>
                  <a:t>No additional rollout.</a:t>
                </a:r>
              </a:p>
              <a:p>
                <a:pPr lvl="0"/>
                <a:r>
                  <a:rPr lang="en-NL" dirty="0"/>
                  <a:t>No Jacobian.</a:t>
                </a:r>
              </a:p>
              <a:p>
                <a:pPr lvl="0"/>
                <a:r>
                  <a:rPr lang="en-NL" dirty="0"/>
                  <a:t>No SVD.</a:t>
                </a:r>
              </a:p>
              <a:p>
                <a:r>
                  <a:rPr lang="en-NL" dirty="0"/>
                  <a:t>COMPUTATIONAL COST</a:t>
                </a:r>
              </a:p>
              <a:p>
                <a:r>
                  <a:rPr lang="en-NL" dirty="0"/>
                  <a:t>• Measured across both β sweeps:</a:t>
                </a:r>
              </a:p>
              <a:p>
                <a:pPr lvl="0"/>
                <a:r>
                  <a:rPr lang="en-NL" dirty="0"/>
                  <a:t>Arms with the penalty ran only 1–3% slower than β = 0.</a:t>
                </a:r>
              </a:p>
              <a:p>
                <a:pPr lvl="0"/>
                <a:r>
                  <a:rPr lang="en-NL" dirty="0"/>
                  <a:t>50 epochs took about 3 hours either way.</a:t>
                </a:r>
              </a:p>
              <a:p>
                <a:r>
                  <a:rPr lang="en-NL" dirty="0"/>
                  <a:t>• So the orthogonality penalty is not the computational bottleneck.</a:t>
                </a:r>
              </a:p>
              <a:p>
                <a:r>
                  <a:rPr lang="en-NL" dirty="0"/>
                  <a:t>GRADIENT OWNERSHIP</a:t>
                </a:r>
              </a:p>
              <a:p>
                <a:r>
                  <a:rPr lang="en-NL" dirty="0"/>
                  <a:t>• The added term is a function of the ANN weights only.</a:t>
                </a:r>
              </a:p>
              <a:p>
                <a:r>
                  <a:rPr lang="en-NL" dirty="0"/>
                  <a:t>• Therefore the penalty directly affects only the ANN.</a:t>
                </a:r>
              </a:p>
              <a:p>
                <a:r>
                  <a:rPr lang="en-NL" dirty="0"/>
                  <a:t>• The physical parameters and encoder move through V(sec) alone.</a:t>
                </a:r>
              </a:p>
              <a:p>
                <a:r>
                  <a:rPr lang="en-NL" dirty="0"/>
                  <a:t>• We verified this:</a:t>
                </a:r>
              </a:p>
              <a:p>
                <a:pPr lvl="0"/>
                <a:r>
                  <a:rPr lang="en-NL" dirty="0"/>
                  <a:t>Their gradients are bit-identical with β on and off.</a:t>
                </a:r>
              </a:p>
              <a:p>
                <a:r>
                  <a:rPr lang="en-NL" dirty="0"/>
                  <a:t>IF ASKED — WHY USE THE FIXED POINT SET INSTEAD OF THE CURRENT TRAINING BATCH?</a:t>
                </a:r>
              </a:p>
              <a:p>
                <a:r>
                  <a:rPr lang="en-NL" dirty="0"/>
                  <a:t>• The basis Q̃ was built from those specific operating points.</a:t>
                </a:r>
              </a:p>
              <a:p>
                <a:r>
                  <a:rPr lang="en-NL" dirty="0"/>
                  <a:t>• Therefore the ANN must be evaluated at those same points when applying the penalty.</a:t>
                </a:r>
              </a:p>
              <a:p>
                <a:r>
                  <a:rPr lang="en-NL" dirty="0"/>
                  <a:t>• Otherwise:</a:t>
                </a:r>
              </a:p>
              <a:p>
                <a:pPr lvl="0"/>
                <a:r>
                  <a:rPr lang="en-NL" dirty="0"/>
                  <a:t>We would evaluate the ANN at one set of operating conditions.</a:t>
                </a:r>
              </a:p>
              <a:p>
                <a:pPr lvl="0"/>
                <a:r>
                  <a:rPr lang="en-NL" dirty="0"/>
                  <a:t>But project it onto a physical subspace constructed somewhere else.</a:t>
                </a:r>
              </a:p>
              <a:p>
                <a:r>
                  <a:rPr lang="en-NL" dirty="0"/>
                  <a:t>• Using the fixed set also makes the penalty deterministic in the ANN weights.</a:t>
                </a:r>
              </a:p>
              <a:p>
                <a:r>
                  <a:rPr lang="en-NL" dirty="0"/>
                  <a:t>• It does not become stochastic from batch to batch.</a:t>
                </a:r>
              </a:p>
              <a:p>
                <a:r>
                  <a:rPr lang="en-NL" dirty="0"/>
                  <a:t>IF ASKED — IS β = 0 A TRUE BASELINE?</a:t>
                </a:r>
              </a:p>
              <a:p>
                <a:r>
                  <a:rPr lang="en-NL" dirty="0"/>
                  <a:t>• Yes.</a:t>
                </a:r>
              </a:p>
              <a:p>
                <a:r>
                  <a:rPr lang="en-NL" dirty="0"/>
                  <a:t>• β = 0 is a true no-op.</a:t>
                </a:r>
              </a:p>
              <a:p>
                <a:r>
                  <a:rPr lang="en-NL" dirty="0"/>
                  <a:t>• The penalty term is not added at all.</a:t>
                </a:r>
              </a:p>
              <a:p>
                <a:r>
                  <a:rPr lang="en-NL" dirty="0"/>
                  <a:t>• It is not computed and then multiplied by zero.</a:t>
                </a:r>
              </a:p>
              <a:p>
                <a:r>
                  <a:rPr lang="en-NL" dirty="0"/>
                  <a:t>IF ASKED — WHY DOES β NOT TRANSFER FROM THE PAPER?</a:t>
                </a:r>
              </a:p>
              <a:p>
                <a:r>
                  <a:rPr lang="en-NL" dirty="0"/>
                  <a:t>• Our penalty is an UNNORMALISED sum over:</a:t>
                </a:r>
                <a:br>
                  <a:rPr lang="en-NL" dirty="0"/>
                </a:br>
                <a:r>
                  <a:rPr lang="en-NL" dirty="0"/>
                  <a:t>134,400 rows.</a:t>
                </a:r>
              </a:p>
              <a:p>
                <a:r>
                  <a:rPr lang="en-NL" dirty="0"/>
                  <a:t>• V(sec) is a MEAN prediction loss.</a:t>
                </a:r>
              </a:p>
              <a:p>
                <a:r>
                  <a:rPr lang="en-NL" dirty="0"/>
                  <a:t>• So the two terms have different numerical scales.</a:t>
                </a:r>
              </a:p>
              <a:p>
                <a:r>
                  <a:rPr lang="en-NL" dirty="0"/>
                  <a:t>• β therefore carries both:</a:t>
                </a:r>
              </a:p>
              <a:p>
                <a:pPr lvl="0"/>
                <a:r>
                  <a:rPr lang="en-NL" dirty="0"/>
                  <a:t>The desired strength of the orthogonality penalty.</a:t>
                </a:r>
              </a:p>
              <a:p>
                <a:pPr lvl="0"/>
                <a:r>
                  <a:rPr lang="en-NL" dirty="0"/>
                  <a:t>The scale difference between the two loss terms.</a:t>
                </a:r>
              </a:p>
              <a:p>
                <a:r>
                  <a:rPr lang="en-NL" dirty="0"/>
                  <a:t>• Therefore the β value from the paper cannot be transferred directly.</a:t>
                </a:r>
              </a:p>
              <a:p>
                <a:r>
                  <a:rPr lang="en-NL" dirty="0"/>
                  <a:t>PHRASING WARNING — “NO GANTRY-SPECIFIC ADAPTATION”</a:t>
                </a:r>
              </a:p>
              <a:p>
                <a:r>
                  <a:rPr lang="en-NL" dirty="0"/>
                  <a:t>• Be precise here.</a:t>
                </a:r>
              </a:p>
              <a:p>
                <a:r>
                  <a:rPr lang="en-NL" dirty="0"/>
                  <a:t>• The PENALTY itself needs no gantry-specific adaptation.</a:t>
                </a:r>
              </a:p>
              <a:p>
                <a:r>
                  <a:rPr lang="en-NL" dirty="0"/>
                  <a:t>• The complete training objective does.</a:t>
                </a:r>
              </a:p>
              <a:p>
                <a:r>
                  <a:rPr lang="en-NL" dirty="0"/>
                  <a:t>• Our V(sec) is:</a:t>
                </a:r>
              </a:p>
              <a:p>
                <a:pPr lvl="0"/>
                <a:r>
                  <a:rPr lang="en-NL" dirty="0"/>
                  <a:t>A 400-step closed-loop prediction loss.</a:t>
                </a:r>
              </a:p>
              <a:p>
                <a:pPr lvl="0"/>
                <a:r>
                  <a:rPr lang="en-NL" dirty="0"/>
                  <a:t>Initialised using the encoder.</a:t>
                </a:r>
              </a:p>
              <a:p>
                <a:r>
                  <a:rPr lang="en-NL" dirty="0"/>
                  <a:t>• The paper uses:</a:t>
                </a:r>
              </a:p>
              <a:p>
                <a:pPr lvl="0"/>
                <a:r>
                  <a:rPr lang="en-NL" dirty="0"/>
                  <a:t>A 15-step cost.</a:t>
                </a:r>
              </a:p>
              <a:p>
                <a:pPr lvl="0"/>
                <a:r>
                  <a:rPr lang="en-NL" dirty="0"/>
                  <a:t>Measured initial states.</a:t>
                </a:r>
              </a:p>
              <a:p>
                <a:r>
                  <a:rPr lang="en-NL" dirty="0"/>
                  <a:t>• So say:</a:t>
                </a:r>
              </a:p>
              <a:p>
                <a:r>
                  <a:rPr lang="en-NL" dirty="0"/>
                  <a:t>“The penalty needs no gantry-specific adaptation.”</a:t>
                </a:r>
              </a:p>
              <a:p>
                <a:r>
                  <a:rPr lang="en-NL" dirty="0"/>
                  <a:t>• Avoid:</a:t>
                </a:r>
              </a:p>
              <a:p>
                <a:r>
                  <a:rPr lang="en-NL" dirty="0"/>
                  <a:t>“This stage needs no adaptation.”</a:t>
                </a:r>
              </a:p>
              <a:p>
                <a:endParaRPr lang="en-NL" dirty="0"/>
              </a:p>
            </p:txBody>
          </p:sp>
        </mc:Choice>
        <mc:Fallback xmlns="">
          <p:sp>
            <p:nvSpPr>
              <p:cNvPr id="3" name="Notes Placeholder 2"/>
              <p:cNvSpPr>
                <a:spLocks noGrp="1"/>
              </p:cNvSpPr>
              <p:nvPr>
                <p:ph type="body" idx="1"/>
              </p:nvPr>
            </p:nvSpPr>
            <p:spPr/>
            <p:txBody>
              <a:bodyPr/>
              <a:lstStyle/>
              <a:p>
                <a:r>
                  <a:rPr lang="en-NL" dirty="0"/>
                  <a:t>You are </a:t>
                </a:r>
                <a:r>
                  <a:rPr lang="en-NL" b="1" dirty="0"/>
                  <a:t>not constructing </a:t>
                </a:r>
                <a:r>
                  <a:rPr lang="en-NL" sz="1200" i="0" kern="1200">
                    <a:solidFill>
                      <a:schemeClr val="tx1"/>
                    </a:solidFill>
                    <a:latin typeface="+mn-lt"/>
                    <a:ea typeface="+mn-ea"/>
                    <a:cs typeface="+mn-cs"/>
                  </a:rPr>
                  <a:t>𝑄</a:t>
                </a:r>
                <a:r>
                  <a:rPr lang="en-NL" b="1" dirty="0"/>
                  <a:t>from every minibatch</a:t>
                </a:r>
                <a:r>
                  <a:rPr lang="en-NL" dirty="0"/>
                  <a:t>.</a:t>
                </a:r>
              </a:p>
              <a:p>
                <a:r>
                  <a:rPr lang="en-NL" dirty="0"/>
                  <a:t>Before training:</a:t>
                </a:r>
              </a:p>
              <a:p>
                <a:r>
                  <a:rPr lang="en-NL" sz="1200" i="0" kern="1200">
                    <a:solidFill>
                      <a:schemeClr val="tx1"/>
                    </a:solidFill>
                    <a:latin typeface="+mn-lt"/>
                    <a:ea typeface="+mn-ea"/>
                    <a:cs typeface="+mn-cs"/>
                  </a:rPr>
                  <a:t>𝑋,</a:t>
                </a:r>
                <a:r>
                  <a:rPr lang="en-NL" sz="1200" b="0" i="0" kern="1200">
                    <a:solidFill>
                      <a:schemeClr val="tx1"/>
                    </a:solidFill>
                    <a:latin typeface="Cambria Math" panose="02040503050406030204" pitchFamily="18" charset="0"/>
                    <a:ea typeface="+mn-ea"/>
                    <a:cs typeface="+mn-cs"/>
                  </a:rPr>
                  <a:t>" </a:t>
                </a:r>
                <a:r>
                  <a:rPr lang="en-NL" sz="1200" b="0" i="0" kern="1200">
                    <a:solidFill>
                      <a:schemeClr val="tx1"/>
                    </a:solidFill>
                    <a:latin typeface="+mn-lt"/>
                    <a:ea typeface="+mn-ea"/>
                    <a:cs typeface="+mn-cs"/>
                  </a:rPr>
                  <a:t>" 𝑈,</a:t>
                </a:r>
                <a:r>
                  <a:rPr lang="en-NL" sz="1200" b="0" i="0" kern="1200">
                    <a:solidFill>
                      <a:schemeClr val="tx1"/>
                    </a:solidFill>
                    <a:latin typeface="Cambria Math" panose="02040503050406030204" pitchFamily="18" charset="0"/>
                    <a:ea typeface="+mn-ea"/>
                    <a:cs typeface="+mn-cs"/>
                  </a:rPr>
                  <a:t>" </a:t>
                </a:r>
                <a:r>
                  <a:rPr lang="en-NL" sz="1200" b="0" i="0" kern="1200">
                    <a:solidFill>
                      <a:schemeClr val="tx1"/>
                    </a:solidFill>
                    <a:latin typeface="+mn-lt"/>
                    <a:ea typeface="+mn-ea"/>
                    <a:cs typeface="+mn-cs"/>
                  </a:rPr>
                  <a:t>" 𝑄 </a:t>
                </a:r>
                <a:r>
                  <a:rPr lang="en-NL" sz="1200" b="0" i="0" kern="1200">
                    <a:solidFill>
                      <a:schemeClr val="tx1"/>
                    </a:solidFill>
                    <a:latin typeface="Cambria Math" panose="02040503050406030204" pitchFamily="18" charset="0"/>
                    <a:ea typeface="+mn-ea"/>
                    <a:cs typeface="+mn-cs"/>
                  </a:rPr>
                  <a:t>"are frozen</a:t>
                </a:r>
                <a:r>
                  <a:rPr lang="en-NL" sz="1200" b="0" i="0" kern="1200">
                    <a:solidFill>
                      <a:schemeClr val="tx1"/>
                    </a:solidFill>
                    <a:latin typeface="+mn-lt"/>
                    <a:ea typeface="+mn-ea"/>
                    <a:cs typeface="+mn-cs"/>
                  </a:rPr>
                  <a:t>".</a:t>
                </a:r>
                <a:endParaRPr lang="en-NL" b="0" dirty="0"/>
              </a:p>
              <a:p>
                <a:r>
                  <a:rPr lang="en-NL" dirty="0"/>
                  <a:t>At every optimizer update you evaluate</a:t>
                </a:r>
              </a:p>
              <a:p>
                <a:r>
                  <a:rPr lang="en-NL" sz="1200" i="0" kern="1200">
                    <a:solidFill>
                      <a:schemeClr val="tx1"/>
                    </a:solidFill>
                    <a:latin typeface="+mn-lt"/>
                    <a:ea typeface="+mn-ea"/>
                    <a:cs typeface="+mn-cs"/>
                  </a:rPr>
                  <a:t>𝑓_𝜂^𝐴𝑁𝑁 (𝑋ⓜ,𝑈)</a:t>
                </a:r>
                <a:endParaRPr lang="en-NL" dirty="0"/>
              </a:p>
              <a:p>
                <a:r>
                  <a:rPr lang="en-NL" dirty="0"/>
                  <a:t>on this fixed reference point set.</a:t>
                </a:r>
              </a:p>
              <a:p>
                <a:r>
                  <a:rPr lang="en-NL" dirty="0"/>
                  <a:t>Then:</a:t>
                </a:r>
              </a:p>
              <a:p>
                <a:r>
                  <a:rPr lang="en-NL" sz="1200" i="0" kern="1200">
                    <a:solidFill>
                      <a:schemeClr val="tx1"/>
                    </a:solidFill>
                    <a:latin typeface="+mn-lt"/>
                    <a:ea typeface="+mn-ea"/>
                    <a:cs typeface="+mn-cs"/>
                  </a:rPr>
                  <a:t>𝑐=𝑄^⊤ 𝑓_𝜂^𝐴𝑁𝑁 (𝑋ⓜ,𝑈).</a:t>
                </a:r>
                <a:endParaRPr lang="en-NL" dirty="0"/>
              </a:p>
              <a:p>
                <a:r>
                  <a:rPr lang="en-NL" dirty="0"/>
                  <a:t>If</a:t>
                </a:r>
              </a:p>
              <a:p>
                <a:r>
                  <a:rPr lang="en-NL" sz="1200" i="0" kern="1200">
                    <a:solidFill>
                      <a:schemeClr val="tx1"/>
                    </a:solidFill>
                    <a:latin typeface="+mn-lt"/>
                    <a:ea typeface="+mn-ea"/>
                    <a:cs typeface="+mn-cs"/>
                  </a:rPr>
                  <a:t>𝑐_𝑖≠0,</a:t>
                </a:r>
                <a:endParaRPr lang="en-NL" dirty="0"/>
              </a:p>
              <a:p>
                <a:r>
                  <a:rPr lang="en-NL" dirty="0"/>
                  <a:t>the ANN contains some amount of physical-response direction </a:t>
                </a:r>
                <a:r>
                  <a:rPr lang="en-NL" sz="1200" i="0" kern="1200">
                    <a:solidFill>
                      <a:schemeClr val="tx1"/>
                    </a:solidFill>
                    <a:latin typeface="+mn-lt"/>
                    <a:ea typeface="+mn-ea"/>
                    <a:cs typeface="+mn-cs"/>
                  </a:rPr>
                  <a:t>𝑞_𝑖</a:t>
                </a:r>
                <a:r>
                  <a:rPr lang="en-NL" dirty="0"/>
                  <a:t>.</a:t>
                </a:r>
              </a:p>
              <a:p>
                <a:endParaRPr lang="en-US" dirty="0"/>
              </a:p>
              <a:p>
                <a:endParaRPr lang="en-US" dirty="0"/>
              </a:p>
              <a:p>
                <a:r>
                  <a:rPr lang="en-NL" dirty="0"/>
                  <a:t>SAY — WHAT THIS SLIDE ADDS</a:t>
                </a:r>
              </a:p>
              <a:p>
                <a:r>
                  <a:rPr lang="en-NL" dirty="0"/>
                  <a:t>• The earlier penalty slide gave:</a:t>
                </a:r>
              </a:p>
              <a:p>
                <a:pPr lvl="0"/>
                <a:r>
                  <a:rPr lang="en-NL" dirty="0"/>
                  <a:t>The formula.</a:t>
                </a:r>
              </a:p>
              <a:p>
                <a:pPr lvl="0"/>
                <a:r>
                  <a:rPr lang="en-NL" dirty="0"/>
                  <a:t>The fixed-basis choice.</a:t>
                </a:r>
              </a:p>
              <a:p>
                <a:r>
                  <a:rPr lang="en-NL" dirty="0"/>
                  <a:t>• This slide explains the MECHANICS:</a:t>
                </a:r>
              </a:p>
              <a:p>
                <a:pPr lvl="0"/>
                <a:r>
                  <a:rPr lang="en-NL" dirty="0"/>
                  <a:t>What is computed once.</a:t>
                </a:r>
              </a:p>
              <a:p>
                <a:pPr lvl="0"/>
                <a:r>
                  <a:rPr lang="en-NL" dirty="0"/>
                  <a:t>What happens at every training update.</a:t>
                </a:r>
              </a:p>
              <a:p>
                <a:r>
                  <a:rPr lang="en-NL" dirty="0"/>
                  <a:t>ONCE — BEFORE TRAINING</a:t>
                </a:r>
              </a:p>
              <a:p>
                <a:r>
                  <a:rPr lang="en-NL" dirty="0"/>
                  <a:t>• Construct the 22,400 operating points.</a:t>
                </a:r>
              </a:p>
              <a:p>
                <a:r>
                  <a:rPr lang="en-NL" dirty="0"/>
                  <a:t>• Build the basis Q̃ from those points.</a:t>
                </a:r>
              </a:p>
              <a:p>
                <a:r>
                  <a:rPr lang="en-NL" dirty="0"/>
                  <a:t>• Both are fixed for the entire training run.</a:t>
                </a:r>
              </a:p>
              <a:p>
                <a:r>
                  <a:rPr lang="en-NL" dirty="0"/>
                  <a:t>• Neither depends on the ANN.</a:t>
                </a:r>
              </a:p>
              <a:p>
                <a:r>
                  <a:rPr lang="en-NL" dirty="0"/>
                  <a:t>EVERY TRAINING UPDATE</a:t>
                </a:r>
              </a:p>
              <a:p>
                <a:r>
                  <a:rPr lang="en-NL" dirty="0"/>
                  <a:t>• Evaluate the ANN on those same 22,400 fixed inputs.</a:t>
                </a:r>
              </a:p>
              <a:p>
                <a:r>
                  <a:rPr lang="en-NL" dirty="0"/>
                  <a:t>• Project the ANN output with Q̃ᵀ.</a:t>
                </a:r>
              </a:p>
              <a:p>
                <a:r>
                  <a:rPr lang="en-NL" dirty="0"/>
                  <a:t>• Square the projected component.</a:t>
                </a:r>
              </a:p>
              <a:p>
                <a:r>
                  <a:rPr lang="en-NL" dirty="0"/>
                  <a:t>• Multiply by β.</a:t>
                </a:r>
              </a:p>
              <a:p>
                <a:r>
                  <a:rPr lang="en-NL" dirty="0"/>
                  <a:t>• Add it to the prediction loss.</a:t>
                </a:r>
              </a:p>
              <a:p>
                <a:r>
                  <a:rPr lang="en-NL" dirty="0"/>
                  <a:t>• That is it.</a:t>
                </a:r>
              </a:p>
              <a:p>
                <a:r>
                  <a:rPr lang="en-NL" dirty="0"/>
                  <a:t>• There is:</a:t>
                </a:r>
              </a:p>
              <a:p>
                <a:pPr lvl="0"/>
                <a:r>
                  <a:rPr lang="en-NL" dirty="0"/>
                  <a:t>No additional rollout.</a:t>
                </a:r>
              </a:p>
              <a:p>
                <a:pPr lvl="0"/>
                <a:r>
                  <a:rPr lang="en-NL" dirty="0"/>
                  <a:t>No Jacobian.</a:t>
                </a:r>
              </a:p>
              <a:p>
                <a:pPr lvl="0"/>
                <a:r>
                  <a:rPr lang="en-NL" dirty="0"/>
                  <a:t>No SVD.</a:t>
                </a:r>
              </a:p>
              <a:p>
                <a:r>
                  <a:rPr lang="en-NL" dirty="0"/>
                  <a:t>COMPUTATIONAL COST</a:t>
                </a:r>
              </a:p>
              <a:p>
                <a:r>
                  <a:rPr lang="en-NL" dirty="0"/>
                  <a:t>• Measured across both β sweeps:</a:t>
                </a:r>
              </a:p>
              <a:p>
                <a:pPr lvl="0"/>
                <a:r>
                  <a:rPr lang="en-NL" dirty="0"/>
                  <a:t>Arms with the penalty ran only 1–3% slower than β = 0.</a:t>
                </a:r>
              </a:p>
              <a:p>
                <a:pPr lvl="0"/>
                <a:r>
                  <a:rPr lang="en-NL" dirty="0"/>
                  <a:t>50 epochs took about 3 hours either way.</a:t>
                </a:r>
              </a:p>
              <a:p>
                <a:r>
                  <a:rPr lang="en-NL" dirty="0"/>
                  <a:t>• So the orthogonality penalty is not the computational bottleneck.</a:t>
                </a:r>
              </a:p>
              <a:p>
                <a:r>
                  <a:rPr lang="en-NL" dirty="0"/>
                  <a:t>GRADIENT OWNERSHIP</a:t>
                </a:r>
              </a:p>
              <a:p>
                <a:r>
                  <a:rPr lang="en-NL" dirty="0"/>
                  <a:t>• The added term is a function of the ANN weights only.</a:t>
                </a:r>
              </a:p>
              <a:p>
                <a:r>
                  <a:rPr lang="en-NL" dirty="0"/>
                  <a:t>• Therefore the penalty directly affects only the ANN.</a:t>
                </a:r>
              </a:p>
              <a:p>
                <a:r>
                  <a:rPr lang="en-NL" dirty="0"/>
                  <a:t>• The physical parameters and encoder move through V(sec) alone.</a:t>
                </a:r>
              </a:p>
              <a:p>
                <a:r>
                  <a:rPr lang="en-NL" dirty="0"/>
                  <a:t>• We verified this:</a:t>
                </a:r>
              </a:p>
              <a:p>
                <a:pPr lvl="0"/>
                <a:r>
                  <a:rPr lang="en-NL" dirty="0"/>
                  <a:t>Their gradients are bit-identical with β on and off.</a:t>
                </a:r>
              </a:p>
              <a:p>
                <a:r>
                  <a:rPr lang="en-NL" dirty="0"/>
                  <a:t>IF ASKED — WHY USE THE FIXED POINT SET INSTEAD OF THE CURRENT TRAINING BATCH?</a:t>
                </a:r>
              </a:p>
              <a:p>
                <a:r>
                  <a:rPr lang="en-NL" dirty="0"/>
                  <a:t>• The basis Q̃ was built from those specific operating points.</a:t>
                </a:r>
              </a:p>
              <a:p>
                <a:r>
                  <a:rPr lang="en-NL" dirty="0"/>
                  <a:t>• Therefore the ANN must be evaluated at those same points when applying the penalty.</a:t>
                </a:r>
              </a:p>
              <a:p>
                <a:r>
                  <a:rPr lang="en-NL" dirty="0"/>
                  <a:t>• Otherwise:</a:t>
                </a:r>
              </a:p>
              <a:p>
                <a:pPr lvl="0"/>
                <a:r>
                  <a:rPr lang="en-NL" dirty="0"/>
                  <a:t>We would evaluate the ANN at one set of operating conditions.</a:t>
                </a:r>
              </a:p>
              <a:p>
                <a:pPr lvl="0"/>
                <a:r>
                  <a:rPr lang="en-NL" dirty="0"/>
                  <a:t>But project it onto a physical subspace constructed somewhere else.</a:t>
                </a:r>
              </a:p>
              <a:p>
                <a:r>
                  <a:rPr lang="en-NL" dirty="0"/>
                  <a:t>• Using the fixed set also makes the penalty deterministic in the ANN weights.</a:t>
                </a:r>
              </a:p>
              <a:p>
                <a:r>
                  <a:rPr lang="en-NL" dirty="0"/>
                  <a:t>• It does not become stochastic from batch to batch.</a:t>
                </a:r>
              </a:p>
              <a:p>
                <a:r>
                  <a:rPr lang="en-NL" dirty="0"/>
                  <a:t>IF ASKED — IS β = 0 A TRUE BASELINE?</a:t>
                </a:r>
              </a:p>
              <a:p>
                <a:r>
                  <a:rPr lang="en-NL" dirty="0"/>
                  <a:t>• Yes.</a:t>
                </a:r>
              </a:p>
              <a:p>
                <a:r>
                  <a:rPr lang="en-NL" dirty="0"/>
                  <a:t>• β = 0 is a true no-op.</a:t>
                </a:r>
              </a:p>
              <a:p>
                <a:r>
                  <a:rPr lang="en-NL" dirty="0"/>
                  <a:t>• The penalty term is not added at all.</a:t>
                </a:r>
              </a:p>
              <a:p>
                <a:r>
                  <a:rPr lang="en-NL" dirty="0"/>
                  <a:t>• It is not computed and then multiplied by zero.</a:t>
                </a:r>
              </a:p>
              <a:p>
                <a:r>
                  <a:rPr lang="en-NL" dirty="0"/>
                  <a:t>IF ASKED — WHY DOES β NOT TRANSFER FROM THE PAPER?</a:t>
                </a:r>
              </a:p>
              <a:p>
                <a:r>
                  <a:rPr lang="en-NL" dirty="0"/>
                  <a:t>• Our penalty is an UNNORMALISED sum over:</a:t>
                </a:r>
                <a:br>
                  <a:rPr lang="en-NL" dirty="0"/>
                </a:br>
                <a:r>
                  <a:rPr lang="en-NL" dirty="0"/>
                  <a:t>134,400 rows.</a:t>
                </a:r>
              </a:p>
              <a:p>
                <a:r>
                  <a:rPr lang="en-NL" dirty="0"/>
                  <a:t>• V(sec) is a MEAN prediction loss.</a:t>
                </a:r>
              </a:p>
              <a:p>
                <a:r>
                  <a:rPr lang="en-NL" dirty="0"/>
                  <a:t>• So the two terms have different numerical scales.</a:t>
                </a:r>
              </a:p>
              <a:p>
                <a:r>
                  <a:rPr lang="en-NL" dirty="0"/>
                  <a:t>• β therefore carries both:</a:t>
                </a:r>
              </a:p>
              <a:p>
                <a:pPr lvl="0"/>
                <a:r>
                  <a:rPr lang="en-NL" dirty="0"/>
                  <a:t>The desired strength of the orthogonality penalty.</a:t>
                </a:r>
              </a:p>
              <a:p>
                <a:pPr lvl="0"/>
                <a:r>
                  <a:rPr lang="en-NL" dirty="0"/>
                  <a:t>The scale difference between the two loss terms.</a:t>
                </a:r>
              </a:p>
              <a:p>
                <a:r>
                  <a:rPr lang="en-NL" dirty="0"/>
                  <a:t>• Therefore the β value from the paper cannot be transferred directly.</a:t>
                </a:r>
              </a:p>
              <a:p>
                <a:r>
                  <a:rPr lang="en-NL" dirty="0"/>
                  <a:t>PHRASING WARNING — “NO GANTRY-SPECIFIC ADAPTATION”</a:t>
                </a:r>
              </a:p>
              <a:p>
                <a:r>
                  <a:rPr lang="en-NL" dirty="0"/>
                  <a:t>• Be precise here.</a:t>
                </a:r>
              </a:p>
              <a:p>
                <a:r>
                  <a:rPr lang="en-NL" dirty="0"/>
                  <a:t>• The PENALTY itself needs no gantry-specific adaptation.</a:t>
                </a:r>
              </a:p>
              <a:p>
                <a:r>
                  <a:rPr lang="en-NL" dirty="0"/>
                  <a:t>• The complete training objective does.</a:t>
                </a:r>
              </a:p>
              <a:p>
                <a:r>
                  <a:rPr lang="en-NL" dirty="0"/>
                  <a:t>• Our V(sec) is:</a:t>
                </a:r>
              </a:p>
              <a:p>
                <a:pPr lvl="0"/>
                <a:r>
                  <a:rPr lang="en-NL" dirty="0"/>
                  <a:t>A 400-step closed-loop prediction loss.</a:t>
                </a:r>
              </a:p>
              <a:p>
                <a:pPr lvl="0"/>
                <a:r>
                  <a:rPr lang="en-NL" dirty="0"/>
                  <a:t>Initialised using the encoder.</a:t>
                </a:r>
              </a:p>
              <a:p>
                <a:r>
                  <a:rPr lang="en-NL" dirty="0"/>
                  <a:t>• The paper uses:</a:t>
                </a:r>
              </a:p>
              <a:p>
                <a:pPr lvl="0"/>
                <a:r>
                  <a:rPr lang="en-NL" dirty="0"/>
                  <a:t>A 15-step cost.</a:t>
                </a:r>
              </a:p>
              <a:p>
                <a:pPr lvl="0"/>
                <a:r>
                  <a:rPr lang="en-NL" dirty="0"/>
                  <a:t>Measured initial states.</a:t>
                </a:r>
              </a:p>
              <a:p>
                <a:r>
                  <a:rPr lang="en-NL" dirty="0"/>
                  <a:t>• So say:</a:t>
                </a:r>
              </a:p>
              <a:p>
                <a:r>
                  <a:rPr lang="en-NL" dirty="0"/>
                  <a:t>“The penalty needs no gantry-specific adaptation.”</a:t>
                </a:r>
              </a:p>
              <a:p>
                <a:r>
                  <a:rPr lang="en-NL" dirty="0"/>
                  <a:t>• Avoid:</a:t>
                </a:r>
              </a:p>
              <a:p>
                <a:r>
                  <a:rPr lang="en-NL" dirty="0"/>
                  <a:t>“This stage needs no adaptation.”</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35</a:t>
            </a:fld>
            <a:endParaRPr lang="en-NL"/>
          </a:p>
        </p:txBody>
      </p:sp>
    </p:spTree>
    <p:extLst>
      <p:ext uri="{BB962C8B-B14F-4D97-AF65-F5344CB8AC3E}">
        <p14:creationId xmlns:p14="http://schemas.microsoft.com/office/powerpoint/2010/main" val="2106186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fraction of ANN correction energy that looks physically reproducible​</a:t>
                </a:r>
                <a:endParaRPr lang="en-US" dirty="0"/>
              </a:p>
              <a:p>
                <a:r>
                  <a:rPr lang="en-NL" dirty="0"/>
                  <a:t>If</a:t>
                </a:r>
              </a:p>
              <a:p>
                <a:pPr/>
                <a14:m>
                  <m:oMathPara xmlns:m="http://schemas.openxmlformats.org/officeDocument/2006/math">
                    <m:o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𝑟</m:t>
                          </m:r>
                        </m:e>
                        <m:sub>
                          <m:r>
                            <m:rPr>
                              <m:sty m:val="p"/>
                            </m:rPr>
                            <a:rPr lang="en-NL" sz="1200" i="0" kern="1200">
                              <a:solidFill>
                                <a:schemeClr val="tx1"/>
                              </a:solidFill>
                              <a:latin typeface="Cambria Math" panose="02040503050406030204" pitchFamily="18" charset="0"/>
                              <a:ea typeface="+mn-ea"/>
                              <a:cs typeface="+mn-cs"/>
                            </a:rPr>
                            <m:t>span</m:t>
                          </m:r>
                        </m:sub>
                      </m:sSub>
                      <m:r>
                        <a:rPr lang="en-NL" sz="1200" i="0" kern="1200">
                          <a:solidFill>
                            <a:schemeClr val="tx1"/>
                          </a:solidFill>
                          <a:latin typeface="Cambria Math" panose="02040503050406030204" pitchFamily="18" charset="0"/>
                          <a:ea typeface="+mn-ea"/>
                          <a:cs typeface="+mn-cs"/>
                        </a:rPr>
                        <m:t>=0,</m:t>
                      </m:r>
                    </m:oMath>
                  </m:oMathPara>
                </a14:m>
                <a:endParaRPr lang="en-NL" dirty="0"/>
              </a:p>
              <a:p>
                <a:r>
                  <a:rPr lang="en-NL" dirty="0"/>
                  <a:t>the scored ANN correction is entirely orthogonal to the retained physical-response space.</a:t>
                </a:r>
              </a:p>
              <a:p>
                <a:r>
                  <a:rPr lang="en-NL" dirty="0"/>
                  <a:t>If</a:t>
                </a:r>
              </a:p>
              <a:p>
                <a:r>
                  <a:rPr lang="en-NL" dirty="0" err="1"/>
                  <a:t>rspan</a:t>
                </a:r>
                <a:r>
                  <a:rPr lang="en-NL" dirty="0"/>
                  <a:t>​=1,</a:t>
                </a:r>
                <a:endParaRPr lang="en-US" dirty="0"/>
              </a:p>
              <a:p>
                <a:endParaRPr lang="en-US" dirty="0"/>
              </a:p>
              <a:p>
                <a:r>
                  <a:rPr lang="en-US" dirty="0"/>
                  <a:t>Your beta range is four decades above the paper's and the slide does not say so. </a:t>
                </a:r>
                <a:r>
                  <a:rPr lang="en-US" dirty="0" err="1"/>
                  <a:t>Gyorok</a:t>
                </a:r>
                <a:r>
                  <a:rPr lang="en-US" dirty="0"/>
                  <a:t> uses 1e-7 noiseless and calls 1e-7 to 1e-5 the useful range; our flat region is 1e-5 to 1e-1. A supervisor who knows the paper will ask. The answer is in your </a:t>
                </a:r>
                <a:r>
                  <a:rPr lang="en-US" dirty="0" err="1"/>
                  <a:t>favour</a:t>
                </a:r>
                <a:r>
                  <a:rPr lang="en-US" dirty="0"/>
                  <a:t>: the penalty is a sum over 134400 regressor rows with no averaging, so beta absorbs the sample count and is not transferable. One line, and it demonstrates you understand the convention rather than copied a number.</a:t>
                </a:r>
              </a:p>
              <a:p>
                <a:endParaRPr lang="en-US" dirty="0"/>
              </a:p>
              <a:p>
                <a:endParaRPr lang="en-US" dirty="0"/>
              </a:p>
              <a:p>
                <a:r>
                  <a:rPr lang="en-NL" dirty="0"/>
                  <a:t>The numerical scale of \(\beta\) depends on the point set, normalization, and penalty aggregation. Therefore, the value selected in Györök’s example is not directly transferable to our gantry.</a:t>
                </a:r>
                <a:endParaRPr lang="en-US" dirty="0"/>
              </a:p>
              <a:p>
                <a:endParaRPr lang="en-US" dirty="0"/>
              </a:p>
              <a:p>
                <a:endParaRPr lang="en-US" dirty="0"/>
              </a:p>
              <a:p>
                <a:r>
                  <a:rPr lang="en-NL" dirty="0"/>
                  <a:t>SAY — WHAT </a:t>
                </a:r>
                <a:r>
                  <a:rPr lang="en-NL" dirty="0" err="1"/>
                  <a:t>r_span</a:t>
                </a:r>
                <a:r>
                  <a:rPr lang="en-NL" dirty="0"/>
                  <a:t> MEANS</a:t>
                </a:r>
              </a:p>
              <a:p>
                <a:r>
                  <a:rPr lang="en-NL" dirty="0"/>
                  <a:t>• </a:t>
                </a:r>
                <a:r>
                  <a:rPr lang="en-NL" dirty="0" err="1"/>
                  <a:t>r_span</a:t>
                </a:r>
                <a:r>
                  <a:rPr lang="en-NL" dirty="0"/>
                  <a:t> measures the share of the ANN output that lies inside the physical response space.</a:t>
                </a:r>
              </a:p>
              <a:p>
                <a:r>
                  <a:rPr lang="en-NL" dirty="0"/>
                  <a:t>• Because Q̃ has orthonormal columns:</a:t>
                </a:r>
              </a:p>
              <a:p>
                <a:pPr lvl="0"/>
                <a:r>
                  <a:rPr lang="en-NL" dirty="0" err="1"/>
                  <a:t>r_span</a:t>
                </a:r>
                <a:r>
                  <a:rPr lang="en-NL" dirty="0"/>
                  <a:t> is bounded between 0 and 1.</a:t>
                </a:r>
              </a:p>
              <a:p>
                <a:r>
                  <a:rPr lang="en-NL" dirty="0"/>
                  <a:t>• Interpretation:</a:t>
                </a:r>
              </a:p>
              <a:p>
                <a:pPr lvl="0"/>
                <a:r>
                  <a:rPr lang="en-NL" dirty="0" err="1"/>
                  <a:t>r_span</a:t>
                </a:r>
                <a:r>
                  <a:rPr lang="en-NL" dirty="0"/>
                  <a:t> = 0</a:t>
                </a:r>
                <a:br>
                  <a:rPr lang="en-NL" dirty="0"/>
                </a:br>
                <a:r>
                  <a:rPr lang="en-NL" dirty="0"/>
                  <a:t>The ANN is producing behaviour that the physical parameters could not reproduce.</a:t>
                </a:r>
              </a:p>
              <a:p>
                <a:pPr lvl="0"/>
                <a:r>
                  <a:rPr lang="en-NL" dirty="0" err="1"/>
                  <a:t>r_span</a:t>
                </a:r>
                <a:r>
                  <a:rPr lang="en-NL" dirty="0"/>
                  <a:t> = 1</a:t>
                </a:r>
                <a:br>
                  <a:rPr lang="en-NL" dirty="0"/>
                </a:br>
                <a:r>
                  <a:rPr lang="en-NL" dirty="0"/>
                  <a:t>Everything the ANN produces could also have been produced by changing the physical parameters.</a:t>
                </a:r>
              </a:p>
              <a:p>
                <a:r>
                  <a:rPr lang="en-NL" dirty="0"/>
                  <a:t>• Important:</a:t>
                </a:r>
              </a:p>
              <a:p>
                <a:pPr lvl="0"/>
                <a:r>
                  <a:rPr lang="en-NL" dirty="0"/>
                  <a:t>This ratio is OUR diagnostic.</a:t>
                </a:r>
              </a:p>
              <a:p>
                <a:r>
                  <a:rPr lang="en-NL" dirty="0"/>
                  <a:t>• The paper penalises only the numerator.</a:t>
                </a:r>
              </a:p>
              <a:p>
                <a:r>
                  <a:rPr lang="en-NL" dirty="0"/>
                  <a:t>• We divide by the total ANN output energy so that the quantity is easier to compare across arms with different ANN-output magnitudes.</a:t>
                </a:r>
              </a:p>
              <a:p>
                <a:r>
                  <a:rPr lang="en-NL" dirty="0"/>
                  <a:t>HOW TO READ THE NEXT TWO FIGURES</a:t>
                </a:r>
              </a:p>
              <a:p>
                <a:r>
                  <a:rPr lang="en-NL" dirty="0"/>
                  <a:t>• β = 0 appears to the LEFT of the dashed break.</a:t>
                </a:r>
              </a:p>
              <a:p>
                <a:r>
                  <a:rPr lang="en-NL" dirty="0"/>
                  <a:t>• It is the control condition.</a:t>
                </a:r>
              </a:p>
              <a:p>
                <a:r>
                  <a:rPr lang="en-NL" dirty="0"/>
                  <a:t>• It is NOT a point on the logarithmic β-axis.</a:t>
                </a:r>
              </a:p>
              <a:p>
                <a:r>
                  <a:rPr lang="en-NL" dirty="0"/>
                  <a:t>• The small n below each tick gives:</a:t>
                </a:r>
              </a:p>
              <a:p>
                <a:pPr lvl="0"/>
                <a:r>
                  <a:rPr lang="en-NL" dirty="0"/>
                  <a:t>The number of seeds behind that point.</a:t>
                </a:r>
              </a:p>
              <a:p>
                <a:r>
                  <a:rPr lang="en-NL" dirty="0"/>
                  <a:t>• Panels:</a:t>
                </a:r>
              </a:p>
              <a:p>
                <a:pPr lvl="0"/>
                <a:r>
                  <a:rPr lang="en-NL" dirty="0"/>
                  <a:t>Panel A = parameter recovery</a:t>
                </a:r>
                <a:br>
                  <a:rPr lang="en-NL" dirty="0"/>
                </a:br>
                <a:r>
                  <a:rPr lang="en-NL" dirty="0"/>
                  <a:t>Compared against the deliberately detuned starting parameters.</a:t>
                </a:r>
              </a:p>
              <a:p>
                <a:pPr lvl="0"/>
                <a:r>
                  <a:rPr lang="en-NL" dirty="0"/>
                  <a:t>Panel B = prediction performance</a:t>
                </a:r>
                <a:br>
                  <a:rPr lang="en-NL" dirty="0"/>
                </a:br>
                <a:r>
                  <a:rPr lang="en-NL" dirty="0"/>
                  <a:t>Closed-loop free-run RMS on the validation data.</a:t>
                </a:r>
              </a:p>
              <a:p>
                <a:pPr lvl="0"/>
                <a:r>
                  <a:rPr lang="en-NL" dirty="0"/>
                  <a:t>Panel C = </a:t>
                </a:r>
                <a:r>
                  <a:rPr lang="en-NL" dirty="0" err="1"/>
                  <a:t>r_span</a:t>
                </a:r>
                <a:endParaRPr lang="en-NL" dirty="0"/>
              </a:p>
              <a:p>
                <a:r>
                  <a:rPr lang="en-NL" dirty="0"/>
                  <a:t>WHAT TO POINT AT</a:t>
                </a:r>
              </a:p>
              <a:p>
                <a:r>
                  <a:rPr lang="en-NL" dirty="0"/>
                  <a:t>• Start with Panel C — this shows the MECHANISM.</a:t>
                </a:r>
              </a:p>
              <a:p>
                <a:pPr lvl="0"/>
                <a:r>
                  <a:rPr lang="en-NL" dirty="0"/>
                  <a:t>At β = 0:</a:t>
                </a:r>
                <a:br>
                  <a:rPr lang="en-NL" dirty="0"/>
                </a:br>
                <a:r>
                  <a:rPr lang="en-NL" dirty="0" err="1"/>
                  <a:t>r_span</a:t>
                </a:r>
                <a:r>
                  <a:rPr lang="en-NL" dirty="0"/>
                  <a:t> ≈ 0.89</a:t>
                </a:r>
              </a:p>
              <a:p>
                <a:pPr lvl="0"/>
                <a:r>
                  <a:rPr lang="en-NL" dirty="0"/>
                  <a:t>For every nonzero β:</a:t>
                </a:r>
                <a:br>
                  <a:rPr lang="en-NL" dirty="0"/>
                </a:br>
                <a:r>
                  <a:rPr lang="en-NL" dirty="0" err="1"/>
                  <a:t>r_span</a:t>
                </a:r>
                <a:r>
                  <a:rPr lang="en-NL" dirty="0"/>
                  <a:t> &lt; 10⁻⁶</a:t>
                </a:r>
              </a:p>
              <a:p>
                <a:r>
                  <a:rPr lang="en-NL" dirty="0"/>
                  <a:t>• So the penalty almost completely removes ANN behaviour that overlaps with the physical response space.</a:t>
                </a:r>
              </a:p>
              <a:p>
                <a:r>
                  <a:rPr lang="en-NL" dirty="0"/>
                  <a:t>• Then Panel A — this is the INTERPRETABILITY PAYOFF.</a:t>
                </a:r>
              </a:p>
              <a:p>
                <a:pPr lvl="0"/>
                <a:r>
                  <a:rPr lang="en-NL" dirty="0"/>
                  <a:t>Parameter error decreases monotonically as β increases.</a:t>
                </a:r>
              </a:p>
              <a:p>
                <a:r>
                  <a:rPr lang="en-NL" dirty="0"/>
                  <a:t>• In other words:</a:t>
                </a:r>
              </a:p>
              <a:p>
                <a:pPr lvl="0"/>
                <a:r>
                  <a:rPr lang="en-NL" dirty="0"/>
                  <a:t>Forcing the ANN out of the physical subspace improves physical-parameter recovery.</a:t>
                </a:r>
              </a:p>
              <a:p>
                <a:r>
                  <a:rPr lang="en-NL" dirty="0"/>
                  <a:t>• Finally Panel B — this is the PRICE.</a:t>
                </a:r>
              </a:p>
              <a:p>
                <a:pPr lvl="0"/>
                <a:r>
                  <a:rPr lang="en-NL" dirty="0"/>
                  <a:t>Prediction performance degrades slightly.</a:t>
                </a:r>
              </a:p>
              <a:p>
                <a:pPr lvl="0"/>
                <a:r>
                  <a:rPr lang="en-NL" dirty="0"/>
                  <a:t>The degradation is also monotonic with β.</a:t>
                </a:r>
              </a:p>
              <a:p>
                <a:r>
                  <a:rPr lang="en-NL" dirty="0"/>
                  <a:t>• So there is a trade-off:</a:t>
                </a:r>
              </a:p>
              <a:p>
                <a:pPr lvl="0"/>
                <a:r>
                  <a:rPr lang="en-NL" dirty="0"/>
                  <a:t>Better parameter recovery.</a:t>
                </a:r>
              </a:p>
              <a:p>
                <a:pPr lvl="0"/>
                <a:r>
                  <a:rPr lang="en-NL" dirty="0"/>
                  <a:t>Slightly worse prediction.</a:t>
                </a:r>
              </a:p>
              <a:p>
                <a:r>
                  <a:rPr lang="en-NL" dirty="0"/>
                  <a:t>DIFFERENCE BETWEEN THE TWO FIGURES</a:t>
                </a:r>
              </a:p>
              <a:p>
                <a:r>
                  <a:rPr lang="en-NL" dirty="0"/>
                  <a:t>• First figure:</a:t>
                </a:r>
              </a:p>
              <a:p>
                <a:pPr lvl="0"/>
                <a:r>
                  <a:rPr lang="en-NL" dirty="0"/>
                  <a:t>No latent augmentation states.</a:t>
                </a:r>
              </a:p>
              <a:p>
                <a:r>
                  <a:rPr lang="en-NL" dirty="0"/>
                  <a:t>• Second figure:</a:t>
                </a:r>
              </a:p>
              <a:p>
                <a:pPr lvl="0"/>
                <a:r>
                  <a:rPr lang="en-NL" dirty="0"/>
                  <a:t>Two latent states.</a:t>
                </a:r>
              </a:p>
              <a:p>
                <a:r>
                  <a:rPr lang="en-NL" dirty="0"/>
                  <a:t>• The same overall trade-off is therefore evaluated with and without latent augmentation dynamics.</a:t>
                </a:r>
              </a:p>
              <a:p>
                <a:r>
                  <a:rPr lang="en-NL" dirty="0"/>
                  <a:t>IF ASKED — WHY IS YOUR β SO DIFFERENT FROM THE PAPER?</a:t>
                </a:r>
              </a:p>
              <a:p>
                <a:r>
                  <a:rPr lang="en-NL" dirty="0"/>
                  <a:t>• Our selected value is:</a:t>
                </a:r>
                <a:br>
                  <a:rPr lang="en-NL" dirty="0"/>
                </a:br>
                <a:r>
                  <a:rPr lang="en-NL" dirty="0"/>
                  <a:t>β = 10⁻²</a:t>
                </a:r>
              </a:p>
              <a:p>
                <a:r>
                  <a:rPr lang="en-NL" dirty="0"/>
                  <a:t>• The paper selects approximately:</a:t>
                </a:r>
                <a:br>
                  <a:rPr lang="en-NL" dirty="0"/>
                </a:br>
                <a:r>
                  <a:rPr lang="en-NL" dirty="0"/>
                  <a:t>β = 10⁻⁷</a:t>
                </a:r>
              </a:p>
              <a:p>
                <a:r>
                  <a:rPr lang="en-NL" dirty="0"/>
                  <a:t>• But the RANGE explored is actually comparable.</a:t>
                </a:r>
              </a:p>
              <a:p>
                <a:r>
                  <a:rPr lang="en-NL" dirty="0"/>
                  <a:t>• The paper’s Figure 3 sweeps roughly:</a:t>
                </a:r>
                <a:br>
                  <a:rPr lang="en-NL" dirty="0"/>
                </a:br>
                <a:r>
                  <a:rPr lang="en-NL" dirty="0"/>
                  <a:t>10⁻⁹ to 10⁻¹</a:t>
                </a:r>
              </a:p>
              <a:p>
                <a:r>
                  <a:rPr lang="en-NL" dirty="0"/>
                  <a:t>• So the important difference is the selected value, not the order of magnitude covered by the sweep.</a:t>
                </a:r>
              </a:p>
              <a:p>
                <a:r>
                  <a:rPr lang="en-NL" dirty="0"/>
                  <a:t>WHY THE SELECTED β DOES NOT TRANSFER</a:t>
                </a:r>
              </a:p>
              <a:p>
                <a:r>
                  <a:rPr lang="en-NL" dirty="0"/>
                  <a:t>• Our orthogonality penalty is an UNNORMALISED sum over:</a:t>
                </a:r>
                <a:br>
                  <a:rPr lang="en-NL" dirty="0"/>
                </a:br>
                <a:r>
                  <a:rPr lang="en-NL" dirty="0"/>
                  <a:t>134,400 rows.</a:t>
                </a:r>
              </a:p>
              <a:p>
                <a:r>
                  <a:rPr lang="en-NL" dirty="0"/>
                  <a:t>• Our prediction loss is approximately:</a:t>
                </a:r>
                <a:br>
                  <a:rPr lang="en-NL" dirty="0"/>
                </a:br>
                <a:r>
                  <a:rPr lang="en-NL" dirty="0"/>
                  <a:t>10⁻⁸</a:t>
                </a:r>
              </a:p>
              <a:p>
                <a:r>
                  <a:rPr lang="en-NL" dirty="0"/>
                  <a:t>• Therefore the numerical scales of the two loss terms are very different.</a:t>
                </a:r>
              </a:p>
              <a:p>
                <a:r>
                  <a:rPr lang="en-NL" dirty="0"/>
                  <a:t>• β absorbs both:</a:t>
                </a:r>
              </a:p>
              <a:p>
                <a:pPr lvl="0"/>
                <a:r>
                  <a:rPr lang="en-NL" dirty="0"/>
                  <a:t>The desired strength of the orthogonality constraint.</a:t>
                </a:r>
              </a:p>
              <a:p>
                <a:pPr lvl="0"/>
                <a:r>
                  <a:rPr lang="en-NL" dirty="0"/>
                  <a:t>The relative scaling between the penalty and prediction loss.</a:t>
                </a:r>
              </a:p>
              <a:p>
                <a:r>
                  <a:rPr lang="en-NL" dirty="0"/>
                  <a:t>• Therefore the paper’s numerical β cannot simply be adopted in our implementation.</a:t>
                </a:r>
              </a:p>
              <a:p>
                <a:r>
                  <a:rPr lang="en-NL" dirty="0"/>
                  <a:t>SLIDE FIX 1 — REMARK NUMBER</a:t>
                </a:r>
              </a:p>
              <a:p>
                <a:r>
                  <a:rPr lang="en-NL" dirty="0"/>
                  <a:t>• Remark 1 follows:</a:t>
                </a:r>
                <a:br>
                  <a:rPr lang="en-NL" dirty="0"/>
                </a:br>
                <a:r>
                  <a:rPr lang="en-NL" dirty="0"/>
                  <a:t>Equation 13</a:t>
                </a:r>
              </a:p>
              <a:p>
                <a:r>
                  <a:rPr lang="en-NL" dirty="0"/>
                  <a:t>• Not:</a:t>
                </a:r>
                <a:br>
                  <a:rPr lang="en-NL" dirty="0"/>
                </a:br>
                <a:r>
                  <a:rPr lang="en-NL" dirty="0"/>
                  <a:t>Equation 14</a:t>
                </a:r>
              </a:p>
              <a:p>
                <a:r>
                  <a:rPr lang="en-NL" dirty="0"/>
                  <a:t>SLIDE FIX 2 — PANEL DESCRIPTION</a:t>
                </a:r>
              </a:p>
              <a:p>
                <a:r>
                  <a:rPr lang="en-NL" dirty="0"/>
                  <a:t>• The current panel list does not match the figures.</a:t>
                </a:r>
              </a:p>
              <a:p>
                <a:r>
                  <a:rPr lang="en-NL" dirty="0"/>
                  <a:t>• Correct description:</a:t>
                </a:r>
              </a:p>
              <a:p>
                <a:pPr lvl="0"/>
                <a:r>
                  <a:rPr lang="en-NL" dirty="0"/>
                  <a:t>A = parameter recovery</a:t>
                </a:r>
              </a:p>
              <a:p>
                <a:pPr lvl="0"/>
                <a:r>
                  <a:rPr lang="en-NL" dirty="0"/>
                  <a:t>B = prediction</a:t>
                </a:r>
              </a:p>
              <a:p>
                <a:pPr lvl="0"/>
                <a:r>
                  <a:rPr lang="en-NL" dirty="0"/>
                  <a:t>C = </a:t>
                </a:r>
                <a:r>
                  <a:rPr lang="en-NL" dirty="0" err="1"/>
                  <a:t>r_span</a:t>
                </a:r>
                <a:endParaRPr lang="en-NL" dirty="0"/>
              </a:p>
              <a:p>
                <a:r>
                  <a:rPr lang="en-NL" dirty="0"/>
                  <a:t>• Standalone first-principles performance is NOT plotted.</a:t>
                </a:r>
              </a:p>
              <a:p>
                <a:r>
                  <a:rPr lang="en-NL" dirty="0"/>
                  <a:t>IF ASKED — WHAT HAPPENS TO THE STANDALONE FP MODEL?</a:t>
                </a:r>
              </a:p>
              <a:p>
                <a:r>
                  <a:rPr lang="en-NL" dirty="0"/>
                  <a:t>• Its validation error changes only slightly across the sweep:</a:t>
                </a:r>
              </a:p>
              <a:p>
                <a:pPr lvl="0"/>
                <a:r>
                  <a:rPr lang="en-NL" dirty="0"/>
                  <a:t>Approximately 15.3 µm</a:t>
                </a:r>
              </a:p>
              <a:p>
                <a:pPr lvl="0"/>
                <a:r>
                  <a:rPr lang="en-NL" dirty="0"/>
                  <a:t>To approximately 14.2 µm</a:t>
                </a:r>
              </a:p>
              <a:p>
                <a:r>
                  <a:rPr lang="en-NL" dirty="0"/>
                  <a:t>• Because that variation is small, it is better reported in a table rather than as another panel.</a:t>
                </a:r>
              </a:p>
              <a:p>
                <a:r>
                  <a:rPr lang="en-NL" dirty="0"/>
                  <a:t>ONE-SENTENCE TAKEAWAY</a:t>
                </a:r>
              </a:p>
              <a:p>
                <a:r>
                  <a:rPr lang="en-NL" dirty="0"/>
                  <a:t>• The orthogonality penalty does exactly what it is supposed to do: it drives the ANN out of the physical parameter space, improves parameter recovery, and pays for that with a small loss in prediction accuracy.</a:t>
                </a:r>
              </a:p>
              <a:p>
                <a:endParaRPr lang="en-NL" dirty="0"/>
              </a:p>
            </p:txBody>
          </p:sp>
        </mc:Choice>
        <mc:Fallback xmlns="">
          <p:sp>
            <p:nvSpPr>
              <p:cNvPr id="3" name="Notes Placeholder 2"/>
              <p:cNvSpPr>
                <a:spLocks noGrp="1"/>
              </p:cNvSpPr>
              <p:nvPr>
                <p:ph type="body" idx="1"/>
              </p:nvPr>
            </p:nvSpPr>
            <p:spPr/>
            <p:txBody>
              <a:bodyPr/>
              <a:lstStyle/>
              <a:p>
                <a:r>
                  <a:rPr lang="en-NL" dirty="0"/>
                  <a:t>fraction of ANN correction energy that looks physically reproducible​</a:t>
                </a:r>
                <a:endParaRPr lang="en-US" dirty="0"/>
              </a:p>
              <a:p>
                <a:r>
                  <a:rPr lang="en-NL" dirty="0"/>
                  <a:t>If</a:t>
                </a:r>
              </a:p>
              <a:p>
                <a:r>
                  <a:rPr lang="en-NL" sz="1200" i="0" kern="1200">
                    <a:solidFill>
                      <a:schemeClr val="tx1"/>
                    </a:solidFill>
                    <a:latin typeface="+mn-lt"/>
                    <a:ea typeface="+mn-ea"/>
                    <a:cs typeface="+mn-cs"/>
                  </a:rPr>
                  <a:t>𝑟_span=0,</a:t>
                </a:r>
                <a:endParaRPr lang="en-NL" dirty="0"/>
              </a:p>
              <a:p>
                <a:r>
                  <a:rPr lang="en-NL" dirty="0"/>
                  <a:t>the scored ANN correction is entirely orthogonal to the retained physical-response space.</a:t>
                </a:r>
              </a:p>
              <a:p>
                <a:r>
                  <a:rPr lang="en-NL" dirty="0"/>
                  <a:t>If</a:t>
                </a:r>
              </a:p>
              <a:p>
                <a:r>
                  <a:rPr lang="en-NL" dirty="0" err="1"/>
                  <a:t>rspan</a:t>
                </a:r>
                <a:r>
                  <a:rPr lang="en-NL" dirty="0"/>
                  <a:t>​=1,</a:t>
                </a:r>
                <a:endParaRPr lang="en-US" dirty="0"/>
              </a:p>
              <a:p>
                <a:endParaRPr lang="en-US" dirty="0"/>
              </a:p>
              <a:p>
                <a:r>
                  <a:rPr lang="en-US" dirty="0"/>
                  <a:t>Your beta range is four decades above the paper's and the slide does not say so. </a:t>
                </a:r>
                <a:r>
                  <a:rPr lang="en-US" dirty="0" err="1"/>
                  <a:t>Gyorok</a:t>
                </a:r>
                <a:r>
                  <a:rPr lang="en-US" dirty="0"/>
                  <a:t> uses 1e-7 noiseless and calls 1e-7 to 1e-5 the useful range; our flat region is 1e-5 to 1e-1. A supervisor who knows the paper will ask. The answer is in your </a:t>
                </a:r>
                <a:r>
                  <a:rPr lang="en-US" dirty="0" err="1"/>
                  <a:t>favour</a:t>
                </a:r>
                <a:r>
                  <a:rPr lang="en-US" dirty="0"/>
                  <a:t>: the penalty is a sum over 134400 regressor rows with no averaging, so beta absorbs the sample count and is not transferable. One line, and it demonstrates you understand the convention rather than copied a number.</a:t>
                </a:r>
              </a:p>
              <a:p>
                <a:endParaRPr lang="en-US" dirty="0"/>
              </a:p>
              <a:p>
                <a:endParaRPr lang="en-US" dirty="0"/>
              </a:p>
              <a:p>
                <a:r>
                  <a:rPr lang="en-NL" dirty="0"/>
                  <a:t>The numerical scale of \(\beta\) depends on the point set, normalization, and penalty aggregation. Therefore, the value selected in Györök’s example is not directly transferable to our gantry.</a:t>
                </a:r>
                <a:endParaRPr lang="en-US" dirty="0"/>
              </a:p>
              <a:p>
                <a:endParaRPr lang="en-US" dirty="0"/>
              </a:p>
              <a:p>
                <a:endParaRPr lang="en-US" dirty="0"/>
              </a:p>
              <a:p>
                <a:r>
                  <a:rPr lang="en-NL" dirty="0"/>
                  <a:t>SAY — WHAT </a:t>
                </a:r>
                <a:r>
                  <a:rPr lang="en-NL" dirty="0" err="1"/>
                  <a:t>r_span</a:t>
                </a:r>
                <a:r>
                  <a:rPr lang="en-NL" dirty="0"/>
                  <a:t> MEANS</a:t>
                </a:r>
              </a:p>
              <a:p>
                <a:r>
                  <a:rPr lang="en-NL" dirty="0"/>
                  <a:t>• </a:t>
                </a:r>
                <a:r>
                  <a:rPr lang="en-NL" dirty="0" err="1"/>
                  <a:t>r_span</a:t>
                </a:r>
                <a:r>
                  <a:rPr lang="en-NL" dirty="0"/>
                  <a:t> measures the share of the ANN output that lies inside the physical response space.</a:t>
                </a:r>
              </a:p>
              <a:p>
                <a:r>
                  <a:rPr lang="en-NL" dirty="0"/>
                  <a:t>• Because Q̃ has orthonormal columns:</a:t>
                </a:r>
              </a:p>
              <a:p>
                <a:pPr lvl="0"/>
                <a:r>
                  <a:rPr lang="en-NL" dirty="0" err="1"/>
                  <a:t>r_span</a:t>
                </a:r>
                <a:r>
                  <a:rPr lang="en-NL" dirty="0"/>
                  <a:t> is bounded between 0 and 1.</a:t>
                </a:r>
              </a:p>
              <a:p>
                <a:r>
                  <a:rPr lang="en-NL" dirty="0"/>
                  <a:t>• Interpretation:</a:t>
                </a:r>
              </a:p>
              <a:p>
                <a:pPr lvl="0"/>
                <a:r>
                  <a:rPr lang="en-NL" dirty="0" err="1"/>
                  <a:t>r_span</a:t>
                </a:r>
                <a:r>
                  <a:rPr lang="en-NL" dirty="0"/>
                  <a:t> = 0</a:t>
                </a:r>
                <a:br>
                  <a:rPr lang="en-NL" dirty="0"/>
                </a:br>
                <a:r>
                  <a:rPr lang="en-NL" dirty="0"/>
                  <a:t>The ANN is producing behaviour that the physical parameters could not reproduce.</a:t>
                </a:r>
              </a:p>
              <a:p>
                <a:pPr lvl="0"/>
                <a:r>
                  <a:rPr lang="en-NL" dirty="0" err="1"/>
                  <a:t>r_span</a:t>
                </a:r>
                <a:r>
                  <a:rPr lang="en-NL" dirty="0"/>
                  <a:t> = 1</a:t>
                </a:r>
                <a:br>
                  <a:rPr lang="en-NL" dirty="0"/>
                </a:br>
                <a:r>
                  <a:rPr lang="en-NL" dirty="0"/>
                  <a:t>Everything the ANN produces could also have been produced by changing the physical parameters.</a:t>
                </a:r>
              </a:p>
              <a:p>
                <a:r>
                  <a:rPr lang="en-NL" dirty="0"/>
                  <a:t>• Important:</a:t>
                </a:r>
              </a:p>
              <a:p>
                <a:pPr lvl="0"/>
                <a:r>
                  <a:rPr lang="en-NL" dirty="0"/>
                  <a:t>This ratio is OUR diagnostic.</a:t>
                </a:r>
              </a:p>
              <a:p>
                <a:r>
                  <a:rPr lang="en-NL" dirty="0"/>
                  <a:t>• The paper penalises only the numerator.</a:t>
                </a:r>
              </a:p>
              <a:p>
                <a:r>
                  <a:rPr lang="en-NL" dirty="0"/>
                  <a:t>• We divide by the total ANN output energy so that the quantity is easier to compare across arms with different ANN-output magnitudes.</a:t>
                </a:r>
              </a:p>
              <a:p>
                <a:r>
                  <a:rPr lang="en-NL" dirty="0"/>
                  <a:t>HOW TO READ THE NEXT TWO FIGURES</a:t>
                </a:r>
              </a:p>
              <a:p>
                <a:r>
                  <a:rPr lang="en-NL" dirty="0"/>
                  <a:t>• β = 0 appears to the LEFT of the dashed break.</a:t>
                </a:r>
              </a:p>
              <a:p>
                <a:r>
                  <a:rPr lang="en-NL" dirty="0"/>
                  <a:t>• It is the control condition.</a:t>
                </a:r>
              </a:p>
              <a:p>
                <a:r>
                  <a:rPr lang="en-NL" dirty="0"/>
                  <a:t>• It is NOT a point on the logarithmic β-axis.</a:t>
                </a:r>
              </a:p>
              <a:p>
                <a:r>
                  <a:rPr lang="en-NL" dirty="0"/>
                  <a:t>• The small n below each tick gives:</a:t>
                </a:r>
              </a:p>
              <a:p>
                <a:pPr lvl="0"/>
                <a:r>
                  <a:rPr lang="en-NL" dirty="0"/>
                  <a:t>The number of seeds behind that point.</a:t>
                </a:r>
              </a:p>
              <a:p>
                <a:r>
                  <a:rPr lang="en-NL" dirty="0"/>
                  <a:t>• Panels:</a:t>
                </a:r>
              </a:p>
              <a:p>
                <a:pPr lvl="0"/>
                <a:r>
                  <a:rPr lang="en-NL" dirty="0"/>
                  <a:t>Panel A = parameter recovery</a:t>
                </a:r>
                <a:br>
                  <a:rPr lang="en-NL" dirty="0"/>
                </a:br>
                <a:r>
                  <a:rPr lang="en-NL" dirty="0"/>
                  <a:t>Compared against the deliberately detuned starting parameters.</a:t>
                </a:r>
              </a:p>
              <a:p>
                <a:pPr lvl="0"/>
                <a:r>
                  <a:rPr lang="en-NL" dirty="0"/>
                  <a:t>Panel B = prediction performance</a:t>
                </a:r>
                <a:br>
                  <a:rPr lang="en-NL" dirty="0"/>
                </a:br>
                <a:r>
                  <a:rPr lang="en-NL" dirty="0"/>
                  <a:t>Closed-loop free-run RMS on the validation data.</a:t>
                </a:r>
              </a:p>
              <a:p>
                <a:pPr lvl="0"/>
                <a:r>
                  <a:rPr lang="en-NL" dirty="0"/>
                  <a:t>Panel C = </a:t>
                </a:r>
                <a:r>
                  <a:rPr lang="en-NL" dirty="0" err="1"/>
                  <a:t>r_span</a:t>
                </a:r>
                <a:endParaRPr lang="en-NL" dirty="0"/>
              </a:p>
              <a:p>
                <a:r>
                  <a:rPr lang="en-NL" dirty="0"/>
                  <a:t>WHAT TO POINT AT</a:t>
                </a:r>
              </a:p>
              <a:p>
                <a:r>
                  <a:rPr lang="en-NL" dirty="0"/>
                  <a:t>• Start with Panel C — this shows the MECHANISM.</a:t>
                </a:r>
              </a:p>
              <a:p>
                <a:pPr lvl="0"/>
                <a:r>
                  <a:rPr lang="en-NL" dirty="0"/>
                  <a:t>At β = 0:</a:t>
                </a:r>
                <a:br>
                  <a:rPr lang="en-NL" dirty="0"/>
                </a:br>
                <a:r>
                  <a:rPr lang="en-NL" dirty="0" err="1"/>
                  <a:t>r_span</a:t>
                </a:r>
                <a:r>
                  <a:rPr lang="en-NL" dirty="0"/>
                  <a:t> ≈ 0.89</a:t>
                </a:r>
              </a:p>
              <a:p>
                <a:pPr lvl="0"/>
                <a:r>
                  <a:rPr lang="en-NL" dirty="0"/>
                  <a:t>For every nonzero β:</a:t>
                </a:r>
                <a:br>
                  <a:rPr lang="en-NL" dirty="0"/>
                </a:br>
                <a:r>
                  <a:rPr lang="en-NL" dirty="0" err="1"/>
                  <a:t>r_span</a:t>
                </a:r>
                <a:r>
                  <a:rPr lang="en-NL" dirty="0"/>
                  <a:t> &lt; 10⁻⁶</a:t>
                </a:r>
              </a:p>
              <a:p>
                <a:r>
                  <a:rPr lang="en-NL" dirty="0"/>
                  <a:t>• So the penalty almost completely removes ANN behaviour that overlaps with the physical response space.</a:t>
                </a:r>
              </a:p>
              <a:p>
                <a:r>
                  <a:rPr lang="en-NL" dirty="0"/>
                  <a:t>• Then Panel A — this is the INTERPRETABILITY PAYOFF.</a:t>
                </a:r>
              </a:p>
              <a:p>
                <a:pPr lvl="0"/>
                <a:r>
                  <a:rPr lang="en-NL" dirty="0"/>
                  <a:t>Parameter error decreases monotonically as β increases.</a:t>
                </a:r>
              </a:p>
              <a:p>
                <a:r>
                  <a:rPr lang="en-NL" dirty="0"/>
                  <a:t>• In other words:</a:t>
                </a:r>
              </a:p>
              <a:p>
                <a:pPr lvl="0"/>
                <a:r>
                  <a:rPr lang="en-NL" dirty="0"/>
                  <a:t>Forcing the ANN out of the physical subspace improves physical-parameter recovery.</a:t>
                </a:r>
              </a:p>
              <a:p>
                <a:r>
                  <a:rPr lang="en-NL" dirty="0"/>
                  <a:t>• Finally Panel B — this is the PRICE.</a:t>
                </a:r>
              </a:p>
              <a:p>
                <a:pPr lvl="0"/>
                <a:r>
                  <a:rPr lang="en-NL" dirty="0"/>
                  <a:t>Prediction performance degrades slightly.</a:t>
                </a:r>
              </a:p>
              <a:p>
                <a:pPr lvl="0"/>
                <a:r>
                  <a:rPr lang="en-NL" dirty="0"/>
                  <a:t>The degradation is also monotonic with β.</a:t>
                </a:r>
              </a:p>
              <a:p>
                <a:r>
                  <a:rPr lang="en-NL" dirty="0"/>
                  <a:t>• So there is a trade-off:</a:t>
                </a:r>
              </a:p>
              <a:p>
                <a:pPr lvl="0"/>
                <a:r>
                  <a:rPr lang="en-NL" dirty="0"/>
                  <a:t>Better parameter recovery.</a:t>
                </a:r>
              </a:p>
              <a:p>
                <a:pPr lvl="0"/>
                <a:r>
                  <a:rPr lang="en-NL" dirty="0"/>
                  <a:t>Slightly worse prediction.</a:t>
                </a:r>
              </a:p>
              <a:p>
                <a:r>
                  <a:rPr lang="en-NL" dirty="0"/>
                  <a:t>DIFFERENCE BETWEEN THE TWO FIGURES</a:t>
                </a:r>
              </a:p>
              <a:p>
                <a:r>
                  <a:rPr lang="en-NL" dirty="0"/>
                  <a:t>• First figure:</a:t>
                </a:r>
              </a:p>
              <a:p>
                <a:pPr lvl="0"/>
                <a:r>
                  <a:rPr lang="en-NL" dirty="0"/>
                  <a:t>No latent augmentation states.</a:t>
                </a:r>
              </a:p>
              <a:p>
                <a:r>
                  <a:rPr lang="en-NL" dirty="0"/>
                  <a:t>• Second figure:</a:t>
                </a:r>
              </a:p>
              <a:p>
                <a:pPr lvl="0"/>
                <a:r>
                  <a:rPr lang="en-NL" dirty="0"/>
                  <a:t>Two latent states.</a:t>
                </a:r>
              </a:p>
              <a:p>
                <a:r>
                  <a:rPr lang="en-NL" dirty="0"/>
                  <a:t>• The same overall trade-off is therefore evaluated with and without latent augmentation dynamics.</a:t>
                </a:r>
              </a:p>
              <a:p>
                <a:r>
                  <a:rPr lang="en-NL" dirty="0"/>
                  <a:t>IF ASKED — WHY IS YOUR β SO DIFFERENT FROM THE PAPER?</a:t>
                </a:r>
              </a:p>
              <a:p>
                <a:r>
                  <a:rPr lang="en-NL" dirty="0"/>
                  <a:t>• Our selected value is:</a:t>
                </a:r>
                <a:br>
                  <a:rPr lang="en-NL" dirty="0"/>
                </a:br>
                <a:r>
                  <a:rPr lang="en-NL" dirty="0"/>
                  <a:t>β = 10⁻²</a:t>
                </a:r>
              </a:p>
              <a:p>
                <a:r>
                  <a:rPr lang="en-NL" dirty="0"/>
                  <a:t>• The paper selects approximately:</a:t>
                </a:r>
                <a:br>
                  <a:rPr lang="en-NL" dirty="0"/>
                </a:br>
                <a:r>
                  <a:rPr lang="en-NL" dirty="0"/>
                  <a:t>β = 10⁻⁷</a:t>
                </a:r>
              </a:p>
              <a:p>
                <a:r>
                  <a:rPr lang="en-NL" dirty="0"/>
                  <a:t>• But the RANGE explored is actually comparable.</a:t>
                </a:r>
              </a:p>
              <a:p>
                <a:r>
                  <a:rPr lang="en-NL" dirty="0"/>
                  <a:t>• The paper’s Figure 3 sweeps roughly:</a:t>
                </a:r>
                <a:br>
                  <a:rPr lang="en-NL" dirty="0"/>
                </a:br>
                <a:r>
                  <a:rPr lang="en-NL" dirty="0"/>
                  <a:t>10⁻⁹ to 10⁻¹</a:t>
                </a:r>
              </a:p>
              <a:p>
                <a:r>
                  <a:rPr lang="en-NL" dirty="0"/>
                  <a:t>• So the important difference is the selected value, not the order of magnitude covered by the sweep.</a:t>
                </a:r>
              </a:p>
              <a:p>
                <a:r>
                  <a:rPr lang="en-NL" dirty="0"/>
                  <a:t>WHY THE SELECTED β DOES NOT TRANSFER</a:t>
                </a:r>
              </a:p>
              <a:p>
                <a:r>
                  <a:rPr lang="en-NL" dirty="0"/>
                  <a:t>• Our orthogonality penalty is an UNNORMALISED sum over:</a:t>
                </a:r>
                <a:br>
                  <a:rPr lang="en-NL" dirty="0"/>
                </a:br>
                <a:r>
                  <a:rPr lang="en-NL" dirty="0"/>
                  <a:t>134,400 rows.</a:t>
                </a:r>
              </a:p>
              <a:p>
                <a:r>
                  <a:rPr lang="en-NL" dirty="0"/>
                  <a:t>• Our prediction loss is approximately:</a:t>
                </a:r>
                <a:br>
                  <a:rPr lang="en-NL" dirty="0"/>
                </a:br>
                <a:r>
                  <a:rPr lang="en-NL" dirty="0"/>
                  <a:t>10⁻⁸</a:t>
                </a:r>
              </a:p>
              <a:p>
                <a:r>
                  <a:rPr lang="en-NL" dirty="0"/>
                  <a:t>• Therefore the numerical scales of the two loss terms are very different.</a:t>
                </a:r>
              </a:p>
              <a:p>
                <a:r>
                  <a:rPr lang="en-NL" dirty="0"/>
                  <a:t>• β absorbs both:</a:t>
                </a:r>
              </a:p>
              <a:p>
                <a:pPr lvl="0"/>
                <a:r>
                  <a:rPr lang="en-NL" dirty="0"/>
                  <a:t>The desired strength of the orthogonality constraint.</a:t>
                </a:r>
              </a:p>
              <a:p>
                <a:pPr lvl="0"/>
                <a:r>
                  <a:rPr lang="en-NL" dirty="0"/>
                  <a:t>The relative scaling between the penalty and prediction loss.</a:t>
                </a:r>
              </a:p>
              <a:p>
                <a:r>
                  <a:rPr lang="en-NL" dirty="0"/>
                  <a:t>• Therefore the paper’s numerical β cannot simply be adopted in our implementation.</a:t>
                </a:r>
              </a:p>
              <a:p>
                <a:r>
                  <a:rPr lang="en-NL" dirty="0"/>
                  <a:t>SLIDE FIX 1 — REMARK NUMBER</a:t>
                </a:r>
              </a:p>
              <a:p>
                <a:r>
                  <a:rPr lang="en-NL" dirty="0"/>
                  <a:t>• Remark 1 follows:</a:t>
                </a:r>
                <a:br>
                  <a:rPr lang="en-NL" dirty="0"/>
                </a:br>
                <a:r>
                  <a:rPr lang="en-NL" dirty="0"/>
                  <a:t>Equation 13</a:t>
                </a:r>
              </a:p>
              <a:p>
                <a:r>
                  <a:rPr lang="en-NL" dirty="0"/>
                  <a:t>• Not:</a:t>
                </a:r>
                <a:br>
                  <a:rPr lang="en-NL" dirty="0"/>
                </a:br>
                <a:r>
                  <a:rPr lang="en-NL" dirty="0"/>
                  <a:t>Equation 14</a:t>
                </a:r>
              </a:p>
              <a:p>
                <a:r>
                  <a:rPr lang="en-NL" dirty="0"/>
                  <a:t>SLIDE FIX 2 — PANEL DESCRIPTION</a:t>
                </a:r>
              </a:p>
              <a:p>
                <a:r>
                  <a:rPr lang="en-NL" dirty="0"/>
                  <a:t>• The current panel list does not match the figures.</a:t>
                </a:r>
              </a:p>
              <a:p>
                <a:r>
                  <a:rPr lang="en-NL" dirty="0"/>
                  <a:t>• Correct description:</a:t>
                </a:r>
              </a:p>
              <a:p>
                <a:pPr lvl="0"/>
                <a:r>
                  <a:rPr lang="en-NL" dirty="0"/>
                  <a:t>A = parameter recovery</a:t>
                </a:r>
              </a:p>
              <a:p>
                <a:pPr lvl="0"/>
                <a:r>
                  <a:rPr lang="en-NL" dirty="0"/>
                  <a:t>B = prediction</a:t>
                </a:r>
              </a:p>
              <a:p>
                <a:pPr lvl="0"/>
                <a:r>
                  <a:rPr lang="en-NL" dirty="0"/>
                  <a:t>C = </a:t>
                </a:r>
                <a:r>
                  <a:rPr lang="en-NL" dirty="0" err="1"/>
                  <a:t>r_span</a:t>
                </a:r>
                <a:endParaRPr lang="en-NL" dirty="0"/>
              </a:p>
              <a:p>
                <a:r>
                  <a:rPr lang="en-NL" dirty="0"/>
                  <a:t>• Standalone first-principles performance is NOT plotted.</a:t>
                </a:r>
              </a:p>
              <a:p>
                <a:r>
                  <a:rPr lang="en-NL" dirty="0"/>
                  <a:t>IF ASKED — WHAT HAPPENS TO THE STANDALONE FP MODEL?</a:t>
                </a:r>
              </a:p>
              <a:p>
                <a:r>
                  <a:rPr lang="en-NL" dirty="0"/>
                  <a:t>• Its validation error changes only slightly across the sweep:</a:t>
                </a:r>
              </a:p>
              <a:p>
                <a:pPr lvl="0"/>
                <a:r>
                  <a:rPr lang="en-NL" dirty="0"/>
                  <a:t>Approximately 15.3 µm</a:t>
                </a:r>
              </a:p>
              <a:p>
                <a:pPr lvl="0"/>
                <a:r>
                  <a:rPr lang="en-NL" dirty="0"/>
                  <a:t>To approximately 14.2 µm</a:t>
                </a:r>
              </a:p>
              <a:p>
                <a:r>
                  <a:rPr lang="en-NL" dirty="0"/>
                  <a:t>• Because that variation is small, it is better reported in a table rather than as another panel.</a:t>
                </a:r>
              </a:p>
              <a:p>
                <a:r>
                  <a:rPr lang="en-NL" dirty="0"/>
                  <a:t>ONE-SENTENCE TAKEAWAY</a:t>
                </a:r>
              </a:p>
              <a:p>
                <a:r>
                  <a:rPr lang="en-NL" dirty="0"/>
                  <a:t>• The orthogonality penalty does exactly what it is supposed to do: it drives the ANN out of the physical parameter space, improves parameter recovery, and pays for that with a small loss in prediction accuracy.</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36</a:t>
            </a:fld>
            <a:endParaRPr lang="en-NL"/>
          </a:p>
        </p:txBody>
      </p:sp>
    </p:spTree>
    <p:extLst>
      <p:ext uri="{BB962C8B-B14F-4D97-AF65-F5344CB8AC3E}">
        <p14:creationId xmlns:p14="http://schemas.microsoft.com/office/powerpoint/2010/main" val="349589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in the </a:t>
            </a:r>
            <a:r>
              <a:rPr lang="en-US" dirty="0" err="1"/>
              <a:t>nx</a:t>
            </a:r>
            <a:r>
              <a:rPr lang="en-US" dirty="0"/>
              <a:t>=2 figure direct route only and augmented in panel </a:t>
            </a:r>
            <a:r>
              <a:rPr lang="en-US" dirty="0" err="1"/>
              <a:t>B?Both</a:t>
            </a:r>
            <a:r>
              <a:rPr lang="en-US" dirty="0"/>
              <a:t> are the same trained model, scored two different ways by gating the ANN's output </a:t>
            </a:r>
            <a:r>
              <a:rPr lang="en-US" dirty="0" err="1"/>
              <a:t>columns.augmented</a:t>
            </a:r>
            <a:r>
              <a:rPr lang="en-US" dirty="0"/>
              <a:t> is the model as trained: the ANN writes the six physical rows and the two latent rows, and the encoder supplies both the physical and the latent initial state. This is the model you would </a:t>
            </a:r>
            <a:r>
              <a:rPr lang="en-US" dirty="0" err="1"/>
              <a:t>ship.direct</a:t>
            </a:r>
            <a:r>
              <a:rPr lang="en-US" dirty="0"/>
              <a:t> route only is the same weights with the latent path switched off in two places at once. The ANN's two latent-writing output columns are zeroed, and the encoder's latent initial state is zeroed. With both off, the latent states are identically zero for the whole 400-step rollout, so the ANN acts as a pure static correction evaluated at </a:t>
            </a:r>
            <a:r>
              <a:rPr lang="en-US" dirty="0" err="1"/>
              <a:t>x_aug</a:t>
            </a:r>
            <a:r>
              <a:rPr lang="en-US" dirty="0"/>
              <a:t> = 0. That is exactly the slice the penalty is evaluated on, which is why it is the right comparison: it is the part of the model the penalty actually controls.</a:t>
            </a:r>
          </a:p>
          <a:p>
            <a:endParaRPr lang="en-US" dirty="0"/>
          </a:p>
          <a:p>
            <a:r>
              <a:rPr lang="en-US" dirty="0"/>
              <a:t>❯ so is there now a clear way to show that the additional states </a:t>
            </a:r>
            <a:r>
              <a:rPr lang="en-US" dirty="0" err="1"/>
              <a:t>dont</a:t>
            </a:r>
            <a:r>
              <a:rPr lang="en-US" dirty="0"/>
              <a:t> affect anything, because if </a:t>
            </a:r>
            <a:r>
              <a:rPr lang="en-US" dirty="0" err="1"/>
              <a:t>i</a:t>
            </a:r>
            <a:r>
              <a:rPr lang="en-US" dirty="0"/>
              <a:t> look at C overlap.  there is barely no overlap. </a:t>
            </a:r>
            <a:r>
              <a:rPr lang="en-US"/>
              <a:t>so it might not be worth looking into</a:t>
            </a:r>
            <a:endParaRPr lang="en-US" dirty="0"/>
          </a:p>
          <a:p>
            <a:r>
              <a:rPr lang="en-US" dirty="0"/>
              <a:t>Panel C is the wrong number to judge that on. It plots the overlap on the penalty's own point set, where the latent states are held at zero. By construction it says nothing about them.</a:t>
            </a:r>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38</a:t>
            </a:fld>
            <a:endParaRPr lang="en-NL"/>
          </a:p>
        </p:txBody>
      </p:sp>
    </p:spTree>
    <p:extLst>
      <p:ext uri="{BB962C8B-B14F-4D97-AF65-F5344CB8AC3E}">
        <p14:creationId xmlns:p14="http://schemas.microsoft.com/office/powerpoint/2010/main" val="1670666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The zero block is </a:t>
                </a:r>
                <a:r>
                  <a:rPr lang="en-NL" b="1" dirty="0"/>
                  <a:t>our embedding of Györök's physical basis</a:t>
                </a:r>
                <a:r>
                  <a:rPr lang="en-NL" dirty="0"/>
                  <a:t>, not something appearing explicitly in their paper. That distinction is worth saying aloud.</a:t>
                </a:r>
                <a:endParaRPr lang="en-US" dirty="0"/>
              </a:p>
              <a:p>
                <a:r>
                  <a:rPr lang="en-US" dirty="0"/>
                  <a:t>Main point projection doesn’t take into account the additional states</a:t>
                </a:r>
              </a:p>
              <a:p>
                <a:endParaRPr lang="en-US" dirty="0"/>
              </a:p>
              <a:p>
                <a:r>
                  <a:rPr lang="en-NL" dirty="0"/>
                  <a:t>Hence the </a:t>
                </a:r>
                <a14:m>
                  <m:oMath xmlns:m="http://schemas.openxmlformats.org/officeDocument/2006/math">
                    <m:r>
                      <a:rPr lang="en-NL" sz="1200" i="1" kern="1200">
                        <a:solidFill>
                          <a:schemeClr val="tx1"/>
                        </a:solidFill>
                        <a:latin typeface="Cambria Math" panose="02040503050406030204" pitchFamily="18" charset="0"/>
                        <a:ea typeface="+mn-ea"/>
                        <a:cs typeface="+mn-cs"/>
                      </a:rPr>
                      <m:t>𝑧</m:t>
                    </m:r>
                  </m:oMath>
                </a14:m>
                <a:r>
                  <a:rPr lang="en-NL" dirty="0"/>
                  <a:t>-update has entered the physical trajectory through the dependence of the later </a:t>
                </a:r>
                <a14:m>
                  <m:oMath xmlns:m="http://schemas.openxmlformats.org/officeDocument/2006/math">
                    <m:r>
                      <a:rPr lang="en-NL" sz="1200" i="1" kern="1200">
                        <a:solidFill>
                          <a:schemeClr val="tx1"/>
                        </a:solidFill>
                        <a:latin typeface="Cambria Math" panose="02040503050406030204" pitchFamily="18" charset="0"/>
                        <a:ea typeface="+mn-ea"/>
                        <a:cs typeface="+mn-cs"/>
                      </a:rPr>
                      <m:t>𝑥</m:t>
                    </m:r>
                  </m:oMath>
                </a14:m>
                <a:r>
                  <a:rPr lang="en-NL" dirty="0"/>
                  <a:t>-update on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𝑧</m:t>
                        </m:r>
                      </m:e>
                      <m:sub>
                        <m:r>
                          <a:rPr lang="en-NL" sz="1200" i="1" kern="1200">
                            <a:solidFill>
                              <a:schemeClr val="tx1"/>
                            </a:solidFill>
                            <a:latin typeface="Cambria Math" panose="02040503050406030204" pitchFamily="18" charset="0"/>
                            <a:ea typeface="+mn-ea"/>
                            <a:cs typeface="+mn-cs"/>
                          </a:rPr>
                          <m:t>𝑘</m:t>
                        </m:r>
                        <m:r>
                          <a:rPr lang="en-NL" sz="1200" i="0" kern="1200">
                            <a:solidFill>
                              <a:schemeClr val="tx1"/>
                            </a:solidFill>
                            <a:latin typeface="Cambria Math" panose="02040503050406030204" pitchFamily="18" charset="0"/>
                            <a:ea typeface="+mn-ea"/>
                            <a:cs typeface="+mn-cs"/>
                          </a:rPr>
                          <m:t>+1</m:t>
                        </m:r>
                      </m:sub>
                    </m:sSub>
                  </m:oMath>
                </a14:m>
                <a:r>
                  <a:rPr lang="en-NL" dirty="0"/>
                  <a:t>.</a:t>
                </a:r>
                <a:endParaRPr lang="en-US" dirty="0"/>
              </a:p>
              <a:p>
                <a:endParaRPr lang="en-US" dirty="0"/>
              </a:p>
              <a:p>
                <a:r>
                  <a:rPr lang="en-NL" dirty="0"/>
                  <a:t>Györök asks whether the </a:t>
                </a:r>
                <a:r>
                  <a:rPr lang="en-NL" dirty="0" err="1"/>
                  <a:t>ANN's</a:t>
                </a:r>
                <a:r>
                  <a:rPr lang="en-NL" dirty="0"/>
                  <a:t> immediate state-transition correction looks like something the physical model can generate. Our problem is harder: an ANN update can be orthogonal or even completely invisible at the instant it is produced, yet after propagation through a learned internal state it can generate the same measured-output trajectory change as a physical-parameter variation.</a:t>
                </a:r>
                <a:endParaRPr lang="en-US" dirty="0"/>
              </a:p>
              <a:p>
                <a:endParaRPr lang="en-US" dirty="0"/>
              </a:p>
              <a:p>
                <a:r>
                  <a:rPr lang="en-NL" dirty="0"/>
                  <a:t>SAY</a:t>
                </a:r>
              </a:p>
              <a:p>
                <a:r>
                  <a:rPr lang="en-NL" dirty="0"/>
                  <a:t>• The ANN writes two kinds of rows:</a:t>
                </a:r>
              </a:p>
              <a:p>
                <a:pPr lvl="0"/>
                <a:r>
                  <a:rPr lang="en-NL" dirty="0"/>
                  <a:t>Corrections to the physical states.</a:t>
                </a:r>
              </a:p>
              <a:p>
                <a:pPr lvl="0"/>
                <a:r>
                  <a:rPr lang="en-NL" dirty="0"/>
                  <a:t>Updates to the additional states z.</a:t>
                </a:r>
              </a:p>
              <a:p>
                <a:r>
                  <a:rPr lang="en-NL" dirty="0"/>
                  <a:t>• The physical model has no z states.</a:t>
                </a:r>
              </a:p>
              <a:p>
                <a:r>
                  <a:rPr lang="en-NL" dirty="0"/>
                  <a:t>• Therefore the physical-response basis has zero rows in those directions.</a:t>
                </a:r>
              </a:p>
              <a:p>
                <a:r>
                  <a:rPr lang="en-NL" dirty="0"/>
                  <a:t>• Q̃ᵀ </a:t>
                </a:r>
                <a:r>
                  <a:rPr lang="en-NL" dirty="0" err="1"/>
                  <a:t>f_ANN</a:t>
                </a:r>
                <a:r>
                  <a:rPr lang="en-NL" dirty="0"/>
                  <a:t> only acts on the physical-state rows.</a:t>
                </a:r>
              </a:p>
              <a:p>
                <a:r>
                  <a:rPr lang="en-NL" dirty="0"/>
                  <a:t>• fᶻ never enters the penalty.</a:t>
                </a:r>
              </a:p>
              <a:p>
                <a:r>
                  <a:rPr lang="en-NL" dirty="0"/>
                  <a:t>• That is exact, not an approximation.</a:t>
                </a:r>
              </a:p>
              <a:p>
                <a:r>
                  <a:rPr lang="en-NL" dirty="0"/>
                  <a:t>PRECISE MECHANISM IN OUR MODEL</a:t>
                </a:r>
              </a:p>
              <a:p>
                <a:r>
                  <a:rPr lang="en-NL" dirty="0"/>
                  <a:t>• fᶻ is still not harmless.</a:t>
                </a:r>
              </a:p>
              <a:p>
                <a:r>
                  <a:rPr lang="en-NL" dirty="0"/>
                  <a:t>• It sets z at the next step.</a:t>
                </a:r>
              </a:p>
              <a:p>
                <a:r>
                  <a:rPr lang="en-NL" dirty="0"/>
                  <a:t>• z then feeds back into the ANN and can change the output later.</a:t>
                </a:r>
              </a:p>
              <a:p>
                <a:r>
                  <a:rPr lang="en-NL" dirty="0"/>
                  <a:t>• Our output map reads ONLY the six physical states.</a:t>
                </a:r>
              </a:p>
              <a:p>
                <a:r>
                  <a:rPr lang="en-NL" dirty="0"/>
                  <a:t>• Therefore z reaches the output through exactly one path:</a:t>
                </a:r>
              </a:p>
              <a:p>
                <a:r>
                  <a:rPr lang="en-NL" dirty="0"/>
                  <a:t>z</a:t>
                </a:r>
                <a:br>
                  <a:rPr lang="en-NL" dirty="0"/>
                </a:br>
                <a:r>
                  <a:rPr lang="en-NL" dirty="0"/>
                  <a:t>→ ANN input</a:t>
                </a:r>
                <a:br>
                  <a:rPr lang="en-NL" dirty="0"/>
                </a:br>
                <a:r>
                  <a:rPr lang="en-NL" dirty="0"/>
                  <a:t>→ ANN writes physical rows</a:t>
                </a:r>
                <a:br>
                  <a:rPr lang="en-NL" dirty="0"/>
                </a:br>
                <a:r>
                  <a:rPr lang="en-NL" dirty="0"/>
                  <a:t>→ physical states</a:t>
                </a:r>
                <a:br>
                  <a:rPr lang="en-NL" dirty="0"/>
                </a:br>
                <a:r>
                  <a:rPr lang="en-NL" dirty="0"/>
                  <a:t>→ output</a:t>
                </a:r>
              </a:p>
              <a:p>
                <a:r>
                  <a:rPr lang="en-NL" dirty="0"/>
                  <a:t>• There is no direct z-to-output term.</a:t>
                </a:r>
              </a:p>
              <a:p>
                <a:r>
                  <a:rPr lang="en-NL" dirty="0"/>
                  <a:t>WHAT WE MEASURED</a:t>
                </a:r>
              </a:p>
              <a:p>
                <a:r>
                  <a:rPr lang="en-NL" dirty="0"/>
                  <a:t>• The blind spot is real.</a:t>
                </a:r>
              </a:p>
              <a:p>
                <a:r>
                  <a:rPr lang="en-NL" dirty="0"/>
                  <a:t>• Overlap on the trajectory actually visited by the trained model:</a:t>
                </a:r>
                <a:br>
                  <a:rPr lang="en-NL" dirty="0"/>
                </a:br>
                <a:r>
                  <a:rPr lang="en-NL" dirty="0"/>
                  <a:t>≈ 10⁻³</a:t>
                </a:r>
              </a:p>
              <a:p>
                <a:r>
                  <a:rPr lang="en-NL" dirty="0"/>
                  <a:t>• Overlap seen by the penalty on its fixed point set:</a:t>
                </a:r>
                <a:br>
                  <a:rPr lang="en-NL" dirty="0"/>
                </a:br>
                <a:r>
                  <a:rPr lang="en-NL" dirty="0"/>
                  <a:t>≈ 10⁻⁷</a:t>
                </a:r>
              </a:p>
              <a:p>
                <a:r>
                  <a:rPr lang="en-NL" dirty="0"/>
                  <a:t>• So the realised overlap is about four orders of magnitude larger.</a:t>
                </a:r>
              </a:p>
              <a:p>
                <a:r>
                  <a:rPr lang="en-NL" dirty="0"/>
                  <a:t>• The pointwise penalty is therefore genuinely blind outside its fixed slice.</a:t>
                </a:r>
              </a:p>
              <a:p>
                <a:r>
                  <a:rPr lang="en-NL" dirty="0"/>
                  <a:t>DO NOT OVERCLAIM</a:t>
                </a:r>
              </a:p>
              <a:p>
                <a:r>
                  <a:rPr lang="en-NL" dirty="0"/>
                  <a:t>• The amount that escapes is still small.</a:t>
                </a:r>
              </a:p>
              <a:p>
                <a:r>
                  <a:rPr lang="en-NL" dirty="0"/>
                  <a:t>• We did NOT observe the augmentation moving into the latent route to avoid the penalty.</a:t>
                </a:r>
              </a:p>
              <a:p>
                <a:r>
                  <a:rPr lang="en-NL" dirty="0"/>
                  <a:t>• In fact:</a:t>
                </a:r>
              </a:p>
              <a:p>
                <a:pPr lvl="0"/>
                <a:r>
                  <a:rPr lang="en-NL" dirty="0"/>
                  <a:t>At β = 0:</a:t>
                </a:r>
                <a:br>
                  <a:rPr lang="en-NL" dirty="0"/>
                </a:br>
                <a:r>
                  <a:rPr lang="en-NL" dirty="0"/>
                  <a:t>latent contribution ≈ 32%</a:t>
                </a:r>
              </a:p>
              <a:p>
                <a:pPr lvl="0"/>
                <a:r>
                  <a:rPr lang="en-NL" dirty="0"/>
                  <a:t>At β = 10⁻²:</a:t>
                </a:r>
                <a:br>
                  <a:rPr lang="en-NL" dirty="0"/>
                </a:br>
                <a:r>
                  <a:rPr lang="en-NL" dirty="0"/>
                  <a:t>latent contribution &lt; 2%</a:t>
                </a:r>
              </a:p>
              <a:p>
                <a:r>
                  <a:rPr lang="en-NL" dirty="0"/>
                  <a:t>• Because z can only affect the output through the penalised physical rows, shrinking those rows also shrank the latent route.</a:t>
                </a:r>
              </a:p>
              <a:p>
                <a:r>
                  <a:rPr lang="en-NL" dirty="0"/>
                  <a:t>HONEST CLAIM</a:t>
                </a:r>
              </a:p>
              <a:p>
                <a:r>
                  <a:rPr lang="en-NL" dirty="0"/>
                  <a:t>• The pointwise penalty cannot see the latent route directly by construction.</a:t>
                </a:r>
              </a:p>
              <a:p>
                <a:r>
                  <a:rPr lang="en-NL" dirty="0"/>
                  <a:t>• In our architecture, it happens to suppress that route indirectly anyway.</a:t>
                </a:r>
              </a:p>
              <a:p>
                <a:r>
                  <a:rPr lang="en-NL" dirty="0"/>
                  <a:t>• With a direct z-to-output map, that would no longer be guaranteed.</a:t>
                </a:r>
              </a:p>
              <a:p>
                <a:endParaRPr lang="en-NL" dirty="0"/>
              </a:p>
            </p:txBody>
          </p:sp>
        </mc:Choice>
        <mc:Fallback xmlns="">
          <p:sp>
            <p:nvSpPr>
              <p:cNvPr id="3" name="Notes Placeholder 2"/>
              <p:cNvSpPr>
                <a:spLocks noGrp="1"/>
              </p:cNvSpPr>
              <p:nvPr>
                <p:ph type="body" idx="1"/>
              </p:nvPr>
            </p:nvSpPr>
            <p:spPr/>
            <p:txBody>
              <a:bodyPr/>
              <a:lstStyle/>
              <a:p>
                <a:r>
                  <a:rPr lang="en-NL" dirty="0"/>
                  <a:t>The zero block is </a:t>
                </a:r>
                <a:r>
                  <a:rPr lang="en-NL" b="1" dirty="0"/>
                  <a:t>our embedding of Györök's physical basis</a:t>
                </a:r>
                <a:r>
                  <a:rPr lang="en-NL" dirty="0"/>
                  <a:t>, not something appearing explicitly in their paper. That distinction is worth saying aloud.</a:t>
                </a:r>
                <a:endParaRPr lang="en-US" dirty="0"/>
              </a:p>
              <a:p>
                <a:r>
                  <a:rPr lang="en-US" dirty="0"/>
                  <a:t>Main point projection doesn’t take into account the additional states</a:t>
                </a:r>
              </a:p>
              <a:p>
                <a:endParaRPr lang="en-US" dirty="0"/>
              </a:p>
              <a:p>
                <a:r>
                  <a:rPr lang="en-NL" dirty="0"/>
                  <a:t>Hence the </a:t>
                </a:r>
                <a:r>
                  <a:rPr lang="en-NL" sz="1200" i="0" kern="1200">
                    <a:solidFill>
                      <a:schemeClr val="tx1"/>
                    </a:solidFill>
                    <a:latin typeface="+mn-lt"/>
                    <a:ea typeface="+mn-ea"/>
                    <a:cs typeface="+mn-cs"/>
                  </a:rPr>
                  <a:t>𝑧</a:t>
                </a:r>
                <a:r>
                  <a:rPr lang="en-NL" dirty="0"/>
                  <a:t>-update has entered the physical trajectory through the dependence of the later </a:t>
                </a:r>
                <a:r>
                  <a:rPr lang="en-NL" sz="1200" i="0" kern="1200">
                    <a:solidFill>
                      <a:schemeClr val="tx1"/>
                    </a:solidFill>
                    <a:latin typeface="+mn-lt"/>
                    <a:ea typeface="+mn-ea"/>
                    <a:cs typeface="+mn-cs"/>
                  </a:rPr>
                  <a:t>𝑥</a:t>
                </a:r>
                <a:r>
                  <a:rPr lang="en-NL" dirty="0"/>
                  <a:t>-update on </a:t>
                </a:r>
                <a:r>
                  <a:rPr lang="en-NL" sz="1200" i="0" kern="1200">
                    <a:solidFill>
                      <a:schemeClr val="tx1"/>
                    </a:solidFill>
                    <a:latin typeface="+mn-lt"/>
                    <a:ea typeface="+mn-ea"/>
                    <a:cs typeface="+mn-cs"/>
                  </a:rPr>
                  <a:t>𝑧_(𝑘+1)</a:t>
                </a:r>
                <a:r>
                  <a:rPr lang="en-NL" dirty="0"/>
                  <a:t>.</a:t>
                </a:r>
                <a:endParaRPr lang="en-US" dirty="0"/>
              </a:p>
              <a:p>
                <a:endParaRPr lang="en-US" dirty="0"/>
              </a:p>
              <a:p>
                <a:r>
                  <a:rPr lang="en-NL" dirty="0"/>
                  <a:t>Györök asks whether the </a:t>
                </a:r>
                <a:r>
                  <a:rPr lang="en-NL" dirty="0" err="1"/>
                  <a:t>ANN's</a:t>
                </a:r>
                <a:r>
                  <a:rPr lang="en-NL" dirty="0"/>
                  <a:t> immediate state-transition correction looks like something the physical model can generate. Our problem is harder: an ANN update can be orthogonal or even completely invisible at the instant it is produced, yet after propagation through a learned internal state it can generate the same measured-output trajectory change as a physical-parameter variation.</a:t>
                </a:r>
                <a:endParaRPr lang="en-US" dirty="0"/>
              </a:p>
              <a:p>
                <a:endParaRPr lang="en-US" dirty="0"/>
              </a:p>
              <a:p>
                <a:r>
                  <a:rPr lang="en-NL" dirty="0"/>
                  <a:t>SAY</a:t>
                </a:r>
              </a:p>
              <a:p>
                <a:r>
                  <a:rPr lang="en-NL" dirty="0"/>
                  <a:t>• The ANN writes two kinds of rows:</a:t>
                </a:r>
              </a:p>
              <a:p>
                <a:pPr lvl="0"/>
                <a:r>
                  <a:rPr lang="en-NL" dirty="0"/>
                  <a:t>Corrections to the physical states.</a:t>
                </a:r>
              </a:p>
              <a:p>
                <a:pPr lvl="0"/>
                <a:r>
                  <a:rPr lang="en-NL" dirty="0"/>
                  <a:t>Updates to the additional states z.</a:t>
                </a:r>
              </a:p>
              <a:p>
                <a:r>
                  <a:rPr lang="en-NL" dirty="0"/>
                  <a:t>• The physical model has no z states.</a:t>
                </a:r>
              </a:p>
              <a:p>
                <a:r>
                  <a:rPr lang="en-NL" dirty="0"/>
                  <a:t>• Therefore the physical-response basis has zero rows in those directions.</a:t>
                </a:r>
              </a:p>
              <a:p>
                <a:r>
                  <a:rPr lang="en-NL" dirty="0"/>
                  <a:t>• Q̃ᵀ </a:t>
                </a:r>
                <a:r>
                  <a:rPr lang="en-NL" dirty="0" err="1"/>
                  <a:t>f_ANN</a:t>
                </a:r>
                <a:r>
                  <a:rPr lang="en-NL" dirty="0"/>
                  <a:t> only acts on the physical-state rows.</a:t>
                </a:r>
              </a:p>
              <a:p>
                <a:r>
                  <a:rPr lang="en-NL" dirty="0"/>
                  <a:t>• fᶻ never enters the penalty.</a:t>
                </a:r>
              </a:p>
              <a:p>
                <a:r>
                  <a:rPr lang="en-NL" dirty="0"/>
                  <a:t>• That is exact, not an approximation.</a:t>
                </a:r>
              </a:p>
              <a:p>
                <a:r>
                  <a:rPr lang="en-NL" dirty="0"/>
                  <a:t>PRECISE MECHANISM IN OUR MODEL</a:t>
                </a:r>
              </a:p>
              <a:p>
                <a:r>
                  <a:rPr lang="en-NL" dirty="0"/>
                  <a:t>• fᶻ is still not harmless.</a:t>
                </a:r>
              </a:p>
              <a:p>
                <a:r>
                  <a:rPr lang="en-NL" dirty="0"/>
                  <a:t>• It sets z at the next step.</a:t>
                </a:r>
              </a:p>
              <a:p>
                <a:r>
                  <a:rPr lang="en-NL" dirty="0"/>
                  <a:t>• z then feeds back into the ANN and can change the output later.</a:t>
                </a:r>
              </a:p>
              <a:p>
                <a:r>
                  <a:rPr lang="en-NL" dirty="0"/>
                  <a:t>• Our output map reads ONLY the six physical states.</a:t>
                </a:r>
              </a:p>
              <a:p>
                <a:r>
                  <a:rPr lang="en-NL" dirty="0"/>
                  <a:t>• Therefore z reaches the output through exactly one path:</a:t>
                </a:r>
              </a:p>
              <a:p>
                <a:r>
                  <a:rPr lang="en-NL" dirty="0"/>
                  <a:t>z</a:t>
                </a:r>
                <a:br>
                  <a:rPr lang="en-NL" dirty="0"/>
                </a:br>
                <a:r>
                  <a:rPr lang="en-NL" dirty="0"/>
                  <a:t>→ ANN input</a:t>
                </a:r>
                <a:br>
                  <a:rPr lang="en-NL" dirty="0"/>
                </a:br>
                <a:r>
                  <a:rPr lang="en-NL" dirty="0"/>
                  <a:t>→ ANN writes physical rows</a:t>
                </a:r>
                <a:br>
                  <a:rPr lang="en-NL" dirty="0"/>
                </a:br>
                <a:r>
                  <a:rPr lang="en-NL" dirty="0"/>
                  <a:t>→ physical states</a:t>
                </a:r>
                <a:br>
                  <a:rPr lang="en-NL" dirty="0"/>
                </a:br>
                <a:r>
                  <a:rPr lang="en-NL" dirty="0"/>
                  <a:t>→ output</a:t>
                </a:r>
              </a:p>
              <a:p>
                <a:r>
                  <a:rPr lang="en-NL" dirty="0"/>
                  <a:t>• There is no direct z-to-output term.</a:t>
                </a:r>
              </a:p>
              <a:p>
                <a:r>
                  <a:rPr lang="en-NL" dirty="0"/>
                  <a:t>WHAT WE MEASURED</a:t>
                </a:r>
              </a:p>
              <a:p>
                <a:r>
                  <a:rPr lang="en-NL" dirty="0"/>
                  <a:t>• The blind spot is real.</a:t>
                </a:r>
              </a:p>
              <a:p>
                <a:r>
                  <a:rPr lang="en-NL" dirty="0"/>
                  <a:t>• Overlap on the trajectory actually visited by the trained model:</a:t>
                </a:r>
                <a:br>
                  <a:rPr lang="en-NL" dirty="0"/>
                </a:br>
                <a:r>
                  <a:rPr lang="en-NL" dirty="0"/>
                  <a:t>≈ 10⁻³</a:t>
                </a:r>
              </a:p>
              <a:p>
                <a:r>
                  <a:rPr lang="en-NL" dirty="0"/>
                  <a:t>• Overlap seen by the penalty on its fixed point set:</a:t>
                </a:r>
                <a:br>
                  <a:rPr lang="en-NL" dirty="0"/>
                </a:br>
                <a:r>
                  <a:rPr lang="en-NL" dirty="0"/>
                  <a:t>≈ 10⁻⁷</a:t>
                </a:r>
              </a:p>
              <a:p>
                <a:r>
                  <a:rPr lang="en-NL" dirty="0"/>
                  <a:t>• So the realised overlap is about four orders of magnitude larger.</a:t>
                </a:r>
              </a:p>
              <a:p>
                <a:r>
                  <a:rPr lang="en-NL" dirty="0"/>
                  <a:t>• The pointwise penalty is therefore genuinely blind outside its fixed slice.</a:t>
                </a:r>
              </a:p>
              <a:p>
                <a:r>
                  <a:rPr lang="en-NL" dirty="0"/>
                  <a:t>DO NOT OVERCLAIM</a:t>
                </a:r>
              </a:p>
              <a:p>
                <a:r>
                  <a:rPr lang="en-NL" dirty="0"/>
                  <a:t>• The amount that escapes is still small.</a:t>
                </a:r>
              </a:p>
              <a:p>
                <a:r>
                  <a:rPr lang="en-NL" dirty="0"/>
                  <a:t>• We did NOT observe the augmentation moving into the latent route to avoid the penalty.</a:t>
                </a:r>
              </a:p>
              <a:p>
                <a:r>
                  <a:rPr lang="en-NL" dirty="0"/>
                  <a:t>• In fact:</a:t>
                </a:r>
              </a:p>
              <a:p>
                <a:pPr lvl="0"/>
                <a:r>
                  <a:rPr lang="en-NL" dirty="0"/>
                  <a:t>At β = 0:</a:t>
                </a:r>
                <a:br>
                  <a:rPr lang="en-NL" dirty="0"/>
                </a:br>
                <a:r>
                  <a:rPr lang="en-NL" dirty="0"/>
                  <a:t>latent contribution ≈ 32%</a:t>
                </a:r>
              </a:p>
              <a:p>
                <a:pPr lvl="0"/>
                <a:r>
                  <a:rPr lang="en-NL" dirty="0"/>
                  <a:t>At β = 10⁻²:</a:t>
                </a:r>
                <a:br>
                  <a:rPr lang="en-NL" dirty="0"/>
                </a:br>
                <a:r>
                  <a:rPr lang="en-NL" dirty="0"/>
                  <a:t>latent contribution &lt; 2%</a:t>
                </a:r>
              </a:p>
              <a:p>
                <a:r>
                  <a:rPr lang="en-NL" dirty="0"/>
                  <a:t>• Because z can only affect the output through the penalised physical rows, shrinking those rows also shrank the latent route.</a:t>
                </a:r>
              </a:p>
              <a:p>
                <a:r>
                  <a:rPr lang="en-NL" dirty="0"/>
                  <a:t>HONEST CLAIM</a:t>
                </a:r>
              </a:p>
              <a:p>
                <a:r>
                  <a:rPr lang="en-NL" dirty="0"/>
                  <a:t>• The pointwise penalty cannot see the latent route directly by construction.</a:t>
                </a:r>
              </a:p>
              <a:p>
                <a:r>
                  <a:rPr lang="en-NL" dirty="0"/>
                  <a:t>• In our architecture, it happens to suppress that route indirectly anyway.</a:t>
                </a:r>
              </a:p>
              <a:p>
                <a:r>
                  <a:rPr lang="en-NL" dirty="0"/>
                  <a:t>• With a direct z-to-output map, that would no longer be guaranteed.</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39</a:t>
            </a:fld>
            <a:endParaRPr lang="en-NL"/>
          </a:p>
        </p:txBody>
      </p:sp>
    </p:spTree>
    <p:extLst>
      <p:ext uri="{BB962C8B-B14F-4D97-AF65-F5344CB8AC3E}">
        <p14:creationId xmlns:p14="http://schemas.microsoft.com/office/powerpoint/2010/main" val="2325697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The important conceptual move here is that </a:t>
                </a:r>
                <a14:m>
                  <m:oMath xmlns:m="http://schemas.openxmlformats.org/officeDocument/2006/math">
                    <m:r>
                      <a:rPr lang="en-NL" sz="1200" i="1" kern="1200">
                        <a:solidFill>
                          <a:schemeClr val="tx1"/>
                        </a:solidFill>
                        <a:latin typeface="Cambria Math" panose="02040503050406030204" pitchFamily="18" charset="0"/>
                        <a:ea typeface="+mn-ea"/>
                        <a:cs typeface="+mn-cs"/>
                      </a:rPr>
                      <m:t>𝑑</m:t>
                    </m:r>
                  </m:oMath>
                </a14:m>
                <a:r>
                  <a:rPr lang="en-NL" dirty="0"/>
                  <a:t>is </a:t>
                </a:r>
                <a:r>
                  <a:rPr lang="en-NL" b="1" dirty="0"/>
                  <a:t>not a residual against measured data</a:t>
                </a:r>
                <a:r>
                  <a:rPr lang="en-NL" dirty="0"/>
                  <a:t>. It is a counterfactual difference between two predictions made with the same physical model.</a:t>
                </a:r>
                <a:endParaRPr lang="en-US" dirty="0"/>
              </a:p>
              <a:p>
                <a:r>
                  <a:rPr lang="en-NL" dirty="0"/>
                  <a:t>while the comparison rollout uses the </a:t>
                </a:r>
                <a:r>
                  <a:rPr lang="en-NL" b="1" dirty="0"/>
                  <a:t>same</a:t>
                </a:r>
                <a:r>
                  <a:rPr lang="en-NL" dirty="0"/>
                  <a:t> physical parameters, physical initial state, horizon and input sequence, but removes the learned augmentation</a:t>
                </a:r>
                <a:endParaRPr lang="en-US" dirty="0"/>
              </a:p>
              <a:p>
                <a:endParaRPr lang="en-US" dirty="0"/>
              </a:p>
              <a:p>
                <a:r>
                  <a:rPr lang="en-NL" dirty="0"/>
                  <a:t>This makes </a:t>
                </a:r>
                <a14:m>
                  <m:oMath xmlns:m="http://schemas.openxmlformats.org/officeDocument/2006/math">
                    <m:r>
                      <a:rPr lang="en-NL" sz="1200" i="1" kern="1200">
                        <a:solidFill>
                          <a:schemeClr val="tx1"/>
                        </a:solidFill>
                        <a:latin typeface="Cambria Math" panose="02040503050406030204" pitchFamily="18" charset="0"/>
                        <a:ea typeface="+mn-ea"/>
                        <a:cs typeface="+mn-cs"/>
                      </a:rPr>
                      <m:t>𝑑</m:t>
                    </m:r>
                  </m:oMath>
                </a14:m>
                <a:r>
                  <a:rPr lang="en-NL" dirty="0"/>
                  <a:t>answer a very concrete question:</a:t>
                </a:r>
              </a:p>
              <a:p>
                <a:r>
                  <a:rPr lang="en-NL" b="1" dirty="0"/>
                  <a:t>“At the present trained parameter values, how much does having the augmentation active change the predicted output trajectory?”</a:t>
                </a:r>
                <a:endParaRPr lang="en-NL" dirty="0"/>
              </a:p>
              <a:p>
                <a:endParaRPr lang="en-US" dirty="0"/>
              </a:p>
              <a:p>
                <a:endParaRPr lang="en-US" dirty="0"/>
              </a:p>
              <a:p>
                <a:r>
                  <a:rPr lang="en-NL" dirty="0"/>
                  <a:t>SAY</a:t>
                </a:r>
              </a:p>
              <a:p>
                <a:r>
                  <a:rPr lang="en-NL" dirty="0"/>
                  <a:t>• Take two rollouts on the same window.</a:t>
                </a:r>
              </a:p>
              <a:p>
                <a:r>
                  <a:rPr lang="en-NL" dirty="0"/>
                  <a:t>• Both use the same physical initial state.</a:t>
                </a:r>
              </a:p>
              <a:p>
                <a:r>
                  <a:rPr lang="en-NL" dirty="0"/>
                  <a:t>• Rollout 1:</a:t>
                </a:r>
              </a:p>
              <a:p>
                <a:pPr lvl="0"/>
                <a:r>
                  <a:rPr lang="en-NL" dirty="0"/>
                  <a:t>Full augmentation active.</a:t>
                </a:r>
              </a:p>
              <a:p>
                <a:r>
                  <a:rPr lang="en-NL" dirty="0"/>
                  <a:t>• Rollout 2:</a:t>
                </a:r>
              </a:p>
              <a:p>
                <a:pPr lvl="0"/>
                <a:r>
                  <a:rPr lang="en-NL" dirty="0"/>
                  <a:t>Augmentation disabled.</a:t>
                </a:r>
              </a:p>
              <a:p>
                <a:r>
                  <a:rPr lang="en-NL" dirty="0"/>
                  <a:t>• Subtract the complete predicted output trajectories.</a:t>
                </a:r>
              </a:p>
              <a:p>
                <a:r>
                  <a:rPr lang="en-NL" dirty="0"/>
                  <a:t>• Call that difference:</a:t>
                </a:r>
                <a:br>
                  <a:rPr lang="en-NL" dirty="0"/>
                </a:br>
                <a:r>
                  <a:rPr lang="en-NL" dirty="0"/>
                  <a:t>d</a:t>
                </a:r>
              </a:p>
              <a:p>
                <a:r>
                  <a:rPr lang="en-NL" dirty="0"/>
                  <a:t>• d is what the augmentation actually changes over the rollout.</a:t>
                </a:r>
              </a:p>
              <a:p>
                <a:r>
                  <a:rPr lang="en-NL" dirty="0"/>
                  <a:t>WHY d AND NOT </a:t>
                </a:r>
                <a:r>
                  <a:rPr lang="en-NL" dirty="0" err="1"/>
                  <a:t>f_ANN</a:t>
                </a:r>
                <a:r>
                  <a:rPr lang="en-NL" dirty="0"/>
                  <a:t>?</a:t>
                </a:r>
              </a:p>
              <a:p>
                <a:r>
                  <a:rPr lang="en-NL" dirty="0"/>
                  <a:t>• </a:t>
                </a:r>
                <a:r>
                  <a:rPr lang="en-NL" dirty="0" err="1"/>
                  <a:t>f_ANN</a:t>
                </a:r>
                <a:r>
                  <a:rPr lang="en-NL" dirty="0"/>
                  <a:t> is the instantaneous correction at one point.</a:t>
                </a:r>
              </a:p>
              <a:p>
                <a:r>
                  <a:rPr lang="en-NL" dirty="0"/>
                  <a:t>• d is the realised effect after 400 steps.</a:t>
                </a:r>
              </a:p>
              <a:p>
                <a:r>
                  <a:rPr lang="en-NL" dirty="0"/>
                  <a:t>• It contains:</a:t>
                </a:r>
              </a:p>
              <a:p>
                <a:pPr lvl="0"/>
                <a:r>
                  <a:rPr lang="en-NL" dirty="0"/>
                  <a:t>Immediate corrections.</a:t>
                </a:r>
              </a:p>
              <a:p>
                <a:pPr lvl="0"/>
                <a:r>
                  <a:rPr lang="en-NL" dirty="0"/>
                  <a:t>Latent propagation.</a:t>
                </a:r>
              </a:p>
              <a:p>
                <a:pPr lvl="0"/>
                <a:r>
                  <a:rPr lang="en-NL" dirty="0"/>
                  <a:t>Latent initialisation.</a:t>
                </a:r>
              </a:p>
              <a:p>
                <a:pPr lvl="0"/>
                <a:r>
                  <a:rPr lang="en-NL" dirty="0"/>
                  <a:t>The controller’s reaction to both.</a:t>
                </a:r>
              </a:p>
              <a:p>
                <a:r>
                  <a:rPr lang="en-NL" dirty="0"/>
                  <a:t>• </a:t>
                </a:r>
                <a:r>
                  <a:rPr lang="en-NL" dirty="0" err="1"/>
                  <a:t>Gyorok’s</a:t>
                </a:r>
                <a:r>
                  <a:rPr lang="en-NL" dirty="0"/>
                  <a:t> Eq. 19 penalises the first.</a:t>
                </a:r>
              </a:p>
              <a:p>
                <a:r>
                  <a:rPr lang="en-NL" dirty="0"/>
                  <a:t>• We replace it with d.</a:t>
                </a:r>
              </a:p>
              <a:p>
                <a:r>
                  <a:rPr lang="en-NL" dirty="0"/>
                  <a:t>THE CONTROLLER SUBTLETY</a:t>
                </a:r>
              </a:p>
              <a:p>
                <a:r>
                  <a:rPr lang="en-NL" dirty="0"/>
                  <a:t>• The two rollouts produce different outputs.</a:t>
                </a:r>
              </a:p>
              <a:p>
                <a:r>
                  <a:rPr lang="en-NL" dirty="0"/>
                  <a:t>• Therefore their controllers also compute different corrections.</a:t>
                </a:r>
              </a:p>
              <a:p>
                <a:r>
                  <a:rPr lang="en-NL" dirty="0"/>
                  <a:t>• That difference is included in d.</a:t>
                </a:r>
              </a:p>
              <a:p>
                <a:r>
                  <a:rPr lang="en-NL" dirty="0"/>
                  <a:t>• This is intentional.</a:t>
                </a:r>
              </a:p>
              <a:p>
                <a:r>
                  <a:rPr lang="en-NL" dirty="0"/>
                  <a:t>• The controller response is part of what the augmentation changes about the closed-loop system.</a:t>
                </a:r>
              </a:p>
              <a:p>
                <a:r>
                  <a:rPr lang="en-NL" dirty="0"/>
                  <a:t>IF ASKED — WHAT HAPPENS TO ẑ₀?</a:t>
                </a:r>
              </a:p>
              <a:p>
                <a:r>
                  <a:rPr lang="en-NL" dirty="0"/>
                  <a:t>• In the full rollout:</a:t>
                </a:r>
              </a:p>
              <a:p>
                <a:pPr lvl="0"/>
                <a:r>
                  <a:rPr lang="en-NL" dirty="0"/>
                  <a:t>ẑ₀ is active.</a:t>
                </a:r>
              </a:p>
              <a:p>
                <a:r>
                  <a:rPr lang="en-NL" dirty="0"/>
                  <a:t>• In the comparison rollout:</a:t>
                </a:r>
              </a:p>
              <a:p>
                <a:pPr lvl="0"/>
                <a:r>
                  <a:rPr lang="en-NL" dirty="0"/>
                  <a:t>It is disabled with the augmentation.</a:t>
                </a:r>
              </a:p>
              <a:p>
                <a:r>
                  <a:rPr lang="en-NL" dirty="0"/>
                  <a:t>• Therefore latent initialisation effects remain inside d.</a:t>
                </a:r>
              </a:p>
              <a:p>
                <a:r>
                  <a:rPr lang="en-NL" dirty="0"/>
                  <a:t>• This is made explicit on the final extension slide.</a:t>
                </a:r>
              </a:p>
              <a:p>
                <a:r>
                  <a:rPr lang="en-NL" dirty="0"/>
                  <a:t>IF ASKED — COST</a:t>
                </a:r>
              </a:p>
              <a:p>
                <a:r>
                  <a:rPr lang="en-NL" dirty="0"/>
                  <a:t>• The pointwise method requires only one ANN forward evaluation.</a:t>
                </a:r>
              </a:p>
              <a:p>
                <a:r>
                  <a:rPr lang="en-NL" dirty="0"/>
                  <a:t>• Computing d requires two complete rollouts per penalty evaluation.</a:t>
                </a:r>
              </a:p>
              <a:p>
                <a:r>
                  <a:rPr lang="en-NL" dirty="0"/>
                  <a:t>• That is why the pointwise method is cheap and this trajectory method is not.</a:t>
                </a:r>
              </a:p>
              <a:p>
                <a:endParaRPr lang="en-NL" dirty="0"/>
              </a:p>
            </p:txBody>
          </p:sp>
        </mc:Choice>
        <mc:Fallback xmlns="">
          <p:sp>
            <p:nvSpPr>
              <p:cNvPr id="3" name="Notes Placeholder 2"/>
              <p:cNvSpPr>
                <a:spLocks noGrp="1"/>
              </p:cNvSpPr>
              <p:nvPr>
                <p:ph type="body" idx="1"/>
              </p:nvPr>
            </p:nvSpPr>
            <p:spPr/>
            <p:txBody>
              <a:bodyPr/>
              <a:lstStyle/>
              <a:p>
                <a:r>
                  <a:rPr lang="en-NL" dirty="0"/>
                  <a:t>The important conceptual move here is that </a:t>
                </a:r>
                <a:r>
                  <a:rPr lang="en-NL" sz="1200" i="0" kern="1200">
                    <a:solidFill>
                      <a:schemeClr val="tx1"/>
                    </a:solidFill>
                    <a:latin typeface="+mn-lt"/>
                    <a:ea typeface="+mn-ea"/>
                    <a:cs typeface="+mn-cs"/>
                  </a:rPr>
                  <a:t>𝑑</a:t>
                </a:r>
                <a:r>
                  <a:rPr lang="en-NL" dirty="0"/>
                  <a:t>is </a:t>
                </a:r>
                <a:r>
                  <a:rPr lang="en-NL" b="1" dirty="0"/>
                  <a:t>not a residual against measured data</a:t>
                </a:r>
                <a:r>
                  <a:rPr lang="en-NL" dirty="0"/>
                  <a:t>. It is a counterfactual difference between two predictions made with the same physical model.</a:t>
                </a:r>
                <a:endParaRPr lang="en-US" dirty="0"/>
              </a:p>
              <a:p>
                <a:r>
                  <a:rPr lang="en-NL" dirty="0"/>
                  <a:t>while the comparison rollout uses the </a:t>
                </a:r>
                <a:r>
                  <a:rPr lang="en-NL" b="1" dirty="0"/>
                  <a:t>same</a:t>
                </a:r>
                <a:r>
                  <a:rPr lang="en-NL" dirty="0"/>
                  <a:t> physical parameters, physical initial state, horizon and input sequence, but removes the learned augmentation</a:t>
                </a:r>
                <a:endParaRPr lang="en-US" dirty="0"/>
              </a:p>
              <a:p>
                <a:endParaRPr lang="en-US" dirty="0"/>
              </a:p>
              <a:p>
                <a:r>
                  <a:rPr lang="en-NL" dirty="0"/>
                  <a:t>This makes </a:t>
                </a:r>
                <a:r>
                  <a:rPr lang="en-NL" sz="1200" i="0" kern="1200">
                    <a:solidFill>
                      <a:schemeClr val="tx1"/>
                    </a:solidFill>
                    <a:latin typeface="+mn-lt"/>
                    <a:ea typeface="+mn-ea"/>
                    <a:cs typeface="+mn-cs"/>
                  </a:rPr>
                  <a:t>𝑑</a:t>
                </a:r>
                <a:r>
                  <a:rPr lang="en-NL" dirty="0"/>
                  <a:t>answer a very concrete question:</a:t>
                </a:r>
              </a:p>
              <a:p>
                <a:r>
                  <a:rPr lang="en-NL" b="1" dirty="0"/>
                  <a:t>“At the present trained parameter values, how much does having the augmentation active change the predicted output trajectory?”</a:t>
                </a:r>
                <a:endParaRPr lang="en-NL" dirty="0"/>
              </a:p>
              <a:p>
                <a:endParaRPr lang="en-US" dirty="0"/>
              </a:p>
              <a:p>
                <a:endParaRPr lang="en-US" dirty="0"/>
              </a:p>
              <a:p>
                <a:r>
                  <a:rPr lang="en-NL" dirty="0"/>
                  <a:t>SAY</a:t>
                </a:r>
              </a:p>
              <a:p>
                <a:r>
                  <a:rPr lang="en-NL" dirty="0"/>
                  <a:t>• Take two rollouts on the same window.</a:t>
                </a:r>
              </a:p>
              <a:p>
                <a:r>
                  <a:rPr lang="en-NL" dirty="0"/>
                  <a:t>• Both use the same physical initial state.</a:t>
                </a:r>
              </a:p>
              <a:p>
                <a:r>
                  <a:rPr lang="en-NL" dirty="0"/>
                  <a:t>• Rollout 1:</a:t>
                </a:r>
              </a:p>
              <a:p>
                <a:pPr lvl="0"/>
                <a:r>
                  <a:rPr lang="en-NL" dirty="0"/>
                  <a:t>Full augmentation active.</a:t>
                </a:r>
              </a:p>
              <a:p>
                <a:r>
                  <a:rPr lang="en-NL" dirty="0"/>
                  <a:t>• Rollout 2:</a:t>
                </a:r>
              </a:p>
              <a:p>
                <a:pPr lvl="0"/>
                <a:r>
                  <a:rPr lang="en-NL" dirty="0"/>
                  <a:t>Augmentation disabled.</a:t>
                </a:r>
              </a:p>
              <a:p>
                <a:r>
                  <a:rPr lang="en-NL" dirty="0"/>
                  <a:t>• Subtract the complete predicted output trajectories.</a:t>
                </a:r>
              </a:p>
              <a:p>
                <a:r>
                  <a:rPr lang="en-NL" dirty="0"/>
                  <a:t>• Call that difference:</a:t>
                </a:r>
                <a:br>
                  <a:rPr lang="en-NL" dirty="0"/>
                </a:br>
                <a:r>
                  <a:rPr lang="en-NL" dirty="0"/>
                  <a:t>d</a:t>
                </a:r>
              </a:p>
              <a:p>
                <a:r>
                  <a:rPr lang="en-NL" dirty="0"/>
                  <a:t>• d is what the augmentation actually changes over the rollout.</a:t>
                </a:r>
              </a:p>
              <a:p>
                <a:r>
                  <a:rPr lang="en-NL" dirty="0"/>
                  <a:t>WHY d AND NOT </a:t>
                </a:r>
                <a:r>
                  <a:rPr lang="en-NL" dirty="0" err="1"/>
                  <a:t>f_ANN</a:t>
                </a:r>
                <a:r>
                  <a:rPr lang="en-NL" dirty="0"/>
                  <a:t>?</a:t>
                </a:r>
              </a:p>
              <a:p>
                <a:r>
                  <a:rPr lang="en-NL" dirty="0"/>
                  <a:t>• </a:t>
                </a:r>
                <a:r>
                  <a:rPr lang="en-NL" dirty="0" err="1"/>
                  <a:t>f_ANN</a:t>
                </a:r>
                <a:r>
                  <a:rPr lang="en-NL" dirty="0"/>
                  <a:t> is the instantaneous correction at one point.</a:t>
                </a:r>
              </a:p>
              <a:p>
                <a:r>
                  <a:rPr lang="en-NL" dirty="0"/>
                  <a:t>• d is the realised effect after 400 steps.</a:t>
                </a:r>
              </a:p>
              <a:p>
                <a:r>
                  <a:rPr lang="en-NL" dirty="0"/>
                  <a:t>• It contains:</a:t>
                </a:r>
              </a:p>
              <a:p>
                <a:pPr lvl="0"/>
                <a:r>
                  <a:rPr lang="en-NL" dirty="0"/>
                  <a:t>Immediate corrections.</a:t>
                </a:r>
              </a:p>
              <a:p>
                <a:pPr lvl="0"/>
                <a:r>
                  <a:rPr lang="en-NL" dirty="0"/>
                  <a:t>Latent propagation.</a:t>
                </a:r>
              </a:p>
              <a:p>
                <a:pPr lvl="0"/>
                <a:r>
                  <a:rPr lang="en-NL" dirty="0"/>
                  <a:t>Latent initialisation.</a:t>
                </a:r>
              </a:p>
              <a:p>
                <a:pPr lvl="0"/>
                <a:r>
                  <a:rPr lang="en-NL" dirty="0"/>
                  <a:t>The controller’s reaction to both.</a:t>
                </a:r>
              </a:p>
              <a:p>
                <a:r>
                  <a:rPr lang="en-NL" dirty="0"/>
                  <a:t>• </a:t>
                </a:r>
                <a:r>
                  <a:rPr lang="en-NL" dirty="0" err="1"/>
                  <a:t>Gyorok’s</a:t>
                </a:r>
                <a:r>
                  <a:rPr lang="en-NL" dirty="0"/>
                  <a:t> Eq. 19 penalises the first.</a:t>
                </a:r>
              </a:p>
              <a:p>
                <a:r>
                  <a:rPr lang="en-NL" dirty="0"/>
                  <a:t>• We replace it with d.</a:t>
                </a:r>
              </a:p>
              <a:p>
                <a:r>
                  <a:rPr lang="en-NL" dirty="0"/>
                  <a:t>THE CONTROLLER SUBTLETY</a:t>
                </a:r>
              </a:p>
              <a:p>
                <a:r>
                  <a:rPr lang="en-NL" dirty="0"/>
                  <a:t>• The two rollouts produce different outputs.</a:t>
                </a:r>
              </a:p>
              <a:p>
                <a:r>
                  <a:rPr lang="en-NL" dirty="0"/>
                  <a:t>• Therefore their controllers also compute different corrections.</a:t>
                </a:r>
              </a:p>
              <a:p>
                <a:r>
                  <a:rPr lang="en-NL" dirty="0"/>
                  <a:t>• That difference is included in d.</a:t>
                </a:r>
              </a:p>
              <a:p>
                <a:r>
                  <a:rPr lang="en-NL" dirty="0"/>
                  <a:t>• This is intentional.</a:t>
                </a:r>
              </a:p>
              <a:p>
                <a:r>
                  <a:rPr lang="en-NL" dirty="0"/>
                  <a:t>• The controller response is part of what the augmentation changes about the closed-loop system.</a:t>
                </a:r>
              </a:p>
              <a:p>
                <a:r>
                  <a:rPr lang="en-NL" dirty="0"/>
                  <a:t>IF ASKED — WHAT HAPPENS TO ẑ₀?</a:t>
                </a:r>
              </a:p>
              <a:p>
                <a:r>
                  <a:rPr lang="en-NL" dirty="0"/>
                  <a:t>• In the full rollout:</a:t>
                </a:r>
              </a:p>
              <a:p>
                <a:pPr lvl="0"/>
                <a:r>
                  <a:rPr lang="en-NL" dirty="0"/>
                  <a:t>ẑ₀ is active.</a:t>
                </a:r>
              </a:p>
              <a:p>
                <a:r>
                  <a:rPr lang="en-NL" dirty="0"/>
                  <a:t>• In the comparison rollout:</a:t>
                </a:r>
              </a:p>
              <a:p>
                <a:pPr lvl="0"/>
                <a:r>
                  <a:rPr lang="en-NL" dirty="0"/>
                  <a:t>It is disabled with the augmentation.</a:t>
                </a:r>
              </a:p>
              <a:p>
                <a:r>
                  <a:rPr lang="en-NL" dirty="0"/>
                  <a:t>• Therefore latent initialisation effects remain inside d.</a:t>
                </a:r>
              </a:p>
              <a:p>
                <a:r>
                  <a:rPr lang="en-NL" dirty="0"/>
                  <a:t>• This is made explicit on the final extension slide.</a:t>
                </a:r>
              </a:p>
              <a:p>
                <a:r>
                  <a:rPr lang="en-NL" dirty="0"/>
                  <a:t>IF ASKED — COST</a:t>
                </a:r>
              </a:p>
              <a:p>
                <a:r>
                  <a:rPr lang="en-NL" dirty="0"/>
                  <a:t>• The pointwise method requires only one ANN forward evaluation.</a:t>
                </a:r>
              </a:p>
              <a:p>
                <a:r>
                  <a:rPr lang="en-NL" dirty="0"/>
                  <a:t>• Computing d requires two complete rollouts per penalty evaluation.</a:t>
                </a:r>
              </a:p>
              <a:p>
                <a:r>
                  <a:rPr lang="en-NL" dirty="0"/>
                  <a:t>• That is why the pointwise method is cheap and this trajectory method is not.</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40</a:t>
            </a:fld>
            <a:endParaRPr lang="en-NL"/>
          </a:p>
        </p:txBody>
      </p:sp>
    </p:spTree>
    <p:extLst>
      <p:ext uri="{BB962C8B-B14F-4D97-AF65-F5344CB8AC3E}">
        <p14:creationId xmlns:p14="http://schemas.microsoft.com/office/powerpoint/2010/main" val="27922337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S0​ is best understood as </a:t>
            </a:r>
            <a:r>
              <a:rPr lang="en-NL" b="1" dirty="0"/>
              <a:t>the Jacobian that tells you how the entire predicted output trajectory changes when you infinitesimally change the physical parameters</a:t>
            </a:r>
            <a:r>
              <a:rPr lang="en-NL" dirty="0"/>
              <a:t>.</a:t>
            </a:r>
            <a:endParaRPr lang="en-US" dirty="0"/>
          </a:p>
          <a:p>
            <a:endParaRPr lang="en-US" dirty="0"/>
          </a:p>
          <a:p>
            <a:r>
              <a:rPr lang="en-NL" dirty="0"/>
              <a:t>That is all it is. The important part is that its “output” is not one state update; its output is the whole stacked prediction trajectory.</a:t>
            </a:r>
            <a:endParaRPr lang="en-US" dirty="0"/>
          </a:p>
          <a:p>
            <a:endParaRPr lang="en-US" dirty="0"/>
          </a:p>
          <a:p>
            <a:r>
              <a:rPr lang="en-NL" dirty="0"/>
              <a:t>range(S0​)​ </a:t>
            </a:r>
          </a:p>
          <a:p>
            <a:r>
              <a:rPr lang="en-NL" dirty="0"/>
              <a:t>is the set of all output-trajectory changes that can be produced, </a:t>
            </a:r>
            <a:r>
              <a:rPr lang="en-NL" b="1" dirty="0"/>
              <a:t>to first order</a:t>
            </a:r>
            <a:r>
              <a:rPr lang="en-NL" dirty="0"/>
              <a:t>, by changing the physical parameters.</a:t>
            </a:r>
          </a:p>
          <a:p>
            <a:endParaRPr lang="en-US" dirty="0"/>
          </a:p>
          <a:p>
            <a:endParaRPr lang="en-US" dirty="0"/>
          </a:p>
          <a:p>
            <a:r>
              <a:rPr lang="en-NL" dirty="0"/>
              <a:t>SAY</a:t>
            </a:r>
          </a:p>
          <a:p>
            <a:r>
              <a:rPr lang="en-NL" dirty="0"/>
              <a:t>• Same principle as </a:t>
            </a:r>
            <a:r>
              <a:rPr lang="en-NL" dirty="0" err="1"/>
              <a:t>Gyorok</a:t>
            </a:r>
            <a:r>
              <a:rPr lang="en-NL" dirty="0"/>
              <a:t>, but applied to a different object.</a:t>
            </a:r>
          </a:p>
          <a:p>
            <a:r>
              <a:rPr lang="en-NL" dirty="0"/>
              <a:t>• </a:t>
            </a:r>
            <a:r>
              <a:rPr lang="en-NL" dirty="0" err="1"/>
              <a:t>Gyorok</a:t>
            </a:r>
            <a:r>
              <a:rPr lang="en-NL" dirty="0"/>
              <a:t> takes the SVD of the state-transition sensitivity.</a:t>
            </a:r>
          </a:p>
          <a:p>
            <a:r>
              <a:rPr lang="en-NL" dirty="0"/>
              <a:t>• We take the SVD of the trajectory sensitivity.</a:t>
            </a:r>
          </a:p>
          <a:p>
            <a:r>
              <a:rPr lang="en-NL" dirty="0"/>
              <a:t>WHAT S₀ MEANS</a:t>
            </a:r>
          </a:p>
          <a:p>
            <a:r>
              <a:rPr lang="en-NL" dirty="0"/>
              <a:t>• Column </a:t>
            </a:r>
            <a:r>
              <a:rPr lang="en-NL" dirty="0" err="1"/>
              <a:t>i</a:t>
            </a:r>
            <a:r>
              <a:rPr lang="en-NL" dirty="0"/>
              <a:t> of S₀ is constructed by:</a:t>
            </a:r>
          </a:p>
          <a:p>
            <a:pPr lvl="0"/>
            <a:r>
              <a:rPr lang="en-NL" dirty="0"/>
              <a:t>Perturbing physical parameter </a:t>
            </a:r>
            <a:r>
              <a:rPr lang="en-NL" dirty="0" err="1"/>
              <a:t>i</a:t>
            </a:r>
            <a:r>
              <a:rPr lang="en-NL" dirty="0"/>
              <a:t>.</a:t>
            </a:r>
          </a:p>
          <a:p>
            <a:pPr lvl="0"/>
            <a:r>
              <a:rPr lang="en-NL" dirty="0"/>
              <a:t>Rolling the closed-loop model for 400 steps.</a:t>
            </a:r>
          </a:p>
          <a:p>
            <a:pPr lvl="0"/>
            <a:r>
              <a:rPr lang="en-NL" dirty="0"/>
              <a:t>Measuring how the complete predicted output trajectory changes.</a:t>
            </a:r>
          </a:p>
          <a:p>
            <a:r>
              <a:rPr lang="en-NL" dirty="0"/>
              <a:t>• Each column therefore represents the realised closed-loop effect of one physical parameter over the full horizon.</a:t>
            </a:r>
          </a:p>
          <a:p>
            <a:r>
              <a:rPr lang="en-NL" dirty="0"/>
              <a:t>• It is not a one-step sensitivity.</a:t>
            </a:r>
          </a:p>
          <a:p>
            <a:r>
              <a:rPr lang="en-NL" dirty="0"/>
              <a:t>FROM S₀ TO </a:t>
            </a:r>
            <a:r>
              <a:rPr lang="en-NL" dirty="0" err="1"/>
              <a:t>Q_traj</a:t>
            </a:r>
            <a:endParaRPr lang="en-NL" dirty="0"/>
          </a:p>
          <a:p>
            <a:r>
              <a:rPr lang="en-NL" dirty="0"/>
              <a:t>• Take the SVD of S₀.</a:t>
            </a:r>
          </a:p>
          <a:p>
            <a:r>
              <a:rPr lang="en-NL" dirty="0"/>
              <a:t>• </a:t>
            </a:r>
            <a:r>
              <a:rPr lang="en-NL" dirty="0" err="1"/>
              <a:t>Q_traj</a:t>
            </a:r>
            <a:r>
              <a:rPr lang="en-NL" dirty="0"/>
              <a:t> spans the trajectory changes that physical parameter variations can produce.</a:t>
            </a:r>
          </a:p>
          <a:p>
            <a:r>
              <a:rPr lang="en-NL" dirty="0"/>
              <a:t>• Then project d onto </a:t>
            </a:r>
            <a:r>
              <a:rPr lang="en-NL" dirty="0" err="1"/>
              <a:t>Q_traj</a:t>
            </a:r>
            <a:r>
              <a:rPr lang="en-NL" dirty="0"/>
              <a:t>.</a:t>
            </a:r>
          </a:p>
          <a:p>
            <a:r>
              <a:rPr lang="en-NL" dirty="0"/>
              <a:t>• So the principle is exactly the same as before.</a:t>
            </a:r>
          </a:p>
          <a:p>
            <a:r>
              <a:rPr lang="en-NL" dirty="0"/>
              <a:t>• The difference is that everything now lives in trajectory space.</a:t>
            </a:r>
          </a:p>
          <a:p>
            <a:r>
              <a:rPr lang="en-NL" dirty="0"/>
              <a:t>WHY THIS IS THE RIGHT COMPARISON</a:t>
            </a:r>
          </a:p>
          <a:p>
            <a:r>
              <a:rPr lang="en-NL" dirty="0"/>
              <a:t>• d is a predicted output trajectory.</a:t>
            </a:r>
          </a:p>
          <a:p>
            <a:r>
              <a:rPr lang="en-NL" dirty="0"/>
              <a:t>• The columns of S₀ are predicted output trajectories.</a:t>
            </a:r>
          </a:p>
          <a:p>
            <a:r>
              <a:rPr lang="en-NL" dirty="0"/>
              <a:t>• So they live in the same space.</a:t>
            </a:r>
          </a:p>
          <a:p>
            <a:r>
              <a:rPr lang="en-NL" dirty="0"/>
              <a:t>• The question becomes:</a:t>
            </a:r>
          </a:p>
          <a:p>
            <a:r>
              <a:rPr lang="en-NL" dirty="0"/>
              <a:t>“Could a parameter change reproduce what the augmentation did?”</a:t>
            </a:r>
          </a:p>
          <a:p>
            <a:r>
              <a:rPr lang="en-NL" dirty="0"/>
              <a:t>• That is the question the original method was always trying to ask.</a:t>
            </a:r>
          </a:p>
          <a:p>
            <a:r>
              <a:rPr lang="en-NL" dirty="0"/>
              <a:t>IF ASKED — COST</a:t>
            </a:r>
          </a:p>
          <a:p>
            <a:r>
              <a:rPr lang="en-NL" dirty="0"/>
              <a:t>• S₀ requires one rollout sensitivity per physical parameter.</a:t>
            </a:r>
          </a:p>
          <a:p>
            <a:r>
              <a:rPr lang="en-NL" dirty="0"/>
              <a:t>• We have 14 physical parameters.</a:t>
            </a:r>
          </a:p>
          <a:p>
            <a:r>
              <a:rPr lang="en-NL" dirty="0"/>
              <a:t>• Then we take an SVD.</a:t>
            </a:r>
          </a:p>
          <a:p>
            <a:r>
              <a:rPr lang="en-NL" dirty="0"/>
              <a:t>• The basis is built once at a frozen reference.</a:t>
            </a:r>
          </a:p>
          <a:p>
            <a:r>
              <a:rPr lang="en-NL" dirty="0"/>
              <a:t>• It is NOT recomputed every training update.</a:t>
            </a:r>
          </a:p>
          <a:p>
            <a:r>
              <a:rPr lang="en-NL" dirty="0"/>
              <a:t>IF ASKED — WEIGHTING</a:t>
            </a:r>
          </a:p>
          <a:p>
            <a:r>
              <a:rPr lang="en-NL" dirty="0"/>
              <a:t>• The implementation also includes a weighting.</a:t>
            </a:r>
          </a:p>
          <a:p>
            <a:r>
              <a:rPr lang="en-NL" dirty="0"/>
              <a:t>• This puts the trajectory penalty in the same metric as the prediction loss.</a:t>
            </a:r>
          </a:p>
          <a:p>
            <a:r>
              <a:rPr lang="en-NL" dirty="0"/>
              <a:t>• It is omitted from the slide for space.</a:t>
            </a:r>
          </a:p>
          <a:p>
            <a:r>
              <a:rPr lang="en-NL" dirty="0"/>
              <a:t>STATUS</a:t>
            </a:r>
          </a:p>
          <a:p>
            <a:r>
              <a:rPr lang="en-NL" dirty="0"/>
              <a:t>• Implemented.</a:t>
            </a:r>
          </a:p>
          <a:p>
            <a:r>
              <a:rPr lang="en-NL" dirty="0"/>
              <a:t>• Structurally verified.</a:t>
            </a:r>
          </a:p>
          <a:p>
            <a:r>
              <a:rPr lang="en-NL" dirty="0"/>
              <a:t>• β has NOT yet been selected using an L-curve.</a:t>
            </a:r>
          </a:p>
          <a:p>
            <a:r>
              <a:rPr lang="en-NL" dirty="0"/>
              <a:t>• Therefore:</a:t>
            </a:r>
          </a:p>
          <a:p>
            <a:pPr lvl="0"/>
            <a:r>
              <a:rPr lang="en-NL" dirty="0"/>
              <a:t>No efficacy claim yet.</a:t>
            </a:r>
          </a:p>
          <a:p>
            <a:pPr lvl="0"/>
            <a:r>
              <a:rPr lang="en-NL" dirty="0"/>
              <a:t>Only a structural and implementation claim.</a:t>
            </a:r>
          </a:p>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41</a:t>
            </a:fld>
            <a:endParaRPr lang="en-NL"/>
          </a:p>
        </p:txBody>
      </p:sp>
    </p:spTree>
    <p:extLst>
      <p:ext uri="{BB962C8B-B14F-4D97-AF65-F5344CB8AC3E}">
        <p14:creationId xmlns:p14="http://schemas.microsoft.com/office/powerpoint/2010/main" val="3636253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remove the portion of the physical-parameter sensitivity that can already be explained by physical initial-state freedom.</a:t>
                </a:r>
                <a:endParaRPr lang="en-US" dirty="0"/>
              </a:p>
              <a:p>
                <a:endParaRPr lang="en-US" dirty="0"/>
              </a:p>
              <a:p>
                <a:r>
                  <a:rPr lang="en-NL" dirty="0"/>
                  <a:t>Sˉ0​ is simply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𝑆</m:t>
                        </m:r>
                      </m:e>
                      <m:sub>
                        <m:r>
                          <a:rPr lang="en-NL" sz="1200" i="0" kern="1200">
                            <a:solidFill>
                              <a:schemeClr val="tx1"/>
                            </a:solidFill>
                            <a:latin typeface="Cambria Math" panose="02040503050406030204" pitchFamily="18" charset="0"/>
                            <a:ea typeface="+mn-ea"/>
                            <a:cs typeface="+mn-cs"/>
                          </a:rPr>
                          <m:t>0</m:t>
                        </m:r>
                      </m:sub>
                    </m:sSub>
                  </m:oMath>
                </a14:m>
                <a:r>
                  <a:rPr lang="en-NL" dirty="0"/>
                  <a:t>after removing the part of each physical-parameter trajectory effect that could also be produced by changing the estimated physical initial state.</a:t>
                </a:r>
                <a:endParaRPr lang="en-US" dirty="0"/>
              </a:p>
              <a:p>
                <a:endParaRPr lang="en-US" dirty="0"/>
              </a:p>
              <a:p>
                <a:r>
                  <a:rPr lang="en-NL" dirty="0"/>
                  <a:t>and each column of </a:t>
                </a:r>
                <a14:m>
                  <m:oMath xmlns:m="http://schemas.openxmlformats.org/officeDocument/2006/math">
                    <m:sSub>
                      <m:sSubPr>
                        <m:ctrlPr>
                          <a:rPr lang="en-NL" sz="1200" i="1" kern="1200">
                            <a:solidFill>
                              <a:schemeClr val="tx1"/>
                            </a:solidFill>
                            <a:latin typeface="Cambria Math" panose="02040503050406030204" pitchFamily="18" charset="0"/>
                            <a:ea typeface="+mn-ea"/>
                            <a:cs typeface="+mn-cs"/>
                          </a:rPr>
                        </m:ctrlPr>
                      </m:sSubPr>
                      <m:e>
                        <m:r>
                          <a:rPr lang="en-NL" sz="1200" i="1" kern="1200">
                            <a:solidFill>
                              <a:schemeClr val="tx1"/>
                            </a:solidFill>
                            <a:latin typeface="Cambria Math" panose="02040503050406030204" pitchFamily="18" charset="0"/>
                            <a:ea typeface="+mn-ea"/>
                            <a:cs typeface="+mn-cs"/>
                          </a:rPr>
                          <m:t>𝑆</m:t>
                        </m:r>
                      </m:e>
                      <m:sub>
                        <m:r>
                          <a:rPr lang="en-NL" sz="1200" i="0" kern="1200">
                            <a:solidFill>
                              <a:schemeClr val="tx1"/>
                            </a:solidFill>
                            <a:latin typeface="Cambria Math" panose="02040503050406030204" pitchFamily="18" charset="0"/>
                            <a:ea typeface="+mn-ea"/>
                            <a:cs typeface="+mn-cs"/>
                          </a:rPr>
                          <m:t>0</m:t>
                        </m:r>
                      </m:sub>
                    </m:sSub>
                  </m:oMath>
                </a14:m>
                <a:r>
                  <a:rPr lang="en-NL" dirty="0"/>
                  <a:t>says:</a:t>
                </a:r>
              </a:p>
              <a:p>
                <a:r>
                  <a:rPr lang="en-NL" dirty="0"/>
                  <a:t>“If I slightly change one physical parameter, what trajectory change do I see?”</a:t>
                </a:r>
              </a:p>
              <a:p>
                <a:endParaRPr lang="en-US" dirty="0"/>
              </a:p>
              <a:p>
                <a:endParaRPr lang="en-US" dirty="0"/>
              </a:p>
              <a:p>
                <a:r>
                  <a:rPr lang="en-NL" dirty="0"/>
                  <a:t>SAY</a:t>
                </a:r>
              </a:p>
              <a:p>
                <a:r>
                  <a:rPr lang="en-NL" dirty="0"/>
                  <a:t>• </a:t>
                </a:r>
                <a:r>
                  <a:rPr lang="en-NL" dirty="0" err="1"/>
                  <a:t>Gyorok</a:t>
                </a:r>
                <a:r>
                  <a:rPr lang="en-NL" dirty="0"/>
                  <a:t> starts from the measured state.</a:t>
                </a:r>
              </a:p>
              <a:p>
                <a:r>
                  <a:rPr lang="en-NL" dirty="0"/>
                  <a:t>• We do not measure the full state, so we estimate it.</a:t>
                </a:r>
              </a:p>
              <a:p>
                <a:r>
                  <a:rPr lang="en-NL" dirty="0"/>
                  <a:t>• Our encoder produces two different quantities with different roles:</a:t>
                </a:r>
              </a:p>
              <a:p>
                <a:pPr lvl="0"/>
                <a:r>
                  <a:rPr lang="en-NL" dirty="0"/>
                  <a:t>x̂₀,</a:t>
                </a:r>
                <a:r>
                  <a:rPr lang="en-NL" dirty="0" err="1"/>
                  <a:t>phys</a:t>
                </a:r>
                <a:endParaRPr lang="en-NL" dirty="0"/>
              </a:p>
              <a:p>
                <a:pPr lvl="0"/>
                <a:r>
                  <a:rPr lang="en-NL" dirty="0"/>
                  <a:t>ẑ₀</a:t>
                </a:r>
              </a:p>
              <a:p>
                <a:r>
                  <a:rPr lang="en-NL" dirty="0"/>
                  <a:t>PHYSICAL INITIAL STATE — x̂₀,</a:t>
                </a:r>
                <a:r>
                  <a:rPr lang="en-NL" dirty="0" err="1"/>
                  <a:t>phys</a:t>
                </a:r>
                <a:endParaRPr lang="en-NL" dirty="0"/>
              </a:p>
              <a:p>
                <a:r>
                  <a:rPr lang="en-NL" dirty="0"/>
                  <a:t>• Moving x̂₀,</a:t>
                </a:r>
                <a:r>
                  <a:rPr lang="en-NL" dirty="0" err="1"/>
                  <a:t>phys</a:t>
                </a:r>
                <a:r>
                  <a:rPr lang="en-NL" dirty="0"/>
                  <a:t> can imitate the effect of changing a physical parameter.</a:t>
                </a:r>
              </a:p>
              <a:p>
                <a:r>
                  <a:rPr lang="en-NL" dirty="0"/>
                  <a:t>• Therefore it is a nuisance direction.</a:t>
                </a:r>
              </a:p>
              <a:p>
                <a:r>
                  <a:rPr lang="en-NL" dirty="0"/>
                  <a:t>• These directions must be removed from the physical-response basis before we project the augmentation onto it.</a:t>
                </a:r>
              </a:p>
              <a:p>
                <a:r>
                  <a:rPr lang="en-NL" dirty="0"/>
                  <a:t>ADDITIONAL-STATE INITIALISATION — ẑ₀</a:t>
                </a:r>
              </a:p>
              <a:p>
                <a:r>
                  <a:rPr lang="en-NL" dirty="0"/>
                  <a:t>• Moving ẑ₀ is itself an augmentation effect.</a:t>
                </a:r>
              </a:p>
              <a:p>
                <a:r>
                  <a:rPr lang="en-NL" dirty="0"/>
                  <a:t>• Therefore it belongs inside d.</a:t>
                </a:r>
              </a:p>
              <a:p>
                <a:r>
                  <a:rPr lang="en-NL" dirty="0"/>
                  <a:t>• It should NOT be profiled out.</a:t>
                </a:r>
              </a:p>
              <a:p>
                <a:r>
                  <a:rPr lang="en-NL" dirty="0"/>
                  <a:t>THE WHOLE SLIDE IN ONE SENTENCE</a:t>
                </a:r>
              </a:p>
              <a:p>
                <a:r>
                  <a:rPr lang="en-NL" dirty="0"/>
                  <a:t>• Physical-state initialisation gets profiled out.</a:t>
                </a:r>
              </a:p>
              <a:p>
                <a:r>
                  <a:rPr lang="en-NL" dirty="0"/>
                  <a:t>• Additional-state initialisation gets counted in.</a:t>
                </a:r>
              </a:p>
              <a:p>
                <a:r>
                  <a:rPr lang="en-NL" dirty="0"/>
                  <a:t>WHY IT MATTERS</a:t>
                </a:r>
              </a:p>
              <a:p>
                <a:r>
                  <a:rPr lang="en-NL" dirty="0"/>
                  <a:t>• If we skip the profiling, the physical basis can contain directions that the encoder itself could have produced.</a:t>
                </a:r>
              </a:p>
              <a:p>
                <a:r>
                  <a:rPr lang="en-NL" dirty="0"/>
                  <a:t>• We could then penalise the augmentation for behaviour that actually belongs to the encoder.</a:t>
                </a:r>
              </a:p>
              <a:p>
                <a:r>
                  <a:rPr lang="en-NL" dirty="0"/>
                  <a:t>• Profiling removes that ownership ambiguity.</a:t>
                </a:r>
              </a:p>
              <a:p>
                <a:r>
                  <a:rPr lang="en-NL" dirty="0"/>
                  <a:t>IF ASKED — DID THIS MATTER NUMERICALLY?</a:t>
                </a:r>
              </a:p>
              <a:p>
                <a:r>
                  <a:rPr lang="en-NL" dirty="0"/>
                  <a:t>• Measured on the reference checkpoint:</a:t>
                </a:r>
              </a:p>
              <a:p>
                <a:pPr lvl="0"/>
                <a:r>
                  <a:rPr lang="en-NL" dirty="0"/>
                  <a:t>Encoder nuisance basis rank = 12</a:t>
                </a:r>
              </a:p>
              <a:p>
                <a:pPr lvl="0"/>
                <a:r>
                  <a:rPr lang="en-NL" dirty="0"/>
                  <a:t>Physical rank before profiling = 10</a:t>
                </a:r>
              </a:p>
              <a:p>
                <a:pPr lvl="0"/>
                <a:r>
                  <a:rPr lang="en-NL" dirty="0"/>
                  <a:t>Physical rank after profiling = 10</a:t>
                </a:r>
              </a:p>
              <a:p>
                <a:r>
                  <a:rPr lang="en-NL" dirty="0"/>
                  <a:t>• So profiling removed no physical directions at that checkpoint.</a:t>
                </a:r>
              </a:p>
              <a:p>
                <a:r>
                  <a:rPr lang="en-NL" dirty="0"/>
                  <a:t>HONEST CLAIM</a:t>
                </a:r>
              </a:p>
              <a:p>
                <a:r>
                  <a:rPr lang="en-NL" dirty="0"/>
                  <a:t>• The concern is real in principle.</a:t>
                </a:r>
              </a:p>
              <a:p>
                <a:r>
                  <a:rPr lang="en-NL" dirty="0"/>
                  <a:t>• But it was not binding on the checkpoint we measured.</a:t>
                </a:r>
              </a:p>
              <a:p>
                <a:r>
                  <a:rPr lang="en-NL" dirty="0"/>
                  <a:t>• So this should be described as:</a:t>
                </a:r>
              </a:p>
              <a:p>
                <a:pPr lvl="0"/>
                <a:r>
                  <a:rPr lang="en-NL" dirty="0"/>
                  <a:t>A structural safeguard.</a:t>
                </a:r>
              </a:p>
              <a:p>
                <a:pPr lvl="0"/>
                <a:r>
                  <a:rPr lang="en-NL" dirty="0"/>
                  <a:t>Not a demonstrated numerical correction in this experiment.</a:t>
                </a:r>
              </a:p>
              <a:p>
                <a:endParaRPr lang="en-NL" dirty="0"/>
              </a:p>
            </p:txBody>
          </p:sp>
        </mc:Choice>
        <mc:Fallback xmlns="">
          <p:sp>
            <p:nvSpPr>
              <p:cNvPr id="3" name="Notes Placeholder 2"/>
              <p:cNvSpPr>
                <a:spLocks noGrp="1"/>
              </p:cNvSpPr>
              <p:nvPr>
                <p:ph type="body" idx="1"/>
              </p:nvPr>
            </p:nvSpPr>
            <p:spPr/>
            <p:txBody>
              <a:bodyPr/>
              <a:lstStyle/>
              <a:p>
                <a:r>
                  <a:rPr lang="en-NL" dirty="0"/>
                  <a:t>remove the portion of the physical-parameter sensitivity that can already be explained by physical initial-state freedom.</a:t>
                </a:r>
                <a:endParaRPr lang="en-US" dirty="0"/>
              </a:p>
              <a:p>
                <a:endParaRPr lang="en-US" dirty="0"/>
              </a:p>
              <a:p>
                <a:r>
                  <a:rPr lang="en-NL" dirty="0"/>
                  <a:t>Sˉ0​ is simply </a:t>
                </a:r>
                <a:r>
                  <a:rPr lang="en-NL" sz="1200" i="0" kern="1200">
                    <a:solidFill>
                      <a:schemeClr val="tx1"/>
                    </a:solidFill>
                    <a:latin typeface="+mn-lt"/>
                    <a:ea typeface="+mn-ea"/>
                    <a:cs typeface="+mn-cs"/>
                  </a:rPr>
                  <a:t>𝑆_0</a:t>
                </a:r>
                <a:r>
                  <a:rPr lang="en-NL" dirty="0"/>
                  <a:t>after removing the part of each physical-parameter trajectory effect that could also be produced by changing the estimated physical initial state.</a:t>
                </a:r>
                <a:endParaRPr lang="en-US" dirty="0"/>
              </a:p>
              <a:p>
                <a:endParaRPr lang="en-US" dirty="0"/>
              </a:p>
              <a:p>
                <a:r>
                  <a:rPr lang="en-NL" dirty="0"/>
                  <a:t>and each column of </a:t>
                </a:r>
                <a:r>
                  <a:rPr lang="en-NL" sz="1200" i="0" kern="1200">
                    <a:solidFill>
                      <a:schemeClr val="tx1"/>
                    </a:solidFill>
                    <a:latin typeface="+mn-lt"/>
                    <a:ea typeface="+mn-ea"/>
                    <a:cs typeface="+mn-cs"/>
                  </a:rPr>
                  <a:t>𝑆_0</a:t>
                </a:r>
                <a:r>
                  <a:rPr lang="en-NL" dirty="0"/>
                  <a:t>says:</a:t>
                </a:r>
              </a:p>
              <a:p>
                <a:r>
                  <a:rPr lang="en-NL" dirty="0"/>
                  <a:t>“If I slightly change one physical parameter, what trajectory change do I see?”</a:t>
                </a:r>
              </a:p>
              <a:p>
                <a:endParaRPr lang="en-US" dirty="0"/>
              </a:p>
              <a:p>
                <a:endParaRPr lang="en-US" dirty="0"/>
              </a:p>
              <a:p>
                <a:r>
                  <a:rPr lang="en-NL" dirty="0"/>
                  <a:t>SAY</a:t>
                </a:r>
              </a:p>
              <a:p>
                <a:r>
                  <a:rPr lang="en-NL" dirty="0"/>
                  <a:t>• </a:t>
                </a:r>
                <a:r>
                  <a:rPr lang="en-NL" dirty="0" err="1"/>
                  <a:t>Gyorok</a:t>
                </a:r>
                <a:r>
                  <a:rPr lang="en-NL" dirty="0"/>
                  <a:t> starts from the measured state.</a:t>
                </a:r>
              </a:p>
              <a:p>
                <a:r>
                  <a:rPr lang="en-NL" dirty="0"/>
                  <a:t>• We do not measure the full state, so we estimate it.</a:t>
                </a:r>
              </a:p>
              <a:p>
                <a:r>
                  <a:rPr lang="en-NL" dirty="0"/>
                  <a:t>• Our encoder produces two different quantities with different roles:</a:t>
                </a:r>
              </a:p>
              <a:p>
                <a:pPr lvl="0"/>
                <a:r>
                  <a:rPr lang="en-NL" dirty="0"/>
                  <a:t>x̂₀,</a:t>
                </a:r>
                <a:r>
                  <a:rPr lang="en-NL" dirty="0" err="1"/>
                  <a:t>phys</a:t>
                </a:r>
                <a:endParaRPr lang="en-NL" dirty="0"/>
              </a:p>
              <a:p>
                <a:pPr lvl="0"/>
                <a:r>
                  <a:rPr lang="en-NL" dirty="0"/>
                  <a:t>ẑ₀</a:t>
                </a:r>
              </a:p>
              <a:p>
                <a:r>
                  <a:rPr lang="en-NL" dirty="0"/>
                  <a:t>PHYSICAL INITIAL STATE — x̂₀,</a:t>
                </a:r>
                <a:r>
                  <a:rPr lang="en-NL" dirty="0" err="1"/>
                  <a:t>phys</a:t>
                </a:r>
                <a:endParaRPr lang="en-NL" dirty="0"/>
              </a:p>
              <a:p>
                <a:r>
                  <a:rPr lang="en-NL" dirty="0"/>
                  <a:t>• Moving x̂₀,</a:t>
                </a:r>
                <a:r>
                  <a:rPr lang="en-NL" dirty="0" err="1"/>
                  <a:t>phys</a:t>
                </a:r>
                <a:r>
                  <a:rPr lang="en-NL" dirty="0"/>
                  <a:t> can imitate the effect of changing a physical parameter.</a:t>
                </a:r>
              </a:p>
              <a:p>
                <a:r>
                  <a:rPr lang="en-NL" dirty="0"/>
                  <a:t>• Therefore it is a nuisance direction.</a:t>
                </a:r>
              </a:p>
              <a:p>
                <a:r>
                  <a:rPr lang="en-NL" dirty="0"/>
                  <a:t>• These directions must be removed from the physical-response basis before we project the augmentation onto it.</a:t>
                </a:r>
              </a:p>
              <a:p>
                <a:r>
                  <a:rPr lang="en-NL" dirty="0"/>
                  <a:t>ADDITIONAL-STATE INITIALISATION — ẑ₀</a:t>
                </a:r>
              </a:p>
              <a:p>
                <a:r>
                  <a:rPr lang="en-NL" dirty="0"/>
                  <a:t>• Moving ẑ₀ is itself an augmentation effect.</a:t>
                </a:r>
              </a:p>
              <a:p>
                <a:r>
                  <a:rPr lang="en-NL" dirty="0"/>
                  <a:t>• Therefore it belongs inside d.</a:t>
                </a:r>
              </a:p>
              <a:p>
                <a:r>
                  <a:rPr lang="en-NL" dirty="0"/>
                  <a:t>• It should NOT be profiled out.</a:t>
                </a:r>
              </a:p>
              <a:p>
                <a:r>
                  <a:rPr lang="en-NL" dirty="0"/>
                  <a:t>THE WHOLE SLIDE IN ONE SENTENCE</a:t>
                </a:r>
              </a:p>
              <a:p>
                <a:r>
                  <a:rPr lang="en-NL" dirty="0"/>
                  <a:t>• Physical-state initialisation gets profiled out.</a:t>
                </a:r>
              </a:p>
              <a:p>
                <a:r>
                  <a:rPr lang="en-NL" dirty="0"/>
                  <a:t>• Additional-state initialisation gets counted in.</a:t>
                </a:r>
              </a:p>
              <a:p>
                <a:r>
                  <a:rPr lang="en-NL" dirty="0"/>
                  <a:t>WHY IT MATTERS</a:t>
                </a:r>
              </a:p>
              <a:p>
                <a:r>
                  <a:rPr lang="en-NL" dirty="0"/>
                  <a:t>• If we skip the profiling, the physical basis can contain directions that the encoder itself could have produced.</a:t>
                </a:r>
              </a:p>
              <a:p>
                <a:r>
                  <a:rPr lang="en-NL" dirty="0"/>
                  <a:t>• We could then penalise the augmentation for behaviour that actually belongs to the encoder.</a:t>
                </a:r>
              </a:p>
              <a:p>
                <a:r>
                  <a:rPr lang="en-NL" dirty="0"/>
                  <a:t>• Profiling removes that ownership ambiguity.</a:t>
                </a:r>
              </a:p>
              <a:p>
                <a:r>
                  <a:rPr lang="en-NL" dirty="0"/>
                  <a:t>IF ASKED — DID THIS MATTER NUMERICALLY?</a:t>
                </a:r>
              </a:p>
              <a:p>
                <a:r>
                  <a:rPr lang="en-NL" dirty="0"/>
                  <a:t>• Measured on the reference checkpoint:</a:t>
                </a:r>
              </a:p>
              <a:p>
                <a:pPr lvl="0"/>
                <a:r>
                  <a:rPr lang="en-NL" dirty="0"/>
                  <a:t>Encoder nuisance basis rank = 12</a:t>
                </a:r>
              </a:p>
              <a:p>
                <a:pPr lvl="0"/>
                <a:r>
                  <a:rPr lang="en-NL" dirty="0"/>
                  <a:t>Physical rank before profiling = 10</a:t>
                </a:r>
              </a:p>
              <a:p>
                <a:pPr lvl="0"/>
                <a:r>
                  <a:rPr lang="en-NL" dirty="0"/>
                  <a:t>Physical rank after profiling = 10</a:t>
                </a:r>
              </a:p>
              <a:p>
                <a:r>
                  <a:rPr lang="en-NL" dirty="0"/>
                  <a:t>• So profiling removed no physical directions at that checkpoint.</a:t>
                </a:r>
              </a:p>
              <a:p>
                <a:r>
                  <a:rPr lang="en-NL" dirty="0"/>
                  <a:t>HONEST CLAIM</a:t>
                </a:r>
              </a:p>
              <a:p>
                <a:r>
                  <a:rPr lang="en-NL" dirty="0"/>
                  <a:t>• The concern is real in principle.</a:t>
                </a:r>
              </a:p>
              <a:p>
                <a:r>
                  <a:rPr lang="en-NL" dirty="0"/>
                  <a:t>• But it was not binding on the checkpoint we measured.</a:t>
                </a:r>
              </a:p>
              <a:p>
                <a:r>
                  <a:rPr lang="en-NL" dirty="0"/>
                  <a:t>• So this should be described as:</a:t>
                </a:r>
              </a:p>
              <a:p>
                <a:pPr lvl="0"/>
                <a:r>
                  <a:rPr lang="en-NL" dirty="0"/>
                  <a:t>A structural safeguard.</a:t>
                </a:r>
              </a:p>
              <a:p>
                <a:pPr lvl="0"/>
                <a:r>
                  <a:rPr lang="en-NL" dirty="0"/>
                  <a:t>Not a demonstrated numerical correction in this experiment.</a:t>
                </a:r>
              </a:p>
              <a:p>
                <a:endParaRPr lang="en-NL" dirty="0"/>
              </a:p>
            </p:txBody>
          </p:sp>
        </mc:Fallback>
      </mc:AlternateContent>
      <p:sp>
        <p:nvSpPr>
          <p:cNvPr id="4" name="Slide Number Placeholder 3"/>
          <p:cNvSpPr>
            <a:spLocks noGrp="1"/>
          </p:cNvSpPr>
          <p:nvPr>
            <p:ph type="sldNum" sz="quarter" idx="5"/>
          </p:nvPr>
        </p:nvSpPr>
        <p:spPr/>
        <p:txBody>
          <a:bodyPr/>
          <a:lstStyle/>
          <a:p>
            <a:fld id="{3623F4C4-4D63-4FEA-9C67-9E0E7CA0EDA8}" type="slidenum">
              <a:rPr lang="en-NL" smtClean="0"/>
              <a:t>42</a:t>
            </a:fld>
            <a:endParaRPr lang="en-NL"/>
          </a:p>
        </p:txBody>
      </p:sp>
    </p:spTree>
    <p:extLst>
      <p:ext uri="{BB962C8B-B14F-4D97-AF65-F5344CB8AC3E}">
        <p14:creationId xmlns:p14="http://schemas.microsoft.com/office/powerpoint/2010/main" val="2087519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623F4C4-4D63-4FEA-9C67-9E0E7CA0EDA8}" type="slidenum">
              <a:rPr lang="en-NL" smtClean="0"/>
              <a:t>44</a:t>
            </a:fld>
            <a:endParaRPr lang="en-NL"/>
          </a:p>
        </p:txBody>
      </p:sp>
    </p:spTree>
    <p:extLst>
      <p:ext uri="{BB962C8B-B14F-4D97-AF65-F5344CB8AC3E}">
        <p14:creationId xmlns:p14="http://schemas.microsoft.com/office/powerpoint/2010/main" val="3421624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a:p>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46</a:t>
            </a:fld>
            <a:endParaRPr lang="en-NL"/>
          </a:p>
        </p:txBody>
      </p:sp>
    </p:spTree>
    <p:extLst>
      <p:ext uri="{BB962C8B-B14F-4D97-AF65-F5344CB8AC3E}">
        <p14:creationId xmlns:p14="http://schemas.microsoft.com/office/powerpoint/2010/main" val="4049985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47</a:t>
            </a:fld>
            <a:endParaRPr lang="en-NL"/>
          </a:p>
        </p:txBody>
      </p:sp>
    </p:spTree>
    <p:extLst>
      <p:ext uri="{BB962C8B-B14F-4D97-AF65-F5344CB8AC3E}">
        <p14:creationId xmlns:p14="http://schemas.microsoft.com/office/powerpoint/2010/main" val="212034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48</a:t>
            </a:fld>
            <a:endParaRPr lang="en-NL"/>
          </a:p>
        </p:txBody>
      </p:sp>
    </p:spTree>
    <p:extLst>
      <p:ext uri="{BB962C8B-B14F-4D97-AF65-F5344CB8AC3E}">
        <p14:creationId xmlns:p14="http://schemas.microsoft.com/office/powerpoint/2010/main" val="1129621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49</a:t>
            </a:fld>
            <a:endParaRPr lang="en-NL"/>
          </a:p>
        </p:txBody>
      </p:sp>
    </p:spTree>
    <p:extLst>
      <p:ext uri="{BB962C8B-B14F-4D97-AF65-F5344CB8AC3E}">
        <p14:creationId xmlns:p14="http://schemas.microsoft.com/office/powerpoint/2010/main" val="31036413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50</a:t>
            </a:fld>
            <a:endParaRPr lang="en-NL"/>
          </a:p>
        </p:txBody>
      </p:sp>
    </p:spTree>
    <p:extLst>
      <p:ext uri="{BB962C8B-B14F-4D97-AF65-F5344CB8AC3E}">
        <p14:creationId xmlns:p14="http://schemas.microsoft.com/office/powerpoint/2010/main" val="41368183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51</a:t>
            </a:fld>
            <a:endParaRPr lang="en-NL"/>
          </a:p>
        </p:txBody>
      </p:sp>
    </p:spTree>
    <p:extLst>
      <p:ext uri="{BB962C8B-B14F-4D97-AF65-F5344CB8AC3E}">
        <p14:creationId xmlns:p14="http://schemas.microsoft.com/office/powerpoint/2010/main" val="3177128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1C2D6-1A5D-2134-A20D-9E73DC3BD2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440EAEC5-3EDB-8815-00B8-76725EFD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CA5AAE85-C57B-1045-AB86-3B5F2B81CD8B}"/>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5" name="Footer Placeholder 4">
            <a:extLst>
              <a:ext uri="{FF2B5EF4-FFF2-40B4-BE49-F238E27FC236}">
                <a16:creationId xmlns:a16="http://schemas.microsoft.com/office/drawing/2014/main" id="{C506E85C-23C2-28D9-7BE5-C278953492F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BF269C7-806C-6A35-0D43-0F4B925422E4}"/>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1752507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E7048-E0FB-B81D-8C72-BE2110F6D365}"/>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D721F4B6-9A6C-D481-6D3F-72583D462C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D4A2F21-40A7-5840-EAD4-513982663346}"/>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5" name="Footer Placeholder 4">
            <a:extLst>
              <a:ext uri="{FF2B5EF4-FFF2-40B4-BE49-F238E27FC236}">
                <a16:creationId xmlns:a16="http://schemas.microsoft.com/office/drawing/2014/main" id="{40FFECFF-B81E-023F-F7DE-85C1036EBAD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D338313-8005-F5E9-A49A-B980732D6E64}"/>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74292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FC50-6D74-5220-4688-F3CEBE056A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82159C3A-097E-E539-8956-C2EBBE3803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DBBBB8-7691-BAB3-19A7-5D20AA90EA9B}"/>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5" name="Footer Placeholder 4">
            <a:extLst>
              <a:ext uri="{FF2B5EF4-FFF2-40B4-BE49-F238E27FC236}">
                <a16:creationId xmlns:a16="http://schemas.microsoft.com/office/drawing/2014/main" id="{736ABA70-060B-EB2B-3B37-C340C893627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252B038-E48A-87E4-EC9A-452C80F2F283}"/>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3034794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2D70-FB77-19F8-038D-67A0F17846A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91CAC351-8510-E909-4B34-9469AACD33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F16AE8CA-7C92-FC3E-41AA-6FD0832B05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06FD025-DFCF-3212-9EEE-61863BFBD7DF}"/>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6" name="Footer Placeholder 5">
            <a:extLst>
              <a:ext uri="{FF2B5EF4-FFF2-40B4-BE49-F238E27FC236}">
                <a16:creationId xmlns:a16="http://schemas.microsoft.com/office/drawing/2014/main" id="{FF81DB59-9A36-3AC3-CAC4-AA6FCA68599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BA37ECF-8B4E-B9EE-8928-8018D1187C2E}"/>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42695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DDDF1-DD18-10BB-C8B9-56642080155F}"/>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7F25692-831B-EDB6-316E-F28A1651EA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15841B-24E1-894D-B48F-881361C81A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59C37666-FE0E-05F8-B9D4-1A66AFAC54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04216C-4971-148C-CCED-AD0CC460CC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DF01C724-68B5-9D7B-AE05-DDD42004C043}"/>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8" name="Footer Placeholder 7">
            <a:extLst>
              <a:ext uri="{FF2B5EF4-FFF2-40B4-BE49-F238E27FC236}">
                <a16:creationId xmlns:a16="http://schemas.microsoft.com/office/drawing/2014/main" id="{E26F5AAE-336C-15E6-E635-1FF0C86F8049}"/>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272C8D2A-CEA5-D802-2A78-5C3637D7ACB0}"/>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3890330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54EB0-519E-FCC3-AAA6-B4ACB596F92B}"/>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7A186680-F2DD-F214-5F83-8763D6391194}"/>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4" name="Footer Placeholder 3">
            <a:extLst>
              <a:ext uri="{FF2B5EF4-FFF2-40B4-BE49-F238E27FC236}">
                <a16:creationId xmlns:a16="http://schemas.microsoft.com/office/drawing/2014/main" id="{C4B9EF14-2DBE-B65E-3007-2C9C349068FF}"/>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B4705671-9EAE-5385-9F2F-7A76A2F265C2}"/>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3395689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535B0D-F753-B30D-80C8-5CD0FA2FC34A}"/>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3" name="Footer Placeholder 2">
            <a:extLst>
              <a:ext uri="{FF2B5EF4-FFF2-40B4-BE49-F238E27FC236}">
                <a16:creationId xmlns:a16="http://schemas.microsoft.com/office/drawing/2014/main" id="{7AC7AB1C-B1F9-B5E1-B95A-F5822832A8BF}"/>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4DCDA796-EA56-B52D-107F-1C3999178F2B}"/>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53365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6D91B-B30B-6364-7137-9C17E08B64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7228A42B-4A11-E01F-2875-46F2FA5351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1B187F09-2302-1692-FABE-AEE99B2704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43FE28-5BD3-5DAA-68F9-844147F995B6}"/>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6" name="Footer Placeholder 5">
            <a:extLst>
              <a:ext uri="{FF2B5EF4-FFF2-40B4-BE49-F238E27FC236}">
                <a16:creationId xmlns:a16="http://schemas.microsoft.com/office/drawing/2014/main" id="{49F51201-08DF-EA4F-2308-6BF3E6C55D3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0591A27-E036-C6FC-F37A-6248C2DDF13B}"/>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534626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7DD90-2BCD-1588-64C7-C32609980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14431BFE-111C-8090-090D-BC6D8F6436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DB161FD8-26F0-D5F5-5065-555E0CA5E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24CABA-677C-F58C-FD85-D457E0344914}"/>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6" name="Footer Placeholder 5">
            <a:extLst>
              <a:ext uri="{FF2B5EF4-FFF2-40B4-BE49-F238E27FC236}">
                <a16:creationId xmlns:a16="http://schemas.microsoft.com/office/drawing/2014/main" id="{7BB48B8E-D010-4B5A-89C1-1DC15122F3A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9AC929BE-201D-A897-C23E-DA8A0564F0CD}"/>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848233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FCC8-D32C-DA12-7AA9-38620272C4C3}"/>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472F0A4-1B3D-0A16-543D-DD0DB87A8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49E546B3-99D0-0F9D-DB28-5F62BB8C52E0}"/>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5" name="Footer Placeholder 4">
            <a:extLst>
              <a:ext uri="{FF2B5EF4-FFF2-40B4-BE49-F238E27FC236}">
                <a16:creationId xmlns:a16="http://schemas.microsoft.com/office/drawing/2014/main" id="{4E18C5F1-7B1E-F921-E11B-2ECF7C5CF22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AC55FA6-9FC7-C090-4445-FCEEDB1C5F84}"/>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2605011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14AE56-E602-AEC5-0C26-5A1A48BCD8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14FD59D1-0D11-F2DE-5358-60DE23E831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41A550FD-7479-D3C1-069E-B0014CA97306}"/>
              </a:ext>
            </a:extLst>
          </p:cNvPr>
          <p:cNvSpPr>
            <a:spLocks noGrp="1"/>
          </p:cNvSpPr>
          <p:nvPr>
            <p:ph type="dt" sz="half" idx="10"/>
          </p:nvPr>
        </p:nvSpPr>
        <p:spPr/>
        <p:txBody>
          <a:bodyPr/>
          <a:lstStyle/>
          <a:p>
            <a:fld id="{642ADB3B-26E3-42EF-A035-4869B8D38958}" type="datetimeFigureOut">
              <a:rPr lang="en-NL" smtClean="0"/>
              <a:t>12/09/2026</a:t>
            </a:fld>
            <a:endParaRPr lang="en-NL"/>
          </a:p>
        </p:txBody>
      </p:sp>
      <p:sp>
        <p:nvSpPr>
          <p:cNvPr id="5" name="Footer Placeholder 4">
            <a:extLst>
              <a:ext uri="{FF2B5EF4-FFF2-40B4-BE49-F238E27FC236}">
                <a16:creationId xmlns:a16="http://schemas.microsoft.com/office/drawing/2014/main" id="{F337C8F2-8902-99AB-AA81-F60118D14C9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41C7EF2C-516E-EDF6-F738-EC19A207FD0F}"/>
              </a:ext>
            </a:extLst>
          </p:cNvPr>
          <p:cNvSpPr>
            <a:spLocks noGrp="1"/>
          </p:cNvSpPr>
          <p:nvPr>
            <p:ph type="sldNum" sz="quarter" idx="12"/>
          </p:nvPr>
        </p:nvSpPr>
        <p:spPr/>
        <p:txBody>
          <a:bodyPr/>
          <a:lstStyle/>
          <a:p>
            <a:fld id="{E4AABE8A-F61F-47B7-9E73-EDE6CA9D8CE5}" type="slidenum">
              <a:rPr lang="en-NL" smtClean="0"/>
              <a:t>‹#›</a:t>
            </a:fld>
            <a:endParaRPr lang="en-NL"/>
          </a:p>
        </p:txBody>
      </p:sp>
    </p:spTree>
    <p:extLst>
      <p:ext uri="{BB962C8B-B14F-4D97-AF65-F5344CB8AC3E}">
        <p14:creationId xmlns:p14="http://schemas.microsoft.com/office/powerpoint/2010/main" val="97142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7D66E9-2A60-4B59-5589-807228D928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C7955093-FDF8-DFEC-F07B-16C832E5EB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44F5473-87F5-1B01-2237-8650210EE6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2ADB3B-26E3-42EF-A035-4869B8D38958}" type="datetimeFigureOut">
              <a:rPr lang="en-NL" smtClean="0"/>
              <a:t>12/09/2026</a:t>
            </a:fld>
            <a:endParaRPr lang="en-NL"/>
          </a:p>
        </p:txBody>
      </p:sp>
      <p:sp>
        <p:nvSpPr>
          <p:cNvPr id="5" name="Footer Placeholder 4">
            <a:extLst>
              <a:ext uri="{FF2B5EF4-FFF2-40B4-BE49-F238E27FC236}">
                <a16:creationId xmlns:a16="http://schemas.microsoft.com/office/drawing/2014/main" id="{DFF1C34D-4481-9DE8-DD61-91FC930563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D023DD36-19F5-1E5B-C5E2-58B3C588E1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AABE8A-F61F-47B7-9E73-EDE6CA9D8CE5}" type="slidenum">
              <a:rPr lang="en-NL" smtClean="0"/>
              <a:t>‹#›</a:t>
            </a:fld>
            <a:endParaRPr lang="en-NL"/>
          </a:p>
        </p:txBody>
      </p:sp>
    </p:spTree>
    <p:extLst>
      <p:ext uri="{BB962C8B-B14F-4D97-AF65-F5344CB8AC3E}">
        <p14:creationId xmlns:p14="http://schemas.microsoft.com/office/powerpoint/2010/main" val="3924581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D6907-29EB-6A52-28AF-D4999F0AD31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317E37C-3283-B699-B204-3ABB3F546A53}"/>
              </a:ext>
            </a:extLst>
          </p:cNvPr>
          <p:cNvSpPr>
            <a:spLocks noGrp="1"/>
          </p:cNvSpPr>
          <p:nvPr>
            <p:ph idx="1"/>
          </p:nvPr>
        </p:nvSpPr>
        <p:spPr/>
        <p:txBody>
          <a:bodyPr/>
          <a:lstStyle/>
          <a:p>
            <a:r>
              <a:rPr lang="en-US" dirty="0"/>
              <a:t>Closed loop </a:t>
            </a:r>
            <a:r>
              <a:rPr lang="en-US" dirty="0" err="1"/>
              <a:t>checken</a:t>
            </a:r>
            <a:r>
              <a:rPr lang="en-US" dirty="0"/>
              <a:t> excitation in closed-loop </a:t>
            </a:r>
            <a:r>
              <a:rPr lang="en-US" dirty="0" err="1"/>
              <a:t>ipv</a:t>
            </a:r>
            <a:r>
              <a:rPr lang="en-US" dirty="0"/>
              <a:t> open-loop</a:t>
            </a:r>
            <a:endParaRPr lang="en-NL" dirty="0"/>
          </a:p>
        </p:txBody>
      </p:sp>
    </p:spTree>
    <p:extLst>
      <p:ext uri="{BB962C8B-B14F-4D97-AF65-F5344CB8AC3E}">
        <p14:creationId xmlns:p14="http://schemas.microsoft.com/office/powerpoint/2010/main" val="1100134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A380B-8565-725D-97F5-1B10D7FC024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A7DAF0F-A5FF-005C-FB35-E5A76E67E9B7}"/>
              </a:ext>
            </a:extLst>
          </p:cNvPr>
          <p:cNvSpPr>
            <a:spLocks noGrp="1"/>
          </p:cNvSpPr>
          <p:nvPr>
            <p:ph idx="1"/>
          </p:nvPr>
        </p:nvSpPr>
        <p:spPr/>
        <p:txBody>
          <a:bodyPr/>
          <a:lstStyle/>
          <a:p>
            <a:r>
              <a:rPr lang="en-US" dirty="0"/>
              <a:t>Nonlinear: </a:t>
            </a:r>
            <a:r>
              <a:rPr lang="en-US" dirty="0" err="1"/>
              <a:t>lpv</a:t>
            </a:r>
            <a:endParaRPr lang="en-US" dirty="0"/>
          </a:p>
          <a:p>
            <a:r>
              <a:rPr lang="en-US" dirty="0"/>
              <a:t>Marginally stable</a:t>
            </a:r>
          </a:p>
          <a:p>
            <a:r>
              <a:rPr lang="en-US" dirty="0"/>
              <a:t>Parameters need to define combinations because not full rank regressor matrix else</a:t>
            </a:r>
          </a:p>
          <a:p>
            <a:r>
              <a:rPr lang="en-US" dirty="0" err="1"/>
              <a:t>Theoriën</a:t>
            </a:r>
            <a:r>
              <a:rPr lang="en-US" dirty="0"/>
              <a:t> </a:t>
            </a:r>
            <a:r>
              <a:rPr lang="en-US" dirty="0" err="1"/>
              <a:t>vervallen</a:t>
            </a:r>
            <a:r>
              <a:rPr lang="en-US" dirty="0"/>
              <a:t> </a:t>
            </a:r>
            <a:r>
              <a:rPr lang="en-US" dirty="0" err="1"/>
              <a:t>o.a.</a:t>
            </a:r>
            <a:r>
              <a:rPr lang="en-US" dirty="0"/>
              <a:t> marginally stable</a:t>
            </a:r>
          </a:p>
          <a:p>
            <a:r>
              <a:rPr lang="en-US" dirty="0"/>
              <a:t>Linearization point</a:t>
            </a:r>
            <a:endParaRPr lang="en-NL" dirty="0"/>
          </a:p>
        </p:txBody>
      </p:sp>
    </p:spTree>
    <p:extLst>
      <p:ext uri="{BB962C8B-B14F-4D97-AF65-F5344CB8AC3E}">
        <p14:creationId xmlns:p14="http://schemas.microsoft.com/office/powerpoint/2010/main" val="1220498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13AF-1A12-ED80-DE59-4C5616720E68}"/>
              </a:ext>
            </a:extLst>
          </p:cNvPr>
          <p:cNvSpPr>
            <a:spLocks noGrp="1"/>
          </p:cNvSpPr>
          <p:nvPr>
            <p:ph type="title"/>
          </p:nvPr>
        </p:nvSpPr>
        <p:spPr/>
        <p:txBody>
          <a:bodyPr/>
          <a:lstStyle/>
          <a:p>
            <a:r>
              <a:rPr lang="en-US" dirty="0"/>
              <a:t>Meeting Outline</a:t>
            </a:r>
            <a:endParaRPr lang="en-NL" dirty="0"/>
          </a:p>
        </p:txBody>
      </p:sp>
      <p:sp>
        <p:nvSpPr>
          <p:cNvPr id="3" name="Content Placeholder 2">
            <a:extLst>
              <a:ext uri="{FF2B5EF4-FFF2-40B4-BE49-F238E27FC236}">
                <a16:creationId xmlns:a16="http://schemas.microsoft.com/office/drawing/2014/main" id="{A397E29C-EA55-3CD2-9E0C-4507D5578F3D}"/>
              </a:ext>
            </a:extLst>
          </p:cNvPr>
          <p:cNvSpPr>
            <a:spLocks noGrp="1"/>
          </p:cNvSpPr>
          <p:nvPr>
            <p:ph idx="1"/>
          </p:nvPr>
        </p:nvSpPr>
        <p:spPr/>
        <p:txBody>
          <a:bodyPr>
            <a:normAutofit fontScale="92500" lnSpcReduction="20000"/>
          </a:bodyPr>
          <a:lstStyle/>
          <a:p>
            <a:r>
              <a:rPr lang="en-US"/>
              <a:t>Closed-loop </a:t>
            </a:r>
            <a:r>
              <a:rPr lang="en-US" dirty="0"/>
              <a:t>training</a:t>
            </a:r>
          </a:p>
          <a:p>
            <a:pPr lvl="1"/>
            <a:r>
              <a:rPr lang="en-US" dirty="0"/>
              <a:t>Main issue was not a big enough error between system and baseline for the additional states</a:t>
            </a:r>
          </a:p>
          <a:p>
            <a:pPr lvl="2"/>
            <a:r>
              <a:rPr lang="en-US" dirty="0"/>
              <a:t>Additional states learning</a:t>
            </a:r>
          </a:p>
          <a:p>
            <a:r>
              <a:rPr lang="en-US" dirty="0"/>
              <a:t>Longer training runs</a:t>
            </a:r>
          </a:p>
          <a:p>
            <a:pPr lvl="1"/>
            <a:r>
              <a:rPr lang="en-US" dirty="0"/>
              <a:t>More complex neural network and more additional states </a:t>
            </a:r>
            <a:r>
              <a:rPr lang="en-US" dirty="0">
                <a:sym typeface="Wingdings" panose="05000000000000000000" pitchFamily="2" charset="2"/>
              </a:rPr>
              <a:t> no real benefit</a:t>
            </a:r>
          </a:p>
          <a:p>
            <a:r>
              <a:rPr lang="en-US" dirty="0">
                <a:sym typeface="Wingdings" panose="05000000000000000000" pitchFamily="2" charset="2"/>
              </a:rPr>
              <a:t>L-BFGS</a:t>
            </a:r>
          </a:p>
          <a:p>
            <a:r>
              <a:rPr lang="en-US" dirty="0">
                <a:sym typeface="Wingdings" panose="05000000000000000000" pitchFamily="2" charset="2"/>
              </a:rPr>
              <a:t>Transient issue</a:t>
            </a:r>
          </a:p>
          <a:p>
            <a:r>
              <a:rPr lang="en-US" dirty="0"/>
              <a:t>Orthogonality regularization</a:t>
            </a:r>
          </a:p>
          <a:p>
            <a:pPr lvl="1"/>
            <a:r>
              <a:rPr lang="en-US" dirty="0"/>
              <a:t>Implemented </a:t>
            </a:r>
            <a:r>
              <a:rPr lang="en-US" dirty="0" err="1"/>
              <a:t>Gyorok’s</a:t>
            </a:r>
            <a:r>
              <a:rPr lang="en-US" dirty="0"/>
              <a:t> approach</a:t>
            </a:r>
          </a:p>
          <a:p>
            <a:pPr lvl="2"/>
            <a:r>
              <a:rPr lang="en-US" dirty="0"/>
              <a:t>Required changes</a:t>
            </a:r>
          </a:p>
          <a:p>
            <a:pPr lvl="2"/>
            <a:r>
              <a:rPr lang="en-US" dirty="0"/>
              <a:t>Does not include additional states</a:t>
            </a:r>
          </a:p>
          <a:p>
            <a:pPr lvl="1"/>
            <a:r>
              <a:rPr lang="en-US" dirty="0"/>
              <a:t>Suggestions for extending </a:t>
            </a:r>
            <a:r>
              <a:rPr lang="en-US" dirty="0" err="1"/>
              <a:t>Gyoroks</a:t>
            </a:r>
            <a:r>
              <a:rPr lang="en-US" dirty="0"/>
              <a:t> framework</a:t>
            </a:r>
            <a:endParaRPr lang="en-NL" dirty="0"/>
          </a:p>
          <a:p>
            <a:endParaRPr lang="en-US" dirty="0">
              <a:sym typeface="Wingdings" panose="05000000000000000000" pitchFamily="2" charset="2"/>
            </a:endParaRPr>
          </a:p>
          <a:p>
            <a:endParaRPr lang="en-US" dirty="0"/>
          </a:p>
          <a:p>
            <a:pPr lvl="1"/>
            <a:endParaRPr lang="en-US" dirty="0"/>
          </a:p>
          <a:p>
            <a:pPr lvl="1"/>
            <a:endParaRPr lang="en-US" dirty="0"/>
          </a:p>
          <a:p>
            <a:pPr lvl="1"/>
            <a:endParaRPr lang="en-NL" dirty="0"/>
          </a:p>
        </p:txBody>
      </p:sp>
    </p:spTree>
    <p:extLst>
      <p:ext uri="{BB962C8B-B14F-4D97-AF65-F5344CB8AC3E}">
        <p14:creationId xmlns:p14="http://schemas.microsoft.com/office/powerpoint/2010/main" val="1102904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8A5D-1141-7FE0-083A-3A21CF72AD28}"/>
              </a:ext>
            </a:extLst>
          </p:cNvPr>
          <p:cNvSpPr>
            <a:spLocks noGrp="1"/>
          </p:cNvSpPr>
          <p:nvPr>
            <p:ph type="title"/>
          </p:nvPr>
        </p:nvSpPr>
        <p:spPr/>
        <p:txBody>
          <a:bodyPr/>
          <a:lstStyle/>
          <a:p>
            <a:r>
              <a:rPr lang="en-US" dirty="0"/>
              <a:t>System Error not big enough?</a:t>
            </a:r>
            <a:endParaRPr lang="en-NL" dirty="0"/>
          </a:p>
        </p:txBody>
      </p:sp>
      <p:sp>
        <p:nvSpPr>
          <p:cNvPr id="3" name="Content Placeholder 2">
            <a:extLst>
              <a:ext uri="{FF2B5EF4-FFF2-40B4-BE49-F238E27FC236}">
                <a16:creationId xmlns:a16="http://schemas.microsoft.com/office/drawing/2014/main" id="{1F3C35F5-A756-841B-47F2-5D6764F32A04}"/>
              </a:ext>
            </a:extLst>
          </p:cNvPr>
          <p:cNvSpPr>
            <a:spLocks noGrp="1"/>
          </p:cNvSpPr>
          <p:nvPr>
            <p:ph idx="1"/>
          </p:nvPr>
        </p:nvSpPr>
        <p:spPr/>
        <p:txBody>
          <a:bodyPr/>
          <a:lstStyle/>
          <a:p>
            <a:r>
              <a:rPr lang="en-US" dirty="0"/>
              <a:t>MSD payload mass previously: 10% and 90% respectively</a:t>
            </a:r>
          </a:p>
          <a:p>
            <a:r>
              <a:rPr lang="en-US" dirty="0"/>
              <a:t>For the following images 50%-50% split, and the excitation amplitude scaled 5x, taking the input force from 4.4e+01 N to 2.2e+02 N RMS on X1/X2 and 3.6e+01 N to 1.4e+02 N on Y.</a:t>
            </a:r>
            <a:endParaRPr lang="en-NL" dirty="0"/>
          </a:p>
        </p:txBody>
      </p:sp>
    </p:spTree>
    <p:extLst>
      <p:ext uri="{BB962C8B-B14F-4D97-AF65-F5344CB8AC3E}">
        <p14:creationId xmlns:p14="http://schemas.microsoft.com/office/powerpoint/2010/main" val="436403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2C287-E52F-7830-A9DE-B84CABAA441F}"/>
              </a:ext>
            </a:extLst>
          </p:cNvPr>
          <p:cNvSpPr>
            <a:spLocks noGrp="1"/>
          </p:cNvSpPr>
          <p:nvPr>
            <p:ph type="title"/>
          </p:nvPr>
        </p:nvSpPr>
        <p:spPr/>
        <p:txBody>
          <a:bodyPr/>
          <a:lstStyle/>
          <a:p>
            <a:r>
              <a:rPr lang="en-US" dirty="0"/>
              <a:t>Todo</a:t>
            </a:r>
            <a:endParaRPr lang="en-NL" dirty="0"/>
          </a:p>
        </p:txBody>
      </p:sp>
      <p:sp>
        <p:nvSpPr>
          <p:cNvPr id="3" name="Content Placeholder 2">
            <a:extLst>
              <a:ext uri="{FF2B5EF4-FFF2-40B4-BE49-F238E27FC236}">
                <a16:creationId xmlns:a16="http://schemas.microsoft.com/office/drawing/2014/main" id="{2BE3C4E1-60F6-6317-5750-DBE15A929DCE}"/>
              </a:ext>
            </a:extLst>
          </p:cNvPr>
          <p:cNvSpPr>
            <a:spLocks noGrp="1"/>
          </p:cNvSpPr>
          <p:nvPr>
            <p:ph idx="1"/>
          </p:nvPr>
        </p:nvSpPr>
        <p:spPr/>
        <p:txBody>
          <a:bodyPr/>
          <a:lstStyle/>
          <a:p>
            <a:r>
              <a:rPr lang="en-US" dirty="0"/>
              <a:t>Test arm with additional state</a:t>
            </a:r>
          </a:p>
          <a:p>
            <a:r>
              <a:rPr lang="en-US" dirty="0"/>
              <a:t>Text for results </a:t>
            </a:r>
            <a:r>
              <a:rPr lang="en-US" dirty="0" err="1"/>
              <a:t>ses</a:t>
            </a:r>
            <a:endParaRPr lang="en-US" dirty="0"/>
          </a:p>
          <a:p>
            <a:r>
              <a:rPr lang="en-US" dirty="0"/>
              <a:t>Run with actual proposed additional state orthogonality addition</a:t>
            </a:r>
            <a:endParaRPr lang="en-NL" dirty="0"/>
          </a:p>
        </p:txBody>
      </p:sp>
    </p:spTree>
    <p:extLst>
      <p:ext uri="{BB962C8B-B14F-4D97-AF65-F5344CB8AC3E}">
        <p14:creationId xmlns:p14="http://schemas.microsoft.com/office/powerpoint/2010/main" val="870925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D615-DEA8-966B-0A06-532F6EBB59D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D96536F-2195-6372-C3A4-E654B63AA24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B1149AE-2BD5-52FE-AE5E-4AFC3327B4BE}"/>
              </a:ext>
            </a:extLst>
          </p:cNvPr>
          <p:cNvPicPr>
            <a:picLocks noChangeAspect="1"/>
          </p:cNvPicPr>
          <p:nvPr/>
        </p:nvPicPr>
        <p:blipFill>
          <a:blip r:embed="rId2"/>
          <a:stretch>
            <a:fillRect/>
          </a:stretch>
        </p:blipFill>
        <p:spPr>
          <a:xfrm>
            <a:off x="747473" y="0"/>
            <a:ext cx="10697054" cy="6858000"/>
          </a:xfrm>
          <a:prstGeom prst="rect">
            <a:avLst/>
          </a:prstGeom>
        </p:spPr>
      </p:pic>
    </p:spTree>
    <p:extLst>
      <p:ext uri="{BB962C8B-B14F-4D97-AF65-F5344CB8AC3E}">
        <p14:creationId xmlns:p14="http://schemas.microsoft.com/office/powerpoint/2010/main" val="1764723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3B1B-826D-26B8-A895-3A33768896D5}"/>
              </a:ext>
            </a:extLst>
          </p:cNvPr>
          <p:cNvSpPr>
            <a:spLocks noGrp="1"/>
          </p:cNvSpPr>
          <p:nvPr>
            <p:ph type="title"/>
          </p:nvPr>
        </p:nvSpPr>
        <p:spPr/>
        <p:txBody>
          <a:bodyPr/>
          <a:lstStyle/>
          <a:p>
            <a:r>
              <a:rPr lang="en-US" dirty="0"/>
              <a:t>New setup – Dynamics moved</a:t>
            </a:r>
            <a:endParaRPr lang="en-NL" dirty="0"/>
          </a:p>
        </p:txBody>
      </p:sp>
      <p:sp>
        <p:nvSpPr>
          <p:cNvPr id="3" name="Content Placeholder 2">
            <a:extLst>
              <a:ext uri="{FF2B5EF4-FFF2-40B4-BE49-F238E27FC236}">
                <a16:creationId xmlns:a16="http://schemas.microsoft.com/office/drawing/2014/main" id="{4D721D95-0BED-2CDE-39DE-0C63305D2DC3}"/>
              </a:ext>
            </a:extLst>
          </p:cNvPr>
          <p:cNvSpPr>
            <a:spLocks noGrp="1"/>
          </p:cNvSpPr>
          <p:nvPr>
            <p:ph idx="1"/>
          </p:nvPr>
        </p:nvSpPr>
        <p:spPr/>
        <p:txBody>
          <a:bodyPr/>
          <a:lstStyle/>
          <a:p>
            <a:r>
              <a:rPr lang="en-US" dirty="0"/>
              <a:t>With the 50-50 split the resonance moved</a:t>
            </a:r>
          </a:p>
          <a:p>
            <a:r>
              <a:rPr lang="en-US" dirty="0"/>
              <a:t>New </a:t>
            </a:r>
            <a:r>
              <a:rPr lang="en-US" dirty="0" err="1"/>
              <a:t>multisine</a:t>
            </a:r>
            <a:r>
              <a:rPr lang="en-US" dirty="0"/>
              <a:t> band now spans:</a:t>
            </a:r>
          </a:p>
          <a:p>
            <a:pPr lvl="1"/>
            <a:r>
              <a:rPr lang="en-US" dirty="0"/>
              <a:t>140 to 230 Hz</a:t>
            </a:r>
            <a:endParaRPr lang="en-NL" dirty="0"/>
          </a:p>
        </p:txBody>
      </p:sp>
    </p:spTree>
    <p:extLst>
      <p:ext uri="{BB962C8B-B14F-4D97-AF65-F5344CB8AC3E}">
        <p14:creationId xmlns:p14="http://schemas.microsoft.com/office/powerpoint/2010/main" val="2193077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F8C8-3747-D258-97FA-261714D5101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423195B-43C4-AAAA-B03C-5C1EE6DFE56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EEFC814-5605-0781-8CD4-4C9619F49B4C}"/>
              </a:ext>
            </a:extLst>
          </p:cNvPr>
          <p:cNvPicPr>
            <a:picLocks noChangeAspect="1"/>
          </p:cNvPicPr>
          <p:nvPr/>
        </p:nvPicPr>
        <p:blipFill>
          <a:blip r:embed="rId2"/>
          <a:stretch>
            <a:fillRect/>
          </a:stretch>
        </p:blipFill>
        <p:spPr>
          <a:xfrm>
            <a:off x="1638300" y="0"/>
            <a:ext cx="8915400" cy="6858000"/>
          </a:xfrm>
          <a:prstGeom prst="rect">
            <a:avLst/>
          </a:prstGeom>
        </p:spPr>
      </p:pic>
    </p:spTree>
    <p:extLst>
      <p:ext uri="{BB962C8B-B14F-4D97-AF65-F5344CB8AC3E}">
        <p14:creationId xmlns:p14="http://schemas.microsoft.com/office/powerpoint/2010/main" val="221616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30730-F633-C631-6E10-92877ACFF0B6}"/>
              </a:ext>
            </a:extLst>
          </p:cNvPr>
          <p:cNvSpPr>
            <a:spLocks noGrp="1"/>
          </p:cNvSpPr>
          <p:nvPr>
            <p:ph type="title"/>
          </p:nvPr>
        </p:nvSpPr>
        <p:spPr/>
        <p:txBody>
          <a:bodyPr/>
          <a:lstStyle/>
          <a:p>
            <a:r>
              <a:rPr lang="en-US" dirty="0"/>
              <a:t>Capturing missing dynamics</a:t>
            </a:r>
            <a:br>
              <a:rPr lang="en-US" dirty="0"/>
            </a:br>
            <a:r>
              <a:rPr lang="en-US" dirty="0"/>
              <a:t>2 vs 8 additional states</a:t>
            </a:r>
            <a:endParaRPr lang="en-NL" dirty="0"/>
          </a:p>
        </p:txBody>
      </p:sp>
      <p:sp>
        <p:nvSpPr>
          <p:cNvPr id="3" name="Content Placeholder 2">
            <a:extLst>
              <a:ext uri="{FF2B5EF4-FFF2-40B4-BE49-F238E27FC236}">
                <a16:creationId xmlns:a16="http://schemas.microsoft.com/office/drawing/2014/main" id="{F180A25D-7F36-87B9-4594-D77D40F6C6B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994C70D-1EF5-D2F8-326A-817C07D0FE55}"/>
              </a:ext>
            </a:extLst>
          </p:cNvPr>
          <p:cNvPicPr>
            <a:picLocks noChangeAspect="1"/>
          </p:cNvPicPr>
          <p:nvPr/>
        </p:nvPicPr>
        <p:blipFill>
          <a:blip r:embed="rId2"/>
          <a:stretch>
            <a:fillRect/>
          </a:stretch>
        </p:blipFill>
        <p:spPr>
          <a:xfrm>
            <a:off x="0" y="1825625"/>
            <a:ext cx="12192000" cy="4963747"/>
          </a:xfrm>
          <a:prstGeom prst="rect">
            <a:avLst/>
          </a:prstGeom>
        </p:spPr>
      </p:pic>
    </p:spTree>
    <p:extLst>
      <p:ext uri="{BB962C8B-B14F-4D97-AF65-F5344CB8AC3E}">
        <p14:creationId xmlns:p14="http://schemas.microsoft.com/office/powerpoint/2010/main" val="3325455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F0A2-0052-25EF-EFD0-6185586D55E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611149A-C597-34B1-9309-8809ACD9578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2401886-6B4C-6D30-273E-FC7A9D56325D}"/>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3076958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46256-0F1A-15B5-A461-337B06A3A06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CC0ABD-27BC-6E08-EE33-1BB25D146DD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8FB50BB-1DD3-222E-90FD-B08A9E8F4B3D}"/>
              </a:ext>
            </a:extLst>
          </p:cNvPr>
          <p:cNvPicPr>
            <a:picLocks noChangeAspect="1"/>
          </p:cNvPicPr>
          <p:nvPr/>
        </p:nvPicPr>
        <p:blipFill>
          <a:blip r:embed="rId2"/>
          <a:stretch>
            <a:fillRect/>
          </a:stretch>
        </p:blipFill>
        <p:spPr>
          <a:xfrm>
            <a:off x="0" y="209419"/>
            <a:ext cx="12192000" cy="6439162"/>
          </a:xfrm>
          <a:prstGeom prst="rect">
            <a:avLst/>
          </a:prstGeom>
        </p:spPr>
      </p:pic>
    </p:spTree>
    <p:extLst>
      <p:ext uri="{BB962C8B-B14F-4D97-AF65-F5344CB8AC3E}">
        <p14:creationId xmlns:p14="http://schemas.microsoft.com/office/powerpoint/2010/main" val="2534888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4CEF2-58F3-96D7-1D94-EC6FCAE9A8B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4A5D81E-62F6-597D-BF7E-60A147F12B0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DBE479F-EBAE-94EC-37D1-1F474CDE08CD}"/>
              </a:ext>
            </a:extLst>
          </p:cNvPr>
          <p:cNvPicPr>
            <a:picLocks noChangeAspect="1"/>
          </p:cNvPicPr>
          <p:nvPr/>
        </p:nvPicPr>
        <p:blipFill>
          <a:blip r:embed="rId2"/>
          <a:stretch>
            <a:fillRect/>
          </a:stretch>
        </p:blipFill>
        <p:spPr>
          <a:xfrm>
            <a:off x="724206" y="0"/>
            <a:ext cx="10743587" cy="6858000"/>
          </a:xfrm>
          <a:prstGeom prst="rect">
            <a:avLst/>
          </a:prstGeom>
        </p:spPr>
      </p:pic>
    </p:spTree>
    <p:extLst>
      <p:ext uri="{BB962C8B-B14F-4D97-AF65-F5344CB8AC3E}">
        <p14:creationId xmlns:p14="http://schemas.microsoft.com/office/powerpoint/2010/main" val="1122669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61A3-52A1-0E08-7114-67AF4AD8416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809823C-F90B-02E6-68A7-0D634B1A558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32A9120-666A-3506-B9AC-60FB3E0D99F2}"/>
              </a:ext>
            </a:extLst>
          </p:cNvPr>
          <p:cNvPicPr>
            <a:picLocks noChangeAspect="1"/>
          </p:cNvPicPr>
          <p:nvPr/>
        </p:nvPicPr>
        <p:blipFill>
          <a:blip r:embed="rId2"/>
          <a:stretch>
            <a:fillRect/>
          </a:stretch>
        </p:blipFill>
        <p:spPr>
          <a:xfrm>
            <a:off x="0" y="209419"/>
            <a:ext cx="12192000" cy="6439162"/>
          </a:xfrm>
          <a:prstGeom prst="rect">
            <a:avLst/>
          </a:prstGeom>
        </p:spPr>
      </p:pic>
    </p:spTree>
    <p:extLst>
      <p:ext uri="{BB962C8B-B14F-4D97-AF65-F5344CB8AC3E}">
        <p14:creationId xmlns:p14="http://schemas.microsoft.com/office/powerpoint/2010/main" val="1290086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856E7-BD60-FA15-44E5-1CB600D01C9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9C786B3-CC4D-6A5D-F00C-480723AACAA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B4E954B-8AEE-2A6F-74A2-B1C8C1C4648B}"/>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1822476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5EAF-FEB4-420C-9906-57A615454D8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7CF537-0811-D3AC-27DB-59DEF8AC53F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0D27ABF-27E3-8940-6DC3-3AE59E13B4D9}"/>
              </a:ext>
            </a:extLst>
          </p:cNvPr>
          <p:cNvPicPr>
            <a:picLocks noChangeAspect="1"/>
          </p:cNvPicPr>
          <p:nvPr/>
        </p:nvPicPr>
        <p:blipFill>
          <a:blip r:embed="rId2"/>
          <a:stretch>
            <a:fillRect/>
          </a:stretch>
        </p:blipFill>
        <p:spPr>
          <a:xfrm>
            <a:off x="0" y="235725"/>
            <a:ext cx="12192000" cy="6386549"/>
          </a:xfrm>
          <a:prstGeom prst="rect">
            <a:avLst/>
          </a:prstGeom>
        </p:spPr>
      </p:pic>
    </p:spTree>
    <p:extLst>
      <p:ext uri="{BB962C8B-B14F-4D97-AF65-F5344CB8AC3E}">
        <p14:creationId xmlns:p14="http://schemas.microsoft.com/office/powerpoint/2010/main" val="4157036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0C1D0-E53B-2B88-3722-67CB38258CF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89F854A-D356-1E01-3A1F-E517DA2C19D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845411A-F534-75D0-D7B7-6A1B31F8C628}"/>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194777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3401-6C53-60AC-EE18-4F3B403818F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07C2F29-C497-3BE1-4E4B-AAC52CDD49E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8F929F7-9DA0-D6A9-0442-58626C139ACF}"/>
              </a:ext>
            </a:extLst>
          </p:cNvPr>
          <p:cNvPicPr>
            <a:picLocks noChangeAspect="1"/>
          </p:cNvPicPr>
          <p:nvPr/>
        </p:nvPicPr>
        <p:blipFill>
          <a:blip r:embed="rId2"/>
          <a:stretch>
            <a:fillRect/>
          </a:stretch>
        </p:blipFill>
        <p:spPr>
          <a:xfrm>
            <a:off x="0" y="152435"/>
            <a:ext cx="12192000" cy="6553129"/>
          </a:xfrm>
          <a:prstGeom prst="rect">
            <a:avLst/>
          </a:prstGeom>
        </p:spPr>
      </p:pic>
    </p:spTree>
    <p:extLst>
      <p:ext uri="{BB962C8B-B14F-4D97-AF65-F5344CB8AC3E}">
        <p14:creationId xmlns:p14="http://schemas.microsoft.com/office/powerpoint/2010/main" val="3327187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2328B-D22C-5717-3AC7-8F2F6D01AE2A}"/>
              </a:ext>
            </a:extLst>
          </p:cNvPr>
          <p:cNvSpPr>
            <a:spLocks noGrp="1"/>
          </p:cNvSpPr>
          <p:nvPr>
            <p:ph type="title"/>
          </p:nvPr>
        </p:nvSpPr>
        <p:spPr>
          <a:xfrm>
            <a:off x="134815" y="118941"/>
            <a:ext cx="4472354" cy="1325563"/>
          </a:xfrm>
        </p:spPr>
        <p:txBody>
          <a:bodyPr/>
          <a:lstStyle/>
          <a:p>
            <a:r>
              <a:rPr lang="en-US" dirty="0"/>
              <a:t>Model</a:t>
            </a:r>
            <a:endParaRPr lang="en-NL" dirty="0"/>
          </a:p>
        </p:txBody>
      </p:sp>
      <p:sp>
        <p:nvSpPr>
          <p:cNvPr id="3" name="Content Placeholder 2">
            <a:extLst>
              <a:ext uri="{FF2B5EF4-FFF2-40B4-BE49-F238E27FC236}">
                <a16:creationId xmlns:a16="http://schemas.microsoft.com/office/drawing/2014/main" id="{B49A0704-FC9E-2A7F-791C-BF47DBE25CD1}"/>
              </a:ext>
            </a:extLst>
          </p:cNvPr>
          <p:cNvSpPr>
            <a:spLocks noGrp="1"/>
          </p:cNvSpPr>
          <p:nvPr>
            <p:ph idx="1"/>
          </p:nvPr>
        </p:nvSpPr>
        <p:spPr>
          <a:xfrm>
            <a:off x="134815" y="1356702"/>
            <a:ext cx="4331677" cy="4351338"/>
          </a:xfrm>
        </p:spPr>
        <p:txBody>
          <a:bodyPr/>
          <a:lstStyle/>
          <a:p>
            <a:r>
              <a:rPr lang="en-US" dirty="0"/>
              <a:t>Currently only </a:t>
            </a:r>
            <a:r>
              <a:rPr lang="en-US" dirty="0" err="1"/>
              <a:t>multisine</a:t>
            </a:r>
            <a:r>
              <a:rPr lang="en-US" dirty="0"/>
              <a:t> excitation around the resonance from the absorber excited </a:t>
            </a:r>
            <a:endParaRPr lang="en-NL" dirty="0"/>
          </a:p>
        </p:txBody>
      </p:sp>
      <p:pic>
        <p:nvPicPr>
          <p:cNvPr id="5" name="Picture 4">
            <a:extLst>
              <a:ext uri="{FF2B5EF4-FFF2-40B4-BE49-F238E27FC236}">
                <a16:creationId xmlns:a16="http://schemas.microsoft.com/office/drawing/2014/main" id="{C4F11C59-2CD5-1541-87EA-19DECFC327C6}"/>
              </a:ext>
            </a:extLst>
          </p:cNvPr>
          <p:cNvPicPr>
            <a:picLocks noChangeAspect="1"/>
          </p:cNvPicPr>
          <p:nvPr/>
        </p:nvPicPr>
        <p:blipFill>
          <a:blip r:embed="rId2"/>
          <a:stretch>
            <a:fillRect/>
          </a:stretch>
        </p:blipFill>
        <p:spPr>
          <a:xfrm>
            <a:off x="4775160" y="0"/>
            <a:ext cx="7416840" cy="6858000"/>
          </a:xfrm>
          <a:prstGeom prst="rect">
            <a:avLst/>
          </a:prstGeom>
        </p:spPr>
      </p:pic>
    </p:spTree>
    <p:extLst>
      <p:ext uri="{BB962C8B-B14F-4D97-AF65-F5344CB8AC3E}">
        <p14:creationId xmlns:p14="http://schemas.microsoft.com/office/powerpoint/2010/main" val="2831078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EA707-BFFB-07BB-AA31-B5AF7403FD1B}"/>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C167DA1A-EE1A-31F8-67E3-0D1BD1CF07B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98BD9D2-AC02-889C-CF49-BA8373398869}"/>
              </a:ext>
            </a:extLst>
          </p:cNvPr>
          <p:cNvPicPr>
            <a:picLocks noChangeAspect="1"/>
          </p:cNvPicPr>
          <p:nvPr/>
        </p:nvPicPr>
        <p:blipFill>
          <a:blip r:embed="rId2"/>
          <a:stretch>
            <a:fillRect/>
          </a:stretch>
        </p:blipFill>
        <p:spPr>
          <a:xfrm>
            <a:off x="4823991" y="0"/>
            <a:ext cx="7368009" cy="6858000"/>
          </a:xfrm>
          <a:prstGeom prst="rect">
            <a:avLst/>
          </a:prstGeom>
        </p:spPr>
      </p:pic>
    </p:spTree>
    <p:extLst>
      <p:ext uri="{BB962C8B-B14F-4D97-AF65-F5344CB8AC3E}">
        <p14:creationId xmlns:p14="http://schemas.microsoft.com/office/powerpoint/2010/main" val="3546975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04A1C-4E19-7045-51EB-826040C7B686}"/>
              </a:ext>
            </a:extLst>
          </p:cNvPr>
          <p:cNvSpPr>
            <a:spLocks noGrp="1"/>
          </p:cNvSpPr>
          <p:nvPr>
            <p:ph type="title"/>
          </p:nvPr>
        </p:nvSpPr>
        <p:spPr>
          <a:xfrm>
            <a:off x="0" y="18255"/>
            <a:ext cx="10515600" cy="1325563"/>
          </a:xfrm>
        </p:spPr>
        <p:txBody>
          <a:bodyPr/>
          <a:lstStyle/>
          <a:p>
            <a:r>
              <a:rPr lang="en-US" dirty="0"/>
              <a:t>Additional states learning</a:t>
            </a:r>
            <a:endParaRPr lang="en-NL" dirty="0"/>
          </a:p>
        </p:txBody>
      </p:sp>
      <p:sp>
        <p:nvSpPr>
          <p:cNvPr id="3" name="Content Placeholder 2">
            <a:extLst>
              <a:ext uri="{FF2B5EF4-FFF2-40B4-BE49-F238E27FC236}">
                <a16:creationId xmlns:a16="http://schemas.microsoft.com/office/drawing/2014/main" id="{548BA695-1D9D-650D-B21F-B53594BCC029}"/>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584EA244-ABD4-A08D-9A20-47511CA22AA0}"/>
              </a:ext>
            </a:extLst>
          </p:cNvPr>
          <p:cNvPicPr>
            <a:picLocks noChangeAspect="1"/>
          </p:cNvPicPr>
          <p:nvPr/>
        </p:nvPicPr>
        <p:blipFill>
          <a:blip r:embed="rId2"/>
          <a:stretch>
            <a:fillRect/>
          </a:stretch>
        </p:blipFill>
        <p:spPr>
          <a:xfrm>
            <a:off x="0" y="1073793"/>
            <a:ext cx="12192000" cy="5855001"/>
          </a:xfrm>
          <a:prstGeom prst="rect">
            <a:avLst/>
          </a:prstGeom>
        </p:spPr>
      </p:pic>
    </p:spTree>
    <p:extLst>
      <p:ext uri="{BB962C8B-B14F-4D97-AF65-F5344CB8AC3E}">
        <p14:creationId xmlns:p14="http://schemas.microsoft.com/office/powerpoint/2010/main" val="3462204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198E-4D99-8240-1698-14E9A03E931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8710B5-5508-02B8-84B1-14ED6808558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B500F17-BA26-DB74-717A-9BBE0402DA8A}"/>
              </a:ext>
            </a:extLst>
          </p:cNvPr>
          <p:cNvPicPr>
            <a:picLocks noChangeAspect="1"/>
          </p:cNvPicPr>
          <p:nvPr/>
        </p:nvPicPr>
        <p:blipFill>
          <a:blip r:embed="rId2"/>
          <a:stretch>
            <a:fillRect/>
          </a:stretch>
        </p:blipFill>
        <p:spPr>
          <a:xfrm>
            <a:off x="0" y="501499"/>
            <a:ext cx="12192000" cy="5855001"/>
          </a:xfrm>
          <a:prstGeom prst="rect">
            <a:avLst/>
          </a:prstGeom>
        </p:spPr>
      </p:pic>
    </p:spTree>
    <p:extLst>
      <p:ext uri="{BB962C8B-B14F-4D97-AF65-F5344CB8AC3E}">
        <p14:creationId xmlns:p14="http://schemas.microsoft.com/office/powerpoint/2010/main" val="2440223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EE19-7710-C64F-AB30-C0A0211C59E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AC736AC-9238-6FEE-2310-7409BC13876D}"/>
              </a:ext>
            </a:extLst>
          </p:cNvPr>
          <p:cNvSpPr>
            <a:spLocks noGrp="1"/>
          </p:cNvSpPr>
          <p:nvPr>
            <p:ph idx="1"/>
          </p:nvPr>
        </p:nvSpPr>
        <p:spPr/>
        <p:txBody>
          <a:bodyPr/>
          <a:lstStyle/>
          <a:p>
            <a:endParaRPr lang="en-NL"/>
          </a:p>
        </p:txBody>
      </p:sp>
      <p:pic>
        <p:nvPicPr>
          <p:cNvPr id="9" name="Picture 8">
            <a:extLst>
              <a:ext uri="{FF2B5EF4-FFF2-40B4-BE49-F238E27FC236}">
                <a16:creationId xmlns:a16="http://schemas.microsoft.com/office/drawing/2014/main" id="{CB22B771-EDE4-9F19-7FA5-4F3436695609}"/>
              </a:ext>
            </a:extLst>
          </p:cNvPr>
          <p:cNvPicPr>
            <a:picLocks noChangeAspect="1"/>
          </p:cNvPicPr>
          <p:nvPr/>
        </p:nvPicPr>
        <p:blipFill>
          <a:blip r:embed="rId2"/>
          <a:stretch>
            <a:fillRect/>
          </a:stretch>
        </p:blipFill>
        <p:spPr>
          <a:xfrm>
            <a:off x="0" y="1121941"/>
            <a:ext cx="12192000" cy="4614118"/>
          </a:xfrm>
          <a:prstGeom prst="rect">
            <a:avLst/>
          </a:prstGeom>
        </p:spPr>
      </p:pic>
    </p:spTree>
    <p:extLst>
      <p:ext uri="{BB962C8B-B14F-4D97-AF65-F5344CB8AC3E}">
        <p14:creationId xmlns:p14="http://schemas.microsoft.com/office/powerpoint/2010/main" val="521342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307A-D320-9472-DF0C-F613CE6FE3A3}"/>
              </a:ext>
            </a:extLst>
          </p:cNvPr>
          <p:cNvSpPr>
            <a:spLocks noGrp="1"/>
          </p:cNvSpPr>
          <p:nvPr>
            <p:ph type="title"/>
          </p:nvPr>
        </p:nvSpPr>
        <p:spPr/>
        <p:txBody>
          <a:bodyPr/>
          <a:lstStyle/>
          <a:p>
            <a:r>
              <a:rPr lang="en-US" dirty="0"/>
              <a:t>Quasi-newton</a:t>
            </a:r>
            <a:br>
              <a:rPr lang="en-US" dirty="0"/>
            </a:br>
            <a:r>
              <a:rPr lang="en-US" dirty="0"/>
              <a:t>L-BFGS</a:t>
            </a:r>
            <a:endParaRPr lang="en-NL" dirty="0"/>
          </a:p>
        </p:txBody>
      </p:sp>
      <p:sp>
        <p:nvSpPr>
          <p:cNvPr id="3" name="Content Placeholder 2">
            <a:extLst>
              <a:ext uri="{FF2B5EF4-FFF2-40B4-BE49-F238E27FC236}">
                <a16:creationId xmlns:a16="http://schemas.microsoft.com/office/drawing/2014/main" id="{7802E01D-790A-0B0B-4182-F22D0E92F116}"/>
              </a:ext>
            </a:extLst>
          </p:cNvPr>
          <p:cNvSpPr>
            <a:spLocks noGrp="1"/>
          </p:cNvSpPr>
          <p:nvPr>
            <p:ph idx="1"/>
          </p:nvPr>
        </p:nvSpPr>
        <p:spPr/>
        <p:txBody>
          <a:bodyPr>
            <a:normAutofit/>
          </a:bodyPr>
          <a:lstStyle/>
          <a:p>
            <a:r>
              <a:rPr lang="en-US" dirty="0"/>
              <a:t>Run after </a:t>
            </a:r>
            <a:r>
              <a:rPr lang="en-US" dirty="0" err="1"/>
              <a:t>adam</a:t>
            </a:r>
            <a:r>
              <a:rPr lang="en-US" dirty="0"/>
              <a:t> optimizer</a:t>
            </a:r>
          </a:p>
          <a:p>
            <a:r>
              <a:rPr lang="en-US" dirty="0"/>
              <a:t>L-BFGS is useful to get the last percentages</a:t>
            </a:r>
          </a:p>
          <a:p>
            <a:r>
              <a:rPr lang="en-US" dirty="0"/>
              <a:t>Adam takes small fixed-size steps and doesn't know the shape of the valley it's in</a:t>
            </a:r>
          </a:p>
          <a:p>
            <a:r>
              <a:rPr lang="en-US" dirty="0"/>
              <a:t>L-BFGS estimates that shape from the last x gradients, so it knows which way is downhill and how far to go</a:t>
            </a:r>
          </a:p>
          <a:p>
            <a:r>
              <a:rPr lang="en-US" dirty="0"/>
              <a:t>That's useless far from the optimum, and very effective near it</a:t>
            </a:r>
          </a:p>
          <a:p>
            <a:pPr lvl="1"/>
            <a:r>
              <a:rPr lang="en-US" dirty="0"/>
              <a:t>Making it good at squeezing out the last few percentages</a:t>
            </a:r>
            <a:endParaRPr lang="en-NL" dirty="0"/>
          </a:p>
        </p:txBody>
      </p:sp>
    </p:spTree>
    <p:extLst>
      <p:ext uri="{BB962C8B-B14F-4D97-AF65-F5344CB8AC3E}">
        <p14:creationId xmlns:p14="http://schemas.microsoft.com/office/powerpoint/2010/main" val="3204310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71B4B0-37FB-14C2-15B5-2FCDDD6B9D2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5440468-1274-6F33-C0C5-EBE99A11A465}"/>
              </a:ext>
            </a:extLst>
          </p:cNvPr>
          <p:cNvPicPr>
            <a:picLocks noChangeAspect="1"/>
          </p:cNvPicPr>
          <p:nvPr/>
        </p:nvPicPr>
        <p:blipFill>
          <a:blip r:embed="rId2"/>
          <a:stretch>
            <a:fillRect/>
          </a:stretch>
        </p:blipFill>
        <p:spPr>
          <a:xfrm>
            <a:off x="2770803" y="0"/>
            <a:ext cx="9421197" cy="6858000"/>
          </a:xfrm>
          <a:prstGeom prst="rect">
            <a:avLst/>
          </a:prstGeom>
        </p:spPr>
      </p:pic>
      <p:sp>
        <p:nvSpPr>
          <p:cNvPr id="2" name="Title 1">
            <a:extLst>
              <a:ext uri="{FF2B5EF4-FFF2-40B4-BE49-F238E27FC236}">
                <a16:creationId xmlns:a16="http://schemas.microsoft.com/office/drawing/2014/main" id="{23167126-4AB5-C3F0-B1E2-9728EDA621BE}"/>
              </a:ext>
            </a:extLst>
          </p:cNvPr>
          <p:cNvSpPr>
            <a:spLocks noGrp="1"/>
          </p:cNvSpPr>
          <p:nvPr>
            <p:ph type="title"/>
          </p:nvPr>
        </p:nvSpPr>
        <p:spPr>
          <a:xfrm>
            <a:off x="0" y="18255"/>
            <a:ext cx="10515600" cy="1325563"/>
          </a:xfrm>
        </p:spPr>
        <p:txBody>
          <a:bodyPr/>
          <a:lstStyle/>
          <a:p>
            <a:r>
              <a:rPr lang="en-US" dirty="0"/>
              <a:t>Transient error</a:t>
            </a:r>
            <a:endParaRPr lang="en-NL" dirty="0"/>
          </a:p>
        </p:txBody>
      </p:sp>
    </p:spTree>
    <p:extLst>
      <p:ext uri="{BB962C8B-B14F-4D97-AF65-F5344CB8AC3E}">
        <p14:creationId xmlns:p14="http://schemas.microsoft.com/office/powerpoint/2010/main" val="1887859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ABDCA-A2E5-8479-8DC2-DD1A4E285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6295C-66AD-0F21-441D-A07F2682444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F0447FD-7F35-7D80-93F9-FDB65278EA90}"/>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6B745E1C-F365-A744-DE6E-84782B77819D}"/>
              </a:ext>
            </a:extLst>
          </p:cNvPr>
          <p:cNvPicPr>
            <a:picLocks noChangeAspect="1"/>
          </p:cNvPicPr>
          <p:nvPr/>
        </p:nvPicPr>
        <p:blipFill>
          <a:blip r:embed="rId2"/>
          <a:stretch>
            <a:fillRect/>
          </a:stretch>
        </p:blipFill>
        <p:spPr>
          <a:xfrm>
            <a:off x="1385401" y="0"/>
            <a:ext cx="9421197" cy="6858000"/>
          </a:xfrm>
          <a:prstGeom prst="rect">
            <a:avLst/>
          </a:prstGeom>
        </p:spPr>
      </p:pic>
      <p:pic>
        <p:nvPicPr>
          <p:cNvPr id="7" name="Picture 6">
            <a:extLst>
              <a:ext uri="{FF2B5EF4-FFF2-40B4-BE49-F238E27FC236}">
                <a16:creationId xmlns:a16="http://schemas.microsoft.com/office/drawing/2014/main" id="{33E45E3E-A0DF-45C7-ED64-52A38BAF8E36}"/>
              </a:ext>
            </a:extLst>
          </p:cNvPr>
          <p:cNvPicPr>
            <a:picLocks noChangeAspect="1"/>
          </p:cNvPicPr>
          <p:nvPr/>
        </p:nvPicPr>
        <p:blipFill>
          <a:blip r:embed="rId2"/>
          <a:srcRect l="27353" t="96148" r="24549"/>
          <a:stretch>
            <a:fillRect/>
          </a:stretch>
        </p:blipFill>
        <p:spPr>
          <a:xfrm>
            <a:off x="287290" y="6145878"/>
            <a:ext cx="11904710" cy="693994"/>
          </a:xfrm>
          <a:prstGeom prst="rect">
            <a:avLst/>
          </a:prstGeom>
        </p:spPr>
      </p:pic>
    </p:spTree>
    <p:extLst>
      <p:ext uri="{BB962C8B-B14F-4D97-AF65-F5344CB8AC3E}">
        <p14:creationId xmlns:p14="http://schemas.microsoft.com/office/powerpoint/2010/main" val="3299491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5DE85-C584-4769-0D2A-35908C7B42F6}"/>
              </a:ext>
            </a:extLst>
          </p:cNvPr>
          <p:cNvSpPr>
            <a:spLocks noGrp="1"/>
          </p:cNvSpPr>
          <p:nvPr>
            <p:ph type="title"/>
          </p:nvPr>
        </p:nvSpPr>
        <p:spPr/>
        <p:txBody>
          <a:bodyPr/>
          <a:lstStyle/>
          <a:p>
            <a:r>
              <a:rPr lang="en-US" dirty="0"/>
              <a:t>Transient: Error is focused in the first samples</a:t>
            </a:r>
            <a:br>
              <a:rPr lang="en-US" dirty="0"/>
            </a:br>
            <a:r>
              <a:rPr lang="en-US" dirty="0"/>
              <a:t>Encoder biased?</a:t>
            </a:r>
            <a:endParaRPr lang="en-NL" dirty="0"/>
          </a:p>
        </p:txBody>
      </p:sp>
      <p:sp>
        <p:nvSpPr>
          <p:cNvPr id="3" name="Content Placeholder 2">
            <a:extLst>
              <a:ext uri="{FF2B5EF4-FFF2-40B4-BE49-F238E27FC236}">
                <a16:creationId xmlns:a16="http://schemas.microsoft.com/office/drawing/2014/main" id="{142BEC6D-096F-F7B9-B68C-0E89CD15FB92}"/>
              </a:ext>
            </a:extLst>
          </p:cNvPr>
          <p:cNvSpPr>
            <a:spLocks noGrp="1"/>
          </p:cNvSpPr>
          <p:nvPr>
            <p:ph idx="1"/>
          </p:nvPr>
        </p:nvSpPr>
        <p:spPr/>
        <p:txBody>
          <a:bodyPr/>
          <a:lstStyle/>
          <a:p>
            <a:r>
              <a:rPr lang="en-US" dirty="0"/>
              <a:t>Does training prioritize the encoder initialization and due to the loss prevents us from learning the missing dynamics?</a:t>
            </a:r>
          </a:p>
          <a:p>
            <a:r>
              <a:rPr lang="en-US" dirty="0"/>
              <a:t>Mismatch between 12s validation and the 0.1s windows: validation only one encoder initialization over 12s</a:t>
            </a:r>
          </a:p>
          <a:p>
            <a:pPr lvl="1"/>
            <a:r>
              <a:rPr lang="en-US" dirty="0">
                <a:sym typeface="Wingdings" panose="05000000000000000000" pitchFamily="2" charset="2"/>
              </a:rPr>
              <a:t> Initial state becomes less important</a:t>
            </a:r>
          </a:p>
          <a:p>
            <a:r>
              <a:rPr lang="en-US" dirty="0">
                <a:sym typeface="Wingdings" panose="05000000000000000000" pitchFamily="2" charset="2"/>
              </a:rPr>
              <a:t>Proposed “burn in”  don’t include the first x amount of samples in the loss</a:t>
            </a:r>
          </a:p>
          <a:p>
            <a:pPr marL="0" indent="0">
              <a:buNone/>
            </a:pPr>
            <a:endParaRPr lang="en-NL" dirty="0"/>
          </a:p>
        </p:txBody>
      </p:sp>
    </p:spTree>
    <p:extLst>
      <p:ext uri="{BB962C8B-B14F-4D97-AF65-F5344CB8AC3E}">
        <p14:creationId xmlns:p14="http://schemas.microsoft.com/office/powerpoint/2010/main" val="78729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EF0A-1414-12AD-B11A-38C002090E5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01E32E-8BDA-8234-8DBE-47F5F64DAEBE}"/>
              </a:ext>
            </a:extLst>
          </p:cNvPr>
          <p:cNvSpPr>
            <a:spLocks noGrp="1"/>
          </p:cNvSpPr>
          <p:nvPr>
            <p:ph idx="1"/>
          </p:nvPr>
        </p:nvSpPr>
        <p:spPr/>
        <p:txBody>
          <a:bodyPr/>
          <a:lstStyle/>
          <a:p>
            <a:endParaRPr lang="en-NL" dirty="0"/>
          </a:p>
        </p:txBody>
      </p:sp>
      <p:pic>
        <p:nvPicPr>
          <p:cNvPr id="11" name="Picture 10">
            <a:extLst>
              <a:ext uri="{FF2B5EF4-FFF2-40B4-BE49-F238E27FC236}">
                <a16:creationId xmlns:a16="http://schemas.microsoft.com/office/drawing/2014/main" id="{18F26918-4D78-2787-179E-DF7AF1C8D58D}"/>
              </a:ext>
            </a:extLst>
          </p:cNvPr>
          <p:cNvPicPr>
            <a:picLocks noChangeAspect="1"/>
          </p:cNvPicPr>
          <p:nvPr/>
        </p:nvPicPr>
        <p:blipFill>
          <a:blip r:embed="rId3"/>
          <a:stretch>
            <a:fillRect/>
          </a:stretch>
        </p:blipFill>
        <p:spPr>
          <a:xfrm>
            <a:off x="0" y="777802"/>
            <a:ext cx="12192000" cy="5302396"/>
          </a:xfrm>
          <a:prstGeom prst="rect">
            <a:avLst/>
          </a:prstGeom>
        </p:spPr>
      </p:pic>
    </p:spTree>
    <p:extLst>
      <p:ext uri="{BB962C8B-B14F-4D97-AF65-F5344CB8AC3E}">
        <p14:creationId xmlns:p14="http://schemas.microsoft.com/office/powerpoint/2010/main" val="3188215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004D6-28BF-5459-D1C4-DA9BC6EE3A7E}"/>
              </a:ext>
            </a:extLst>
          </p:cNvPr>
          <p:cNvSpPr>
            <a:spLocks noGrp="1"/>
          </p:cNvSpPr>
          <p:nvPr>
            <p:ph type="title"/>
          </p:nvPr>
        </p:nvSpPr>
        <p:spPr/>
        <p:txBody>
          <a:bodyPr/>
          <a:lstStyle/>
          <a:p>
            <a:r>
              <a:rPr lang="en-US" dirty="0"/>
              <a:t>Question</a:t>
            </a:r>
            <a:br>
              <a:rPr lang="en-US" dirty="0"/>
            </a:br>
            <a:r>
              <a:rPr lang="en-US" dirty="0"/>
              <a:t>Not realistic simulation data</a:t>
            </a:r>
            <a:endParaRPr lang="en-NL" dirty="0"/>
          </a:p>
        </p:txBody>
      </p:sp>
      <p:sp>
        <p:nvSpPr>
          <p:cNvPr id="3" name="Content Placeholder 2">
            <a:extLst>
              <a:ext uri="{FF2B5EF4-FFF2-40B4-BE49-F238E27FC236}">
                <a16:creationId xmlns:a16="http://schemas.microsoft.com/office/drawing/2014/main" id="{31CD8AA8-B6EE-8469-FAD8-94899402BACD}"/>
              </a:ext>
            </a:extLst>
          </p:cNvPr>
          <p:cNvSpPr>
            <a:spLocks noGrp="1"/>
          </p:cNvSpPr>
          <p:nvPr>
            <p:ph idx="1"/>
          </p:nvPr>
        </p:nvSpPr>
        <p:spPr/>
        <p:txBody>
          <a:bodyPr/>
          <a:lstStyle/>
          <a:p>
            <a:r>
              <a:rPr lang="en-US" dirty="0"/>
              <a:t>For if I don’t get to work on the real data due to time limit I should make the current setup more difficult besides noise.</a:t>
            </a:r>
          </a:p>
          <a:p>
            <a:r>
              <a:rPr lang="en-US" dirty="0"/>
              <a:t>Nonlinear </a:t>
            </a:r>
            <a:r>
              <a:rPr lang="en-US" dirty="0">
                <a:sym typeface="Wingdings" panose="05000000000000000000" pitchFamily="2" charset="2"/>
              </a:rPr>
              <a:t> Add cubic spring</a:t>
            </a:r>
            <a:endParaRPr lang="en-US" dirty="0"/>
          </a:p>
          <a:p>
            <a:r>
              <a:rPr lang="en-US" dirty="0"/>
              <a:t>Would adding friction only in the simulation be a good idea?</a:t>
            </a:r>
          </a:p>
          <a:p>
            <a:r>
              <a:rPr lang="en-US" dirty="0"/>
              <a:t>The 50-50 mass split is not realistic perse, but I need a “big enough” error if I want the additional states to learn</a:t>
            </a:r>
          </a:p>
          <a:p>
            <a:pPr lvl="1"/>
            <a:r>
              <a:rPr lang="en-US" dirty="0"/>
              <a:t>(Not the ANN correction to the existing physical states)</a:t>
            </a:r>
            <a:endParaRPr lang="en-NL" dirty="0"/>
          </a:p>
        </p:txBody>
      </p:sp>
    </p:spTree>
    <p:extLst>
      <p:ext uri="{BB962C8B-B14F-4D97-AF65-F5344CB8AC3E}">
        <p14:creationId xmlns:p14="http://schemas.microsoft.com/office/powerpoint/2010/main" val="2478246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2B551-BA14-F4A1-F400-093E147FEDE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631A64A-6540-323B-63A1-17E7331EB433}"/>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004E5977-BE5D-7BDB-9ACE-739CF32A48A8}"/>
              </a:ext>
            </a:extLst>
          </p:cNvPr>
          <p:cNvPicPr>
            <a:picLocks noChangeAspect="1"/>
          </p:cNvPicPr>
          <p:nvPr/>
        </p:nvPicPr>
        <p:blipFill>
          <a:blip r:embed="rId3"/>
          <a:stretch>
            <a:fillRect/>
          </a:stretch>
        </p:blipFill>
        <p:spPr>
          <a:xfrm>
            <a:off x="0" y="0"/>
            <a:ext cx="12192000" cy="6877539"/>
          </a:xfrm>
          <a:prstGeom prst="rect">
            <a:avLst/>
          </a:prstGeom>
        </p:spPr>
      </p:pic>
    </p:spTree>
    <p:extLst>
      <p:ext uri="{BB962C8B-B14F-4D97-AF65-F5344CB8AC3E}">
        <p14:creationId xmlns:p14="http://schemas.microsoft.com/office/powerpoint/2010/main" val="9202050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14531-3692-0EE4-C9CC-3BEBF871EE1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0CB8C8D-6125-5796-DD58-A558DC50D98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563C6C5-8A95-D5CE-694B-6FF9A52FF347}"/>
              </a:ext>
            </a:extLst>
          </p:cNvPr>
          <p:cNvPicPr>
            <a:picLocks noChangeAspect="1"/>
          </p:cNvPicPr>
          <p:nvPr/>
        </p:nvPicPr>
        <p:blipFill>
          <a:blip r:embed="rId3"/>
          <a:stretch>
            <a:fillRect/>
          </a:stretch>
        </p:blipFill>
        <p:spPr>
          <a:xfrm>
            <a:off x="0" y="0"/>
            <a:ext cx="12192000" cy="6777055"/>
          </a:xfrm>
          <a:prstGeom prst="rect">
            <a:avLst/>
          </a:prstGeom>
        </p:spPr>
      </p:pic>
    </p:spTree>
    <p:extLst>
      <p:ext uri="{BB962C8B-B14F-4D97-AF65-F5344CB8AC3E}">
        <p14:creationId xmlns:p14="http://schemas.microsoft.com/office/powerpoint/2010/main" val="2879110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7B868-E910-5BA5-C1AD-AB79F18DDD0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2E285AC-FA68-70CF-F532-10B2AC11A57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05EC043-FA8D-6F0B-F4EF-E458AE8BC524}"/>
              </a:ext>
            </a:extLst>
          </p:cNvPr>
          <p:cNvPicPr>
            <a:picLocks noChangeAspect="1"/>
          </p:cNvPicPr>
          <p:nvPr/>
        </p:nvPicPr>
        <p:blipFill>
          <a:blip r:embed="rId3"/>
          <a:stretch>
            <a:fillRect/>
          </a:stretch>
        </p:blipFill>
        <p:spPr>
          <a:xfrm>
            <a:off x="89992" y="0"/>
            <a:ext cx="12012016" cy="6858000"/>
          </a:xfrm>
          <a:prstGeom prst="rect">
            <a:avLst/>
          </a:prstGeom>
        </p:spPr>
      </p:pic>
    </p:spTree>
    <p:extLst>
      <p:ext uri="{BB962C8B-B14F-4D97-AF65-F5344CB8AC3E}">
        <p14:creationId xmlns:p14="http://schemas.microsoft.com/office/powerpoint/2010/main" val="31614559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226D3-C81C-7A6C-3CC2-74D8D3EFEB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D129C4C-5313-340B-DB83-0F915694B7FB}"/>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3F3DC2D4-1428-5892-B539-6E71797A696B}"/>
              </a:ext>
            </a:extLst>
          </p:cNvPr>
          <p:cNvPicPr>
            <a:picLocks noChangeAspect="1"/>
          </p:cNvPicPr>
          <p:nvPr/>
        </p:nvPicPr>
        <p:blipFill>
          <a:blip r:embed="rId3"/>
          <a:stretch>
            <a:fillRect/>
          </a:stretch>
        </p:blipFill>
        <p:spPr>
          <a:xfrm>
            <a:off x="0" y="0"/>
            <a:ext cx="12192000" cy="6830019"/>
          </a:xfrm>
          <a:prstGeom prst="rect">
            <a:avLst/>
          </a:prstGeom>
        </p:spPr>
      </p:pic>
    </p:spTree>
    <p:extLst>
      <p:ext uri="{BB962C8B-B14F-4D97-AF65-F5344CB8AC3E}">
        <p14:creationId xmlns:p14="http://schemas.microsoft.com/office/powerpoint/2010/main" val="790469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DE012-80E2-2981-6240-EA1020430FF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1C2D707-F941-8F81-0449-715C861BFC31}"/>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602CD4C8-7BD6-3E6D-6D4F-8E2AB75AADC4}"/>
              </a:ext>
            </a:extLst>
          </p:cNvPr>
          <p:cNvPicPr>
            <a:picLocks noChangeAspect="1"/>
          </p:cNvPicPr>
          <p:nvPr/>
        </p:nvPicPr>
        <p:blipFill>
          <a:blip r:embed="rId3"/>
          <a:stretch>
            <a:fillRect/>
          </a:stretch>
        </p:blipFill>
        <p:spPr>
          <a:xfrm>
            <a:off x="0" y="0"/>
            <a:ext cx="12192000" cy="6945873"/>
          </a:xfrm>
          <a:prstGeom prst="rect">
            <a:avLst/>
          </a:prstGeom>
        </p:spPr>
      </p:pic>
    </p:spTree>
    <p:extLst>
      <p:ext uri="{BB962C8B-B14F-4D97-AF65-F5344CB8AC3E}">
        <p14:creationId xmlns:p14="http://schemas.microsoft.com/office/powerpoint/2010/main" val="24345920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D3F7-1B4F-D999-3B91-7510C47228D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E448A9-CD99-2742-E803-43DCBE441A5F}"/>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8FD634F0-D62D-F8C2-020C-1C62E87477F0}"/>
              </a:ext>
            </a:extLst>
          </p:cNvPr>
          <p:cNvPicPr>
            <a:picLocks noChangeAspect="1"/>
          </p:cNvPicPr>
          <p:nvPr/>
        </p:nvPicPr>
        <p:blipFill>
          <a:blip r:embed="rId3"/>
          <a:stretch>
            <a:fillRect/>
          </a:stretch>
        </p:blipFill>
        <p:spPr>
          <a:xfrm>
            <a:off x="0" y="0"/>
            <a:ext cx="12192000" cy="6830019"/>
          </a:xfrm>
          <a:prstGeom prst="rect">
            <a:avLst/>
          </a:prstGeom>
        </p:spPr>
      </p:pic>
    </p:spTree>
    <p:extLst>
      <p:ext uri="{BB962C8B-B14F-4D97-AF65-F5344CB8AC3E}">
        <p14:creationId xmlns:p14="http://schemas.microsoft.com/office/powerpoint/2010/main" val="36205923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E410F-C0A7-E229-00A2-4BAA46458E9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1AADE2-C068-AECF-57BF-1ACAF1C455D2}"/>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24C672DA-A121-554B-EB0C-D1C5FFD39C63}"/>
              </a:ext>
            </a:extLst>
          </p:cNvPr>
          <p:cNvPicPr>
            <a:picLocks noChangeAspect="1"/>
          </p:cNvPicPr>
          <p:nvPr/>
        </p:nvPicPr>
        <p:blipFill>
          <a:blip r:embed="rId3"/>
          <a:stretch>
            <a:fillRect/>
          </a:stretch>
        </p:blipFill>
        <p:spPr>
          <a:xfrm>
            <a:off x="0" y="0"/>
            <a:ext cx="12192000" cy="6819608"/>
          </a:xfrm>
          <a:prstGeom prst="rect">
            <a:avLst/>
          </a:prstGeom>
        </p:spPr>
      </p:pic>
    </p:spTree>
    <p:extLst>
      <p:ext uri="{BB962C8B-B14F-4D97-AF65-F5344CB8AC3E}">
        <p14:creationId xmlns:p14="http://schemas.microsoft.com/office/powerpoint/2010/main" val="12333030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F610D-8CD9-DC3A-B174-68CE560FA52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062E1D0-B38C-E062-9DCC-872F1801B8C0}"/>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EEC43AD4-BF78-60FC-EEB7-B0E350504CDB}"/>
              </a:ext>
            </a:extLst>
          </p:cNvPr>
          <p:cNvPicPr>
            <a:picLocks noChangeAspect="1"/>
          </p:cNvPicPr>
          <p:nvPr/>
        </p:nvPicPr>
        <p:blipFill>
          <a:blip r:embed="rId3"/>
          <a:stretch>
            <a:fillRect/>
          </a:stretch>
        </p:blipFill>
        <p:spPr>
          <a:xfrm>
            <a:off x="0" y="0"/>
            <a:ext cx="12192000" cy="6916113"/>
          </a:xfrm>
          <a:prstGeom prst="rect">
            <a:avLst/>
          </a:prstGeom>
        </p:spPr>
      </p:pic>
    </p:spTree>
    <p:extLst>
      <p:ext uri="{BB962C8B-B14F-4D97-AF65-F5344CB8AC3E}">
        <p14:creationId xmlns:p14="http://schemas.microsoft.com/office/powerpoint/2010/main" val="763231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CC38B-23C9-E8F5-34A1-8986E518813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27558BC-A1D7-B585-704D-7D5CDD9AB278}"/>
              </a:ext>
            </a:extLst>
          </p:cNvPr>
          <p:cNvSpPr>
            <a:spLocks noGrp="1"/>
          </p:cNvSpPr>
          <p:nvPr>
            <p:ph idx="1"/>
          </p:nvPr>
        </p:nvSpPr>
        <p:spPr/>
        <p:txBody>
          <a:bodyPr/>
          <a:lstStyle/>
          <a:p>
            <a:pPr marL="0" indent="0">
              <a:buNone/>
            </a:pPr>
            <a:endParaRPr lang="en-NL" dirty="0"/>
          </a:p>
        </p:txBody>
      </p:sp>
      <p:pic>
        <p:nvPicPr>
          <p:cNvPr id="5" name="Picture 4">
            <a:extLst>
              <a:ext uri="{FF2B5EF4-FFF2-40B4-BE49-F238E27FC236}">
                <a16:creationId xmlns:a16="http://schemas.microsoft.com/office/drawing/2014/main" id="{3B645C63-60EC-68ED-1D44-C1DC8E75521D}"/>
              </a:ext>
            </a:extLst>
          </p:cNvPr>
          <p:cNvPicPr>
            <a:picLocks noChangeAspect="1"/>
          </p:cNvPicPr>
          <p:nvPr/>
        </p:nvPicPr>
        <p:blipFill>
          <a:blip r:embed="rId2"/>
          <a:stretch>
            <a:fillRect/>
          </a:stretch>
        </p:blipFill>
        <p:spPr>
          <a:xfrm>
            <a:off x="0" y="1397000"/>
            <a:ext cx="12192000" cy="4064000"/>
          </a:xfrm>
          <a:prstGeom prst="rect">
            <a:avLst/>
          </a:prstGeom>
        </p:spPr>
      </p:pic>
    </p:spTree>
    <p:extLst>
      <p:ext uri="{BB962C8B-B14F-4D97-AF65-F5344CB8AC3E}">
        <p14:creationId xmlns:p14="http://schemas.microsoft.com/office/powerpoint/2010/main" val="36123048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362A-D155-FCD5-E293-316A0BBA86A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15172EA-42A7-34B4-6050-C61A72FC85D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4AD736A-CC46-AD9A-EFA0-A22EB833A137}"/>
              </a:ext>
            </a:extLst>
          </p:cNvPr>
          <p:cNvPicPr>
            <a:picLocks noChangeAspect="1"/>
          </p:cNvPicPr>
          <p:nvPr/>
        </p:nvPicPr>
        <p:blipFill>
          <a:blip r:embed="rId3"/>
          <a:stretch>
            <a:fillRect/>
          </a:stretch>
        </p:blipFill>
        <p:spPr>
          <a:xfrm>
            <a:off x="0" y="1397000"/>
            <a:ext cx="12192000" cy="4064000"/>
          </a:xfrm>
          <a:prstGeom prst="rect">
            <a:avLst/>
          </a:prstGeom>
        </p:spPr>
      </p:pic>
    </p:spTree>
    <p:extLst>
      <p:ext uri="{BB962C8B-B14F-4D97-AF65-F5344CB8AC3E}">
        <p14:creationId xmlns:p14="http://schemas.microsoft.com/office/powerpoint/2010/main" val="3576518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34594-F25C-6725-E7C3-7D396906168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B415F5F-D70E-9B3A-9B59-10F9F95F147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896DA5A-B3FA-16B0-BECF-862462389531}"/>
              </a:ext>
            </a:extLst>
          </p:cNvPr>
          <p:cNvPicPr>
            <a:picLocks noChangeAspect="1"/>
          </p:cNvPicPr>
          <p:nvPr/>
        </p:nvPicPr>
        <p:blipFill>
          <a:blip r:embed="rId3"/>
          <a:stretch>
            <a:fillRect/>
          </a:stretch>
        </p:blipFill>
        <p:spPr>
          <a:xfrm>
            <a:off x="0" y="0"/>
            <a:ext cx="12192000" cy="6788373"/>
          </a:xfrm>
          <a:prstGeom prst="rect">
            <a:avLst/>
          </a:prstGeom>
        </p:spPr>
      </p:pic>
    </p:spTree>
    <p:extLst>
      <p:ext uri="{BB962C8B-B14F-4D97-AF65-F5344CB8AC3E}">
        <p14:creationId xmlns:p14="http://schemas.microsoft.com/office/powerpoint/2010/main" val="22325768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FAE7-8525-BA3D-F0E1-551B1626B04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8837FA0-4783-0933-BDED-F788A6154A6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5599499-C70D-2623-5926-4FD9B3DED84F}"/>
              </a:ext>
            </a:extLst>
          </p:cNvPr>
          <p:cNvPicPr>
            <a:picLocks noChangeAspect="1"/>
          </p:cNvPicPr>
          <p:nvPr/>
        </p:nvPicPr>
        <p:blipFill>
          <a:blip r:embed="rId3"/>
          <a:stretch>
            <a:fillRect/>
          </a:stretch>
        </p:blipFill>
        <p:spPr>
          <a:xfrm>
            <a:off x="0" y="-1"/>
            <a:ext cx="12192000" cy="6764055"/>
          </a:xfrm>
          <a:prstGeom prst="rect">
            <a:avLst/>
          </a:prstGeom>
        </p:spPr>
      </p:pic>
    </p:spTree>
    <p:extLst>
      <p:ext uri="{BB962C8B-B14F-4D97-AF65-F5344CB8AC3E}">
        <p14:creationId xmlns:p14="http://schemas.microsoft.com/office/powerpoint/2010/main" val="7228288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8C635-FABC-930D-CCEE-6E295257637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DE7EC48-6F46-A287-0F97-FAD173701E5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0144309-3EF8-520B-A2A6-D7BD5F65AC4A}"/>
              </a:ext>
            </a:extLst>
          </p:cNvPr>
          <p:cNvPicPr>
            <a:picLocks noChangeAspect="1"/>
          </p:cNvPicPr>
          <p:nvPr/>
        </p:nvPicPr>
        <p:blipFill>
          <a:blip r:embed="rId3"/>
          <a:stretch>
            <a:fillRect/>
          </a:stretch>
        </p:blipFill>
        <p:spPr>
          <a:xfrm>
            <a:off x="0" y="0"/>
            <a:ext cx="12192000" cy="6580140"/>
          </a:xfrm>
          <a:prstGeom prst="rect">
            <a:avLst/>
          </a:prstGeom>
        </p:spPr>
      </p:pic>
    </p:spTree>
    <p:extLst>
      <p:ext uri="{BB962C8B-B14F-4D97-AF65-F5344CB8AC3E}">
        <p14:creationId xmlns:p14="http://schemas.microsoft.com/office/powerpoint/2010/main" val="1004673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7F12A-CAD4-3A56-BC9E-36F33142CDA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CEE95F-801E-D848-17E2-A8262F0F4CF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1BFD0A3-99ED-EF33-8F45-5A707755D1D2}"/>
              </a:ext>
            </a:extLst>
          </p:cNvPr>
          <p:cNvPicPr>
            <a:picLocks noChangeAspect="1"/>
          </p:cNvPicPr>
          <p:nvPr/>
        </p:nvPicPr>
        <p:blipFill>
          <a:blip r:embed="rId3"/>
          <a:stretch>
            <a:fillRect/>
          </a:stretch>
        </p:blipFill>
        <p:spPr>
          <a:xfrm>
            <a:off x="0" y="0"/>
            <a:ext cx="12192000" cy="6810704"/>
          </a:xfrm>
          <a:prstGeom prst="rect">
            <a:avLst/>
          </a:prstGeom>
        </p:spPr>
      </p:pic>
    </p:spTree>
    <p:extLst>
      <p:ext uri="{BB962C8B-B14F-4D97-AF65-F5344CB8AC3E}">
        <p14:creationId xmlns:p14="http://schemas.microsoft.com/office/powerpoint/2010/main" val="42765805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2B96-6159-271C-FA54-4F06251AD3D7}"/>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C219B3B1-6053-D0FD-FFA0-DBBBC8D60C6D}"/>
              </a:ext>
            </a:extLst>
          </p:cNvPr>
          <p:cNvSpPr>
            <a:spLocks noGrp="1"/>
          </p:cNvSpPr>
          <p:nvPr>
            <p:ph idx="1"/>
          </p:nvPr>
        </p:nvSpPr>
        <p:spPr/>
        <p:txBody>
          <a:bodyPr/>
          <a:lstStyle/>
          <a:p>
            <a:r>
              <a:rPr lang="en-US" dirty="0"/>
              <a:t>Expand orthogonality for additional states</a:t>
            </a:r>
          </a:p>
          <a:p>
            <a:r>
              <a:rPr lang="en-US" dirty="0"/>
              <a:t>BLA + Full </a:t>
            </a:r>
            <a:r>
              <a:rPr lang="en-US" dirty="0" err="1"/>
              <a:t>blackbox</a:t>
            </a:r>
            <a:r>
              <a:rPr lang="en-US" dirty="0"/>
              <a:t> </a:t>
            </a:r>
            <a:r>
              <a:rPr lang="en-US" dirty="0">
                <a:sym typeface="Wingdings" panose="05000000000000000000" pitchFamily="2" charset="2"/>
              </a:rPr>
              <a:t> comparison</a:t>
            </a:r>
            <a:endParaRPr lang="en-US" dirty="0"/>
          </a:p>
          <a:p>
            <a:r>
              <a:rPr lang="en-US" dirty="0"/>
              <a:t>Plan meeting next week</a:t>
            </a:r>
          </a:p>
        </p:txBody>
      </p:sp>
    </p:spTree>
    <p:extLst>
      <p:ext uri="{BB962C8B-B14F-4D97-AF65-F5344CB8AC3E}">
        <p14:creationId xmlns:p14="http://schemas.microsoft.com/office/powerpoint/2010/main" val="1277950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BE3A7-5554-546E-1113-ABC290076AB3}"/>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4359FBE9-0358-7A7A-6277-54EC1B201A1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5935" y="0"/>
            <a:ext cx="10897865" cy="6858000"/>
          </a:xfrm>
          <a:prstGeom prst="rect">
            <a:avLst/>
          </a:prstGeom>
        </p:spPr>
      </p:pic>
      <p:sp>
        <p:nvSpPr>
          <p:cNvPr id="6" name="TextBox 5">
            <a:extLst>
              <a:ext uri="{FF2B5EF4-FFF2-40B4-BE49-F238E27FC236}">
                <a16:creationId xmlns:a16="http://schemas.microsoft.com/office/drawing/2014/main" id="{F77D6442-3CFD-B255-876B-BD3101A4B6A5}"/>
              </a:ext>
            </a:extLst>
          </p:cNvPr>
          <p:cNvSpPr txBox="1"/>
          <p:nvPr/>
        </p:nvSpPr>
        <p:spPr>
          <a:xfrm>
            <a:off x="34133" y="-79047"/>
            <a:ext cx="1608133" cy="523220"/>
          </a:xfrm>
          <a:prstGeom prst="rect">
            <a:avLst/>
          </a:prstGeom>
          <a:noFill/>
        </p:spPr>
        <p:txBody>
          <a:bodyPr wrap="none" rtlCol="0">
            <a:spAutoFit/>
          </a:bodyPr>
          <a:lstStyle/>
          <a:p>
            <a:r>
              <a:rPr lang="en-US" sz="2800" b="1" dirty="0"/>
              <a:t>Planning</a:t>
            </a:r>
            <a:endParaRPr lang="en-NL" sz="2800" b="1" dirty="0"/>
          </a:p>
        </p:txBody>
      </p:sp>
    </p:spTree>
    <p:extLst>
      <p:ext uri="{BB962C8B-B14F-4D97-AF65-F5344CB8AC3E}">
        <p14:creationId xmlns:p14="http://schemas.microsoft.com/office/powerpoint/2010/main" val="13088898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049D-9D15-8E3D-E293-D7266D31D3E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47BD537-61DA-B5A0-9889-EC46B785E84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13279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86020-5532-96BD-3444-C93CF3BB078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62DE6D-DC02-8383-66E3-6830164D473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375AFA0-CC10-F1CB-3046-3ECC4943D51A}"/>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25881438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7038-8089-FCE1-3A2D-F5AB09A566A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7DF6B34-78D6-0AA0-CCA7-1D7223D83F7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7A2D961-115D-FB8A-9D48-DAD813336C48}"/>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30805464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28645970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87DC70C6-F08D-306D-6E22-0884C371A4BA}"/>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32231350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17BA-333B-CF7E-9C61-BC1AC07512B7}"/>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7E2A4774-155F-CBC9-B73D-903FB490CE4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DDBF2FB-7752-EB77-2931-2A8D6437CCAC}"/>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458560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16B8-AD6A-0D8A-9F78-CA382584C66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76680DF-20AE-E6D2-E1A4-C7135627A9DC}"/>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490260BC-49DF-CF91-BE1F-FB436B303431}"/>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3C7288B5-1024-0E73-3A05-D47920E71FD1}"/>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Tree>
    <p:extLst>
      <p:ext uri="{BB962C8B-B14F-4D97-AF65-F5344CB8AC3E}">
        <p14:creationId xmlns:p14="http://schemas.microsoft.com/office/powerpoint/2010/main" val="1292336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B609-0B4C-7B94-5FE3-EE97C1629CE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24C9932-661F-ABF9-4EBF-040C539CD81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9044893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BFAF-7B1B-142B-7E38-890FDE35B4B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D9FD35F-DAF4-252E-17A3-C35A0B36B062}"/>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6038464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BF5B1-BEE3-21AE-A19C-514DE7C3CDD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E8ED8D-B939-DD87-7B96-3D284756C294}"/>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0374301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37465-E946-6EA8-E91E-834E61E887E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601C34F-8764-9108-3D06-AD16926FA01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3110980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93178-B0E7-0F9A-E77C-A8BC2307A82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084DFD7-99DD-1CE0-DA1F-E70147D316E4}"/>
              </a:ext>
            </a:extLst>
          </p:cNvPr>
          <p:cNvSpPr>
            <a:spLocks noGrp="1"/>
          </p:cNvSpPr>
          <p:nvPr>
            <p:ph idx="1"/>
          </p:nvPr>
        </p:nvSpPr>
        <p:spPr/>
        <p:txBody>
          <a:bodyPr/>
          <a:lstStyle/>
          <a:p>
            <a:r>
              <a:rPr lang="en-NL" dirty="0"/>
              <a:t>what are the main differences between us and </a:t>
            </a:r>
            <a:r>
              <a:rPr lang="en-NL" dirty="0" err="1"/>
              <a:t>gyorok</a:t>
            </a:r>
            <a:r>
              <a:rPr lang="en-NL" dirty="0"/>
              <a:t> in this implementation?</a:t>
            </a:r>
          </a:p>
          <a:p>
            <a:r>
              <a:rPr lang="en-NL" dirty="0"/>
              <a:t>he uses real states right and no subnet to estimate, or am </a:t>
            </a:r>
            <a:r>
              <a:rPr lang="en-NL" dirty="0" err="1"/>
              <a:t>i</a:t>
            </a:r>
            <a:r>
              <a:rPr lang="en-NL" dirty="0"/>
              <a:t> wrong?</a:t>
            </a:r>
          </a:p>
          <a:p>
            <a:r>
              <a:rPr lang="en-NL" dirty="0"/>
              <a:t>what else is important to mention? closed-loop is one part.</a:t>
            </a:r>
          </a:p>
          <a:p>
            <a:endParaRPr lang="en-NL" dirty="0"/>
          </a:p>
        </p:txBody>
      </p:sp>
    </p:spTree>
    <p:extLst>
      <p:ext uri="{BB962C8B-B14F-4D97-AF65-F5344CB8AC3E}">
        <p14:creationId xmlns:p14="http://schemas.microsoft.com/office/powerpoint/2010/main" val="23626604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063B6-3887-95EB-FE42-967109353CE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9B111C1-0E2C-E8B3-64A4-75C3CD544644}"/>
              </a:ext>
            </a:extLst>
          </p:cNvPr>
          <p:cNvSpPr>
            <a:spLocks noGrp="1"/>
          </p:cNvSpPr>
          <p:nvPr>
            <p:ph idx="1"/>
          </p:nvPr>
        </p:nvSpPr>
        <p:spPr/>
        <p:txBody>
          <a:bodyPr/>
          <a:lstStyle/>
          <a:p>
            <a:endParaRPr lang="en-N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F76AD34-C07B-2089-BFE6-1F683FF3844D}"/>
                  </a:ext>
                </a:extLst>
              </p:cNvPr>
              <p:cNvSpPr txBox="1"/>
              <p:nvPr/>
            </p:nvSpPr>
            <p:spPr>
              <a:xfrm>
                <a:off x="3642676" y="1825625"/>
                <a:ext cx="6301405" cy="894732"/>
              </a:xfrm>
              <a:prstGeom prst="rect">
                <a:avLst/>
              </a:prstGeom>
              <a:noFill/>
            </p:spPr>
            <p:txBody>
              <a:bodyPr wrap="none" lIns="0" tIns="0" rIns="0" bIns="0" rtlCol="0">
                <a:spAutoFit/>
              </a:bodyPr>
              <a:lstStyle/>
              <a:p>
                <a:pPr/>
                <a14:m>
                  <m:oMathPara xmlns:m="http://schemas.openxmlformats.org/officeDocument/2006/math">
                    <m:oMath>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𝑜𝑟𝑡ℎ</m:t>
                          </m:r>
                        </m:sup>
                      </m:sSup>
                      <m:r>
                        <a:rPr lang="de-DE" sz="3200" i="1">
                          <a:latin typeface="Cambria Math" panose="02040503050406030204" pitchFamily="18" charset="0"/>
                        </a:rPr>
                        <m:t>=</m:t>
                      </m:r>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𝑠𝑒𝑐</m:t>
                          </m:r>
                        </m:sup>
                      </m:sSup>
                      <m:r>
                        <a:rPr lang="de-DE" sz="3200" i="1">
                          <a:latin typeface="Cambria Math" panose="02040503050406030204" pitchFamily="18" charset="0"/>
                        </a:rPr>
                        <m:t>+</m:t>
                      </m:r>
                      <m:r>
                        <a:rPr lang="de-DE" sz="3200" i="1">
                          <a:latin typeface="Cambria Math" panose="02040503050406030204" pitchFamily="18" charset="0"/>
                        </a:rPr>
                        <m:t>𝛽</m:t>
                      </m:r>
                      <m:sSubSup>
                        <m:sSubSupPr>
                          <m:ctrlPr>
                            <a:rPr lang="de-DE" sz="3200" i="1">
                              <a:latin typeface="Cambria Math" panose="02040503050406030204" pitchFamily="18" charset="0"/>
                            </a:rPr>
                          </m:ctrlPr>
                        </m:sSubSupPr>
                        <m:e>
                          <m:d>
                            <m:dPr>
                              <m:begChr m:val="‖"/>
                              <m:endChr m:val="‖"/>
                              <m:ctrlPr>
                                <a:rPr lang="de-DE" sz="3200" i="1">
                                  <a:latin typeface="Cambria Math" panose="02040503050406030204" pitchFamily="18" charset="0"/>
                                </a:rPr>
                              </m:ctrlPr>
                            </m:dPr>
                            <m:e>
                              <m:sSup>
                                <m:sSupPr>
                                  <m:ctrlPr>
                                    <a:rPr lang="de-DE" sz="3200" i="1">
                                      <a:latin typeface="Cambria Math" panose="02040503050406030204" pitchFamily="18" charset="0"/>
                                    </a:rPr>
                                  </m:ctrlPr>
                                </m:sSupPr>
                                <m:e>
                                  <m:r>
                                    <a:rPr lang="de-DE" sz="3200" i="1">
                                      <a:latin typeface="Cambria Math" panose="02040503050406030204" pitchFamily="18" charset="0"/>
                                    </a:rPr>
                                    <m:t>𝑄</m:t>
                                  </m:r>
                                </m:e>
                                <m:sup>
                                  <m:r>
                                    <a:rPr lang="de-DE" sz="3200" i="1">
                                      <a:latin typeface="Cambria Math" panose="02040503050406030204" pitchFamily="18" charset="0"/>
                                    </a:rPr>
                                    <m:t>𝑇</m:t>
                                  </m:r>
                                </m:sup>
                              </m:sSup>
                              <m:sSubSup>
                                <m:sSubSupPr>
                                  <m:ctrlPr>
                                    <a:rPr lang="de-DE" sz="3200" i="1">
                                      <a:latin typeface="Cambria Math" panose="02040503050406030204" pitchFamily="18" charset="0"/>
                                    </a:rPr>
                                  </m:ctrlPr>
                                </m:sSubSupPr>
                                <m:e>
                                  <m:r>
                                    <a:rPr lang="de-DE" sz="3200" i="1">
                                      <a:latin typeface="Cambria Math" panose="02040503050406030204" pitchFamily="18" charset="0"/>
                                    </a:rPr>
                                    <m:t>𝑓</m:t>
                                  </m:r>
                                </m:e>
                                <m:sub>
                                  <m:r>
                                    <a:rPr lang="de-DE" sz="3200" i="1">
                                      <a:latin typeface="Cambria Math" panose="02040503050406030204" pitchFamily="18" charset="0"/>
                                    </a:rPr>
                                    <m:t>𝜂</m:t>
                                  </m:r>
                                </m:sub>
                                <m:sup>
                                  <m:d>
                                    <m:dPr>
                                      <m:ctrlPr>
                                        <a:rPr lang="de-DE" sz="3200" i="1">
                                          <a:latin typeface="Cambria Math" panose="02040503050406030204" pitchFamily="18" charset="0"/>
                                        </a:rPr>
                                      </m:ctrlPr>
                                    </m:dPr>
                                    <m:e>
                                      <m:r>
                                        <a:rPr lang="de-DE" sz="3200" i="1">
                                          <a:latin typeface="Cambria Math" panose="02040503050406030204" pitchFamily="18" charset="0"/>
                                        </a:rPr>
                                        <m:t>𝐴𝑁𝑁</m:t>
                                      </m:r>
                                    </m:e>
                                  </m:d>
                                  <m:d>
                                    <m:dPr>
                                      <m:ctrlPr>
                                        <a:rPr lang="de-DE" sz="3200" i="1">
                                          <a:latin typeface="Cambria Math" panose="02040503050406030204" pitchFamily="18" charset="0"/>
                                        </a:rPr>
                                      </m:ctrlPr>
                                    </m:dPr>
                                    <m:e>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e>
                                  </m:d>
                                </m:sup>
                              </m:sSubSup>
                            </m:e>
                          </m:d>
                        </m:e>
                        <m:sub>
                          <m:r>
                            <a:rPr lang="de-DE" sz="3200" i="1">
                              <a:latin typeface="Cambria Math" panose="02040503050406030204" pitchFamily="18" charset="0"/>
                            </a:rPr>
                            <m:t>2</m:t>
                          </m:r>
                        </m:sub>
                        <m:sup>
                          <m:r>
                            <a:rPr lang="de-DE" sz="3200" i="1">
                              <a:latin typeface="Cambria Math" panose="02040503050406030204" pitchFamily="18" charset="0"/>
                            </a:rPr>
                            <m:t>2</m:t>
                          </m:r>
                        </m:sup>
                      </m:sSubSup>
                    </m:oMath>
                  </m:oMathPara>
                </a14:m>
                <a:endParaRPr lang="en-NL" sz="3200" dirty="0"/>
              </a:p>
            </p:txBody>
          </p:sp>
        </mc:Choice>
        <mc:Fallback xmlns="">
          <p:sp>
            <p:nvSpPr>
              <p:cNvPr id="4" name="TextBox 3">
                <a:extLst>
                  <a:ext uri="{FF2B5EF4-FFF2-40B4-BE49-F238E27FC236}">
                    <a16:creationId xmlns:a16="http://schemas.microsoft.com/office/drawing/2014/main" id="{8F76AD34-C07B-2089-BFE6-1F683FF3844D}"/>
                  </a:ext>
                </a:extLst>
              </p:cNvPr>
              <p:cNvSpPr txBox="1">
                <a:spLocks noRot="1" noChangeAspect="1" noMove="1" noResize="1" noEditPoints="1" noAdjustHandles="1" noChangeArrowheads="1" noChangeShapeType="1" noTextEdit="1"/>
              </p:cNvSpPr>
              <p:nvPr/>
            </p:nvSpPr>
            <p:spPr>
              <a:xfrm>
                <a:off x="3642676" y="1825625"/>
                <a:ext cx="6301405" cy="894732"/>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3554992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72F0A-92E7-672E-46A8-90D5ABF9E774}"/>
              </a:ext>
            </a:extLst>
          </p:cNvPr>
          <p:cNvSpPr>
            <a:spLocks noGrp="1"/>
          </p:cNvSpPr>
          <p:nvPr>
            <p:ph type="title"/>
          </p:nvPr>
        </p:nvSpPr>
        <p:spPr/>
        <p:txBody>
          <a:bodyPr/>
          <a:lstStyle/>
          <a:p>
            <a:r>
              <a:rPr lang="en-US" dirty="0"/>
              <a:t>N</a:t>
            </a:r>
            <a:r>
              <a:rPr lang="en-NL" dirty="0" err="1"/>
              <a:t>onlinear</a:t>
            </a:r>
            <a:r>
              <a:rPr lang="en-NL" dirty="0"/>
              <a:t> projection applied to gantry</a:t>
            </a:r>
          </a:p>
        </p:txBody>
      </p:sp>
      <p:sp>
        <p:nvSpPr>
          <p:cNvPr id="3" name="Content Placeholder 2">
            <a:extLst>
              <a:ext uri="{FF2B5EF4-FFF2-40B4-BE49-F238E27FC236}">
                <a16:creationId xmlns:a16="http://schemas.microsoft.com/office/drawing/2014/main" id="{B8DA2F57-3900-2310-C228-318487D65F04}"/>
              </a:ext>
            </a:extLst>
          </p:cNvPr>
          <p:cNvSpPr>
            <a:spLocks noGrp="1"/>
          </p:cNvSpPr>
          <p:nvPr>
            <p:ph idx="1"/>
          </p:nvPr>
        </p:nvSpPr>
        <p:spPr/>
        <p:txBody>
          <a:bodyPr/>
          <a:lstStyle/>
          <a:p>
            <a:endParaRPr lang="en-NL"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8E950A2-45CA-9C39-A8D7-D3F8B8D8AED8}"/>
                  </a:ext>
                </a:extLst>
              </p:cNvPr>
              <p:cNvSpPr txBox="1"/>
              <p:nvPr/>
            </p:nvSpPr>
            <p:spPr>
              <a:xfrm>
                <a:off x="266429" y="2209519"/>
                <a:ext cx="12579085" cy="492443"/>
              </a:xfrm>
              <a:prstGeom prst="rect">
                <a:avLst/>
              </a:prstGeom>
              <a:noFill/>
            </p:spPr>
            <p:txBody>
              <a:bodyPr wrap="none" lIns="0" tIns="0" rIns="0" bIns="0" rtlCol="0">
                <a:spAutoFit/>
              </a:bodyPr>
              <a:lstStyle/>
              <a:p>
                <a:pPr/>
                <a14:m>
                  <m:oMathPara xmlns:m="http://schemas.openxmlformats.org/officeDocument/2006/math">
                    <m:oMath>
                      <m:r>
                        <a:rPr lang="el-GR" sz="3200" i="1">
                          <a:latin typeface="Cambria Math" panose="02040503050406030204" pitchFamily="18" charset="0"/>
                        </a:rPr>
                        <m:t>𝛷</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r>
                        <a:rPr lang="de-DE" sz="3200" i="1">
                          <a:latin typeface="Cambria Math" panose="02040503050406030204" pitchFamily="18" charset="0"/>
                        </a:rPr>
                        <m:t>)=(</m:t>
                      </m:r>
                      <m:r>
                        <a:rPr lang="de-DE" sz="3200" i="1">
                          <a:latin typeface="Cambria Math" panose="02040503050406030204" pitchFamily="18" charset="0"/>
                        </a:rPr>
                        <m:t>𝜕</m:t>
                      </m:r>
                      <m:r>
                        <a:rPr lang="de-DE" sz="3200" i="1">
                          <a:latin typeface="Cambria Math" panose="02040503050406030204" pitchFamily="18" charset="0"/>
                        </a:rPr>
                        <m:t>𝑓</m:t>
                      </m:r>
                      <m:r>
                        <a:rPr lang="de-DE"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r>
                        <a:rPr lang="de-DE" sz="3200" i="1">
                          <a:latin typeface="Cambria Math" panose="02040503050406030204" pitchFamily="18" charset="0"/>
                        </a:rPr>
                        <m:t>))/(</m:t>
                      </m:r>
                      <m:r>
                        <a:rPr lang="de-DE" sz="3200" i="1">
                          <a:latin typeface="Cambria Math" panose="02040503050406030204" pitchFamily="18" charset="0"/>
                        </a:rPr>
                        <m:t>𝜕𝜃</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el-GR" sz="3200" i="1">
                          <a:latin typeface="Cambria Math" panose="02040503050406030204" pitchFamily="18" charset="0"/>
                        </a:rPr>
                        <m:t>𝜃</m:t>
                      </m:r>
                      <m:r>
                        <a:rPr lang="el-GR" sz="3200" i="1">
                          <a:latin typeface="Cambria Math" panose="02040503050406030204" pitchFamily="18" charset="0"/>
                        </a:rPr>
                        <m:t>̄),    </m:t>
                      </m:r>
                      <m:r>
                        <a:rPr lang="el-GR" sz="3200" i="1">
                          <a:latin typeface="Cambria Math" panose="02040503050406030204" pitchFamily="18" charset="0"/>
                        </a:rPr>
                        <m:t>𝛤</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de-DE" sz="3200" i="1">
                          <a:latin typeface="Cambria Math" panose="02040503050406030204" pitchFamily="18" charset="0"/>
                        </a:rPr>
                        <m:t>𝑓</m:t>
                      </m:r>
                      <m:r>
                        <a:rPr lang="de-DE"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el-GR" sz="3200" i="1">
                          <a:latin typeface="Cambria Math" panose="02040503050406030204" pitchFamily="18" charset="0"/>
                        </a:rPr>
                        <m:t>𝛷</m:t>
                      </m:r>
                      <m:r>
                        <a:rPr lang="el-GR" sz="3200" i="1">
                          <a:latin typeface="Cambria Math" panose="02040503050406030204" pitchFamily="18" charset="0"/>
                        </a:rPr>
                        <m:t>_(</m:t>
                      </m:r>
                      <m:r>
                        <a:rPr lang="el-GR" sz="3200" i="1">
                          <a:latin typeface="Cambria Math" panose="02040503050406030204" pitchFamily="18" charset="0"/>
                        </a:rPr>
                        <m:t>𝜃</m:t>
                      </m:r>
                      <m:r>
                        <a:rPr lang="el-GR" sz="3200" i="1">
                          <a:latin typeface="Cambria Math" panose="02040503050406030204" pitchFamily="18" charset="0"/>
                        </a:rPr>
                        <m:t>̄)</m:t>
                      </m:r>
                      <m:r>
                        <a:rPr lang="el-GR" sz="3200" i="1">
                          <a:latin typeface="Cambria Math" panose="02040503050406030204" pitchFamily="18" charset="0"/>
                        </a:rPr>
                        <m:t>𝜃</m:t>
                      </m:r>
                      <m:r>
                        <a:rPr lang="el-GR" sz="3200" i="1">
                          <a:latin typeface="Cambria Math" panose="02040503050406030204" pitchFamily="18" charset="0"/>
                        </a:rPr>
                        <m:t>̄</m:t>
                      </m:r>
                    </m:oMath>
                  </m:oMathPara>
                </a14:m>
                <a:endParaRPr lang="en-NL" sz="3200" dirty="0"/>
              </a:p>
            </p:txBody>
          </p:sp>
        </mc:Choice>
        <mc:Fallback xmlns="">
          <p:sp>
            <p:nvSpPr>
              <p:cNvPr id="7" name="TextBox 6">
                <a:extLst>
                  <a:ext uri="{FF2B5EF4-FFF2-40B4-BE49-F238E27FC236}">
                    <a16:creationId xmlns:a16="http://schemas.microsoft.com/office/drawing/2014/main" id="{78E950A2-45CA-9C39-A8D7-D3F8B8D8AED8}"/>
                  </a:ext>
                </a:extLst>
              </p:cNvPr>
              <p:cNvSpPr txBox="1">
                <a:spLocks noRot="1" noChangeAspect="1" noMove="1" noResize="1" noEditPoints="1" noAdjustHandles="1" noChangeArrowheads="1" noChangeShapeType="1" noTextEdit="1"/>
              </p:cNvSpPr>
              <p:nvPr/>
            </p:nvSpPr>
            <p:spPr>
              <a:xfrm>
                <a:off x="266429" y="2209519"/>
                <a:ext cx="12579085" cy="492443"/>
              </a:xfrm>
              <a:prstGeom prst="rect">
                <a:avLst/>
              </a:prstGeom>
              <a:blipFill>
                <a:blip r:embed="rId2"/>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39B41E5-FEAE-023F-4D13-F11FC1EA014A}"/>
                  </a:ext>
                </a:extLst>
              </p:cNvPr>
              <p:cNvSpPr txBox="1"/>
              <p:nvPr/>
            </p:nvSpPr>
            <p:spPr>
              <a:xfrm>
                <a:off x="838200" y="3182778"/>
                <a:ext cx="6694012" cy="492443"/>
              </a:xfrm>
              <a:prstGeom prst="rect">
                <a:avLst/>
              </a:prstGeom>
              <a:noFill/>
            </p:spPr>
            <p:txBody>
              <a:bodyPr wrap="none" lIns="0" tIns="0" rIns="0" bIns="0" rtlCol="0">
                <a:spAutoFit/>
              </a:bodyPr>
              <a:lstStyle/>
              <a:p>
                <a:pPr/>
                <a14:m>
                  <m:oMathPara xmlns:m="http://schemas.openxmlformats.org/officeDocument/2006/math">
                    <m:oMath>
                      <m:r>
                        <a:rPr lang="pl-PL" sz="3200" i="1">
                          <a:latin typeface="Cambria Math" panose="02040503050406030204" pitchFamily="18" charset="0"/>
                        </a:rPr>
                        <m:t>𝛷</m:t>
                      </m:r>
                      <m:r>
                        <a:rPr lang="pl-PL" sz="3200" i="1">
                          <a:latin typeface="Cambria Math" panose="02040503050406030204" pitchFamily="18" charset="0"/>
                        </a:rPr>
                        <m:t>₀(</m:t>
                      </m:r>
                      <m:r>
                        <a:rPr lang="pl-PL" sz="3200" i="1">
                          <a:latin typeface="Cambria Math" panose="02040503050406030204" pitchFamily="18" charset="0"/>
                        </a:rPr>
                        <m:t>𝑋</m:t>
                      </m:r>
                      <m:r>
                        <a:rPr lang="pl-PL" sz="3200" i="1">
                          <a:latin typeface="Cambria Math" panose="02040503050406030204" pitchFamily="18" charset="0"/>
                        </a:rPr>
                        <m:t>,</m:t>
                      </m:r>
                      <m:r>
                        <a:rPr lang="pl-PL" sz="3200" i="1">
                          <a:latin typeface="Cambria Math" panose="02040503050406030204" pitchFamily="18" charset="0"/>
                        </a:rPr>
                        <m:t>𝑈</m:t>
                      </m:r>
                      <m:r>
                        <a:rPr lang="pl-PL" sz="3200" i="1">
                          <a:latin typeface="Cambria Math" panose="02040503050406030204" pitchFamily="18" charset="0"/>
                        </a:rPr>
                        <m:t>)=</m:t>
                      </m:r>
                      <m:r>
                        <a:rPr lang="pl-PL" sz="3200" i="1">
                          <a:latin typeface="Cambria Math" panose="02040503050406030204" pitchFamily="18" charset="0"/>
                        </a:rPr>
                        <m:t>𝐷</m:t>
                      </m:r>
                      <m:r>
                        <a:rPr lang="pl-PL" sz="3200" i="1">
                          <a:latin typeface="Cambria Math" panose="02040503050406030204" pitchFamily="18" charset="0"/>
                        </a:rPr>
                        <m:t>_</m:t>
                      </m:r>
                      <m:r>
                        <a:rPr lang="pl-PL" sz="3200" i="1">
                          <a:latin typeface="Cambria Math" panose="02040503050406030204" pitchFamily="18" charset="0"/>
                        </a:rPr>
                        <m:t>𝜃</m:t>
                      </m:r>
                      <m:r>
                        <a:rPr lang="pl-PL" sz="3200" i="1">
                          <a:latin typeface="Cambria Math" panose="02040503050406030204" pitchFamily="18" charset="0"/>
                        </a:rPr>
                        <m:t> </m:t>
                      </m:r>
                      <m:r>
                        <a:rPr lang="pl-PL" sz="3200" i="1">
                          <a:latin typeface="Cambria Math" panose="02040503050406030204" pitchFamily="18" charset="0"/>
                        </a:rPr>
                        <m:t>𝑓</m:t>
                      </m:r>
                      <m:r>
                        <a:rPr lang="pl-PL" sz="3200" i="1">
                          <a:latin typeface="Cambria Math" panose="02040503050406030204" pitchFamily="18" charset="0"/>
                        </a:rPr>
                        <m:t>_</m:t>
                      </m:r>
                      <m:r>
                        <a:rPr lang="pl-PL" sz="3200" i="1">
                          <a:latin typeface="Cambria Math" panose="02040503050406030204" pitchFamily="18" charset="0"/>
                        </a:rPr>
                        <m:t>𝜃</m:t>
                      </m:r>
                      <m:r>
                        <a:rPr lang="pl-PL" sz="3200" i="1">
                          <a:latin typeface="Cambria Math" panose="02040503050406030204" pitchFamily="18" charset="0"/>
                        </a:rPr>
                        <m:t>(</m:t>
                      </m:r>
                      <m:r>
                        <a:rPr lang="pl-PL" sz="3200" i="1">
                          <a:latin typeface="Cambria Math" panose="02040503050406030204" pitchFamily="18" charset="0"/>
                        </a:rPr>
                        <m:t>𝑋</m:t>
                      </m:r>
                      <m:r>
                        <a:rPr lang="pl-PL" sz="3200" i="1">
                          <a:latin typeface="Cambria Math" panose="02040503050406030204" pitchFamily="18" charset="0"/>
                        </a:rPr>
                        <m:t>,</m:t>
                      </m:r>
                      <m:r>
                        <a:rPr lang="pl-PL" sz="3200" i="1">
                          <a:latin typeface="Cambria Math" panose="02040503050406030204" pitchFamily="18" charset="0"/>
                        </a:rPr>
                        <m:t>𝑈</m:t>
                      </m:r>
                      <m:r>
                        <a:rPr lang="pl-PL" sz="3200" i="1">
                          <a:latin typeface="Cambria Math" panose="02040503050406030204" pitchFamily="18" charset="0"/>
                        </a:rPr>
                        <m:t>),  </m:t>
                      </m:r>
                      <m:r>
                        <a:rPr lang="pl-PL" sz="3200" i="1">
                          <a:latin typeface="Cambria Math" panose="02040503050406030204" pitchFamily="18" charset="0"/>
                        </a:rPr>
                        <m:t>𝜃</m:t>
                      </m:r>
                      <m:r>
                        <a:rPr lang="pl-PL" sz="3200" i="1">
                          <a:latin typeface="Cambria Math" panose="02040503050406030204" pitchFamily="18" charset="0"/>
                        </a:rPr>
                        <m:t>=</m:t>
                      </m:r>
                      <m:r>
                        <a:rPr lang="pl-PL" sz="3200" i="1">
                          <a:latin typeface="Cambria Math" panose="02040503050406030204" pitchFamily="18" charset="0"/>
                        </a:rPr>
                        <m:t>𝜃</m:t>
                      </m:r>
                      <m:r>
                        <a:rPr lang="pl-PL" sz="3200" i="1">
                          <a:latin typeface="Cambria Math" panose="02040503050406030204" pitchFamily="18" charset="0"/>
                        </a:rPr>
                        <m:t>₀</m:t>
                      </m:r>
                    </m:oMath>
                  </m:oMathPara>
                </a14:m>
                <a:endParaRPr lang="en-NL" sz="3200" dirty="0"/>
              </a:p>
            </p:txBody>
          </p:sp>
        </mc:Choice>
        <mc:Fallback xmlns="">
          <p:sp>
            <p:nvSpPr>
              <p:cNvPr id="9" name="TextBox 8">
                <a:extLst>
                  <a:ext uri="{FF2B5EF4-FFF2-40B4-BE49-F238E27FC236}">
                    <a16:creationId xmlns:a16="http://schemas.microsoft.com/office/drawing/2014/main" id="{B39B41E5-FEAE-023F-4D13-F11FC1EA014A}"/>
                  </a:ext>
                </a:extLst>
              </p:cNvPr>
              <p:cNvSpPr txBox="1">
                <a:spLocks noRot="1" noChangeAspect="1" noMove="1" noResize="1" noEditPoints="1" noAdjustHandles="1" noChangeArrowheads="1" noChangeShapeType="1" noTextEdit="1"/>
              </p:cNvSpPr>
              <p:nvPr/>
            </p:nvSpPr>
            <p:spPr>
              <a:xfrm>
                <a:off x="838200" y="3182778"/>
                <a:ext cx="6694012" cy="492443"/>
              </a:xfrm>
              <a:prstGeom prst="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3936257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EB43-A2AA-39F0-7EA8-AE25AB25F4E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1B0E11D-3AF0-3972-FE11-3ED4583B72E3}"/>
              </a:ext>
            </a:extLst>
          </p:cNvPr>
          <p:cNvSpPr>
            <a:spLocks noGrp="1"/>
          </p:cNvSpPr>
          <p:nvPr>
            <p:ph idx="1"/>
          </p:nvPr>
        </p:nvSpPr>
        <p:spPr/>
        <p:txBody>
          <a:bodyPr/>
          <a:lstStyle/>
          <a:p>
            <a:endParaRPr lang="en-N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1695A2-2675-5770-7081-ED6641C8524D}"/>
                  </a:ext>
                </a:extLst>
              </p:cNvPr>
              <p:cNvSpPr txBox="1"/>
              <p:nvPr/>
            </p:nvSpPr>
            <p:spPr>
              <a:xfrm>
                <a:off x="3642676" y="1825625"/>
                <a:ext cx="6301405" cy="894732"/>
              </a:xfrm>
              <a:prstGeom prst="rect">
                <a:avLst/>
              </a:prstGeom>
              <a:noFill/>
            </p:spPr>
            <p:txBody>
              <a:bodyPr wrap="none" lIns="0" tIns="0" rIns="0" bIns="0" rtlCol="0">
                <a:spAutoFit/>
              </a:bodyPr>
              <a:lstStyle/>
              <a:p>
                <a:pPr/>
                <a14:m>
                  <m:oMathPara xmlns:m="http://schemas.openxmlformats.org/officeDocument/2006/math">
                    <m:oMath>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𝑜𝑟𝑡ℎ</m:t>
                          </m:r>
                        </m:sup>
                      </m:sSup>
                      <m:r>
                        <a:rPr lang="de-DE" sz="3200" i="1">
                          <a:latin typeface="Cambria Math" panose="02040503050406030204" pitchFamily="18" charset="0"/>
                        </a:rPr>
                        <m:t>=</m:t>
                      </m:r>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𝑠𝑒𝑐</m:t>
                          </m:r>
                        </m:sup>
                      </m:sSup>
                      <m:r>
                        <a:rPr lang="de-DE" sz="3200" i="1">
                          <a:latin typeface="Cambria Math" panose="02040503050406030204" pitchFamily="18" charset="0"/>
                        </a:rPr>
                        <m:t>+</m:t>
                      </m:r>
                      <m:r>
                        <a:rPr lang="de-DE" sz="3200" i="1">
                          <a:latin typeface="Cambria Math" panose="02040503050406030204" pitchFamily="18" charset="0"/>
                        </a:rPr>
                        <m:t>𝛽</m:t>
                      </m:r>
                      <m:sSubSup>
                        <m:sSubSupPr>
                          <m:ctrlPr>
                            <a:rPr lang="de-DE" sz="3200" i="1">
                              <a:latin typeface="Cambria Math" panose="02040503050406030204" pitchFamily="18" charset="0"/>
                            </a:rPr>
                          </m:ctrlPr>
                        </m:sSubSupPr>
                        <m:e>
                          <m:d>
                            <m:dPr>
                              <m:begChr m:val="‖"/>
                              <m:endChr m:val="‖"/>
                              <m:ctrlPr>
                                <a:rPr lang="de-DE" sz="3200" i="1">
                                  <a:latin typeface="Cambria Math" panose="02040503050406030204" pitchFamily="18" charset="0"/>
                                </a:rPr>
                              </m:ctrlPr>
                            </m:dPr>
                            <m:e>
                              <m:sSup>
                                <m:sSupPr>
                                  <m:ctrlPr>
                                    <a:rPr lang="de-DE" sz="3200" i="1">
                                      <a:latin typeface="Cambria Math" panose="02040503050406030204" pitchFamily="18" charset="0"/>
                                    </a:rPr>
                                  </m:ctrlPr>
                                </m:sSupPr>
                                <m:e>
                                  <m:r>
                                    <a:rPr lang="de-DE" sz="3200" i="1">
                                      <a:latin typeface="Cambria Math" panose="02040503050406030204" pitchFamily="18" charset="0"/>
                                    </a:rPr>
                                    <m:t>𝑄</m:t>
                                  </m:r>
                                </m:e>
                                <m:sup>
                                  <m:r>
                                    <a:rPr lang="de-DE" sz="3200" i="1">
                                      <a:latin typeface="Cambria Math" panose="02040503050406030204" pitchFamily="18" charset="0"/>
                                    </a:rPr>
                                    <m:t>𝑇</m:t>
                                  </m:r>
                                </m:sup>
                              </m:sSup>
                              <m:sSubSup>
                                <m:sSubSupPr>
                                  <m:ctrlPr>
                                    <a:rPr lang="de-DE" sz="3200" i="1">
                                      <a:latin typeface="Cambria Math" panose="02040503050406030204" pitchFamily="18" charset="0"/>
                                    </a:rPr>
                                  </m:ctrlPr>
                                </m:sSubSupPr>
                                <m:e>
                                  <m:r>
                                    <a:rPr lang="de-DE" sz="3200" i="1">
                                      <a:latin typeface="Cambria Math" panose="02040503050406030204" pitchFamily="18" charset="0"/>
                                    </a:rPr>
                                    <m:t>𝑓</m:t>
                                  </m:r>
                                </m:e>
                                <m:sub>
                                  <m:r>
                                    <a:rPr lang="de-DE" sz="3200" i="1">
                                      <a:latin typeface="Cambria Math" panose="02040503050406030204" pitchFamily="18" charset="0"/>
                                    </a:rPr>
                                    <m:t>𝜂</m:t>
                                  </m:r>
                                </m:sub>
                                <m:sup>
                                  <m:d>
                                    <m:dPr>
                                      <m:ctrlPr>
                                        <a:rPr lang="de-DE" sz="3200" i="1">
                                          <a:latin typeface="Cambria Math" panose="02040503050406030204" pitchFamily="18" charset="0"/>
                                        </a:rPr>
                                      </m:ctrlPr>
                                    </m:dPr>
                                    <m:e>
                                      <m:r>
                                        <a:rPr lang="de-DE" sz="3200" i="1">
                                          <a:latin typeface="Cambria Math" panose="02040503050406030204" pitchFamily="18" charset="0"/>
                                        </a:rPr>
                                        <m:t>𝐴𝑁𝑁</m:t>
                                      </m:r>
                                    </m:e>
                                  </m:d>
                                  <m:d>
                                    <m:dPr>
                                      <m:ctrlPr>
                                        <a:rPr lang="de-DE" sz="3200" i="1">
                                          <a:latin typeface="Cambria Math" panose="02040503050406030204" pitchFamily="18" charset="0"/>
                                        </a:rPr>
                                      </m:ctrlPr>
                                    </m:dPr>
                                    <m:e>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e>
                                  </m:d>
                                </m:sup>
                              </m:sSubSup>
                            </m:e>
                          </m:d>
                        </m:e>
                        <m:sub>
                          <m:r>
                            <a:rPr lang="de-DE" sz="3200" i="1">
                              <a:latin typeface="Cambria Math" panose="02040503050406030204" pitchFamily="18" charset="0"/>
                            </a:rPr>
                            <m:t>2</m:t>
                          </m:r>
                        </m:sub>
                        <m:sup>
                          <m:r>
                            <a:rPr lang="de-DE" sz="3200" i="1">
                              <a:latin typeface="Cambria Math" panose="02040503050406030204" pitchFamily="18" charset="0"/>
                            </a:rPr>
                            <m:t>2</m:t>
                          </m:r>
                        </m:sup>
                      </m:sSubSup>
                    </m:oMath>
                  </m:oMathPara>
                </a14:m>
                <a:endParaRPr lang="en-NL" sz="3200" dirty="0"/>
              </a:p>
            </p:txBody>
          </p:sp>
        </mc:Choice>
        <mc:Fallback xmlns="">
          <p:sp>
            <p:nvSpPr>
              <p:cNvPr id="5" name="TextBox 4">
                <a:extLst>
                  <a:ext uri="{FF2B5EF4-FFF2-40B4-BE49-F238E27FC236}">
                    <a16:creationId xmlns:a16="http://schemas.microsoft.com/office/drawing/2014/main" id="{CC1695A2-2675-5770-7081-ED6641C8524D}"/>
                  </a:ext>
                </a:extLst>
              </p:cNvPr>
              <p:cNvSpPr txBox="1">
                <a:spLocks noRot="1" noChangeAspect="1" noMove="1" noResize="1" noEditPoints="1" noAdjustHandles="1" noChangeArrowheads="1" noChangeShapeType="1" noTextEdit="1"/>
              </p:cNvSpPr>
              <p:nvPr/>
            </p:nvSpPr>
            <p:spPr>
              <a:xfrm>
                <a:off x="3642676" y="1825625"/>
                <a:ext cx="6301405" cy="894732"/>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681986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397FF-E81B-8707-9786-6322B9B80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4D47A-E961-39F4-C899-983D70248A5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7909BB6-93AC-B1F4-DB44-B96E6E655459}"/>
              </a:ext>
            </a:extLst>
          </p:cNvPr>
          <p:cNvSpPr>
            <a:spLocks noGrp="1"/>
          </p:cNvSpPr>
          <p:nvPr>
            <p:ph idx="1"/>
          </p:nvPr>
        </p:nvSpPr>
        <p:spPr/>
        <p:txBody>
          <a:bodyPr/>
          <a:lstStyle/>
          <a:p>
            <a:endParaRPr lang="en-N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39D4B4C-0B12-EC84-7235-F1587955D6CE}"/>
                  </a:ext>
                </a:extLst>
              </p:cNvPr>
              <p:cNvSpPr txBox="1"/>
              <p:nvPr/>
            </p:nvSpPr>
            <p:spPr>
              <a:xfrm>
                <a:off x="3642676" y="1825625"/>
                <a:ext cx="6301405" cy="894732"/>
              </a:xfrm>
              <a:prstGeom prst="rect">
                <a:avLst/>
              </a:prstGeom>
              <a:noFill/>
            </p:spPr>
            <p:txBody>
              <a:bodyPr wrap="none" lIns="0" tIns="0" rIns="0" bIns="0" rtlCol="0">
                <a:spAutoFit/>
              </a:bodyPr>
              <a:lstStyle/>
              <a:p>
                <a:pPr/>
                <a14:m>
                  <m:oMathPara xmlns:m="http://schemas.openxmlformats.org/officeDocument/2006/math">
                    <m:oMath>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𝑜𝑟𝑡ℎ</m:t>
                          </m:r>
                        </m:sup>
                      </m:sSup>
                      <m:r>
                        <a:rPr lang="de-DE" sz="3200" i="1">
                          <a:latin typeface="Cambria Math" panose="02040503050406030204" pitchFamily="18" charset="0"/>
                        </a:rPr>
                        <m:t>=</m:t>
                      </m:r>
                      <m:sSup>
                        <m:sSupPr>
                          <m:ctrlPr>
                            <a:rPr lang="de-DE" sz="3200" i="1">
                              <a:latin typeface="Cambria Math" panose="02040503050406030204" pitchFamily="18" charset="0"/>
                            </a:rPr>
                          </m:ctrlPr>
                        </m:sSupPr>
                        <m:e>
                          <m:r>
                            <a:rPr lang="de-DE" sz="3200" i="1">
                              <a:latin typeface="Cambria Math" panose="02040503050406030204" pitchFamily="18" charset="0"/>
                            </a:rPr>
                            <m:t>𝑉</m:t>
                          </m:r>
                        </m:e>
                        <m:sup>
                          <m:r>
                            <a:rPr lang="de-DE" sz="3200" i="1">
                              <a:latin typeface="Cambria Math" panose="02040503050406030204" pitchFamily="18" charset="0"/>
                            </a:rPr>
                            <m:t>𝑠𝑒𝑐</m:t>
                          </m:r>
                        </m:sup>
                      </m:sSup>
                      <m:r>
                        <a:rPr lang="de-DE" sz="3200" i="1">
                          <a:latin typeface="Cambria Math" panose="02040503050406030204" pitchFamily="18" charset="0"/>
                        </a:rPr>
                        <m:t>+</m:t>
                      </m:r>
                      <m:r>
                        <a:rPr lang="de-DE" sz="3200" i="1">
                          <a:latin typeface="Cambria Math" panose="02040503050406030204" pitchFamily="18" charset="0"/>
                        </a:rPr>
                        <m:t>𝛽</m:t>
                      </m:r>
                      <m:sSubSup>
                        <m:sSubSupPr>
                          <m:ctrlPr>
                            <a:rPr lang="de-DE" sz="3200" i="1">
                              <a:latin typeface="Cambria Math" panose="02040503050406030204" pitchFamily="18" charset="0"/>
                            </a:rPr>
                          </m:ctrlPr>
                        </m:sSubSupPr>
                        <m:e>
                          <m:d>
                            <m:dPr>
                              <m:begChr m:val="‖"/>
                              <m:endChr m:val="‖"/>
                              <m:ctrlPr>
                                <a:rPr lang="de-DE" sz="3200" i="1">
                                  <a:latin typeface="Cambria Math" panose="02040503050406030204" pitchFamily="18" charset="0"/>
                                </a:rPr>
                              </m:ctrlPr>
                            </m:dPr>
                            <m:e>
                              <m:sSup>
                                <m:sSupPr>
                                  <m:ctrlPr>
                                    <a:rPr lang="de-DE" sz="3200" i="1">
                                      <a:latin typeface="Cambria Math" panose="02040503050406030204" pitchFamily="18" charset="0"/>
                                    </a:rPr>
                                  </m:ctrlPr>
                                </m:sSupPr>
                                <m:e>
                                  <m:r>
                                    <a:rPr lang="de-DE" sz="3200" i="1">
                                      <a:latin typeface="Cambria Math" panose="02040503050406030204" pitchFamily="18" charset="0"/>
                                    </a:rPr>
                                    <m:t>𝑄</m:t>
                                  </m:r>
                                </m:e>
                                <m:sup>
                                  <m:r>
                                    <a:rPr lang="de-DE" sz="3200" i="1">
                                      <a:latin typeface="Cambria Math" panose="02040503050406030204" pitchFamily="18" charset="0"/>
                                    </a:rPr>
                                    <m:t>𝑇</m:t>
                                  </m:r>
                                </m:sup>
                              </m:sSup>
                              <m:sSubSup>
                                <m:sSubSupPr>
                                  <m:ctrlPr>
                                    <a:rPr lang="de-DE" sz="3200" i="1">
                                      <a:latin typeface="Cambria Math" panose="02040503050406030204" pitchFamily="18" charset="0"/>
                                    </a:rPr>
                                  </m:ctrlPr>
                                </m:sSubSupPr>
                                <m:e>
                                  <m:r>
                                    <a:rPr lang="de-DE" sz="3200" i="1">
                                      <a:latin typeface="Cambria Math" panose="02040503050406030204" pitchFamily="18" charset="0"/>
                                    </a:rPr>
                                    <m:t>𝑓</m:t>
                                  </m:r>
                                </m:e>
                                <m:sub>
                                  <m:r>
                                    <a:rPr lang="de-DE" sz="3200" i="1">
                                      <a:latin typeface="Cambria Math" panose="02040503050406030204" pitchFamily="18" charset="0"/>
                                    </a:rPr>
                                    <m:t>𝜂</m:t>
                                  </m:r>
                                </m:sub>
                                <m:sup>
                                  <m:d>
                                    <m:dPr>
                                      <m:ctrlPr>
                                        <a:rPr lang="de-DE" sz="3200" i="1">
                                          <a:latin typeface="Cambria Math" panose="02040503050406030204" pitchFamily="18" charset="0"/>
                                        </a:rPr>
                                      </m:ctrlPr>
                                    </m:dPr>
                                    <m:e>
                                      <m:r>
                                        <a:rPr lang="de-DE" sz="3200" i="1">
                                          <a:latin typeface="Cambria Math" panose="02040503050406030204" pitchFamily="18" charset="0"/>
                                        </a:rPr>
                                        <m:t>𝐴𝑁𝑁</m:t>
                                      </m:r>
                                    </m:e>
                                  </m:d>
                                  <m:d>
                                    <m:dPr>
                                      <m:ctrlPr>
                                        <a:rPr lang="de-DE" sz="3200" i="1">
                                          <a:latin typeface="Cambria Math" panose="02040503050406030204" pitchFamily="18" charset="0"/>
                                        </a:rPr>
                                      </m:ctrlPr>
                                    </m:dPr>
                                    <m:e>
                                      <m:r>
                                        <a:rPr lang="de-DE" sz="3200" i="1">
                                          <a:latin typeface="Cambria Math" panose="02040503050406030204" pitchFamily="18" charset="0"/>
                                        </a:rPr>
                                        <m:t>𝑋</m:t>
                                      </m:r>
                                      <m:r>
                                        <a:rPr lang="de-DE" sz="3200" i="1">
                                          <a:latin typeface="Cambria Math" panose="02040503050406030204" pitchFamily="18" charset="0"/>
                                        </a:rPr>
                                        <m:t>,</m:t>
                                      </m:r>
                                      <m:r>
                                        <a:rPr lang="de-DE" sz="3200" i="1">
                                          <a:latin typeface="Cambria Math" panose="02040503050406030204" pitchFamily="18" charset="0"/>
                                        </a:rPr>
                                        <m:t>𝑈</m:t>
                                      </m:r>
                                    </m:e>
                                  </m:d>
                                </m:sup>
                              </m:sSubSup>
                            </m:e>
                          </m:d>
                        </m:e>
                        <m:sub>
                          <m:r>
                            <a:rPr lang="de-DE" sz="3200" i="1">
                              <a:latin typeface="Cambria Math" panose="02040503050406030204" pitchFamily="18" charset="0"/>
                            </a:rPr>
                            <m:t>2</m:t>
                          </m:r>
                        </m:sub>
                        <m:sup>
                          <m:r>
                            <a:rPr lang="de-DE" sz="3200" i="1">
                              <a:latin typeface="Cambria Math" panose="02040503050406030204" pitchFamily="18" charset="0"/>
                            </a:rPr>
                            <m:t>2</m:t>
                          </m:r>
                        </m:sup>
                      </m:sSubSup>
                    </m:oMath>
                  </m:oMathPara>
                </a14:m>
                <a:endParaRPr lang="en-NL" sz="3200" dirty="0"/>
              </a:p>
            </p:txBody>
          </p:sp>
        </mc:Choice>
        <mc:Fallback xmlns="">
          <p:sp>
            <p:nvSpPr>
              <p:cNvPr id="5" name="TextBox 4">
                <a:extLst>
                  <a:ext uri="{FF2B5EF4-FFF2-40B4-BE49-F238E27FC236}">
                    <a16:creationId xmlns:a16="http://schemas.microsoft.com/office/drawing/2014/main" id="{039D4B4C-0B12-EC84-7235-F1587955D6CE}"/>
                  </a:ext>
                </a:extLst>
              </p:cNvPr>
              <p:cNvSpPr txBox="1">
                <a:spLocks noRot="1" noChangeAspect="1" noMove="1" noResize="1" noEditPoints="1" noAdjustHandles="1" noChangeArrowheads="1" noChangeShapeType="1" noTextEdit="1"/>
              </p:cNvSpPr>
              <p:nvPr/>
            </p:nvSpPr>
            <p:spPr>
              <a:xfrm>
                <a:off x="3642676" y="1825625"/>
                <a:ext cx="6301405" cy="894732"/>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29891661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097A-9BC6-CFA2-5C95-1303523D55D3}"/>
              </a:ext>
            </a:extLst>
          </p:cNvPr>
          <p:cNvSpPr>
            <a:spLocks noGrp="1"/>
          </p:cNvSpPr>
          <p:nvPr>
            <p:ph type="title"/>
          </p:nvPr>
        </p:nvSpPr>
        <p:spPr/>
        <p:txBody>
          <a:bodyPr/>
          <a:lstStyle/>
          <a:p>
            <a:r>
              <a:rPr lang="en-US" dirty="0"/>
              <a:t>Adapt orthogonality regularization to our situation</a:t>
            </a:r>
            <a:endParaRPr lang="en-NL" dirty="0"/>
          </a:p>
        </p:txBody>
      </p:sp>
      <p:sp>
        <p:nvSpPr>
          <p:cNvPr id="3" name="Content Placeholder 2">
            <a:extLst>
              <a:ext uri="{FF2B5EF4-FFF2-40B4-BE49-F238E27FC236}">
                <a16:creationId xmlns:a16="http://schemas.microsoft.com/office/drawing/2014/main" id="{04392C48-70C3-C2FE-4829-BD76B22BCDCD}"/>
              </a:ext>
            </a:extLst>
          </p:cNvPr>
          <p:cNvSpPr>
            <a:spLocks noGrp="1"/>
          </p:cNvSpPr>
          <p:nvPr>
            <p:ph idx="1"/>
          </p:nvPr>
        </p:nvSpPr>
        <p:spPr/>
        <p:txBody>
          <a:bodyPr>
            <a:normAutofit fontScale="77500" lnSpcReduction="20000"/>
          </a:bodyPr>
          <a:lstStyle/>
          <a:p>
            <a:r>
              <a:rPr lang="en-US" dirty="0"/>
              <a:t>1. Training cost. His is an open-loop 15-step-ahead cost from measured initial states, no encoder. Ours is the production 400-step closed-loop rollout with the controller in the loop and a trained encoder supplying x0. The penalty attaches to the ANN identically, but the fit objective around it is a different one.2. Point set. His primary setting uses measured states; we are his Remark 2 fallback, FP-simulated states, in closed loop. Measured to track the data to 1.4e-4 </a:t>
            </a:r>
            <a:r>
              <a:rPr lang="en-US" dirty="0" err="1"/>
              <a:t>normalised</a:t>
            </a:r>
            <a:r>
              <a:rPr lang="en-US" dirty="0"/>
              <a:t>, so the fallback is benign here.3. Basis truncation. He keeps all columns; we keep 10 of 15 because four directions are structurally null in our baseline. His car regressor has no such degeneracy.4. Rows augmented. He corrects only the velocity states; we route to all six physical rows. This matters more than it looks: our </a:t>
            </a:r>
            <a:r>
              <a:rPr lang="en-US" dirty="0" err="1"/>
              <a:t>penalised</a:t>
            </a:r>
            <a:r>
              <a:rPr lang="en-US" dirty="0"/>
              <a:t> networks put their surviving correction on the theta-position row, which his structure forbids.5. Nature of the model deficit. His missing physics is a static force map, which a static ANN can represent, hence his tenfold gain. Ours is a hidden absorber, dynamic, which a static correction cannot represent, hence our twofold gain.6. Selection on validation, not on test as in his Figure 3. And theta lives in log coordinates internally, with the regressor converted back to raw theta, which leaves the span unchanged.</a:t>
            </a:r>
            <a:endParaRPr lang="en-NL" dirty="0"/>
          </a:p>
        </p:txBody>
      </p:sp>
    </p:spTree>
    <p:extLst>
      <p:ext uri="{BB962C8B-B14F-4D97-AF65-F5344CB8AC3E}">
        <p14:creationId xmlns:p14="http://schemas.microsoft.com/office/powerpoint/2010/main" val="3466623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39D6A-D2E7-1C1B-AE1E-458712C06C39}"/>
              </a:ext>
            </a:extLst>
          </p:cNvPr>
          <p:cNvSpPr>
            <a:spLocks noGrp="1"/>
          </p:cNvSpPr>
          <p:nvPr>
            <p:ph type="title"/>
          </p:nvPr>
        </p:nvSpPr>
        <p:spPr/>
        <p:txBody>
          <a:bodyPr/>
          <a:lstStyle/>
          <a:p>
            <a:r>
              <a:rPr lang="en-US" dirty="0"/>
              <a:t>Main issues about implementing orthogonality</a:t>
            </a:r>
            <a:endParaRPr lang="en-NL" dirty="0"/>
          </a:p>
        </p:txBody>
      </p:sp>
      <p:sp>
        <p:nvSpPr>
          <p:cNvPr id="3" name="Content Placeholder 2">
            <a:extLst>
              <a:ext uri="{FF2B5EF4-FFF2-40B4-BE49-F238E27FC236}">
                <a16:creationId xmlns:a16="http://schemas.microsoft.com/office/drawing/2014/main" id="{EB953CFB-52AF-786F-38E3-1FBD1E6D9F95}"/>
              </a:ext>
            </a:extLst>
          </p:cNvPr>
          <p:cNvSpPr>
            <a:spLocks noGrp="1"/>
          </p:cNvSpPr>
          <p:nvPr>
            <p:ph idx="1"/>
          </p:nvPr>
        </p:nvSpPr>
        <p:spPr/>
        <p:txBody>
          <a:bodyPr/>
          <a:lstStyle/>
          <a:p>
            <a:r>
              <a:rPr lang="en-US" dirty="0"/>
              <a:t>No constraint for the additional states</a:t>
            </a:r>
          </a:p>
          <a:p>
            <a:r>
              <a:rPr lang="en-US" dirty="0"/>
              <a:t>No SUBNET / encoder </a:t>
            </a:r>
            <a:r>
              <a:rPr lang="en-US" dirty="0" err="1"/>
              <a:t>init</a:t>
            </a:r>
            <a:endParaRPr lang="en-US" dirty="0"/>
          </a:p>
          <a:p>
            <a:r>
              <a:rPr lang="en-US" dirty="0"/>
              <a:t>No trajectory rollout only next step</a:t>
            </a:r>
          </a:p>
          <a:p>
            <a:pPr lvl="1"/>
            <a:r>
              <a:rPr lang="en-US" dirty="0"/>
              <a:t>Our implementation is recurrent / has memory</a:t>
            </a:r>
            <a:endParaRPr lang="en-NL" dirty="0"/>
          </a:p>
        </p:txBody>
      </p:sp>
    </p:spTree>
    <p:extLst>
      <p:ext uri="{BB962C8B-B14F-4D97-AF65-F5344CB8AC3E}">
        <p14:creationId xmlns:p14="http://schemas.microsoft.com/office/powerpoint/2010/main" val="32850310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EDE48-36E8-7EBA-F318-165EB2BB5758}"/>
              </a:ext>
            </a:extLst>
          </p:cNvPr>
          <p:cNvSpPr>
            <a:spLocks noGrp="1"/>
          </p:cNvSpPr>
          <p:nvPr>
            <p:ph type="title"/>
          </p:nvPr>
        </p:nvSpPr>
        <p:spPr/>
        <p:txBody>
          <a:bodyPr/>
          <a:lstStyle/>
          <a:p>
            <a:r>
              <a:rPr lang="en-US" dirty="0" err="1"/>
              <a:t>Kijken</a:t>
            </a:r>
            <a:r>
              <a:rPr lang="en-US" dirty="0"/>
              <a:t> paper </a:t>
            </a:r>
            <a:r>
              <a:rPr lang="en-US" dirty="0" err="1"/>
              <a:t>maarten</a:t>
            </a:r>
            <a:r>
              <a:rPr lang="en-US" dirty="0"/>
              <a:t> </a:t>
            </a:r>
            <a:r>
              <a:rPr lang="en-US" dirty="0" err="1"/>
              <a:t>en</a:t>
            </a:r>
            <a:r>
              <a:rPr lang="en-US" dirty="0"/>
              <a:t> </a:t>
            </a:r>
            <a:r>
              <a:rPr lang="en-US" dirty="0" err="1"/>
              <a:t>roland</a:t>
            </a:r>
            <a:r>
              <a:rPr lang="en-US" dirty="0"/>
              <a:t> orthogonality regularization</a:t>
            </a:r>
            <a:endParaRPr lang="en-NL" dirty="0"/>
          </a:p>
        </p:txBody>
      </p:sp>
      <p:sp>
        <p:nvSpPr>
          <p:cNvPr id="3" name="Content Placeholder 2">
            <a:extLst>
              <a:ext uri="{FF2B5EF4-FFF2-40B4-BE49-F238E27FC236}">
                <a16:creationId xmlns:a16="http://schemas.microsoft.com/office/drawing/2014/main" id="{6102FD36-A133-C200-31B8-7DDF3691BA34}"/>
              </a:ext>
            </a:extLst>
          </p:cNvPr>
          <p:cNvSpPr>
            <a:spLocks noGrp="1"/>
          </p:cNvSpPr>
          <p:nvPr>
            <p:ph idx="1"/>
          </p:nvPr>
        </p:nvSpPr>
        <p:spPr/>
        <p:txBody>
          <a:bodyPr/>
          <a:lstStyle/>
          <a:p>
            <a:r>
              <a:rPr lang="en-US" dirty="0" err="1"/>
              <a:t>Commentaar</a:t>
            </a:r>
            <a:r>
              <a:rPr lang="en-US" dirty="0"/>
              <a:t> op </a:t>
            </a:r>
            <a:r>
              <a:rPr lang="en-US" dirty="0" err="1"/>
              <a:t>kiezen</a:t>
            </a:r>
            <a:r>
              <a:rPr lang="en-US" dirty="0"/>
              <a:t> beta, </a:t>
            </a:r>
            <a:r>
              <a:rPr lang="en-US" dirty="0" err="1"/>
              <a:t>gyorok</a:t>
            </a:r>
            <a:r>
              <a:rPr lang="en-US" dirty="0"/>
              <a:t> </a:t>
            </a:r>
            <a:r>
              <a:rPr lang="en-US" dirty="0" err="1"/>
              <a:t>en</a:t>
            </a:r>
            <a:r>
              <a:rPr lang="en-US" dirty="0"/>
              <a:t> </a:t>
            </a:r>
            <a:r>
              <a:rPr lang="en-US" dirty="0" err="1"/>
              <a:t>maarten</a:t>
            </a:r>
            <a:r>
              <a:rPr lang="en-US" dirty="0"/>
              <a:t> </a:t>
            </a:r>
            <a:r>
              <a:rPr lang="en-US" dirty="0" err="1"/>
              <a:t>en</a:t>
            </a:r>
            <a:r>
              <a:rPr lang="en-US" dirty="0"/>
              <a:t> </a:t>
            </a:r>
            <a:r>
              <a:rPr lang="en-US" dirty="0" err="1"/>
              <a:t>roland</a:t>
            </a:r>
            <a:endParaRPr lang="en-US" dirty="0"/>
          </a:p>
          <a:p>
            <a:pPr lvl="1"/>
            <a:r>
              <a:rPr lang="en-US" dirty="0" err="1"/>
              <a:t>Daarom</a:t>
            </a:r>
            <a:r>
              <a:rPr lang="en-US" dirty="0"/>
              <a:t> </a:t>
            </a:r>
            <a:r>
              <a:rPr lang="en-US" dirty="0" err="1"/>
              <a:t>weggestapt</a:t>
            </a:r>
            <a:r>
              <a:rPr lang="en-US" dirty="0"/>
              <a:t> van </a:t>
            </a:r>
            <a:r>
              <a:rPr lang="en-US" dirty="0" err="1"/>
              <a:t>regularizer</a:t>
            </a:r>
            <a:endParaRPr lang="en-US" dirty="0"/>
          </a:p>
          <a:p>
            <a:r>
              <a:rPr lang="en-US" dirty="0" err="1"/>
              <a:t>Bolderman</a:t>
            </a:r>
            <a:r>
              <a:rPr lang="en-US" dirty="0"/>
              <a:t> 2024 (ISS PGNN feedforward, </a:t>
            </a:r>
            <a:r>
              <a:rPr lang="en-US" dirty="0" err="1"/>
              <a:t>arXiv</a:t>
            </a:r>
            <a:r>
              <a:rPr lang="en-US" dirty="0"/>
              <a:t> 2301.08568) / </a:t>
            </a:r>
            <a:r>
              <a:rPr lang="en-US" dirty="0" err="1"/>
              <a:t>iets</a:t>
            </a:r>
            <a:r>
              <a:rPr lang="en-US" dirty="0"/>
              <a:t> van een </a:t>
            </a:r>
            <a:r>
              <a:rPr lang="en-US" dirty="0" err="1"/>
              <a:t>oplossing</a:t>
            </a:r>
            <a:r>
              <a:rPr lang="en-US" dirty="0"/>
              <a:t> </a:t>
            </a:r>
            <a:r>
              <a:rPr lang="en-US" dirty="0" err="1"/>
              <a:t>ipv</a:t>
            </a:r>
            <a:r>
              <a:rPr lang="en-US" dirty="0"/>
              <a:t> hoe beta </a:t>
            </a:r>
            <a:r>
              <a:rPr lang="en-US" dirty="0" err="1"/>
              <a:t>geestimate</a:t>
            </a:r>
            <a:r>
              <a:rPr lang="en-US" dirty="0"/>
              <a:t> </a:t>
            </a:r>
            <a:r>
              <a:rPr lang="en-US" dirty="0" err="1"/>
              <a:t>wordt</a:t>
            </a:r>
            <a:r>
              <a:rPr lang="en-US" dirty="0"/>
              <a:t>.</a:t>
            </a:r>
          </a:p>
          <a:p>
            <a:r>
              <a:rPr lang="en-US" dirty="0"/>
              <a:t>Hier </a:t>
            </a:r>
            <a:r>
              <a:rPr lang="en-US" dirty="0" err="1"/>
              <a:t>wordt</a:t>
            </a:r>
            <a:r>
              <a:rPr lang="en-US" dirty="0"/>
              <a:t> </a:t>
            </a:r>
            <a:r>
              <a:rPr lang="en-US" dirty="0" err="1"/>
              <a:t>bolderman</a:t>
            </a:r>
            <a:r>
              <a:rPr lang="en-US" dirty="0"/>
              <a:t> </a:t>
            </a:r>
            <a:r>
              <a:rPr lang="en-US" dirty="0" err="1"/>
              <a:t>ook</a:t>
            </a:r>
            <a:r>
              <a:rPr lang="en-US" dirty="0"/>
              <a:t> al </a:t>
            </a:r>
            <a:r>
              <a:rPr lang="en-US" dirty="0" err="1"/>
              <a:t>gereferenced</a:t>
            </a:r>
            <a:r>
              <a:rPr lang="en-US" dirty="0"/>
              <a:t>, maar state </a:t>
            </a:r>
            <a:r>
              <a:rPr lang="en-US" dirty="0" err="1"/>
              <a:t>dat</a:t>
            </a:r>
            <a:r>
              <a:rPr lang="en-US" dirty="0"/>
              <a:t> </a:t>
            </a:r>
            <a:r>
              <a:rPr lang="en-US" dirty="0" err="1"/>
              <a:t>niet</a:t>
            </a:r>
            <a:r>
              <a:rPr lang="en-US" dirty="0"/>
              <a:t> </a:t>
            </a:r>
            <a:r>
              <a:rPr lang="en-US" dirty="0" err="1"/>
              <a:t>intuiatief</a:t>
            </a:r>
            <a:r>
              <a:rPr lang="en-US" dirty="0"/>
              <a:t> is voor regularization</a:t>
            </a:r>
            <a:endParaRPr lang="en-NL" dirty="0"/>
          </a:p>
        </p:txBody>
      </p:sp>
      <p:pic>
        <p:nvPicPr>
          <p:cNvPr id="5" name="Picture 4">
            <a:extLst>
              <a:ext uri="{FF2B5EF4-FFF2-40B4-BE49-F238E27FC236}">
                <a16:creationId xmlns:a16="http://schemas.microsoft.com/office/drawing/2014/main" id="{BAA14CCF-C62C-44D1-B95C-4029EF7BC6A2}"/>
              </a:ext>
            </a:extLst>
          </p:cNvPr>
          <p:cNvPicPr>
            <a:picLocks noChangeAspect="1"/>
          </p:cNvPicPr>
          <p:nvPr/>
        </p:nvPicPr>
        <p:blipFill>
          <a:blip r:embed="rId2"/>
          <a:stretch>
            <a:fillRect/>
          </a:stretch>
        </p:blipFill>
        <p:spPr>
          <a:xfrm>
            <a:off x="5898920" y="2987040"/>
            <a:ext cx="5311600" cy="2949196"/>
          </a:xfrm>
          <a:prstGeom prst="rect">
            <a:avLst/>
          </a:prstGeom>
        </p:spPr>
      </p:pic>
    </p:spTree>
    <p:extLst>
      <p:ext uri="{BB962C8B-B14F-4D97-AF65-F5344CB8AC3E}">
        <p14:creationId xmlns:p14="http://schemas.microsoft.com/office/powerpoint/2010/main" val="18847469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CBD15-54A7-1246-4988-1AE930C00DF0}"/>
              </a:ext>
            </a:extLst>
          </p:cNvPr>
          <p:cNvSpPr>
            <a:spLocks noGrp="1"/>
          </p:cNvSpPr>
          <p:nvPr>
            <p:ph type="title"/>
          </p:nvPr>
        </p:nvSpPr>
        <p:spPr/>
        <p:txBody>
          <a:bodyPr/>
          <a:lstStyle/>
          <a:p>
            <a:r>
              <a:rPr lang="en-US" dirty="0"/>
              <a:t>Closed-loop</a:t>
            </a:r>
            <a:endParaRPr lang="en-NL" dirty="0"/>
          </a:p>
        </p:txBody>
      </p:sp>
      <p:sp>
        <p:nvSpPr>
          <p:cNvPr id="3" name="Content Placeholder 2">
            <a:extLst>
              <a:ext uri="{FF2B5EF4-FFF2-40B4-BE49-F238E27FC236}">
                <a16:creationId xmlns:a16="http://schemas.microsoft.com/office/drawing/2014/main" id="{572B0D8C-7231-CA09-B373-5AE83845C15F}"/>
              </a:ext>
            </a:extLst>
          </p:cNvPr>
          <p:cNvSpPr>
            <a:spLocks noGrp="1"/>
          </p:cNvSpPr>
          <p:nvPr>
            <p:ph idx="1"/>
          </p:nvPr>
        </p:nvSpPr>
        <p:spPr/>
        <p:txBody>
          <a:bodyPr/>
          <a:lstStyle/>
          <a:p>
            <a:r>
              <a:rPr lang="en-US" dirty="0"/>
              <a:t>What changes about the method</a:t>
            </a:r>
            <a:endParaRPr lang="en-NL" dirty="0"/>
          </a:p>
        </p:txBody>
      </p:sp>
    </p:spTree>
    <p:extLst>
      <p:ext uri="{BB962C8B-B14F-4D97-AF65-F5344CB8AC3E}">
        <p14:creationId xmlns:p14="http://schemas.microsoft.com/office/powerpoint/2010/main" val="3248421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70FBE-71B5-1C75-BBA0-EC6016C468A2}"/>
              </a:ext>
            </a:extLst>
          </p:cNvPr>
          <p:cNvSpPr>
            <a:spLocks noGrp="1"/>
          </p:cNvSpPr>
          <p:nvPr>
            <p:ph type="title"/>
          </p:nvPr>
        </p:nvSpPr>
        <p:spPr/>
        <p:txBody>
          <a:bodyPr/>
          <a:lstStyle/>
          <a:p>
            <a:r>
              <a:rPr lang="en-US" dirty="0"/>
              <a:t>Batch sized training</a:t>
            </a:r>
            <a:endParaRPr lang="en-NL" dirty="0"/>
          </a:p>
        </p:txBody>
      </p:sp>
      <p:sp>
        <p:nvSpPr>
          <p:cNvPr id="3" name="Content Placeholder 2">
            <a:extLst>
              <a:ext uri="{FF2B5EF4-FFF2-40B4-BE49-F238E27FC236}">
                <a16:creationId xmlns:a16="http://schemas.microsoft.com/office/drawing/2014/main" id="{7C4AFCDA-0534-7B9F-7B3E-B8C38F8D8207}"/>
              </a:ext>
            </a:extLst>
          </p:cNvPr>
          <p:cNvSpPr>
            <a:spLocks noGrp="1"/>
          </p:cNvSpPr>
          <p:nvPr>
            <p:ph idx="1"/>
          </p:nvPr>
        </p:nvSpPr>
        <p:spPr/>
        <p:txBody>
          <a:bodyPr/>
          <a:lstStyle/>
          <a:p>
            <a:r>
              <a:rPr lang="en-US" dirty="0"/>
              <a:t>What changes about the orthogonality constraint</a:t>
            </a:r>
            <a:endParaRPr lang="en-NL" dirty="0"/>
          </a:p>
        </p:txBody>
      </p:sp>
    </p:spTree>
    <p:extLst>
      <p:ext uri="{BB962C8B-B14F-4D97-AF65-F5344CB8AC3E}">
        <p14:creationId xmlns:p14="http://schemas.microsoft.com/office/powerpoint/2010/main" val="16130321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C898-FBF8-DD64-6745-BB73C32BAFE0}"/>
              </a:ext>
            </a:extLst>
          </p:cNvPr>
          <p:cNvSpPr>
            <a:spLocks noGrp="1"/>
          </p:cNvSpPr>
          <p:nvPr>
            <p:ph type="title"/>
          </p:nvPr>
        </p:nvSpPr>
        <p:spPr/>
        <p:txBody>
          <a:bodyPr/>
          <a:lstStyle/>
          <a:p>
            <a:r>
              <a:rPr lang="en-US" dirty="0"/>
              <a:t>Update each epoch the baseline what the ANN needs to be orthogonal to?</a:t>
            </a:r>
            <a:endParaRPr lang="en-NL" dirty="0"/>
          </a:p>
        </p:txBody>
      </p:sp>
      <p:sp>
        <p:nvSpPr>
          <p:cNvPr id="3" name="Content Placeholder 2">
            <a:extLst>
              <a:ext uri="{FF2B5EF4-FFF2-40B4-BE49-F238E27FC236}">
                <a16:creationId xmlns:a16="http://schemas.microsoft.com/office/drawing/2014/main" id="{6DEFC21F-B5C2-A5F6-91A7-0E806897221D}"/>
              </a:ext>
            </a:extLst>
          </p:cNvPr>
          <p:cNvSpPr>
            <a:spLocks noGrp="1"/>
          </p:cNvSpPr>
          <p:nvPr>
            <p:ph idx="1"/>
          </p:nvPr>
        </p:nvSpPr>
        <p:spPr/>
        <p:txBody>
          <a:bodyPr/>
          <a:lstStyle/>
          <a:p>
            <a:r>
              <a:rPr lang="en-US" dirty="0"/>
              <a:t>Maybe not required / small benefit.</a:t>
            </a:r>
            <a:endParaRPr lang="en-NL" dirty="0"/>
          </a:p>
        </p:txBody>
      </p:sp>
    </p:spTree>
    <p:extLst>
      <p:ext uri="{BB962C8B-B14F-4D97-AF65-F5344CB8AC3E}">
        <p14:creationId xmlns:p14="http://schemas.microsoft.com/office/powerpoint/2010/main" val="13512771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2136-7AF6-C6CA-668E-C52B8812BCE3}"/>
              </a:ext>
            </a:extLst>
          </p:cNvPr>
          <p:cNvSpPr>
            <a:spLocks noGrp="1"/>
          </p:cNvSpPr>
          <p:nvPr>
            <p:ph type="title"/>
          </p:nvPr>
        </p:nvSpPr>
        <p:spPr/>
        <p:txBody>
          <a:bodyPr/>
          <a:lstStyle/>
          <a:p>
            <a:r>
              <a:rPr lang="en-US" dirty="0"/>
              <a:t>Trajectory method instead of pointwise</a:t>
            </a:r>
            <a:endParaRPr lang="en-NL" dirty="0"/>
          </a:p>
        </p:txBody>
      </p:sp>
      <p:sp>
        <p:nvSpPr>
          <p:cNvPr id="3" name="Content Placeholder 2">
            <a:extLst>
              <a:ext uri="{FF2B5EF4-FFF2-40B4-BE49-F238E27FC236}">
                <a16:creationId xmlns:a16="http://schemas.microsoft.com/office/drawing/2014/main" id="{8438DA23-FB7F-087E-988F-D8EEB85DFF9F}"/>
              </a:ext>
            </a:extLst>
          </p:cNvPr>
          <p:cNvSpPr>
            <a:spLocks noGrp="1"/>
          </p:cNvSpPr>
          <p:nvPr>
            <p:ph idx="1"/>
          </p:nvPr>
        </p:nvSpPr>
        <p:spPr/>
        <p:txBody>
          <a:bodyPr/>
          <a:lstStyle/>
          <a:p>
            <a:r>
              <a:rPr lang="en-US" dirty="0" err="1"/>
              <a:t>Gyorok</a:t>
            </a:r>
            <a:r>
              <a:rPr lang="en-US" dirty="0"/>
              <a:t> does one step.</a:t>
            </a:r>
          </a:p>
          <a:p>
            <a:r>
              <a:rPr lang="en-US" dirty="0"/>
              <a:t>Adapt to trajectory similar as Kon</a:t>
            </a:r>
            <a:endParaRPr lang="en-NL" dirty="0"/>
          </a:p>
        </p:txBody>
      </p:sp>
      <p:pic>
        <p:nvPicPr>
          <p:cNvPr id="5" name="Picture 4">
            <a:extLst>
              <a:ext uri="{FF2B5EF4-FFF2-40B4-BE49-F238E27FC236}">
                <a16:creationId xmlns:a16="http://schemas.microsoft.com/office/drawing/2014/main" id="{58F43E6C-3B10-ACD6-DFDB-F64C95CF21C5}"/>
              </a:ext>
            </a:extLst>
          </p:cNvPr>
          <p:cNvPicPr>
            <a:picLocks noChangeAspect="1"/>
          </p:cNvPicPr>
          <p:nvPr/>
        </p:nvPicPr>
        <p:blipFill>
          <a:blip r:embed="rId2"/>
          <a:stretch>
            <a:fillRect/>
          </a:stretch>
        </p:blipFill>
        <p:spPr>
          <a:xfrm>
            <a:off x="3561625" y="2726221"/>
            <a:ext cx="8215072" cy="3254022"/>
          </a:xfrm>
          <a:prstGeom prst="rect">
            <a:avLst/>
          </a:prstGeom>
        </p:spPr>
      </p:pic>
    </p:spTree>
    <p:extLst>
      <p:ext uri="{BB962C8B-B14F-4D97-AF65-F5344CB8AC3E}">
        <p14:creationId xmlns:p14="http://schemas.microsoft.com/office/powerpoint/2010/main" val="30347932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2242B-C1D3-A740-3359-9E8F81783586}"/>
              </a:ext>
            </a:extLst>
          </p:cNvPr>
          <p:cNvSpPr>
            <a:spLocks noGrp="1"/>
          </p:cNvSpPr>
          <p:nvPr>
            <p:ph type="title"/>
          </p:nvPr>
        </p:nvSpPr>
        <p:spPr/>
        <p:txBody>
          <a:bodyPr/>
          <a:lstStyle/>
          <a:p>
            <a:r>
              <a:rPr lang="en-US" dirty="0"/>
              <a:t>One step correction doesn’t apply</a:t>
            </a:r>
            <a:endParaRPr lang="en-NL" dirty="0"/>
          </a:p>
        </p:txBody>
      </p:sp>
      <p:sp>
        <p:nvSpPr>
          <p:cNvPr id="3" name="Content Placeholder 2">
            <a:extLst>
              <a:ext uri="{FF2B5EF4-FFF2-40B4-BE49-F238E27FC236}">
                <a16:creationId xmlns:a16="http://schemas.microsoft.com/office/drawing/2014/main" id="{9B8B49DF-0127-3068-5040-228FEA2EED8C}"/>
              </a:ext>
            </a:extLst>
          </p:cNvPr>
          <p:cNvSpPr>
            <a:spLocks noGrp="1"/>
          </p:cNvSpPr>
          <p:nvPr>
            <p:ph idx="1"/>
          </p:nvPr>
        </p:nvSpPr>
        <p:spPr/>
        <p:txBody>
          <a:bodyPr>
            <a:normAutofit fontScale="92500" lnSpcReduction="10000"/>
          </a:bodyPr>
          <a:lstStyle/>
          <a:p>
            <a:r>
              <a:rPr lang="en-US" dirty="0"/>
              <a:t>Main question to answer: Why does one step not work for us?:</a:t>
            </a:r>
          </a:p>
          <a:p>
            <a:pPr lvl="1"/>
            <a:r>
              <a:rPr lang="en-US" dirty="0"/>
              <a:t>Additional / latent state keeps propagating?</a:t>
            </a:r>
          </a:p>
          <a:p>
            <a:pPr lvl="1"/>
            <a:r>
              <a:rPr lang="en-US" dirty="0"/>
              <a:t>Rollout because.. </a:t>
            </a:r>
            <a:r>
              <a:rPr lang="en-US" dirty="0" err="1"/>
              <a:t>Gyorok</a:t>
            </a:r>
            <a:r>
              <a:rPr lang="en-US" dirty="0"/>
              <a:t> his ANN is memoryless, but his </a:t>
            </a:r>
            <a:r>
              <a:rPr lang="en-NL" dirty="0"/>
              <a:t>training rollout does have temporal propagation</a:t>
            </a:r>
            <a:r>
              <a:rPr lang="en-US" dirty="0"/>
              <a:t>.</a:t>
            </a:r>
          </a:p>
          <a:p>
            <a:pPr lvl="2"/>
            <a:r>
              <a:rPr lang="en-US" dirty="0"/>
              <a:t>Their learned terms enters additively </a:t>
            </a:r>
            <a:r>
              <a:rPr lang="en-US" dirty="0">
                <a:sym typeface="Wingdings" panose="05000000000000000000" pitchFamily="2" charset="2"/>
              </a:rPr>
              <a:t> learned contribution is directly observable from the architecture</a:t>
            </a:r>
            <a:endParaRPr lang="en-US" dirty="0"/>
          </a:p>
          <a:p>
            <a:r>
              <a:rPr lang="en-US" dirty="0"/>
              <a:t>Due to laten states / additional states</a:t>
            </a:r>
          </a:p>
          <a:p>
            <a:r>
              <a:rPr lang="en-NL" dirty="0"/>
              <a:t>One caution: Györök says “fixing the learning component to zero” when motivating estimation of the FP model under full-state measurement. That should not be interpreted as their </a:t>
            </a:r>
            <a:r>
              <a:rPr lang="en-NL" dirty="0" err="1"/>
              <a:t>regularizer</a:t>
            </a:r>
            <a:r>
              <a:rPr lang="en-NL" dirty="0"/>
              <a:t> performing an ANN-on/ANN-off trajectory subtraction. Their actual orthogonality term projects the directly evaluated ANN correction.</a:t>
            </a:r>
          </a:p>
        </p:txBody>
      </p:sp>
      <p:pic>
        <p:nvPicPr>
          <p:cNvPr id="5" name="Picture 4">
            <a:extLst>
              <a:ext uri="{FF2B5EF4-FFF2-40B4-BE49-F238E27FC236}">
                <a16:creationId xmlns:a16="http://schemas.microsoft.com/office/drawing/2014/main" id="{0903ADB2-45B8-AF0E-DD14-974A0BDD6649}"/>
              </a:ext>
            </a:extLst>
          </p:cNvPr>
          <p:cNvPicPr>
            <a:picLocks noChangeAspect="1"/>
          </p:cNvPicPr>
          <p:nvPr/>
        </p:nvPicPr>
        <p:blipFill>
          <a:blip r:embed="rId2"/>
          <a:stretch>
            <a:fillRect/>
          </a:stretch>
        </p:blipFill>
        <p:spPr>
          <a:xfrm>
            <a:off x="-612742" y="4188648"/>
            <a:ext cx="7887383" cy="5121084"/>
          </a:xfrm>
          <a:prstGeom prst="rect">
            <a:avLst/>
          </a:prstGeom>
        </p:spPr>
      </p:pic>
      <p:pic>
        <p:nvPicPr>
          <p:cNvPr id="7" name="Picture 6">
            <a:extLst>
              <a:ext uri="{FF2B5EF4-FFF2-40B4-BE49-F238E27FC236}">
                <a16:creationId xmlns:a16="http://schemas.microsoft.com/office/drawing/2014/main" id="{9EF41E5F-10E6-3D73-C992-EEB97238C181}"/>
              </a:ext>
            </a:extLst>
          </p:cNvPr>
          <p:cNvPicPr>
            <a:picLocks noChangeAspect="1"/>
          </p:cNvPicPr>
          <p:nvPr/>
        </p:nvPicPr>
        <p:blipFill>
          <a:blip r:embed="rId3"/>
          <a:stretch>
            <a:fillRect/>
          </a:stretch>
        </p:blipFill>
        <p:spPr>
          <a:xfrm>
            <a:off x="7532039" y="4374677"/>
            <a:ext cx="7643522" cy="3604572"/>
          </a:xfrm>
          <a:prstGeom prst="rect">
            <a:avLst/>
          </a:prstGeom>
        </p:spPr>
      </p:pic>
      <p:pic>
        <p:nvPicPr>
          <p:cNvPr id="9" name="Picture 8">
            <a:extLst>
              <a:ext uri="{FF2B5EF4-FFF2-40B4-BE49-F238E27FC236}">
                <a16:creationId xmlns:a16="http://schemas.microsoft.com/office/drawing/2014/main" id="{7D4848C1-4A1C-71F1-BD46-6852A9EF11DE}"/>
              </a:ext>
            </a:extLst>
          </p:cNvPr>
          <p:cNvPicPr>
            <a:picLocks noChangeAspect="1"/>
          </p:cNvPicPr>
          <p:nvPr/>
        </p:nvPicPr>
        <p:blipFill>
          <a:blip r:embed="rId4"/>
          <a:stretch>
            <a:fillRect/>
          </a:stretch>
        </p:blipFill>
        <p:spPr>
          <a:xfrm>
            <a:off x="8746740" y="2626413"/>
            <a:ext cx="8116003" cy="1562235"/>
          </a:xfrm>
          <a:prstGeom prst="rect">
            <a:avLst/>
          </a:prstGeom>
        </p:spPr>
      </p:pic>
    </p:spTree>
    <p:extLst>
      <p:ext uri="{BB962C8B-B14F-4D97-AF65-F5344CB8AC3E}">
        <p14:creationId xmlns:p14="http://schemas.microsoft.com/office/powerpoint/2010/main" val="20130904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AB264-F22C-FB14-502F-75CEBC5B426F}"/>
              </a:ext>
            </a:extLst>
          </p:cNvPr>
          <p:cNvSpPr>
            <a:spLocks noGrp="1"/>
          </p:cNvSpPr>
          <p:nvPr>
            <p:ph type="title"/>
          </p:nvPr>
        </p:nvSpPr>
        <p:spPr/>
        <p:txBody>
          <a:bodyPr>
            <a:normAutofit fontScale="90000"/>
          </a:bodyPr>
          <a:lstStyle/>
          <a:p>
            <a:r>
              <a:rPr lang="en-US" dirty="0"/>
              <a:t>Due to running both outputs this includes:</a:t>
            </a:r>
            <a:br>
              <a:rPr lang="en-US" dirty="0"/>
            </a:br>
            <a:r>
              <a:rPr lang="en-NL" dirty="0" err="1"/>
              <a:t>NONlinear</a:t>
            </a:r>
            <a:r>
              <a:rPr lang="en-NL" dirty="0"/>
              <a:t> model, </a:t>
            </a:r>
            <a:r>
              <a:rPr lang="en-NL" dirty="0" err="1"/>
              <a:t>controler</a:t>
            </a:r>
            <a:r>
              <a:rPr lang="en-NL" dirty="0"/>
              <a:t>, scheduling AND output map</a:t>
            </a:r>
          </a:p>
        </p:txBody>
      </p:sp>
      <p:sp>
        <p:nvSpPr>
          <p:cNvPr id="3" name="Content Placeholder 2">
            <a:extLst>
              <a:ext uri="{FF2B5EF4-FFF2-40B4-BE49-F238E27FC236}">
                <a16:creationId xmlns:a16="http://schemas.microsoft.com/office/drawing/2014/main" id="{9517DD6E-483C-AFAD-5C84-79153DD3B62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E560229-6686-7824-A070-F9C2702A38A9}"/>
              </a:ext>
            </a:extLst>
          </p:cNvPr>
          <p:cNvPicPr>
            <a:picLocks noChangeAspect="1"/>
          </p:cNvPicPr>
          <p:nvPr/>
        </p:nvPicPr>
        <p:blipFill>
          <a:blip r:embed="rId2"/>
          <a:stretch>
            <a:fillRect/>
          </a:stretch>
        </p:blipFill>
        <p:spPr>
          <a:xfrm>
            <a:off x="2182791" y="2520586"/>
            <a:ext cx="7826418" cy="2530059"/>
          </a:xfrm>
          <a:prstGeom prst="rect">
            <a:avLst/>
          </a:prstGeom>
        </p:spPr>
      </p:pic>
    </p:spTree>
    <p:extLst>
      <p:ext uri="{BB962C8B-B14F-4D97-AF65-F5344CB8AC3E}">
        <p14:creationId xmlns:p14="http://schemas.microsoft.com/office/powerpoint/2010/main" val="28903254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5DA2-17CE-0B8F-5DF9-4DF52B64DBB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9952C96-3240-7D22-5F58-22587B199304}"/>
              </a:ext>
            </a:extLst>
          </p:cNvPr>
          <p:cNvSpPr>
            <a:spLocks noGrp="1"/>
          </p:cNvSpPr>
          <p:nvPr>
            <p:ph idx="1"/>
          </p:nvPr>
        </p:nvSpPr>
        <p:spPr>
          <a:xfrm>
            <a:off x="646176" y="6278753"/>
            <a:ext cx="10515600" cy="4351338"/>
          </a:xfrm>
        </p:spPr>
        <p:txBody>
          <a:bodyPr/>
          <a:lstStyle/>
          <a:p>
            <a:r>
              <a:rPr lang="en-NL" b="1" dirty="0"/>
              <a:t>The important limitation</a:t>
            </a:r>
          </a:p>
          <a:p>
            <a:r>
              <a:rPr lang="en-NL" dirty="0"/>
              <a:t>This construction does </a:t>
            </a:r>
            <a:r>
              <a:rPr lang="en-NL" b="1" dirty="0"/>
              <a:t>not</a:t>
            </a:r>
            <a:r>
              <a:rPr lang="en-NL" dirty="0"/>
              <a:t> establish that the latent-state encoder itself cannot mimic physics.</a:t>
            </a:r>
          </a:p>
          <a:p>
            <a:r>
              <a:rPr lang="en-NL" dirty="0"/>
              <a:t>It establishes only that its contribution, together with the rest of the augmentation, is penalized when the </a:t>
            </a:r>
            <a:r>
              <a:rPr lang="en-NL" b="1" dirty="0"/>
              <a:t>resulting trajectory effect</a:t>
            </a:r>
            <a:r>
              <a:rPr lang="en-NL" dirty="0"/>
              <a:t> aligns with the profiled physical tangent.</a:t>
            </a:r>
          </a:p>
          <a:p>
            <a:endParaRPr lang="en-NL" dirty="0"/>
          </a:p>
        </p:txBody>
      </p:sp>
      <p:pic>
        <p:nvPicPr>
          <p:cNvPr id="7" name="Picture 6">
            <a:extLst>
              <a:ext uri="{FF2B5EF4-FFF2-40B4-BE49-F238E27FC236}">
                <a16:creationId xmlns:a16="http://schemas.microsoft.com/office/drawing/2014/main" id="{F772DDFE-C7E4-5110-B55F-35CFBBA3E6E4}"/>
              </a:ext>
            </a:extLst>
          </p:cNvPr>
          <p:cNvPicPr>
            <a:picLocks noChangeAspect="1"/>
          </p:cNvPicPr>
          <p:nvPr/>
        </p:nvPicPr>
        <p:blipFill>
          <a:blip r:embed="rId2"/>
          <a:stretch>
            <a:fillRect/>
          </a:stretch>
        </p:blipFill>
        <p:spPr>
          <a:xfrm>
            <a:off x="236606" y="106475"/>
            <a:ext cx="8664691" cy="4724809"/>
          </a:xfrm>
          <a:prstGeom prst="rect">
            <a:avLst/>
          </a:prstGeom>
        </p:spPr>
      </p:pic>
      <p:pic>
        <p:nvPicPr>
          <p:cNvPr id="9" name="Picture 8">
            <a:extLst>
              <a:ext uri="{FF2B5EF4-FFF2-40B4-BE49-F238E27FC236}">
                <a16:creationId xmlns:a16="http://schemas.microsoft.com/office/drawing/2014/main" id="{71C3F937-E5BC-DB93-7E0B-400B00290766}"/>
              </a:ext>
            </a:extLst>
          </p:cNvPr>
          <p:cNvPicPr>
            <a:picLocks noChangeAspect="1"/>
          </p:cNvPicPr>
          <p:nvPr/>
        </p:nvPicPr>
        <p:blipFill>
          <a:blip r:embed="rId3"/>
          <a:stretch>
            <a:fillRect/>
          </a:stretch>
        </p:blipFill>
        <p:spPr>
          <a:xfrm>
            <a:off x="236606" y="4340384"/>
            <a:ext cx="6782388" cy="1836579"/>
          </a:xfrm>
          <a:prstGeom prst="rect">
            <a:avLst/>
          </a:prstGeom>
        </p:spPr>
      </p:pic>
    </p:spTree>
    <p:extLst>
      <p:ext uri="{BB962C8B-B14F-4D97-AF65-F5344CB8AC3E}">
        <p14:creationId xmlns:p14="http://schemas.microsoft.com/office/powerpoint/2010/main" val="17038305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BC62-25A9-A1A5-6720-80AFD6A71AA3}"/>
              </a:ext>
            </a:extLst>
          </p:cNvPr>
          <p:cNvSpPr>
            <a:spLocks noGrp="1"/>
          </p:cNvSpPr>
          <p:nvPr>
            <p:ph type="title"/>
          </p:nvPr>
        </p:nvSpPr>
        <p:spPr/>
        <p:txBody>
          <a:bodyPr/>
          <a:lstStyle/>
          <a:p>
            <a:r>
              <a:rPr lang="en-US" dirty="0"/>
              <a:t>Limitation not fully extending </a:t>
            </a:r>
            <a:r>
              <a:rPr lang="en-US" dirty="0" err="1"/>
              <a:t>Gyorok</a:t>
            </a:r>
            <a:r>
              <a:rPr lang="en-US" dirty="0"/>
              <a:t> his nonlinear capabilities</a:t>
            </a:r>
            <a:endParaRPr lang="en-NL" dirty="0"/>
          </a:p>
        </p:txBody>
      </p:sp>
      <p:sp>
        <p:nvSpPr>
          <p:cNvPr id="3" name="Content Placeholder 2">
            <a:extLst>
              <a:ext uri="{FF2B5EF4-FFF2-40B4-BE49-F238E27FC236}">
                <a16:creationId xmlns:a16="http://schemas.microsoft.com/office/drawing/2014/main" id="{E523B56D-1B50-846E-444D-69ADC22E26A6}"/>
              </a:ext>
            </a:extLst>
          </p:cNvPr>
          <p:cNvSpPr>
            <a:spLocks noGrp="1"/>
          </p:cNvSpPr>
          <p:nvPr>
            <p:ph idx="1"/>
          </p:nvPr>
        </p:nvSpPr>
        <p:spPr/>
        <p:txBody>
          <a:bodyPr/>
          <a:lstStyle/>
          <a:p>
            <a:r>
              <a:rPr lang="en-NL" dirty="0"/>
              <a:t>That is much narrower than:</a:t>
            </a:r>
          </a:p>
          <a:p>
            <a:pPr lvl="1"/>
            <a:r>
              <a:rPr lang="en-NL" dirty="0"/>
              <a:t>“the ANN can no longer mimic the physics.”</a:t>
            </a:r>
          </a:p>
          <a:p>
            <a:endParaRPr lang="en-NL" dirty="0"/>
          </a:p>
        </p:txBody>
      </p:sp>
      <p:pic>
        <p:nvPicPr>
          <p:cNvPr id="5" name="Picture 4">
            <a:extLst>
              <a:ext uri="{FF2B5EF4-FFF2-40B4-BE49-F238E27FC236}">
                <a16:creationId xmlns:a16="http://schemas.microsoft.com/office/drawing/2014/main" id="{B0BB3747-9F71-BED2-A9CA-63C29ADD1C8B}"/>
              </a:ext>
            </a:extLst>
          </p:cNvPr>
          <p:cNvPicPr>
            <a:picLocks noChangeAspect="1"/>
          </p:cNvPicPr>
          <p:nvPr/>
        </p:nvPicPr>
        <p:blipFill>
          <a:blip r:embed="rId2"/>
          <a:stretch>
            <a:fillRect/>
          </a:stretch>
        </p:blipFill>
        <p:spPr>
          <a:xfrm>
            <a:off x="3602382" y="1916208"/>
            <a:ext cx="8169348" cy="5128704"/>
          </a:xfrm>
          <a:prstGeom prst="rect">
            <a:avLst/>
          </a:prstGeom>
        </p:spPr>
      </p:pic>
    </p:spTree>
    <p:extLst>
      <p:ext uri="{BB962C8B-B14F-4D97-AF65-F5344CB8AC3E}">
        <p14:creationId xmlns:p14="http://schemas.microsoft.com/office/powerpoint/2010/main" val="29790722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E112A-B394-3C15-E543-39528C273662}"/>
              </a:ext>
            </a:extLst>
          </p:cNvPr>
          <p:cNvSpPr>
            <a:spLocks noGrp="1"/>
          </p:cNvSpPr>
          <p:nvPr>
            <p:ph type="title"/>
          </p:nvPr>
        </p:nvSpPr>
        <p:spPr/>
        <p:txBody>
          <a:bodyPr/>
          <a:lstStyle/>
          <a:p>
            <a:r>
              <a:rPr lang="en-US" dirty="0"/>
              <a:t>Encoder</a:t>
            </a:r>
            <a:endParaRPr lang="en-NL" dirty="0"/>
          </a:p>
        </p:txBody>
      </p:sp>
      <p:sp>
        <p:nvSpPr>
          <p:cNvPr id="3" name="Content Placeholder 2">
            <a:extLst>
              <a:ext uri="{FF2B5EF4-FFF2-40B4-BE49-F238E27FC236}">
                <a16:creationId xmlns:a16="http://schemas.microsoft.com/office/drawing/2014/main" id="{CE8CFCE7-D12A-641D-9022-355ACB07737D}"/>
              </a:ext>
            </a:extLst>
          </p:cNvPr>
          <p:cNvSpPr>
            <a:spLocks noGrp="1"/>
          </p:cNvSpPr>
          <p:nvPr>
            <p:ph idx="1"/>
          </p:nvPr>
        </p:nvSpPr>
        <p:spPr/>
        <p:txBody>
          <a:bodyPr/>
          <a:lstStyle/>
          <a:p>
            <a:r>
              <a:rPr lang="en-US" dirty="0" err="1"/>
              <a:t>Gyorok</a:t>
            </a:r>
            <a:r>
              <a:rPr lang="en-US" dirty="0"/>
              <a:t> doesn’t use SUBNET, but does reference </a:t>
            </a:r>
            <a:r>
              <a:rPr lang="en-NL" dirty="0"/>
              <a:t>(Beintema et al., 2023)</a:t>
            </a:r>
            <a:endParaRPr lang="en-US" dirty="0"/>
          </a:p>
          <a:p>
            <a:r>
              <a:rPr lang="en-US" dirty="0"/>
              <a:t>Our encoder problem comes from the trajectory formulation, not from being in state space. We created it by moving the constraint onto a rollout, which we did because the pointwise form cannot see the latent path.</a:t>
            </a:r>
            <a:endParaRPr lang="en-NL" dirty="0"/>
          </a:p>
        </p:txBody>
      </p:sp>
      <p:pic>
        <p:nvPicPr>
          <p:cNvPr id="7" name="Picture 6">
            <a:extLst>
              <a:ext uri="{FF2B5EF4-FFF2-40B4-BE49-F238E27FC236}">
                <a16:creationId xmlns:a16="http://schemas.microsoft.com/office/drawing/2014/main" id="{82192717-92E8-E97D-172B-253E3DB17EA4}"/>
              </a:ext>
            </a:extLst>
          </p:cNvPr>
          <p:cNvPicPr>
            <a:picLocks noChangeAspect="1"/>
          </p:cNvPicPr>
          <p:nvPr/>
        </p:nvPicPr>
        <p:blipFill>
          <a:blip r:embed="rId2"/>
          <a:stretch>
            <a:fillRect/>
          </a:stretch>
        </p:blipFill>
        <p:spPr>
          <a:xfrm>
            <a:off x="4500505" y="4305642"/>
            <a:ext cx="8657070" cy="3375953"/>
          </a:xfrm>
          <a:prstGeom prst="rect">
            <a:avLst/>
          </a:prstGeom>
        </p:spPr>
      </p:pic>
    </p:spTree>
    <p:extLst>
      <p:ext uri="{BB962C8B-B14F-4D97-AF65-F5344CB8AC3E}">
        <p14:creationId xmlns:p14="http://schemas.microsoft.com/office/powerpoint/2010/main" val="6454627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D080E-ED96-FE0E-D2FD-F75EB71F0BD7}"/>
              </a:ext>
            </a:extLst>
          </p:cNvPr>
          <p:cNvSpPr>
            <a:spLocks noGrp="1"/>
          </p:cNvSpPr>
          <p:nvPr>
            <p:ph type="title"/>
          </p:nvPr>
        </p:nvSpPr>
        <p:spPr/>
        <p:txBody>
          <a:bodyPr/>
          <a:lstStyle/>
          <a:p>
            <a:r>
              <a:rPr lang="en-NL" dirty="0"/>
              <a:t>Why is this called “profiling out” the encoder?</a:t>
            </a:r>
          </a:p>
        </p:txBody>
      </p:sp>
      <p:sp>
        <p:nvSpPr>
          <p:cNvPr id="3" name="Content Placeholder 2">
            <a:extLst>
              <a:ext uri="{FF2B5EF4-FFF2-40B4-BE49-F238E27FC236}">
                <a16:creationId xmlns:a16="http://schemas.microsoft.com/office/drawing/2014/main" id="{1E6B2570-FD16-65A7-213B-36D62EB1832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8946393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FBA24-F1C3-E471-34F4-F0CF31733E80}"/>
              </a:ext>
            </a:extLst>
          </p:cNvPr>
          <p:cNvSpPr>
            <a:spLocks noGrp="1"/>
          </p:cNvSpPr>
          <p:nvPr>
            <p:ph type="title"/>
          </p:nvPr>
        </p:nvSpPr>
        <p:spPr/>
        <p:txBody>
          <a:bodyPr/>
          <a:lstStyle/>
          <a:p>
            <a:r>
              <a:rPr lang="en-US" dirty="0"/>
              <a:t>Magnitude states</a:t>
            </a:r>
            <a:endParaRPr lang="en-NL" dirty="0"/>
          </a:p>
        </p:txBody>
      </p:sp>
      <p:sp>
        <p:nvSpPr>
          <p:cNvPr id="3" name="Content Placeholder 2">
            <a:extLst>
              <a:ext uri="{FF2B5EF4-FFF2-40B4-BE49-F238E27FC236}">
                <a16:creationId xmlns:a16="http://schemas.microsoft.com/office/drawing/2014/main" id="{6EF814E1-1535-EDB5-6454-E03D45DBA3D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02B2F85-FC9C-E9CC-3D6D-902767033BD0}"/>
              </a:ext>
            </a:extLst>
          </p:cNvPr>
          <p:cNvPicPr>
            <a:picLocks noChangeAspect="1"/>
          </p:cNvPicPr>
          <p:nvPr/>
        </p:nvPicPr>
        <p:blipFill>
          <a:blip r:embed="rId2"/>
          <a:stretch>
            <a:fillRect/>
          </a:stretch>
        </p:blipFill>
        <p:spPr>
          <a:xfrm>
            <a:off x="5440825" y="1125211"/>
            <a:ext cx="5418290" cy="4968671"/>
          </a:xfrm>
          <a:prstGeom prst="rect">
            <a:avLst/>
          </a:prstGeom>
        </p:spPr>
      </p:pic>
    </p:spTree>
    <p:extLst>
      <p:ext uri="{BB962C8B-B14F-4D97-AF65-F5344CB8AC3E}">
        <p14:creationId xmlns:p14="http://schemas.microsoft.com/office/powerpoint/2010/main" val="5956762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EC26C-E301-E818-8C8D-CEDE573A6D13}"/>
              </a:ext>
            </a:extLst>
          </p:cNvPr>
          <p:cNvSpPr>
            <a:spLocks noGrp="1"/>
          </p:cNvSpPr>
          <p:nvPr>
            <p:ph type="title"/>
          </p:nvPr>
        </p:nvSpPr>
        <p:spPr/>
        <p:txBody>
          <a:bodyPr>
            <a:normAutofit fontScale="90000"/>
          </a:bodyPr>
          <a:lstStyle/>
          <a:p>
            <a:r>
              <a:rPr lang="en-US" dirty="0"/>
              <a:t>Instead of making the additional states themselves orthogonal</a:t>
            </a:r>
            <a:br>
              <a:rPr lang="en-US" dirty="0"/>
            </a:br>
            <a:r>
              <a:rPr lang="en-US" dirty="0" err="1"/>
              <a:t>Propogate</a:t>
            </a:r>
            <a:r>
              <a:rPr lang="en-US" dirty="0"/>
              <a:t> what they do the physical output trajectory</a:t>
            </a:r>
            <a:endParaRPr lang="en-NL" dirty="0"/>
          </a:p>
        </p:txBody>
      </p:sp>
      <p:sp>
        <p:nvSpPr>
          <p:cNvPr id="3" name="Content Placeholder 2">
            <a:extLst>
              <a:ext uri="{FF2B5EF4-FFF2-40B4-BE49-F238E27FC236}">
                <a16:creationId xmlns:a16="http://schemas.microsoft.com/office/drawing/2014/main" id="{B5F8DDC4-20E5-EE39-31DF-72DF331926E2}"/>
              </a:ext>
            </a:extLst>
          </p:cNvPr>
          <p:cNvSpPr>
            <a:spLocks noGrp="1"/>
          </p:cNvSpPr>
          <p:nvPr>
            <p:ph idx="1"/>
          </p:nvPr>
        </p:nvSpPr>
        <p:spPr/>
        <p:txBody>
          <a:bodyPr/>
          <a:lstStyle/>
          <a:p>
            <a:r>
              <a:rPr lang="en-NL" dirty="0"/>
              <a:t>Do not make the additional states themselves orthogonal. Propagate what they do to the physical/output trajectory, and apply Györök's projection there.</a:t>
            </a:r>
            <a:endParaRPr lang="en-US" dirty="0"/>
          </a:p>
          <a:p>
            <a:endParaRPr lang="en-US" dirty="0"/>
          </a:p>
          <a:p>
            <a:endParaRPr lang="en-US" dirty="0"/>
          </a:p>
          <a:p>
            <a:r>
              <a:rPr lang="en-NL" dirty="0"/>
              <a:t>“The new penalty detects a nonzero projection of a latent-mediated contribution onto the physical sensitivity space.”</a:t>
            </a:r>
          </a:p>
          <a:p>
            <a:endParaRPr lang="en-NL" dirty="0"/>
          </a:p>
        </p:txBody>
      </p:sp>
    </p:spTree>
    <p:extLst>
      <p:ext uri="{BB962C8B-B14F-4D97-AF65-F5344CB8AC3E}">
        <p14:creationId xmlns:p14="http://schemas.microsoft.com/office/powerpoint/2010/main" val="38065602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193CB-D664-FF97-5998-340E8400E07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04F3A4E-CA1F-4583-175F-013D6A4AEE21}"/>
              </a:ext>
            </a:extLst>
          </p:cNvPr>
          <p:cNvSpPr>
            <a:spLocks noGrp="1"/>
          </p:cNvSpPr>
          <p:nvPr>
            <p:ph idx="1"/>
          </p:nvPr>
        </p:nvSpPr>
        <p:spPr/>
        <p:txBody>
          <a:bodyPr/>
          <a:lstStyle/>
          <a:p>
            <a:endParaRPr lang="en-NL"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61C0ED5-6B29-665A-6FF6-ACD3B3FA8E08}"/>
                  </a:ext>
                </a:extLst>
              </p:cNvPr>
              <p:cNvSpPr txBox="1"/>
              <p:nvPr/>
            </p:nvSpPr>
            <p:spPr>
              <a:xfrm>
                <a:off x="7657007" y="-3885960"/>
                <a:ext cx="6096000" cy="15200187"/>
              </a:xfrm>
              <a:prstGeom prst="rect">
                <a:avLst/>
              </a:prstGeom>
              <a:noFill/>
            </p:spPr>
            <p:txBody>
              <a:bodyPr wrap="square">
                <a:spAutoFit/>
              </a:bodyPr>
              <a:lstStyle/>
              <a:p>
                <a:pPr>
                  <a:buNone/>
                </a:pPr>
                <a:r>
                  <a:rPr lang="en-NL" dirty="0"/>
                  <a:t>Yes—that is the main reason.</a:t>
                </a:r>
              </a:p>
              <a:p>
                <a:pPr>
                  <a:buNone/>
                </a:pPr>
                <a:r>
                  <a:rPr lang="en-NL" dirty="0"/>
                  <a:t>The additional states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oMath>
                </a14:m>
                <a:r>
                  <a:rPr lang="en-NL" dirty="0"/>
                  <a:t>are </a:t>
                </a:r>
                <a:r>
                  <a:rPr lang="en-NL" b="1" dirty="0"/>
                  <a:t>internal coordinates of the neural model</a:t>
                </a:r>
                <a:r>
                  <a:rPr lang="en-NL" dirty="0"/>
                  <a:t>. They do not have a fixed physical meaning, and their numerical values can be changed by a coordinate transformation without changing the model's physical predictions.</a:t>
                </a:r>
              </a:p>
              <a:p>
                <a:pPr>
                  <a:buNone/>
                </a:pPr>
                <a:r>
                  <a:rPr lang="en-NL" dirty="0"/>
                  <a:t>For example, if</a:t>
                </a:r>
              </a:p>
              <a:p>
                <a:pPr>
                  <a:buNone/>
                </a:pPr>
                <a14:m>
                  <m:oMathPara xmlns:m="http://schemas.openxmlformats.org/officeDocument/2006/math">
                    <m:oMath>
                      <m:sSubSup>
                        <m:sSubSupPr>
                          <m:ctrlPr>
                            <a:rPr lang="en-NL" i="1">
                              <a:latin typeface="Cambria Math" panose="02040503050406030204" pitchFamily="18" charset="0"/>
                            </a:rPr>
                          </m:ctrlPr>
                        </m:sSubSupPr>
                        <m:e>
                          <m:r>
                            <a:rPr lang="en-NL" i="1">
                              <a:latin typeface="Cambria Math" panose="02040503050406030204" pitchFamily="18" charset="0"/>
                            </a:rPr>
                            <m:t>𝑎</m:t>
                          </m:r>
                        </m:e>
                        <m:sub>
                          <m:r>
                            <a:rPr lang="en-NL" i="1">
                              <a:latin typeface="Cambria Math" panose="02040503050406030204" pitchFamily="18" charset="0"/>
                            </a:rPr>
                            <m:t>𝑘</m:t>
                          </m:r>
                        </m:sub>
                        <m:sup>
                          <m:r>
                            <a:rPr lang="en-NL" i="0">
                              <a:latin typeface="Cambria Math" panose="02040503050406030204" pitchFamily="18" charset="0"/>
                            </a:rPr>
                            <m:t>′</m:t>
                          </m:r>
                        </m:sup>
                      </m:sSubSup>
                      <m:r>
                        <a:rPr lang="en-NL" i="0">
                          <a:latin typeface="Cambria Math" panose="02040503050406030204" pitchFamily="18" charset="0"/>
                        </a:rPr>
                        <m:t>=10</m:t>
                      </m:r>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a:p>
                <a:pPr>
                  <a:buNone/>
                </a:pPr>
                <a:r>
                  <a:rPr lang="en-NL" dirty="0"/>
                  <a:t>and we compensate by changing the latent-to-physical mapping</a:t>
                </a:r>
              </a:p>
              <a:p>
                <a:pPr>
                  <a:buNone/>
                </a:pPr>
                <a14:m>
                  <m:oMathPara xmlns:m="http://schemas.openxmlformats.org/officeDocument/2006/math">
                    <m:oMath>
                      <m:sSubSup>
                        <m:sSubSupPr>
                          <m:ctrlPr>
                            <a:rPr lang="en-NL" i="1">
                              <a:latin typeface="Cambria Math" panose="02040503050406030204" pitchFamily="18" charset="0"/>
                            </a:rPr>
                          </m:ctrlPr>
                        </m:sSubSupPr>
                        <m:e>
                          <m:r>
                            <a:rPr lang="en-NL" i="1">
                              <a:latin typeface="Cambria Math" panose="02040503050406030204" pitchFamily="18" charset="0"/>
                            </a:rPr>
                            <m:t>𝐾</m:t>
                          </m:r>
                        </m:e>
                        <m:sub>
                          <m:r>
                            <a:rPr lang="en-NL" i="1">
                              <a:latin typeface="Cambria Math" panose="02040503050406030204" pitchFamily="18" charset="0"/>
                            </a:rPr>
                            <m:t>𝑘</m:t>
                          </m:r>
                        </m:sub>
                        <m:sup>
                          <m:r>
                            <a:rPr lang="en-NL" i="0">
                              <a:latin typeface="Cambria Math" panose="02040503050406030204" pitchFamily="18" charset="0"/>
                            </a:rPr>
                            <m:t>′</m:t>
                          </m:r>
                        </m:sup>
                      </m:sSubSup>
                      <m:r>
                        <a:rPr lang="en-NL" i="0">
                          <a:latin typeface="Cambria Math" panose="02040503050406030204" pitchFamily="18" charset="0"/>
                        </a:rPr>
                        <m:t>=</m:t>
                      </m:r>
                      <m:f>
                        <m:fPr>
                          <m:ctrlPr>
                            <a:rPr lang="en-NL" i="0">
                              <a:latin typeface="Cambria Math" panose="02040503050406030204" pitchFamily="18" charset="0"/>
                            </a:rPr>
                          </m:ctrlPr>
                        </m:fPr>
                        <m:num>
                          <m:r>
                            <a:rPr lang="en-NL" i="0">
                              <a:latin typeface="Cambria Math" panose="02040503050406030204" pitchFamily="18" charset="0"/>
                            </a:rPr>
                            <m:t>1</m:t>
                          </m:r>
                        </m:num>
                        <m:den>
                          <m:r>
                            <a:rPr lang="en-NL" i="0">
                              <a:latin typeface="Cambria Math" panose="02040503050406030204" pitchFamily="18" charset="0"/>
                            </a:rPr>
                            <m:t>10</m:t>
                          </m:r>
                        </m:den>
                      </m:f>
                      <m:sSub>
                        <m:sSubPr>
                          <m:ctrlPr>
                            <a:rPr lang="en-NL" i="1">
                              <a:latin typeface="Cambria Math" panose="02040503050406030204" pitchFamily="18" charset="0"/>
                            </a:rPr>
                          </m:ctrlPr>
                        </m:sSubPr>
                        <m:e>
                          <m:r>
                            <a:rPr lang="en-NL" i="1">
                              <a:latin typeface="Cambria Math" panose="02040503050406030204" pitchFamily="18" charset="0"/>
                            </a:rPr>
                            <m:t>𝐾</m:t>
                          </m:r>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a:p>
                <a:pPr>
                  <a:buNone/>
                </a:pPr>
                <a:r>
                  <a:rPr lang="en-NL" dirty="0"/>
                  <a:t>then</a:t>
                </a:r>
              </a:p>
              <a:p>
                <a:pPr>
                  <a:buNone/>
                </a:pPr>
                <a14:m>
                  <m:oMathPara xmlns:m="http://schemas.openxmlformats.org/officeDocument/2006/math">
                    <m:oMath>
                      <m:sSubSup>
                        <m:sSubSupPr>
                          <m:ctrlPr>
                            <a:rPr lang="en-NL" i="1">
                              <a:latin typeface="Cambria Math" panose="02040503050406030204" pitchFamily="18" charset="0"/>
                            </a:rPr>
                          </m:ctrlPr>
                        </m:sSubSupPr>
                        <m:e>
                          <m:r>
                            <a:rPr lang="en-NL" i="1">
                              <a:latin typeface="Cambria Math" panose="02040503050406030204" pitchFamily="18" charset="0"/>
                            </a:rPr>
                            <m:t>𝐾</m:t>
                          </m:r>
                        </m:e>
                        <m:sub>
                          <m:r>
                            <a:rPr lang="en-NL" i="1">
                              <a:latin typeface="Cambria Math" panose="02040503050406030204" pitchFamily="18" charset="0"/>
                            </a:rPr>
                            <m:t>𝑘</m:t>
                          </m:r>
                        </m:sub>
                        <m:sup>
                          <m:r>
                            <a:rPr lang="en-NL" i="0">
                              <a:latin typeface="Cambria Math" panose="02040503050406030204" pitchFamily="18" charset="0"/>
                            </a:rPr>
                            <m:t>′</m:t>
                          </m:r>
                        </m:sup>
                      </m:sSubSup>
                      <m:sSubSup>
                        <m:sSubSupPr>
                          <m:ctrlPr>
                            <a:rPr lang="en-NL" i="1">
                              <a:latin typeface="Cambria Math" panose="02040503050406030204" pitchFamily="18" charset="0"/>
                            </a:rPr>
                          </m:ctrlPr>
                        </m:sSubSupPr>
                        <m:e>
                          <m:r>
                            <a:rPr lang="en-NL" i="1">
                              <a:latin typeface="Cambria Math" panose="02040503050406030204" pitchFamily="18" charset="0"/>
                            </a:rPr>
                            <m:t>𝑎</m:t>
                          </m:r>
                        </m:e>
                        <m:sub>
                          <m:r>
                            <a:rPr lang="en-NL" i="1">
                              <a:latin typeface="Cambria Math" panose="02040503050406030204" pitchFamily="18" charset="0"/>
                            </a:rPr>
                            <m:t>𝑘</m:t>
                          </m:r>
                        </m:sub>
                        <m:sup>
                          <m:r>
                            <a:rPr lang="en-NL" i="0">
                              <a:latin typeface="Cambria Math" panose="02040503050406030204" pitchFamily="18" charset="0"/>
                            </a:rPr>
                            <m:t>′</m:t>
                          </m:r>
                        </m:sup>
                      </m:sSubSup>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𝐾</m:t>
                          </m:r>
                        </m:e>
                        <m:sub>
                          <m:r>
                            <a:rPr lang="en-NL" i="1">
                              <a:latin typeface="Cambria Math" panose="02040503050406030204" pitchFamily="18" charset="0"/>
                            </a:rPr>
                            <m:t>𝑘</m:t>
                          </m:r>
                        </m:sub>
                      </m:sSub>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oMath>
                  </m:oMathPara>
                </a14:m>
                <a:endParaRPr lang="en-NL" dirty="0"/>
              </a:p>
              <a:p>
                <a:pPr>
                  <a:buNone/>
                </a:pPr>
                <a:r>
                  <a:rPr lang="en-NL" dirty="0"/>
                  <a:t>So the physical </a:t>
                </a:r>
                <a:r>
                  <a:rPr lang="en-NL" dirty="0" err="1"/>
                  <a:t>behavior</a:t>
                </a:r>
                <a:r>
                  <a:rPr lang="en-NL" dirty="0"/>
                  <a:t> is identical, even though the additional-state values are ten times larger. Therefore a penalty directly on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oMath>
                </a14:m>
                <a:r>
                  <a:rPr lang="en-NL" dirty="0"/>
                  <a:t>, such as</a:t>
                </a:r>
              </a:p>
              <a:p>
                <a:pPr>
                  <a:buNone/>
                </a:pPr>
                <a14:m>
                  <m:oMathPara xmlns:m="http://schemas.openxmlformats.org/officeDocument/2006/math">
                    <m:oMath>
                      <m:r>
                        <a:rPr lang="en-NL">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sSup>
                        <m:sSupPr>
                          <m:ctrlPr>
                            <a:rPr lang="en-NL" i="0">
                              <a:latin typeface="Cambria Math" panose="02040503050406030204" pitchFamily="18" charset="0"/>
                            </a:rPr>
                          </m:ctrlPr>
                        </m:sSupPr>
                        <m:e>
                          <m:r>
                            <a:rPr lang="en-NL" i="0">
                              <a:latin typeface="Cambria Math" panose="02040503050406030204" pitchFamily="18" charset="0"/>
                            </a:rPr>
                            <m:t>∥</m:t>
                          </m:r>
                        </m:e>
                        <m:sup>
                          <m:r>
                            <a:rPr lang="en-NL" i="0">
                              <a:latin typeface="Cambria Math" panose="02040503050406030204" pitchFamily="18" charset="0"/>
                            </a:rPr>
                            <m:t>2</m:t>
                          </m:r>
                        </m:sup>
                      </m:sSup>
                      <m:r>
                        <a:rPr lang="en-NL" i="0">
                          <a:latin typeface="Cambria Math" panose="02040503050406030204" pitchFamily="18" charset="0"/>
                        </a:rPr>
                        <m:t>,</m:t>
                      </m:r>
                    </m:oMath>
                  </m:oMathPara>
                </a14:m>
                <a:endParaRPr lang="en-NL" dirty="0"/>
              </a:p>
              <a:p>
                <a:pPr>
                  <a:buNone/>
                </a:pPr>
                <a:r>
                  <a:rPr lang="en-NL" dirty="0"/>
                  <a:t>would depend on an arbitrary neural-state scaling rather than on how much the augmentation interferes with the physics.</a:t>
                </a:r>
              </a:p>
              <a:p>
                <a:pPr>
                  <a:buNone/>
                </a:pPr>
                <a:r>
                  <a:rPr lang="en-NL" dirty="0"/>
                  <a:t>There is also a more basic issue with “orthogonality.” Györök's physical sensitivity directions live in </a:t>
                </a:r>
                <a:r>
                  <a:rPr lang="en-NL" b="1" dirty="0"/>
                  <a:t>physical-state/output space</a:t>
                </a:r>
                <a:r>
                  <a:rPr lang="en-NL" dirty="0"/>
                  <a:t>:</a:t>
                </a:r>
              </a:p>
              <a:p>
                <a:pPr>
                  <a:buNone/>
                </a:pPr>
                <a14:m>
                  <m:oMathPara xmlns:m="http://schemas.openxmlformats.org/officeDocument/2006/math">
                    <m:oMath>
                      <m:f>
                        <m:fPr>
                          <m:ctrlPr>
                            <a:rPr lang="en-NL">
                              <a:latin typeface="Cambria Math" panose="02040503050406030204" pitchFamily="18" charset="0"/>
                            </a:rPr>
                          </m:ctrlPr>
                        </m:fPr>
                        <m:num>
                          <m:r>
                            <a:rPr lang="en-NL">
                              <a:latin typeface="Cambria Math" panose="02040503050406030204" pitchFamily="18" charset="0"/>
                            </a:rPr>
                            <m:t>𝜕</m:t>
                          </m:r>
                          <m:acc>
                            <m:accPr>
                              <m:chr m:val="̂"/>
                              <m:ctrlPr>
                                <a:rPr lang="en-NL" i="1">
                                  <a:latin typeface="Cambria Math" panose="02040503050406030204" pitchFamily="18" charset="0"/>
                                </a:rPr>
                              </m:ctrlPr>
                            </m:accPr>
                            <m:e>
                              <m:r>
                                <a:rPr lang="en-NL" i="1">
                                  <a:latin typeface="Cambria Math" panose="02040503050406030204" pitchFamily="18" charset="0"/>
                                </a:rPr>
                                <m:t>𝑦</m:t>
                              </m:r>
                            </m:e>
                          </m:acc>
                        </m:num>
                        <m:den>
                          <m:r>
                            <a:rPr lang="en-NL" i="0">
                              <a:latin typeface="Cambria Math" panose="02040503050406030204" pitchFamily="18" charset="0"/>
                            </a:rPr>
                            <m:t>𝜕</m:t>
                          </m:r>
                          <m:r>
                            <a:rPr lang="en-NL" i="1">
                              <a:latin typeface="Cambria Math" panose="02040503050406030204" pitchFamily="18" charset="0"/>
                            </a:rPr>
                            <m:t>𝜅</m:t>
                          </m:r>
                        </m:den>
                      </m:f>
                      <m:r>
                        <a:rPr lang="en-NL" i="0">
                          <a:latin typeface="Cambria Math" panose="02040503050406030204" pitchFamily="18" charset="0"/>
                        </a:rPr>
                        <m:t>.</m:t>
                      </m:r>
                    </m:oMath>
                  </m:oMathPara>
                </a14:m>
                <a:endParaRPr lang="en-NL" dirty="0"/>
              </a:p>
              <a:p>
                <a:pPr>
                  <a:buNone/>
                </a:pPr>
                <a:r>
                  <a:rPr lang="en-NL" dirty="0"/>
                  <a:t>But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oMath>
                </a14:m>
                <a:r>
                  <a:rPr lang="en-NL" dirty="0"/>
                  <a:t>lives in the learned latent-state space. Asking</a:t>
                </a:r>
              </a:p>
              <a:p>
                <a:pPr>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f>
                        <m:fPr>
                          <m:ctrlPr>
                            <a:rPr lang="en-NL" i="0">
                              <a:latin typeface="Cambria Math" panose="02040503050406030204" pitchFamily="18" charset="0"/>
                            </a:rPr>
                          </m:ctrlPr>
                        </m:fPr>
                        <m:num>
                          <m:r>
                            <a:rPr lang="en-NL" i="0">
                              <a:latin typeface="Cambria Math" panose="02040503050406030204" pitchFamily="18" charset="0"/>
                            </a:rPr>
                            <m:t>𝜕</m:t>
                          </m:r>
                          <m:acc>
                            <m:accPr>
                              <m:chr m:val="̂"/>
                              <m:ctrlPr>
                                <a:rPr lang="en-NL" i="1">
                                  <a:latin typeface="Cambria Math" panose="02040503050406030204" pitchFamily="18" charset="0"/>
                                </a:rPr>
                              </m:ctrlPr>
                            </m:accPr>
                            <m:e>
                              <m:r>
                                <a:rPr lang="en-NL" i="1">
                                  <a:latin typeface="Cambria Math" panose="02040503050406030204" pitchFamily="18" charset="0"/>
                                </a:rPr>
                                <m:t>𝑦</m:t>
                              </m:r>
                            </m:e>
                          </m:acc>
                        </m:num>
                        <m:den>
                          <m:r>
                            <a:rPr lang="en-NL" i="0">
                              <a:latin typeface="Cambria Math" panose="02040503050406030204" pitchFamily="18" charset="0"/>
                            </a:rPr>
                            <m:t>𝜕</m:t>
                          </m:r>
                          <m:r>
                            <a:rPr lang="en-NL" i="1">
                              <a:latin typeface="Cambria Math" panose="02040503050406030204" pitchFamily="18" charset="0"/>
                            </a:rPr>
                            <m:t>𝜅</m:t>
                          </m:r>
                        </m:den>
                      </m:f>
                    </m:oMath>
                  </m:oMathPara>
                </a14:m>
                <a:endParaRPr lang="en-NL" dirty="0"/>
              </a:p>
              <a:p>
                <a:pPr>
                  <a:buNone/>
                </a:pPr>
                <a:r>
                  <a:rPr lang="en-NL" dirty="0"/>
                  <a:t>does not even make sense directly: they are vectors in different spaces.</a:t>
                </a:r>
              </a:p>
              <a:p>
                <a:pPr>
                  <a:buNone/>
                </a:pPr>
                <a:r>
                  <a:rPr lang="en-NL" dirty="0"/>
                  <a:t>What matters for our objective is what the latent states </a:t>
                </a:r>
                <a:r>
                  <a:rPr lang="en-NL" b="1" dirty="0"/>
                  <a:t>cause in physical/output space</a:t>
                </a:r>
                <a:r>
                  <a:rPr lang="en-NL" dirty="0"/>
                  <a:t>:</a:t>
                </a:r>
              </a:p>
              <a:p>
                <a:pPr>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𝐾</m:t>
                          </m:r>
                        </m:e>
                        <m:sub>
                          <m:r>
                            <a:rPr lang="en-NL" i="1">
                              <a:latin typeface="Cambria Math" panose="02040503050406030204" pitchFamily="18" charset="0"/>
                            </a:rPr>
                            <m:t>𝑘</m:t>
                          </m:r>
                        </m:sub>
                      </m:sSub>
                      <m:sSub>
                        <m:sSubPr>
                          <m:ctrlPr>
                            <a:rPr lang="en-NL" i="1">
                              <a:latin typeface="Cambria Math" panose="02040503050406030204" pitchFamily="18" charset="0"/>
                            </a:rPr>
                          </m:ctrlPr>
                        </m:sSubPr>
                        <m:e>
                          <m:r>
                            <a:rPr lang="en-NL" i="1">
                              <a:latin typeface="Cambria Math" panose="02040503050406030204" pitchFamily="18" charset="0"/>
                            </a:rPr>
                            <m:t>𝑎</m:t>
                          </m:r>
                        </m:e>
                        <m:sub>
                          <m:r>
                            <a:rPr lang="en-NL" i="1">
                              <a:latin typeface="Cambria Math" panose="02040503050406030204" pitchFamily="18" charset="0"/>
                            </a:rPr>
                            <m:t>𝑘</m:t>
                          </m:r>
                        </m:sub>
                      </m:sSub>
                      <m:r>
                        <a:rPr lang="en-NL" i="0">
                          <a:latin typeface="Cambria Math" panose="02040503050406030204" pitchFamily="18" charset="0"/>
                        </a:rPr>
                        <m:t>⟶</m:t>
                      </m:r>
                      <m:r>
                        <m:rPr>
                          <m:nor/>
                        </m:rPr>
                        <a:rPr lang="en-NL" b="0" i="0">
                          <a:latin typeface="+mn-lt"/>
                        </a:rPr>
                        <m:t>future physical states</m:t>
                      </m:r>
                      <m:r>
                        <a:rPr lang="en-NL" b="0" i="0">
                          <a:latin typeface="Cambria Math" panose="02040503050406030204" pitchFamily="18" charset="0"/>
                        </a:rPr>
                        <m:t>⟶</m:t>
                      </m:r>
                      <m:sSub>
                        <m:sSubPr>
                          <m:ctrlPr>
                            <a:rPr lang="en-NL" b="0" i="1">
                              <a:latin typeface="Cambria Math" panose="02040503050406030204" pitchFamily="18" charset="0"/>
                            </a:rPr>
                          </m:ctrlPr>
                        </m:sSubPr>
                        <m:e>
                          <m:acc>
                            <m:accPr>
                              <m:chr m:val="̂"/>
                              <m:ctrlPr>
                                <a:rPr lang="en-NL" b="0" i="1">
                                  <a:latin typeface="Cambria Math" panose="02040503050406030204" pitchFamily="18" charset="0"/>
                                </a:rPr>
                              </m:ctrlPr>
                            </m:accPr>
                            <m:e>
                              <m:r>
                                <a:rPr lang="en-NL" b="0" i="1">
                                  <a:latin typeface="Cambria Math" panose="02040503050406030204" pitchFamily="18" charset="0"/>
                                </a:rPr>
                                <m:t>𝑦</m:t>
                              </m:r>
                            </m:e>
                          </m:acc>
                        </m:e>
                        <m:sub>
                          <m:r>
                            <a:rPr lang="en-NL" b="0" i="1">
                              <a:latin typeface="Cambria Math" panose="02040503050406030204" pitchFamily="18" charset="0"/>
                            </a:rPr>
                            <m:t>𝑘</m:t>
                          </m:r>
                          <m:r>
                            <a:rPr lang="en-NL" b="0" i="0">
                              <a:latin typeface="Cambria Math" panose="02040503050406030204" pitchFamily="18" charset="0"/>
                            </a:rPr>
                            <m:t>:</m:t>
                          </m:r>
                          <m:r>
                            <a:rPr lang="en-NL" b="0" i="1">
                              <a:latin typeface="Cambria Math" panose="02040503050406030204" pitchFamily="18" charset="0"/>
                            </a:rPr>
                            <m:t>𝑇</m:t>
                          </m:r>
                        </m:sub>
                      </m:sSub>
                      <m:r>
                        <a:rPr lang="en-NL" b="0" i="0">
                          <a:latin typeface="Cambria Math" panose="02040503050406030204" pitchFamily="18" charset="0"/>
                        </a:rPr>
                        <m:t>.</m:t>
                      </m:r>
                    </m:oMath>
                  </m:oMathPara>
                </a14:m>
                <a:endParaRPr lang="en-NL" b="0" dirty="0"/>
              </a:p>
              <a:p>
                <a:pPr>
                  <a:buNone/>
                </a:pPr>
                <a:r>
                  <a:rPr lang="en-NL" dirty="0"/>
                  <a:t>Once propagated there, both quantities are comparable:</a:t>
                </a:r>
              </a:p>
              <a:p>
                <a:pPr>
                  <a:buNone/>
                </a:pPr>
                <a14:m>
                  <m:oMathPara xmlns:m="http://schemas.openxmlformats.org/officeDocument/2006/math">
                    <m:oMath>
                      <m:limLow>
                        <m:limLowPr>
                          <m:ctrlPr>
                            <a:rPr lang="en-NL" b="0" i="1">
                              <a:latin typeface="Cambria Math" panose="02040503050406030204" pitchFamily="18" charset="0"/>
                            </a:rPr>
                          </m:ctrlPr>
                        </m:limLowPr>
                        <m:e>
                          <m:groupChr>
                            <m:groupChrPr>
                              <m:chr m:val="⏟"/>
                              <m:pos m:val="bot"/>
                              <m:vertJc m:val="top"/>
                              <m:ctrlPr>
                                <a:rPr lang="en-NL" b="0" i="0"/>
                              </m:ctrlPr>
                            </m:groupChrPr>
                            <m:e>
                              <m:r>
                                <m:rPr>
                                  <m:nor/>
                                </m:rPr>
                                <a:rPr lang="en-NL" b="0" i="0"/>
                                <m:t>effect of changing </m:t>
                              </m:r>
                              <m:r>
                                <a:rPr lang="en-NL" b="0" i="1">
                                  <a:latin typeface="Cambria Math" panose="02040503050406030204" pitchFamily="18" charset="0"/>
                                </a:rPr>
                                <m:t>𝜅</m:t>
                              </m:r>
                            </m:e>
                          </m:groupChr>
                        </m:e>
                        <m:lim>
                          <m:r>
                            <m:rPr>
                              <m:nor/>
                            </m:rPr>
                            <a:rPr lang="en-NL" b="0" i="0">
                              <a:latin typeface="+mn-lt"/>
                            </a:rPr>
                            <m:t>physical prediction direction</m:t>
                          </m:r>
                        </m:lim>
                      </m:limLow>
                      <m:r>
                        <a:rPr lang="en-NL" b="0" i="0">
                          <a:latin typeface="Cambria Math" panose="02040503050406030204" pitchFamily="18" charset="0"/>
                        </a:rPr>
                        <m:t> </m:t>
                      </m:r>
                      <m:r>
                        <m:rPr>
                          <m:nor/>
                        </m:rPr>
                        <a:rPr lang="en-NL" b="0" i="0">
                          <a:latin typeface="+mn-lt"/>
                        </a:rPr>
                        <m:t>vs.</m:t>
                      </m:r>
                      <m:r>
                        <a:rPr lang="en-NL" b="0" i="0">
                          <a:latin typeface="Cambria Math" panose="02040503050406030204" pitchFamily="18" charset="0"/>
                        </a:rPr>
                        <m:t> </m:t>
                      </m:r>
                      <m:limLow>
                        <m:limLowPr>
                          <m:ctrlPr>
                            <a:rPr lang="en-NL" b="0" i="1">
                              <a:latin typeface="Cambria Math" panose="02040503050406030204" pitchFamily="18" charset="0"/>
                            </a:rPr>
                          </m:ctrlPr>
                        </m:limLowPr>
                        <m:e>
                          <m:limLow>
                            <m:limLowPr>
                              <m:ctrlPr>
                                <a:rPr lang="en-NL" b="0" i="0">
                                  <a:latin typeface="+mn-lt"/>
                                </a:rPr>
                              </m:ctrlPr>
                            </m:limLowPr>
                            <m:e>
                              <m:r>
                                <m:rPr>
                                  <m:nor/>
                                </m:rPr>
                                <a:rPr lang="en-NL" b="0" i="0">
                                  <a:latin typeface="+mn-lt"/>
                                </a:rPr>
                                <m:t>effect caused by the augmentation states</m:t>
                              </m:r>
                            </m:e>
                            <m:lim>
                              <m:r>
                                <a:rPr lang="en-NL" b="0" i="0">
                                  <a:latin typeface="Cambria Math" panose="02040503050406030204" pitchFamily="18" charset="0"/>
                                </a:rPr>
                                <m:t>⏟</m:t>
                              </m:r>
                            </m:lim>
                          </m:limLow>
                        </m:e>
                        <m:lim>
                          <m:r>
                            <m:rPr>
                              <m:nor/>
                            </m:rPr>
                            <a:rPr lang="en-NL" b="0" i="0">
                              <a:latin typeface="+mn-lt"/>
                            </a:rPr>
                            <m:t>prediction contribution</m:t>
                          </m:r>
                        </m:lim>
                      </m:limLow>
                      <m:r>
                        <a:rPr lang="en-NL" b="0" i="0">
                          <a:latin typeface="Cambria Math" panose="02040503050406030204" pitchFamily="18" charset="0"/>
                        </a:rPr>
                        <m:t>.</m:t>
                      </m:r>
                    </m:oMath>
                  </m:oMathPara>
                </a14:m>
                <a:endParaRPr lang="en-NL" b="0" dirty="0"/>
              </a:p>
              <a:p>
                <a:pPr>
                  <a:buNone/>
                </a:pPr>
                <a:r>
                  <a:rPr lang="en-NL" dirty="0"/>
                  <a:t>Then orthogonality has the meaning we actually want:</a:t>
                </a:r>
              </a:p>
              <a:p>
                <a:pPr>
                  <a:buNone/>
                </a:pPr>
                <a14:m>
                  <m:oMathPara xmlns:m="http://schemas.openxmlformats.org/officeDocument/2006/math">
                    <m:oMath>
                      <m:borderBox>
                        <m:borderBoxPr>
                          <m:ctrlPr>
                            <a:rPr lang="en-NL" b="0" i="0"/>
                          </m:ctrlPr>
                        </m:borderBoxPr>
                        <m:e>
                          <m:r>
                            <m:rPr>
                              <m:nor/>
                            </m:rPr>
                            <a:rPr lang="en-NL" b="0" i="0"/>
                            <m:t>the learned dynamics should not produce the same prediction changes as changing physical parameters.</m:t>
                          </m:r>
                        </m:e>
                      </m:borderBox>
                    </m:oMath>
                  </m:oMathPara>
                </a14:m>
                <a:endParaRPr lang="en-NL" b="0" dirty="0"/>
              </a:p>
              <a:p>
                <a:pPr>
                  <a:buNone/>
                </a:pPr>
                <a:r>
                  <a:rPr lang="en-NL" dirty="0"/>
                  <a:t>One distinction: if by “output of the additional states” you mean the </a:t>
                </a:r>
                <a:r>
                  <a:rPr lang="en-NL" b="1" dirty="0"/>
                  <a:t>physical correction produced from them</a:t>
                </a:r>
                <a:r>
                  <a:rPr lang="en-NL" dirty="0"/>
                  <a:t>, such as</a:t>
                </a:r>
              </a:p>
              <a:p>
                <a:pPr>
                  <a:buNone/>
                </a:pPr>
                <a14:m>
                  <m:oMathPara xmlns:m="http://schemas.openxmlformats.org/officeDocument/2006/math">
                    <m:oMath>
                      <m:r>
                        <a:rPr lang="en-NL" i="1">
                          <a:latin typeface="Cambria Math" panose="02040503050406030204" pitchFamily="18" charset="0"/>
                        </a:rPr>
                        <m:t>𝑐</m:t>
                      </m:r>
                      <m:d>
                        <m:dPr>
                          <m:sepChr m:val=","/>
                          <m:ctrlPr>
                            <a:rPr lang="en-NL" i="1">
                              <a:latin typeface="Cambria Math" panose="02040503050406030204" pitchFamily="18" charset="0"/>
                            </a:rPr>
                          </m:ctrlPr>
                        </m:dPr>
                        <m:e>
                          <m:r>
                            <a:rPr lang="en-NL" i="1">
                              <a:latin typeface="Cambria Math" panose="02040503050406030204" pitchFamily="18" charset="0"/>
                            </a:rPr>
                            <m:t>𝑥</m:t>
                          </m:r>
                        </m:e>
                        <m:e>
                          <m:r>
                            <a:rPr lang="en-NL" i="1">
                              <a:latin typeface="Cambria Math" panose="02040503050406030204" pitchFamily="18" charset="0"/>
                            </a:rPr>
                            <m:t>𝑎</m:t>
                          </m:r>
                        </m:e>
                        <m:e>
                          <m:r>
                            <a:rPr lang="en-NL" i="1">
                              <a:latin typeface="Cambria Math" panose="02040503050406030204" pitchFamily="18" charset="0"/>
                            </a:rPr>
                            <m:t>𝑢</m:t>
                          </m:r>
                        </m:e>
                      </m:d>
                      <m:r>
                        <a:rPr lang="en-NL" i="0">
                          <a:latin typeface="Cambria Math" panose="02040503050406030204" pitchFamily="18" charset="0"/>
                        </a:rPr>
                        <m:t>−</m:t>
                      </m:r>
                      <m:r>
                        <a:rPr lang="en-NL" i="1">
                          <a:latin typeface="Cambria Math" panose="02040503050406030204" pitchFamily="18" charset="0"/>
                        </a:rPr>
                        <m:t>𝑐</m:t>
                      </m:r>
                      <m:d>
                        <m:dPr>
                          <m:sepChr m:val=","/>
                          <m:ctrlPr>
                            <a:rPr lang="en-NL" i="1">
                              <a:latin typeface="Cambria Math" panose="02040503050406030204" pitchFamily="18" charset="0"/>
                            </a:rPr>
                          </m:ctrlPr>
                        </m:dPr>
                        <m:e>
                          <m:r>
                            <a:rPr lang="en-NL" i="1">
                              <a:latin typeface="Cambria Math" panose="02040503050406030204" pitchFamily="18" charset="0"/>
                            </a:rPr>
                            <m:t>𝑥</m:t>
                          </m:r>
                        </m:e>
                        <m:e>
                          <m:r>
                            <a:rPr lang="en-NL" i="0">
                              <a:latin typeface="Cambria Math" panose="02040503050406030204" pitchFamily="18" charset="0"/>
                            </a:rPr>
                            <m:t>0</m:t>
                          </m:r>
                        </m:e>
                        <m:e>
                          <m:r>
                            <a:rPr lang="en-NL" i="1">
                              <a:latin typeface="Cambria Math" panose="02040503050406030204" pitchFamily="18" charset="0"/>
                            </a:rPr>
                            <m:t>𝑢</m:t>
                          </m:r>
                        </m:e>
                      </m:d>
                      <m:r>
                        <a:rPr lang="en-NL" i="0">
                          <a:latin typeface="Cambria Math" panose="02040503050406030204" pitchFamily="18" charset="0"/>
                        </a:rPr>
                        <m:t>,</m:t>
                      </m:r>
                    </m:oMath>
                  </m:oMathPara>
                </a14:m>
                <a:endParaRPr lang="en-NL" dirty="0"/>
              </a:p>
              <a:p>
                <a:pPr>
                  <a:buNone/>
                </a:pPr>
                <a:r>
                  <a:rPr lang="en-NL" dirty="0"/>
                  <a:t>then yes, that can be regularized because it is already in physical-state coordinates. But regularizing only that latent route would leave the </a:t>
                </a:r>
                <a:r>
                  <a:rPr lang="en-NL" dirty="0" err="1"/>
                  <a:t>ANN's</a:t>
                </a:r>
                <a:r>
                  <a:rPr lang="en-NL" dirty="0"/>
                  <a:t> direct correction </a:t>
                </a:r>
                <a14:m>
                  <m:oMath xmlns:m="http://schemas.openxmlformats.org/officeDocument/2006/math">
                    <m:r>
                      <a:rPr lang="en-NL" i="1">
                        <a:latin typeface="Cambria Math" panose="02040503050406030204" pitchFamily="18" charset="0"/>
                      </a:rPr>
                      <m:t>𝑐</m:t>
                    </m:r>
                    <m:d>
                      <m:dPr>
                        <m:sepChr m:val=","/>
                        <m:ctrlPr>
                          <a:rPr lang="en-NL" i="1">
                            <a:latin typeface="Cambria Math" panose="02040503050406030204" pitchFamily="18" charset="0"/>
                          </a:rPr>
                        </m:ctrlPr>
                      </m:dPr>
                      <m:e>
                        <m:r>
                          <a:rPr lang="en-NL" i="1">
                            <a:latin typeface="Cambria Math" panose="02040503050406030204" pitchFamily="18" charset="0"/>
                          </a:rPr>
                          <m:t>𝑥</m:t>
                        </m:r>
                      </m:e>
                      <m:e>
                        <m:r>
                          <a:rPr lang="en-NL" i="0">
                            <a:latin typeface="Cambria Math" panose="02040503050406030204" pitchFamily="18" charset="0"/>
                          </a:rPr>
                          <m:t>0</m:t>
                        </m:r>
                      </m:e>
                      <m:e>
                        <m:r>
                          <a:rPr lang="en-NL" i="1">
                            <a:latin typeface="Cambria Math" panose="02040503050406030204" pitchFamily="18" charset="0"/>
                          </a:rPr>
                          <m:t>𝑢</m:t>
                        </m:r>
                      </m:e>
                    </m:d>
                  </m:oMath>
                </a14:m>
                <a:r>
                  <a:rPr lang="en-NL" dirty="0"/>
                  <a:t>free to imitate the physical parameters. Hence for the main method we want the </a:t>
                </a:r>
                <a:r>
                  <a:rPr lang="en-NL" b="1" dirty="0"/>
                  <a:t>total augmentation effect</a:t>
                </a:r>
                <a:r>
                  <a:rPr lang="en-NL" dirty="0"/>
                  <a:t>, including both direct and latent routes.</a:t>
                </a:r>
              </a:p>
              <a:p>
                <a:pPr>
                  <a:buNone/>
                </a:pPr>
                <a:r>
                  <a:rPr lang="en-NL" dirty="0"/>
                  <a:t>So, in one sentence:</a:t>
                </a:r>
              </a:p>
              <a:p>
                <a:pPr>
                  <a:buNone/>
                </a:pPr>
                <a:r>
                  <a:rPr lang="en-NL" dirty="0"/>
                  <a:t>We do not orthogonalize the latent states because their coordinates are arbitrary; we orthogonalize what they ultimately do to the physical predictions, because that is where substitution for physical parameters actually occurs.</a:t>
                </a:r>
              </a:p>
            </p:txBody>
          </p:sp>
        </mc:Choice>
        <mc:Fallback xmlns="">
          <p:sp>
            <p:nvSpPr>
              <p:cNvPr id="5" name="TextBox 4">
                <a:extLst>
                  <a:ext uri="{FF2B5EF4-FFF2-40B4-BE49-F238E27FC236}">
                    <a16:creationId xmlns:a16="http://schemas.microsoft.com/office/drawing/2014/main" id="{961C0ED5-6B29-665A-6FF6-ACD3B3FA8E08}"/>
                  </a:ext>
                </a:extLst>
              </p:cNvPr>
              <p:cNvSpPr txBox="1">
                <a:spLocks noRot="1" noChangeAspect="1" noMove="1" noResize="1" noEditPoints="1" noAdjustHandles="1" noChangeArrowheads="1" noChangeShapeType="1" noTextEdit="1"/>
              </p:cNvSpPr>
              <p:nvPr/>
            </p:nvSpPr>
            <p:spPr>
              <a:xfrm>
                <a:off x="7657007" y="-3885960"/>
                <a:ext cx="6096000" cy="15200187"/>
              </a:xfrm>
              <a:prstGeom prst="rect">
                <a:avLst/>
              </a:prstGeom>
              <a:blipFill>
                <a:blip r:embed="rId2"/>
                <a:stretch>
                  <a:fillRect l="-800" t="-201" r="-73200" b="-80"/>
                </a:stretch>
              </a:blipFill>
            </p:spPr>
            <p:txBody>
              <a:bodyPr/>
              <a:lstStyle/>
              <a:p>
                <a:r>
                  <a:rPr lang="en-NL">
                    <a:noFill/>
                  </a:rPr>
                  <a:t> </a:t>
                </a:r>
              </a:p>
            </p:txBody>
          </p:sp>
        </mc:Fallback>
      </mc:AlternateContent>
      <p:pic>
        <p:nvPicPr>
          <p:cNvPr id="7" name="Picture 6">
            <a:extLst>
              <a:ext uri="{FF2B5EF4-FFF2-40B4-BE49-F238E27FC236}">
                <a16:creationId xmlns:a16="http://schemas.microsoft.com/office/drawing/2014/main" id="{90F58127-6D58-78AE-0DEA-447EB5335D70}"/>
              </a:ext>
            </a:extLst>
          </p:cNvPr>
          <p:cNvPicPr>
            <a:picLocks noChangeAspect="1"/>
          </p:cNvPicPr>
          <p:nvPr/>
        </p:nvPicPr>
        <p:blipFill>
          <a:blip r:embed="rId3"/>
          <a:stretch>
            <a:fillRect/>
          </a:stretch>
        </p:blipFill>
        <p:spPr>
          <a:xfrm>
            <a:off x="-164759" y="115197"/>
            <a:ext cx="8824725" cy="5753599"/>
          </a:xfrm>
          <a:prstGeom prst="rect">
            <a:avLst/>
          </a:prstGeom>
        </p:spPr>
      </p:pic>
    </p:spTree>
    <p:extLst>
      <p:ext uri="{BB962C8B-B14F-4D97-AF65-F5344CB8AC3E}">
        <p14:creationId xmlns:p14="http://schemas.microsoft.com/office/powerpoint/2010/main" val="32729194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08AE6-6838-B7C2-6A29-C5D640057264}"/>
              </a:ext>
            </a:extLst>
          </p:cNvPr>
          <p:cNvSpPr>
            <a:spLocks noGrp="1"/>
          </p:cNvSpPr>
          <p:nvPr>
            <p:ph type="title"/>
          </p:nvPr>
        </p:nvSpPr>
        <p:spPr/>
        <p:txBody>
          <a:bodyPr>
            <a:normAutofit fontScale="90000"/>
          </a:bodyPr>
          <a:lstStyle/>
          <a:p>
            <a:r>
              <a:rPr lang="en-NL" dirty="0"/>
              <a:t>We constrain </a:t>
            </a:r>
            <a:r>
              <a:rPr lang="en-NL" b="1" dirty="0"/>
              <a:t>what the additional states do to predictions</a:t>
            </a:r>
            <a:r>
              <a:rPr lang="en-NL" dirty="0"/>
              <a:t>, not their values or magnitudes. This promotes orthogonality of the total contribution; </a:t>
            </a:r>
            <a:r>
              <a:rPr lang="en-NL" b="1" dirty="0"/>
              <a:t>it does not guarantee each path is separately orthogonal.</a:t>
            </a:r>
            <a:br>
              <a:rPr lang="en-NL" b="1" dirty="0"/>
            </a:br>
            <a:endParaRPr lang="en-NL" dirty="0"/>
          </a:p>
        </p:txBody>
      </p:sp>
      <p:sp>
        <p:nvSpPr>
          <p:cNvPr id="3" name="Content Placeholder 2">
            <a:extLst>
              <a:ext uri="{FF2B5EF4-FFF2-40B4-BE49-F238E27FC236}">
                <a16:creationId xmlns:a16="http://schemas.microsoft.com/office/drawing/2014/main" id="{DE8B89EA-479C-F4ED-FF56-C90B840352BC}"/>
              </a:ext>
            </a:extLst>
          </p:cNvPr>
          <p:cNvSpPr>
            <a:spLocks noGrp="1"/>
          </p:cNvSpPr>
          <p:nvPr>
            <p:ph idx="1"/>
          </p:nvPr>
        </p:nvSpPr>
        <p:spPr/>
        <p:txBody>
          <a:bodyPr>
            <a:normAutofit fontScale="92500" lnSpcReduction="10000"/>
          </a:bodyPr>
          <a:lstStyle/>
          <a:p>
            <a:r>
              <a:rPr lang="en-NL" dirty="0"/>
              <a:t>Györök penalizes the </a:t>
            </a:r>
            <a:r>
              <a:rPr lang="en-NL" dirty="0" err="1"/>
              <a:t>ANN’s</a:t>
            </a:r>
            <a:r>
              <a:rPr lang="en-NL" dirty="0"/>
              <a:t> </a:t>
            </a:r>
            <a:r>
              <a:rPr lang="en-NL" b="1" dirty="0"/>
              <a:t>one-step correction</a:t>
            </a:r>
            <a:r>
              <a:rPr lang="en-NL" dirty="0"/>
              <a:t> where it overlaps with stacked physical-parameter sensitivities.</a:t>
            </a:r>
          </a:p>
          <a:p>
            <a:r>
              <a:rPr lang="en-NL" dirty="0"/>
              <a:t>Our proposed extension penalizes the </a:t>
            </a:r>
            <a:r>
              <a:rPr lang="en-NL" dirty="0" err="1"/>
              <a:t>ANN’s</a:t>
            </a:r>
            <a:r>
              <a:rPr lang="en-NL" dirty="0"/>
              <a:t> </a:t>
            </a:r>
            <a:r>
              <a:rPr lang="en-NL" b="1" dirty="0"/>
              <a:t>complete output-rollout contribution</a:t>
            </a:r>
            <a:r>
              <a:rPr lang="en-NL" dirty="0"/>
              <a:t>, using stacked </a:t>
            </a:r>
            <a:r>
              <a:rPr lang="en-NL" b="1" dirty="0"/>
              <a:t>rollout sensitivities</a:t>
            </a:r>
            <a:r>
              <a:rPr lang="en-NL" dirty="0"/>
              <a:t> instead.</a:t>
            </a:r>
          </a:p>
          <a:p>
            <a:r>
              <a:rPr lang="en-NL" dirty="0"/>
              <a:t>The additional states evolve normally during the full rollout. Comparing that prediction with an ANN-off rollout captures their delayed effects through the physical dynamics. Thus, the penalty sees the latent feedback route that evaluation at \(x_{\rm </a:t>
            </a:r>
            <a:r>
              <a:rPr lang="en-NL" dirty="0" err="1"/>
              <a:t>aug</a:t>
            </a:r>
            <a:r>
              <a:rPr lang="en-NL" dirty="0"/>
              <a:t>}=0\) misses.</a:t>
            </a:r>
          </a:p>
          <a:p>
            <a:r>
              <a:rPr lang="en-NL" dirty="0"/>
              <a:t>We constrain </a:t>
            </a:r>
            <a:r>
              <a:rPr lang="en-NL" b="1" dirty="0"/>
              <a:t>what the additional states do to predictions</a:t>
            </a:r>
            <a:r>
              <a:rPr lang="en-NL" dirty="0"/>
              <a:t>, not their values or magnitudes. This promotes orthogonality of the total contribution; </a:t>
            </a:r>
            <a:r>
              <a:rPr lang="en-NL" b="1" dirty="0"/>
              <a:t>it does not guarantee each path is separately orthogonal.</a:t>
            </a:r>
          </a:p>
          <a:p>
            <a:endParaRPr lang="en-NL" dirty="0"/>
          </a:p>
        </p:txBody>
      </p:sp>
    </p:spTree>
    <p:extLst>
      <p:ext uri="{BB962C8B-B14F-4D97-AF65-F5344CB8AC3E}">
        <p14:creationId xmlns:p14="http://schemas.microsoft.com/office/powerpoint/2010/main" val="15980097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D83E2-D6AC-2A50-B6DB-571B5921566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63781A6-3974-35D5-8DF2-8BC3944E54F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5FF068F-5B84-0EDE-17C0-3063D301B8E9}"/>
              </a:ext>
            </a:extLst>
          </p:cNvPr>
          <p:cNvPicPr>
            <a:picLocks noChangeAspect="1"/>
          </p:cNvPicPr>
          <p:nvPr/>
        </p:nvPicPr>
        <p:blipFill>
          <a:blip r:embed="rId2"/>
          <a:stretch>
            <a:fillRect/>
          </a:stretch>
        </p:blipFill>
        <p:spPr>
          <a:xfrm>
            <a:off x="2076101" y="1363801"/>
            <a:ext cx="8039797" cy="4130398"/>
          </a:xfrm>
          <a:prstGeom prst="rect">
            <a:avLst/>
          </a:prstGeom>
        </p:spPr>
      </p:pic>
    </p:spTree>
    <p:extLst>
      <p:ext uri="{BB962C8B-B14F-4D97-AF65-F5344CB8AC3E}">
        <p14:creationId xmlns:p14="http://schemas.microsoft.com/office/powerpoint/2010/main" val="220170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7112</TotalTime>
  <Words>9759</Words>
  <Application>Microsoft Office PowerPoint</Application>
  <PresentationFormat>Widescreen</PresentationFormat>
  <Paragraphs>999</Paragraphs>
  <Slides>78</Slides>
  <Notes>24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Aptos</vt:lpstr>
      <vt:lpstr>Aptos Display</vt:lpstr>
      <vt:lpstr>Arial</vt:lpstr>
      <vt:lpstr>Cambria Math</vt:lpstr>
      <vt:lpstr>Wingdings</vt:lpstr>
      <vt:lpstr>Office Theme</vt:lpstr>
      <vt:lpstr>PowerPoint Presentation</vt:lpstr>
      <vt:lpstr>PowerPoint Presentation</vt:lpstr>
      <vt:lpstr>Meeting Outline</vt:lpstr>
      <vt:lpstr>System Error not big enough?</vt:lpstr>
      <vt:lpstr>Todo</vt:lpstr>
      <vt:lpstr>PowerPoint Presentation</vt:lpstr>
      <vt:lpstr>New setup – Dynamics moved</vt:lpstr>
      <vt:lpstr>PowerPoint Presentation</vt:lpstr>
      <vt:lpstr>Capturing missing dynamics 2 vs 8 additional states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vt:lpstr>
      <vt:lpstr>PowerPoint Presentation</vt:lpstr>
      <vt:lpstr>Additional states learning</vt:lpstr>
      <vt:lpstr>PowerPoint Presentation</vt:lpstr>
      <vt:lpstr>PowerPoint Presentation</vt:lpstr>
      <vt:lpstr>Quasi-newton L-BFGS</vt:lpstr>
      <vt:lpstr>Transient error</vt:lpstr>
      <vt:lpstr>PowerPoint Presentation</vt:lpstr>
      <vt:lpstr>Transient: Error is focused in the first samples Encoder biased?</vt:lpstr>
      <vt:lpstr>PowerPoint Presentation</vt:lpstr>
      <vt:lpstr>Question Not realistic simulation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 do</vt:lpstr>
      <vt:lpstr>PowerPoint Presentation</vt:lpstr>
      <vt:lpstr>PowerPoint Presentation</vt:lpstr>
      <vt:lpstr>PowerPoint Presentation</vt:lpstr>
      <vt:lpstr>PowerPoint Presentation</vt:lpstr>
      <vt:lpstr>Baseline model</vt:lpstr>
      <vt:lpstr>PowerPoint Presentation</vt:lpstr>
      <vt:lpstr>Augmentation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Nonlinear projection applied to gantry</vt:lpstr>
      <vt:lpstr>PowerPoint Presentation</vt:lpstr>
      <vt:lpstr>PowerPoint Presentation</vt:lpstr>
      <vt:lpstr>Adapt orthogonality regularization to our situation</vt:lpstr>
      <vt:lpstr>Main issues about implementing orthogonality</vt:lpstr>
      <vt:lpstr>Kijken paper maarten en roland orthogonality regularization</vt:lpstr>
      <vt:lpstr>Closed-loop</vt:lpstr>
      <vt:lpstr>Batch sized training</vt:lpstr>
      <vt:lpstr>Update each epoch the baseline what the ANN needs to be orthogonal to?</vt:lpstr>
      <vt:lpstr>Trajectory method instead of pointwise</vt:lpstr>
      <vt:lpstr>One step correction doesn’t apply</vt:lpstr>
      <vt:lpstr>Due to running both outputs this includes: NONlinear model, controler, scheduling AND output map</vt:lpstr>
      <vt:lpstr>PowerPoint Presentation</vt:lpstr>
      <vt:lpstr>Limitation not fully extending Gyorok his nonlinear capabilities</vt:lpstr>
      <vt:lpstr>Encoder</vt:lpstr>
      <vt:lpstr>Why is this called “profiling out” the encoder?</vt:lpstr>
      <vt:lpstr>Magnitude states</vt:lpstr>
      <vt:lpstr>Instead of making the additional states themselves orthogonal Propogate what they do the physical output trajectory</vt:lpstr>
      <vt:lpstr>PowerPoint Presentation</vt:lpstr>
      <vt:lpstr>We constrain what the additional states do to predictions, not their values or magnitudes. This promotes orthogonality of the total contribution; it does not guarantee each path is separately orthogonal.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2026-09-07T09:38:33Z</dcterms:created>
  <dcterms:modified xsi:type="dcterms:W3CDTF">2026-09-13T17:58:50Z</dcterms:modified>
</cp:coreProperties>
</file>