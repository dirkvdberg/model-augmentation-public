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39"/>
  </p:notesMasterIdLst>
  <p:sldIdLst>
    <p:sldId id="257" r:id="rId2"/>
    <p:sldId id="258" r:id="rId3"/>
    <p:sldId id="267" r:id="rId4"/>
    <p:sldId id="274" r:id="rId5"/>
    <p:sldId id="278" r:id="rId6"/>
    <p:sldId id="277" r:id="rId7"/>
    <p:sldId id="276" r:id="rId8"/>
    <p:sldId id="282" r:id="rId9"/>
    <p:sldId id="269" r:id="rId10"/>
    <p:sldId id="296" r:id="rId11"/>
    <p:sldId id="289" r:id="rId12"/>
    <p:sldId id="275" r:id="rId13"/>
    <p:sldId id="293" r:id="rId14"/>
    <p:sldId id="295" r:id="rId15"/>
    <p:sldId id="291" r:id="rId16"/>
    <p:sldId id="272" r:id="rId17"/>
    <p:sldId id="297" r:id="rId18"/>
    <p:sldId id="283" r:id="rId19"/>
    <p:sldId id="280" r:id="rId20"/>
    <p:sldId id="284" r:id="rId21"/>
    <p:sldId id="281" r:id="rId22"/>
    <p:sldId id="273" r:id="rId23"/>
    <p:sldId id="268" r:id="rId24"/>
    <p:sldId id="259" r:id="rId25"/>
    <p:sldId id="264" r:id="rId26"/>
    <p:sldId id="260" r:id="rId27"/>
    <p:sldId id="263" r:id="rId28"/>
    <p:sldId id="265" r:id="rId29"/>
    <p:sldId id="266" r:id="rId30"/>
    <p:sldId id="270" r:id="rId31"/>
    <p:sldId id="279" r:id="rId32"/>
    <p:sldId id="261" r:id="rId33"/>
    <p:sldId id="262" r:id="rId34"/>
    <p:sldId id="286" r:id="rId35"/>
    <p:sldId id="288" r:id="rId36"/>
    <p:sldId id="285" r:id="rId37"/>
    <p:sldId id="287" r:id="rId38"/>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43340D-3257-47F4-8731-8099DB00E14B}" v="3" dt="2026-02-02T15:28:20.697"/>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77386" autoAdjust="0"/>
  </p:normalViewPr>
  <p:slideViewPr>
    <p:cSldViewPr snapToGrid="0">
      <p:cViewPr>
        <p:scale>
          <a:sx n="66" d="100"/>
          <a:sy n="66" d="100"/>
        </p:scale>
        <p:origin x="1483" y="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ekstra, Jan" userId="5d496fe4-0c87-4596-89e4-7951f4c87ccb" providerId="ADAL" clId="{97D91625-A293-482C-B427-66C0286D47AF}"/>
    <pc:docChg chg="undo custSel addSld modSld">
      <pc:chgData name="Hoekstra, Jan" userId="5d496fe4-0c87-4596-89e4-7951f4c87ccb" providerId="ADAL" clId="{97D91625-A293-482C-B427-66C0286D47AF}" dt="2026-02-02T15:29:04.079" v="1141" actId="114"/>
      <pc:docMkLst>
        <pc:docMk/>
      </pc:docMkLst>
      <pc:sldChg chg="addSp modSp mod">
        <pc:chgData name="Hoekstra, Jan" userId="5d496fe4-0c87-4596-89e4-7951f4c87ccb" providerId="ADAL" clId="{97D91625-A293-482C-B427-66C0286D47AF}" dt="2026-02-02T15:29:04.079" v="1141" actId="114"/>
        <pc:sldMkLst>
          <pc:docMk/>
          <pc:sldMk cId="2679595137" sldId="257"/>
        </pc:sldMkLst>
        <pc:spChg chg="mod">
          <ac:chgData name="Hoekstra, Jan" userId="5d496fe4-0c87-4596-89e4-7951f4c87ccb" providerId="ADAL" clId="{97D91625-A293-482C-B427-66C0286D47AF}" dt="2026-02-02T15:25:52.790" v="826" actId="20577"/>
          <ac:spMkLst>
            <pc:docMk/>
            <pc:sldMk cId="2679595137" sldId="257"/>
            <ac:spMk id="3" creationId="{DAAEF679-3C39-E36C-B710-9B50CBAE487E}"/>
          </ac:spMkLst>
        </pc:spChg>
        <pc:spChg chg="add mod">
          <ac:chgData name="Hoekstra, Jan" userId="5d496fe4-0c87-4596-89e4-7951f4c87ccb" providerId="ADAL" clId="{97D91625-A293-482C-B427-66C0286D47AF}" dt="2026-02-02T15:29:04.079" v="1141" actId="114"/>
          <ac:spMkLst>
            <pc:docMk/>
            <pc:sldMk cId="2679595137" sldId="257"/>
            <ac:spMk id="4" creationId="{465EFC2D-66CC-A333-8AD7-17BCBCDB18BB}"/>
          </ac:spMkLst>
        </pc:spChg>
      </pc:sldChg>
      <pc:sldChg chg="addSp modSp new mod">
        <pc:chgData name="Hoekstra, Jan" userId="5d496fe4-0c87-4596-89e4-7951f4c87ccb" providerId="ADAL" clId="{97D91625-A293-482C-B427-66C0286D47AF}" dt="2026-02-02T15:27:13.239" v="1012" actId="20577"/>
        <pc:sldMkLst>
          <pc:docMk/>
          <pc:sldMk cId="2138626586" sldId="259"/>
        </pc:sldMkLst>
        <pc:spChg chg="mod">
          <ac:chgData name="Hoekstra, Jan" userId="5d496fe4-0c87-4596-89e4-7951f4c87ccb" providerId="ADAL" clId="{97D91625-A293-482C-B427-66C0286D47AF}" dt="2026-02-02T15:21:38.324" v="75" actId="20577"/>
          <ac:spMkLst>
            <pc:docMk/>
            <pc:sldMk cId="2138626586" sldId="259"/>
            <ac:spMk id="2" creationId="{1241CBB4-4332-CC27-31DC-1118749DC9EE}"/>
          </ac:spMkLst>
        </pc:spChg>
        <pc:spChg chg="mod">
          <ac:chgData name="Hoekstra, Jan" userId="5d496fe4-0c87-4596-89e4-7951f4c87ccb" providerId="ADAL" clId="{97D91625-A293-482C-B427-66C0286D47AF}" dt="2026-02-02T15:22:56.417" v="251" actId="20577"/>
          <ac:spMkLst>
            <pc:docMk/>
            <pc:sldMk cId="2138626586" sldId="259"/>
            <ac:spMk id="3" creationId="{EF5F3971-08E2-AD39-C334-D1FA58F77EB2}"/>
          </ac:spMkLst>
        </pc:spChg>
        <pc:spChg chg="add mod">
          <ac:chgData name="Hoekstra, Jan" userId="5d496fe4-0c87-4596-89e4-7951f4c87ccb" providerId="ADAL" clId="{97D91625-A293-482C-B427-66C0286D47AF}" dt="2026-02-02T15:27:13.239" v="1012" actId="20577"/>
          <ac:spMkLst>
            <pc:docMk/>
            <pc:sldMk cId="2138626586" sldId="259"/>
            <ac:spMk id="4" creationId="{B119E904-9495-8CB1-E838-D562CF8BB5D9}"/>
          </ac:spMkLst>
        </pc:spChg>
      </pc:sldChg>
      <pc:sldChg chg="addSp modSp new mod">
        <pc:chgData name="Hoekstra, Jan" userId="5d496fe4-0c87-4596-89e4-7951f4c87ccb" providerId="ADAL" clId="{97D91625-A293-482C-B427-66C0286D47AF}" dt="2026-02-02T15:24:23.914" v="615"/>
        <pc:sldMkLst>
          <pc:docMk/>
          <pc:sldMk cId="2175299465" sldId="260"/>
        </pc:sldMkLst>
        <pc:spChg chg="mod">
          <ac:chgData name="Hoekstra, Jan" userId="5d496fe4-0c87-4596-89e4-7951f4c87ccb" providerId="ADAL" clId="{97D91625-A293-482C-B427-66C0286D47AF}" dt="2026-02-02T15:23:06.129" v="262" actId="20577"/>
          <ac:spMkLst>
            <pc:docMk/>
            <pc:sldMk cId="2175299465" sldId="260"/>
            <ac:spMk id="2" creationId="{8275DA82-033F-A5A9-8242-2D5896D94857}"/>
          </ac:spMkLst>
        </pc:spChg>
        <pc:spChg chg="mod">
          <ac:chgData name="Hoekstra, Jan" userId="5d496fe4-0c87-4596-89e4-7951f4c87ccb" providerId="ADAL" clId="{97D91625-A293-482C-B427-66C0286D47AF}" dt="2026-02-02T15:24:18.480" v="614" actId="20577"/>
          <ac:spMkLst>
            <pc:docMk/>
            <pc:sldMk cId="2175299465" sldId="260"/>
            <ac:spMk id="3" creationId="{07C68050-ABAC-21A7-30BB-2C997CD155E6}"/>
          </ac:spMkLst>
        </pc:spChg>
        <pc:spChg chg="add mod">
          <ac:chgData name="Hoekstra, Jan" userId="5d496fe4-0c87-4596-89e4-7951f4c87ccb" providerId="ADAL" clId="{97D91625-A293-482C-B427-66C0286D47AF}" dt="2026-02-02T15:24:23.914" v="615"/>
          <ac:spMkLst>
            <pc:docMk/>
            <pc:sldMk cId="2175299465" sldId="260"/>
            <ac:spMk id="4" creationId="{C22B2196-272F-FC1F-4220-C87739CBF73F}"/>
          </ac:spMkLst>
        </pc:spChg>
      </pc:sldChg>
      <pc:sldChg chg="modSp new mod">
        <pc:chgData name="Hoekstra, Jan" userId="5d496fe4-0c87-4596-89e4-7951f4c87ccb" providerId="ADAL" clId="{97D91625-A293-482C-B427-66C0286D47AF}" dt="2026-02-02T15:26:33.865" v="951" actId="20577"/>
        <pc:sldMkLst>
          <pc:docMk/>
          <pc:sldMk cId="4133975854" sldId="261"/>
        </pc:sldMkLst>
        <pc:spChg chg="mod">
          <ac:chgData name="Hoekstra, Jan" userId="5d496fe4-0c87-4596-89e4-7951f4c87ccb" providerId="ADAL" clId="{97D91625-A293-482C-B427-66C0286D47AF}" dt="2026-02-02T15:24:51.240" v="639" actId="20577"/>
          <ac:spMkLst>
            <pc:docMk/>
            <pc:sldMk cId="4133975854" sldId="261"/>
            <ac:spMk id="2" creationId="{CE8922FA-98D7-2929-D27F-810CECE6E8CA}"/>
          </ac:spMkLst>
        </pc:spChg>
        <pc:spChg chg="mod">
          <ac:chgData name="Hoekstra, Jan" userId="5d496fe4-0c87-4596-89e4-7951f4c87ccb" providerId="ADAL" clId="{97D91625-A293-482C-B427-66C0286D47AF}" dt="2026-02-02T15:26:33.865" v="951" actId="20577"/>
          <ac:spMkLst>
            <pc:docMk/>
            <pc:sldMk cId="4133975854" sldId="261"/>
            <ac:spMk id="3" creationId="{78179DB8-2509-8E4F-14E4-B0B6B2FE756A}"/>
          </ac:spMkLst>
        </pc:spChg>
      </pc:sldChg>
      <pc:sldChg chg="modSp new mod">
        <pc:chgData name="Hoekstra, Jan" userId="5d496fe4-0c87-4596-89e4-7951f4c87ccb" providerId="ADAL" clId="{97D91625-A293-482C-B427-66C0286D47AF}" dt="2026-02-02T15:25:37.756" v="806" actId="20577"/>
        <pc:sldMkLst>
          <pc:docMk/>
          <pc:sldMk cId="3503897311" sldId="262"/>
        </pc:sldMkLst>
        <pc:spChg chg="mod">
          <ac:chgData name="Hoekstra, Jan" userId="5d496fe4-0c87-4596-89e4-7951f4c87ccb" providerId="ADAL" clId="{97D91625-A293-482C-B427-66C0286D47AF}" dt="2026-02-02T15:25:25.271" v="748" actId="20577"/>
          <ac:spMkLst>
            <pc:docMk/>
            <pc:sldMk cId="3503897311" sldId="262"/>
            <ac:spMk id="2" creationId="{E87AE796-708B-909C-F9F8-D1C4E09DB0F7}"/>
          </ac:spMkLst>
        </pc:spChg>
        <pc:spChg chg="mod">
          <ac:chgData name="Hoekstra, Jan" userId="5d496fe4-0c87-4596-89e4-7951f4c87ccb" providerId="ADAL" clId="{97D91625-A293-482C-B427-66C0286D47AF}" dt="2026-02-02T15:25:37.756" v="806" actId="20577"/>
          <ac:spMkLst>
            <pc:docMk/>
            <pc:sldMk cId="3503897311" sldId="262"/>
            <ac:spMk id="3" creationId="{322F13D6-AF08-9392-A25C-ED43A705A9E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421CD5-4FDE-4EAA-BDDE-FE867700A10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31FAF48-8FC5-403B-9904-32B5DAA4647C}">
      <dgm:prSet/>
      <dgm:spPr/>
      <dgm:t>
        <a:bodyPr/>
        <a:lstStyle/>
        <a:p>
          <a:r>
            <a:rPr lang="en-US"/>
            <a:t>Wet-Clutch example: fast but smooth engagement </a:t>
          </a:r>
          <a:r>
            <a:rPr lang="en-US">
              <a:sym typeface="Wingdings" panose="05000000000000000000" pitchFamily="2" charset="2"/>
            </a:rPr>
            <a:t></a:t>
          </a:r>
          <a:r>
            <a:rPr lang="en-US"/>
            <a:t> designed “spiky signals” </a:t>
          </a:r>
          <a:r>
            <a:rPr lang="en-US">
              <a:sym typeface="Wingdings" panose="05000000000000000000" pitchFamily="2" charset="2"/>
            </a:rPr>
            <a:t></a:t>
          </a:r>
          <a:r>
            <a:rPr lang="en-US"/>
            <a:t> forced the system into fast engagement state</a:t>
          </a:r>
        </a:p>
      </dgm:t>
    </dgm:pt>
    <dgm:pt modelId="{2D8D8DBC-5F0E-4E5A-83E7-B73B09949B27}" type="parTrans" cxnId="{777BAFDF-293C-473C-BCE8-B3433E5849F8}">
      <dgm:prSet/>
      <dgm:spPr/>
      <dgm:t>
        <a:bodyPr/>
        <a:lstStyle/>
        <a:p>
          <a:endParaRPr lang="en-US"/>
        </a:p>
      </dgm:t>
    </dgm:pt>
    <dgm:pt modelId="{E7884E85-9C7B-48BE-877D-410CBB6D0066}" type="sibTrans" cxnId="{777BAFDF-293C-473C-BCE8-B3433E5849F8}">
      <dgm:prSet/>
      <dgm:spPr/>
      <dgm:t>
        <a:bodyPr/>
        <a:lstStyle/>
        <a:p>
          <a:endParaRPr lang="en-US"/>
        </a:p>
      </dgm:t>
    </dgm:pt>
    <dgm:pt modelId="{5C440A02-89DC-4223-97BF-BAC6C99ECEAF}">
      <dgm:prSet/>
      <dgm:spPr/>
      <dgm:t>
        <a:bodyPr/>
        <a:lstStyle/>
        <a:p>
          <a:r>
            <a:rPr lang="en-US"/>
            <a:t>For dual-gantry: similar inputs for training data where the “settling behaviour” is dominant</a:t>
          </a:r>
        </a:p>
      </dgm:t>
    </dgm:pt>
    <dgm:pt modelId="{1C8C5DA9-3709-4003-A3AB-F2165884D268}" type="parTrans" cxnId="{30C9D791-173C-46ED-A012-D059844918C2}">
      <dgm:prSet/>
      <dgm:spPr/>
      <dgm:t>
        <a:bodyPr/>
        <a:lstStyle/>
        <a:p>
          <a:endParaRPr lang="en-US"/>
        </a:p>
      </dgm:t>
    </dgm:pt>
    <dgm:pt modelId="{CAEB47C5-966E-46AB-9542-35377EFD652C}" type="sibTrans" cxnId="{30C9D791-173C-46ED-A012-D059844918C2}">
      <dgm:prSet/>
      <dgm:spPr/>
      <dgm:t>
        <a:bodyPr/>
        <a:lstStyle/>
        <a:p>
          <a:endParaRPr lang="en-US"/>
        </a:p>
      </dgm:t>
    </dgm:pt>
    <dgm:pt modelId="{8BE59704-F740-4389-9ECD-48A786A45764}">
      <dgm:prSet/>
      <dgm:spPr/>
      <dgm:t>
        <a:bodyPr/>
        <a:lstStyle/>
        <a:p>
          <a:r>
            <a:rPr lang="en-US" dirty="0"/>
            <a:t>Weighting function L(q): pre-filter (≈ bandpass filter) on the error signal before the cost is calculated </a:t>
          </a:r>
          <a:r>
            <a:rPr lang="en-US" dirty="0">
              <a:sym typeface="Wingdings" panose="05000000000000000000" pitchFamily="2" charset="2"/>
            </a:rPr>
            <a:t></a:t>
          </a:r>
          <a:r>
            <a:rPr lang="en-US" dirty="0"/>
            <a:t> minimize a “filtered error”</a:t>
          </a:r>
        </a:p>
      </dgm:t>
    </dgm:pt>
    <dgm:pt modelId="{7D866650-ADEF-4D2D-8557-7153E1721F1F}" type="parTrans" cxnId="{AC6777B5-DC98-4C0E-BCCC-ECE1F60D2491}">
      <dgm:prSet/>
      <dgm:spPr/>
      <dgm:t>
        <a:bodyPr/>
        <a:lstStyle/>
        <a:p>
          <a:endParaRPr lang="en-US"/>
        </a:p>
      </dgm:t>
    </dgm:pt>
    <dgm:pt modelId="{E2DC395C-FA43-4960-B8FC-49C92814D50A}" type="sibTrans" cxnId="{AC6777B5-DC98-4C0E-BCCC-ECE1F60D2491}">
      <dgm:prSet/>
      <dgm:spPr/>
      <dgm:t>
        <a:bodyPr/>
        <a:lstStyle/>
        <a:p>
          <a:endParaRPr lang="en-US"/>
        </a:p>
      </dgm:t>
    </dgm:pt>
    <dgm:pt modelId="{83309370-3459-4774-8294-1424C509C50D}">
      <dgm:prSet/>
      <dgm:spPr/>
      <dgm:t>
        <a:bodyPr/>
        <a:lstStyle/>
        <a:p>
          <a:r>
            <a:rPr lang="en-US"/>
            <a:t>“The weighting function should reflect in what frequency band larger structural model errors can be tolerated and where small structural model errors are needed.” </a:t>
          </a:r>
          <a:r>
            <a:rPr lang="en-US">
              <a:sym typeface="Wingdings" panose="05000000000000000000" pitchFamily="2" charset="2"/>
            </a:rPr>
            <a:t></a:t>
          </a:r>
          <a:r>
            <a:rPr lang="en-US"/>
            <a:t> </a:t>
          </a:r>
        </a:p>
      </dgm:t>
    </dgm:pt>
    <dgm:pt modelId="{906650A0-4B37-4E0C-BC72-ECB9E80FC500}" type="parTrans" cxnId="{918B5DD5-99D4-4E2F-8D01-18A29A53F08C}">
      <dgm:prSet/>
      <dgm:spPr/>
      <dgm:t>
        <a:bodyPr/>
        <a:lstStyle/>
        <a:p>
          <a:endParaRPr lang="en-US"/>
        </a:p>
      </dgm:t>
    </dgm:pt>
    <dgm:pt modelId="{78F52617-4D3A-4677-BF62-B216DAD6451F}" type="sibTrans" cxnId="{918B5DD5-99D4-4E2F-8D01-18A29A53F08C}">
      <dgm:prSet/>
      <dgm:spPr/>
      <dgm:t>
        <a:bodyPr/>
        <a:lstStyle/>
        <a:p>
          <a:endParaRPr lang="en-US"/>
        </a:p>
      </dgm:t>
    </dgm:pt>
    <dgm:pt modelId="{FD983D3E-1593-4048-996A-EC46ED0FCE78}">
      <dgm:prSet/>
      <dgm:spPr/>
      <dgm:t>
        <a:bodyPr/>
        <a:lstStyle/>
        <a:p>
          <a:r>
            <a:rPr lang="en-US"/>
            <a:t>Use L to translate time-domain goal (stay within ±1.5 µm) into a frequency-domain instruction for the optimizer</a:t>
          </a:r>
        </a:p>
      </dgm:t>
    </dgm:pt>
    <dgm:pt modelId="{6A0D92AE-0F96-4768-B47C-20EEEA6EBB13}" type="parTrans" cxnId="{A5490996-7214-4D8F-B276-288D5FA7E885}">
      <dgm:prSet/>
      <dgm:spPr/>
      <dgm:t>
        <a:bodyPr/>
        <a:lstStyle/>
        <a:p>
          <a:endParaRPr lang="en-US"/>
        </a:p>
      </dgm:t>
    </dgm:pt>
    <dgm:pt modelId="{A059B362-C8F2-4AB3-A427-C403F724E356}" type="sibTrans" cxnId="{A5490996-7214-4D8F-B276-288D5FA7E885}">
      <dgm:prSet/>
      <dgm:spPr/>
      <dgm:t>
        <a:bodyPr/>
        <a:lstStyle/>
        <a:p>
          <a:endParaRPr lang="en-US"/>
        </a:p>
      </dgm:t>
    </dgm:pt>
    <dgm:pt modelId="{0BF3541C-5B4B-4C9D-BB21-67F16B7011AD}">
      <dgm:prSet/>
      <dgm:spPr/>
      <dgm:t>
        <a:bodyPr/>
        <a:lstStyle/>
        <a:p>
          <a:r>
            <a:rPr lang="en-US"/>
            <a:t>Weighted loss function: NN training weight peaks more heavily in the cost function?</a:t>
          </a:r>
        </a:p>
      </dgm:t>
    </dgm:pt>
    <dgm:pt modelId="{ACC745B5-A825-4019-B1DE-07583DBD5D0F}" type="parTrans" cxnId="{8483A3B6-7EDB-4E05-A32D-DDA58F0AAAFE}">
      <dgm:prSet/>
      <dgm:spPr/>
      <dgm:t>
        <a:bodyPr/>
        <a:lstStyle/>
        <a:p>
          <a:endParaRPr lang="en-US"/>
        </a:p>
      </dgm:t>
    </dgm:pt>
    <dgm:pt modelId="{68083C6B-B454-4C05-B7D1-A05CEB1BF648}" type="sibTrans" cxnId="{8483A3B6-7EDB-4E05-A32D-DDA58F0AAAFE}">
      <dgm:prSet/>
      <dgm:spPr/>
      <dgm:t>
        <a:bodyPr/>
        <a:lstStyle/>
        <a:p>
          <a:endParaRPr lang="en-US"/>
        </a:p>
      </dgm:t>
    </dgm:pt>
    <dgm:pt modelId="{CB2FFD4A-CF82-4A20-90CB-40522A0874B8}" type="pres">
      <dgm:prSet presAssocID="{25421CD5-4FDE-4EAA-BDDE-FE867700A106}" presName="linear" presStyleCnt="0">
        <dgm:presLayoutVars>
          <dgm:animLvl val="lvl"/>
          <dgm:resizeHandles val="exact"/>
        </dgm:presLayoutVars>
      </dgm:prSet>
      <dgm:spPr/>
    </dgm:pt>
    <dgm:pt modelId="{24A62883-4FDA-46F7-BDE8-A1E03500F337}" type="pres">
      <dgm:prSet presAssocID="{131FAF48-8FC5-403B-9904-32B5DAA4647C}" presName="parentText" presStyleLbl="node1" presStyleIdx="0" presStyleCnt="3">
        <dgm:presLayoutVars>
          <dgm:chMax val="0"/>
          <dgm:bulletEnabled val="1"/>
        </dgm:presLayoutVars>
      </dgm:prSet>
      <dgm:spPr/>
    </dgm:pt>
    <dgm:pt modelId="{AE7AAE48-FCCB-4A3F-9984-3D6295622F11}" type="pres">
      <dgm:prSet presAssocID="{131FAF48-8FC5-403B-9904-32B5DAA4647C}" presName="childText" presStyleLbl="revTx" presStyleIdx="0" presStyleCnt="2">
        <dgm:presLayoutVars>
          <dgm:bulletEnabled val="1"/>
        </dgm:presLayoutVars>
      </dgm:prSet>
      <dgm:spPr/>
    </dgm:pt>
    <dgm:pt modelId="{500328AC-C566-4344-A2A8-7BEE06F7A08D}" type="pres">
      <dgm:prSet presAssocID="{8BE59704-F740-4389-9ECD-48A786A45764}" presName="parentText" presStyleLbl="node1" presStyleIdx="1" presStyleCnt="3">
        <dgm:presLayoutVars>
          <dgm:chMax val="0"/>
          <dgm:bulletEnabled val="1"/>
        </dgm:presLayoutVars>
      </dgm:prSet>
      <dgm:spPr/>
    </dgm:pt>
    <dgm:pt modelId="{CDACDFAA-A220-4FDE-841E-F3E2DA591664}" type="pres">
      <dgm:prSet presAssocID="{8BE59704-F740-4389-9ECD-48A786A45764}" presName="childText" presStyleLbl="revTx" presStyleIdx="1" presStyleCnt="2">
        <dgm:presLayoutVars>
          <dgm:bulletEnabled val="1"/>
        </dgm:presLayoutVars>
      </dgm:prSet>
      <dgm:spPr/>
    </dgm:pt>
    <dgm:pt modelId="{B64B3592-B9CC-423B-8787-232D7F0949C8}" type="pres">
      <dgm:prSet presAssocID="{0BF3541C-5B4B-4C9D-BB21-67F16B7011AD}" presName="parentText" presStyleLbl="node1" presStyleIdx="2" presStyleCnt="3">
        <dgm:presLayoutVars>
          <dgm:chMax val="0"/>
          <dgm:bulletEnabled val="1"/>
        </dgm:presLayoutVars>
      </dgm:prSet>
      <dgm:spPr/>
    </dgm:pt>
  </dgm:ptLst>
  <dgm:cxnLst>
    <dgm:cxn modelId="{E3B5472D-53F6-40FE-B0F4-BA6621BBAEA2}" type="presOf" srcId="{5C440A02-89DC-4223-97BF-BAC6C99ECEAF}" destId="{AE7AAE48-FCCB-4A3F-9984-3D6295622F11}" srcOrd="0" destOrd="0" presId="urn:microsoft.com/office/officeart/2005/8/layout/vList2"/>
    <dgm:cxn modelId="{0DA31B46-0FC8-4864-9EE4-255566C04184}" type="presOf" srcId="{FD983D3E-1593-4048-996A-EC46ED0FCE78}" destId="{CDACDFAA-A220-4FDE-841E-F3E2DA591664}" srcOrd="0" destOrd="1" presId="urn:microsoft.com/office/officeart/2005/8/layout/vList2"/>
    <dgm:cxn modelId="{46A2B37F-D082-48DF-9237-EE8142020C03}" type="presOf" srcId="{131FAF48-8FC5-403B-9904-32B5DAA4647C}" destId="{24A62883-4FDA-46F7-BDE8-A1E03500F337}" srcOrd="0" destOrd="0" presId="urn:microsoft.com/office/officeart/2005/8/layout/vList2"/>
    <dgm:cxn modelId="{F3694A81-2B19-4D97-AD0B-013025EDF922}" type="presOf" srcId="{0BF3541C-5B4B-4C9D-BB21-67F16B7011AD}" destId="{B64B3592-B9CC-423B-8787-232D7F0949C8}" srcOrd="0" destOrd="0" presId="urn:microsoft.com/office/officeart/2005/8/layout/vList2"/>
    <dgm:cxn modelId="{30C9D791-173C-46ED-A012-D059844918C2}" srcId="{131FAF48-8FC5-403B-9904-32B5DAA4647C}" destId="{5C440A02-89DC-4223-97BF-BAC6C99ECEAF}" srcOrd="0" destOrd="0" parTransId="{1C8C5DA9-3709-4003-A3AB-F2165884D268}" sibTransId="{CAEB47C5-966E-46AB-9542-35377EFD652C}"/>
    <dgm:cxn modelId="{4253A092-5466-4139-8BC6-2FDB3B42AB7C}" type="presOf" srcId="{83309370-3459-4774-8294-1424C509C50D}" destId="{CDACDFAA-A220-4FDE-841E-F3E2DA591664}" srcOrd="0" destOrd="0" presId="urn:microsoft.com/office/officeart/2005/8/layout/vList2"/>
    <dgm:cxn modelId="{A5490996-7214-4D8F-B276-288D5FA7E885}" srcId="{8BE59704-F740-4389-9ECD-48A786A45764}" destId="{FD983D3E-1593-4048-996A-EC46ED0FCE78}" srcOrd="1" destOrd="0" parTransId="{6A0D92AE-0F96-4768-B47C-20EEEA6EBB13}" sibTransId="{A059B362-C8F2-4AB3-A427-C403F724E356}"/>
    <dgm:cxn modelId="{8D16119B-B9FC-4955-AB33-5E1DA931C9BF}" type="presOf" srcId="{25421CD5-4FDE-4EAA-BDDE-FE867700A106}" destId="{CB2FFD4A-CF82-4A20-90CB-40522A0874B8}" srcOrd="0" destOrd="0" presId="urn:microsoft.com/office/officeart/2005/8/layout/vList2"/>
    <dgm:cxn modelId="{AC6777B5-DC98-4C0E-BCCC-ECE1F60D2491}" srcId="{25421CD5-4FDE-4EAA-BDDE-FE867700A106}" destId="{8BE59704-F740-4389-9ECD-48A786A45764}" srcOrd="1" destOrd="0" parTransId="{7D866650-ADEF-4D2D-8557-7153E1721F1F}" sibTransId="{E2DC395C-FA43-4960-B8FC-49C92814D50A}"/>
    <dgm:cxn modelId="{8483A3B6-7EDB-4E05-A32D-DDA58F0AAAFE}" srcId="{25421CD5-4FDE-4EAA-BDDE-FE867700A106}" destId="{0BF3541C-5B4B-4C9D-BB21-67F16B7011AD}" srcOrd="2" destOrd="0" parTransId="{ACC745B5-A825-4019-B1DE-07583DBD5D0F}" sibTransId="{68083C6B-B454-4C05-B7D1-A05CEB1BF648}"/>
    <dgm:cxn modelId="{CD2976B7-7765-400B-AC2D-0F470FD5E19F}" type="presOf" srcId="{8BE59704-F740-4389-9ECD-48A786A45764}" destId="{500328AC-C566-4344-A2A8-7BEE06F7A08D}" srcOrd="0" destOrd="0" presId="urn:microsoft.com/office/officeart/2005/8/layout/vList2"/>
    <dgm:cxn modelId="{918B5DD5-99D4-4E2F-8D01-18A29A53F08C}" srcId="{8BE59704-F740-4389-9ECD-48A786A45764}" destId="{83309370-3459-4774-8294-1424C509C50D}" srcOrd="0" destOrd="0" parTransId="{906650A0-4B37-4E0C-BC72-ECB9E80FC500}" sibTransId="{78F52617-4D3A-4677-BF62-B216DAD6451F}"/>
    <dgm:cxn modelId="{777BAFDF-293C-473C-BCE8-B3433E5849F8}" srcId="{25421CD5-4FDE-4EAA-BDDE-FE867700A106}" destId="{131FAF48-8FC5-403B-9904-32B5DAA4647C}" srcOrd="0" destOrd="0" parTransId="{2D8D8DBC-5F0E-4E5A-83E7-B73B09949B27}" sibTransId="{E7884E85-9C7B-48BE-877D-410CBB6D0066}"/>
    <dgm:cxn modelId="{BD0FC945-0A89-4335-9620-A7F0CFBADB0C}" type="presParOf" srcId="{CB2FFD4A-CF82-4A20-90CB-40522A0874B8}" destId="{24A62883-4FDA-46F7-BDE8-A1E03500F337}" srcOrd="0" destOrd="0" presId="urn:microsoft.com/office/officeart/2005/8/layout/vList2"/>
    <dgm:cxn modelId="{89B6D4F7-D65E-455B-8FC0-33E4A7C7C921}" type="presParOf" srcId="{CB2FFD4A-CF82-4A20-90CB-40522A0874B8}" destId="{AE7AAE48-FCCB-4A3F-9984-3D6295622F11}" srcOrd="1" destOrd="0" presId="urn:microsoft.com/office/officeart/2005/8/layout/vList2"/>
    <dgm:cxn modelId="{B28EFF32-BD48-4325-A442-0A31E61F2FEF}" type="presParOf" srcId="{CB2FFD4A-CF82-4A20-90CB-40522A0874B8}" destId="{500328AC-C566-4344-A2A8-7BEE06F7A08D}" srcOrd="2" destOrd="0" presId="urn:microsoft.com/office/officeart/2005/8/layout/vList2"/>
    <dgm:cxn modelId="{3657F85A-9F3D-45DB-A6AD-D8652EF0A07A}" type="presParOf" srcId="{CB2FFD4A-CF82-4A20-90CB-40522A0874B8}" destId="{CDACDFAA-A220-4FDE-841E-F3E2DA591664}" srcOrd="3" destOrd="0" presId="urn:microsoft.com/office/officeart/2005/8/layout/vList2"/>
    <dgm:cxn modelId="{7E94DB9C-DD9A-4E1F-905C-9C581E389F80}" type="presParOf" srcId="{CB2FFD4A-CF82-4A20-90CB-40522A0874B8}" destId="{B64B3592-B9CC-423B-8787-232D7F0949C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A62883-4FDA-46F7-BDE8-A1E03500F337}">
      <dsp:nvSpPr>
        <dsp:cNvPr id="0" name=""/>
        <dsp:cNvSpPr/>
      </dsp:nvSpPr>
      <dsp:spPr>
        <a:xfrm>
          <a:off x="0" y="347919"/>
          <a:ext cx="7117080" cy="755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Wet-Clutch example: fast but smooth engagement </a:t>
          </a:r>
          <a:r>
            <a:rPr lang="en-US" sz="1900" kern="1200">
              <a:sym typeface="Wingdings" panose="05000000000000000000" pitchFamily="2" charset="2"/>
            </a:rPr>
            <a:t></a:t>
          </a:r>
          <a:r>
            <a:rPr lang="en-US" sz="1900" kern="1200"/>
            <a:t> designed “spiky signals” </a:t>
          </a:r>
          <a:r>
            <a:rPr lang="en-US" sz="1900" kern="1200">
              <a:sym typeface="Wingdings" panose="05000000000000000000" pitchFamily="2" charset="2"/>
            </a:rPr>
            <a:t></a:t>
          </a:r>
          <a:r>
            <a:rPr lang="en-US" sz="1900" kern="1200"/>
            <a:t> forced the system into fast engagement state</a:t>
          </a:r>
        </a:p>
      </dsp:txBody>
      <dsp:txXfrm>
        <a:off x="36896" y="384815"/>
        <a:ext cx="7043288" cy="682028"/>
      </dsp:txXfrm>
    </dsp:sp>
    <dsp:sp modelId="{AE7AAE48-FCCB-4A3F-9984-3D6295622F11}">
      <dsp:nvSpPr>
        <dsp:cNvPr id="0" name=""/>
        <dsp:cNvSpPr/>
      </dsp:nvSpPr>
      <dsp:spPr>
        <a:xfrm>
          <a:off x="0" y="1103739"/>
          <a:ext cx="7117080" cy="471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596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For dual-gantry: similar inputs for training data where the “settling behaviour” is dominant</a:t>
          </a:r>
        </a:p>
      </dsp:txBody>
      <dsp:txXfrm>
        <a:off x="0" y="1103739"/>
        <a:ext cx="7117080" cy="471960"/>
      </dsp:txXfrm>
    </dsp:sp>
    <dsp:sp modelId="{500328AC-C566-4344-A2A8-7BEE06F7A08D}">
      <dsp:nvSpPr>
        <dsp:cNvPr id="0" name=""/>
        <dsp:cNvSpPr/>
      </dsp:nvSpPr>
      <dsp:spPr>
        <a:xfrm>
          <a:off x="0" y="1575699"/>
          <a:ext cx="7117080" cy="755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Weighting function L(q): pre-filter (≈ bandpass filter) on the error signal before the cost is calculated </a:t>
          </a:r>
          <a:r>
            <a:rPr lang="en-US" sz="1900" kern="1200" dirty="0">
              <a:sym typeface="Wingdings" panose="05000000000000000000" pitchFamily="2" charset="2"/>
            </a:rPr>
            <a:t></a:t>
          </a:r>
          <a:r>
            <a:rPr lang="en-US" sz="1900" kern="1200" dirty="0"/>
            <a:t> minimize a “filtered error”</a:t>
          </a:r>
        </a:p>
      </dsp:txBody>
      <dsp:txXfrm>
        <a:off x="36896" y="1612595"/>
        <a:ext cx="7043288" cy="682028"/>
      </dsp:txXfrm>
    </dsp:sp>
    <dsp:sp modelId="{CDACDFAA-A220-4FDE-841E-F3E2DA591664}">
      <dsp:nvSpPr>
        <dsp:cNvPr id="0" name=""/>
        <dsp:cNvSpPr/>
      </dsp:nvSpPr>
      <dsp:spPr>
        <a:xfrm>
          <a:off x="0" y="2331520"/>
          <a:ext cx="7117080" cy="1160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596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“The weighting function should reflect in what frequency band larger structural model errors can be tolerated and where small structural model errors are needed.” </a:t>
          </a:r>
          <a:r>
            <a:rPr lang="en-US" sz="1500" kern="1200">
              <a:sym typeface="Wingdings" panose="05000000000000000000" pitchFamily="2" charset="2"/>
            </a:rPr>
            <a:t></a:t>
          </a:r>
          <a:r>
            <a:rPr lang="en-US" sz="1500" kern="1200"/>
            <a:t> </a:t>
          </a:r>
        </a:p>
        <a:p>
          <a:pPr marL="114300" lvl="1" indent="-114300" algn="l" defTabSz="666750">
            <a:lnSpc>
              <a:spcPct val="90000"/>
            </a:lnSpc>
            <a:spcBef>
              <a:spcPct val="0"/>
            </a:spcBef>
            <a:spcAft>
              <a:spcPct val="20000"/>
            </a:spcAft>
            <a:buChar char="•"/>
          </a:pPr>
          <a:r>
            <a:rPr lang="en-US" sz="1500" kern="1200"/>
            <a:t>Use L to translate time-domain goal (stay within ±1.5 µm) into a frequency-domain instruction for the optimizer</a:t>
          </a:r>
        </a:p>
      </dsp:txBody>
      <dsp:txXfrm>
        <a:off x="0" y="2331520"/>
        <a:ext cx="7117080" cy="1160235"/>
      </dsp:txXfrm>
    </dsp:sp>
    <dsp:sp modelId="{B64B3592-B9CC-423B-8787-232D7F0949C8}">
      <dsp:nvSpPr>
        <dsp:cNvPr id="0" name=""/>
        <dsp:cNvSpPr/>
      </dsp:nvSpPr>
      <dsp:spPr>
        <a:xfrm>
          <a:off x="0" y="3491755"/>
          <a:ext cx="7117080" cy="755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Weighted loss function: NN training weight peaks more heavily in the cost function?</a:t>
          </a:r>
        </a:p>
      </dsp:txBody>
      <dsp:txXfrm>
        <a:off x="36896" y="3528651"/>
        <a:ext cx="7043288" cy="68202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6355D-D61E-4629-A451-0D5F8A28D69B}" type="datetimeFigureOut">
              <a:rPr lang="en-NL" smtClean="0"/>
              <a:t>12/02/2026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C44169-D6FA-4340-A8EA-FDCA4A57CBC5}" type="slidenum">
              <a:rPr lang="en-NL" smtClean="0"/>
              <a:t>‹#›</a:t>
            </a:fld>
            <a:endParaRPr lang="en-NL"/>
          </a:p>
        </p:txBody>
      </p:sp>
    </p:spTree>
    <p:extLst>
      <p:ext uri="{BB962C8B-B14F-4D97-AF65-F5344CB8AC3E}">
        <p14:creationId xmlns:p14="http://schemas.microsoft.com/office/powerpoint/2010/main" val="99380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3</a:t>
            </a:fld>
            <a:endParaRPr lang="en-NL"/>
          </a:p>
        </p:txBody>
      </p:sp>
    </p:spTree>
    <p:extLst>
      <p:ext uri="{BB962C8B-B14F-4D97-AF65-F5344CB8AC3E}">
        <p14:creationId xmlns:p14="http://schemas.microsoft.com/office/powerpoint/2010/main" val="1809088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4</a:t>
            </a:fld>
            <a:endParaRPr lang="en-NL"/>
          </a:p>
        </p:txBody>
      </p:sp>
    </p:spTree>
    <p:extLst>
      <p:ext uri="{BB962C8B-B14F-4D97-AF65-F5344CB8AC3E}">
        <p14:creationId xmlns:p14="http://schemas.microsoft.com/office/powerpoint/2010/main" val="3754937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8A6E7-0937-246E-43DE-C5AE91A77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D5A23-0E42-B521-932D-016A5B50E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B1E4E2-0261-ED33-987D-E4A813C36E56}"/>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77496EB-61AB-B42B-2D5E-31218C50E175}"/>
              </a:ext>
            </a:extLst>
          </p:cNvPr>
          <p:cNvSpPr>
            <a:spLocks noGrp="1"/>
          </p:cNvSpPr>
          <p:nvPr>
            <p:ph type="sldNum" sz="quarter" idx="5"/>
          </p:nvPr>
        </p:nvSpPr>
        <p:spPr/>
        <p:txBody>
          <a:bodyPr/>
          <a:lstStyle/>
          <a:p>
            <a:fld id="{86C44169-D6FA-4340-A8EA-FDCA4A57CBC5}" type="slidenum">
              <a:rPr lang="en-NL" smtClean="0"/>
              <a:t>5</a:t>
            </a:fld>
            <a:endParaRPr lang="en-NL"/>
          </a:p>
        </p:txBody>
      </p:sp>
    </p:spTree>
    <p:extLst>
      <p:ext uri="{BB962C8B-B14F-4D97-AF65-F5344CB8AC3E}">
        <p14:creationId xmlns:p14="http://schemas.microsoft.com/office/powerpoint/2010/main" val="1066448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C853F-D1FD-9BB9-A80C-E59AC5176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A36D7-5A36-D7BF-E4C2-50EFD34D7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AB52C-5848-AB66-0C37-32F10A5DAF49}"/>
              </a:ext>
            </a:extLst>
          </p:cNvPr>
          <p:cNvSpPr>
            <a:spLocks noGrp="1"/>
          </p:cNvSpPr>
          <p:nvPr>
            <p:ph type="body" idx="1"/>
          </p:nvPr>
        </p:nvSpPr>
        <p:spPr/>
        <p:txBody>
          <a:bodyPr/>
          <a:lstStyle/>
          <a:p>
            <a:r>
              <a:rPr lang="en-US" sz="1200" b="0" i="0" kern="1200" dirty="0" err="1">
                <a:solidFill>
                  <a:schemeClr val="tx1"/>
                </a:solidFill>
                <a:effectLst/>
                <a:latin typeface="+mn-lt"/>
                <a:ea typeface="+mn-ea"/>
                <a:cs typeface="+mn-cs"/>
              </a:rPr>
              <a:t>Kessels</a:t>
            </a:r>
            <a:r>
              <a:rPr lang="en-US" sz="1200" b="0" i="0" kern="1200" dirty="0">
                <a:solidFill>
                  <a:schemeClr val="tx1"/>
                </a:solidFill>
                <a:effectLst/>
                <a:latin typeface="+mn-lt"/>
                <a:ea typeface="+mn-ea"/>
                <a:cs typeface="+mn-cs"/>
              </a:rPr>
              <a:t> found that while TE features (magnitude and timing of peaks) are physically intuitive, they are often </a:t>
            </a:r>
            <a:r>
              <a:rPr lang="en-US" sz="1200" b="1" i="0" kern="1200" dirty="0">
                <a:solidFill>
                  <a:schemeClr val="tx1"/>
                </a:solidFill>
                <a:effectLst/>
                <a:latin typeface="+mn-lt"/>
                <a:ea typeface="+mn-ea"/>
                <a:cs typeface="+mn-cs"/>
              </a:rPr>
              <a:t>comparatively inaccurate</a:t>
            </a:r>
            <a:r>
              <a:rPr lang="en-US" sz="1200" b="0" i="0" kern="1200" dirty="0">
                <a:solidFill>
                  <a:schemeClr val="tx1"/>
                </a:solidFill>
                <a:effectLst/>
                <a:latin typeface="+mn-lt"/>
                <a:ea typeface="+mn-ea"/>
                <a:cs typeface="+mn-cs"/>
              </a:rPr>
              <a:t> in industrial applications because they are </a:t>
            </a:r>
            <a:r>
              <a:rPr lang="en-US" sz="1200" b="1" i="0" kern="1200" dirty="0">
                <a:solidFill>
                  <a:schemeClr val="tx1"/>
                </a:solidFill>
                <a:effectLst/>
                <a:latin typeface="+mn-lt"/>
                <a:ea typeface="+mn-ea"/>
                <a:cs typeface="+mn-cs"/>
              </a:rPr>
              <a:t>sensitive to measurement noise</a:t>
            </a:r>
            <a:r>
              <a:rPr lang="en-US" sz="1200" b="0" i="0" kern="1200" dirty="0">
                <a:solidFill>
                  <a:schemeClr val="tx1"/>
                </a:solidFill>
                <a:effectLst/>
                <a:latin typeface="+mn-lt"/>
                <a:ea typeface="+mn-ea"/>
                <a:cs typeface="+mn-cs"/>
              </a:rPr>
              <a:t> and contain </a:t>
            </a:r>
            <a:r>
              <a:rPr lang="en-US" sz="1200" b="1" i="0" kern="1200" dirty="0">
                <a:solidFill>
                  <a:schemeClr val="tx1"/>
                </a:solidFill>
                <a:effectLst/>
                <a:latin typeface="+mn-lt"/>
                <a:ea typeface="+mn-ea"/>
                <a:cs typeface="+mn-cs"/>
              </a:rPr>
              <a:t>low information density</a:t>
            </a:r>
            <a:r>
              <a:rPr lang="en-US" sz="1200" b="0" i="0" kern="1200" dirty="0">
                <a:solidFill>
                  <a:schemeClr val="tx1"/>
                </a:solidFill>
                <a:effectLst/>
                <a:latin typeface="+mn-lt"/>
                <a:ea typeface="+mn-ea"/>
                <a:cs typeface="+mn-cs"/>
              </a:rPr>
              <a:t> (sparsity) compared to using full time-samples or frequency-domain data</a:t>
            </a:r>
            <a:endParaRPr lang="en-NL" dirty="0"/>
          </a:p>
        </p:txBody>
      </p:sp>
      <p:sp>
        <p:nvSpPr>
          <p:cNvPr id="4" name="Slide Number Placeholder 3">
            <a:extLst>
              <a:ext uri="{FF2B5EF4-FFF2-40B4-BE49-F238E27FC236}">
                <a16:creationId xmlns:a16="http://schemas.microsoft.com/office/drawing/2014/main" id="{76DAC622-3222-3869-065E-EC60AB004EEF}"/>
              </a:ext>
            </a:extLst>
          </p:cNvPr>
          <p:cNvSpPr>
            <a:spLocks noGrp="1"/>
          </p:cNvSpPr>
          <p:nvPr>
            <p:ph type="sldNum" sz="quarter" idx="5"/>
          </p:nvPr>
        </p:nvSpPr>
        <p:spPr/>
        <p:txBody>
          <a:bodyPr/>
          <a:lstStyle/>
          <a:p>
            <a:fld id="{86C44169-D6FA-4340-A8EA-FDCA4A57CBC5}" type="slidenum">
              <a:rPr lang="en-NL" smtClean="0"/>
              <a:t>6</a:t>
            </a:fld>
            <a:endParaRPr lang="en-NL"/>
          </a:p>
        </p:txBody>
      </p:sp>
    </p:spTree>
    <p:extLst>
      <p:ext uri="{BB962C8B-B14F-4D97-AF65-F5344CB8AC3E}">
        <p14:creationId xmlns:p14="http://schemas.microsoft.com/office/powerpoint/2010/main" val="1373026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9</a:t>
            </a:fld>
            <a:endParaRPr lang="en-NL"/>
          </a:p>
        </p:txBody>
      </p:sp>
    </p:spTree>
    <p:extLst>
      <p:ext uri="{BB962C8B-B14F-4D97-AF65-F5344CB8AC3E}">
        <p14:creationId xmlns:p14="http://schemas.microsoft.com/office/powerpoint/2010/main" val="1603383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Orthogonal by construction currently states that further research for state-space needs to be done</a:t>
            </a:r>
          </a:p>
          <a:p>
            <a:r>
              <a:rPr lang="en-US" dirty="0">
                <a:sym typeface="Wingdings" panose="05000000000000000000" pitchFamily="2" charset="2"/>
              </a:rPr>
              <a:t>resonance frequencies = poles</a:t>
            </a:r>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12</a:t>
            </a:fld>
            <a:endParaRPr lang="en-NL"/>
          </a:p>
        </p:txBody>
      </p:sp>
    </p:spTree>
    <p:extLst>
      <p:ext uri="{BB962C8B-B14F-4D97-AF65-F5344CB8AC3E}">
        <p14:creationId xmlns:p14="http://schemas.microsoft.com/office/powerpoint/2010/main" val="493101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Orthogonal Regularization for physical parameters vs prediction accuracy for the EA method</a:t>
            </a:r>
            <a:endParaRPr lang="en-NL" dirty="0"/>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13</a:t>
            </a:fld>
            <a:endParaRPr lang="en-NL"/>
          </a:p>
        </p:txBody>
      </p:sp>
    </p:spTree>
    <p:extLst>
      <p:ext uri="{BB962C8B-B14F-4D97-AF65-F5344CB8AC3E}">
        <p14:creationId xmlns:p14="http://schemas.microsoft.com/office/powerpoint/2010/main" val="2802506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 </a:t>
            </a:r>
            <a:r>
              <a:rPr lang="en-US" b="1" dirty="0">
                <a:effectLst/>
              </a:rPr>
              <a:t>How it works:</a:t>
            </a:r>
            <a:endParaRPr lang="en-US" dirty="0">
              <a:effectLst/>
            </a:endParaRPr>
          </a:p>
          <a:p>
            <a:r>
              <a:rPr lang="en-US" dirty="0">
                <a:effectLst/>
              </a:rPr>
              <a:t>    1. Start with a single global linear model for the whole gantry workspace.</a:t>
            </a:r>
          </a:p>
          <a:p>
            <a:r>
              <a:rPr lang="en-US" dirty="0">
                <a:effectLst/>
              </a:rPr>
              <a:t>    2. Calculate the local error across the workspace.</a:t>
            </a:r>
          </a:p>
          <a:p>
            <a:r>
              <a:rPr lang="en-US" dirty="0">
                <a:effectLst/>
              </a:rPr>
              <a:t>    3. </a:t>
            </a:r>
            <a:r>
              <a:rPr lang="en-US" b="1" dirty="0">
                <a:effectLst/>
              </a:rPr>
              <a:t>Split the space:</a:t>
            </a:r>
            <a:r>
              <a:rPr lang="en-US" dirty="0">
                <a:effectLst/>
              </a:rPr>
              <a:t> The algorithm automatically splits the input space (the XY positions) into two halves at the location where the local error is worst.</a:t>
            </a:r>
          </a:p>
          <a:p>
            <a:r>
              <a:rPr lang="en-US" dirty="0">
                <a:effectLst/>
              </a:rPr>
              <a:t>    4. </a:t>
            </a:r>
            <a:r>
              <a:rPr lang="en-US" b="1" dirty="0">
                <a:effectLst/>
              </a:rPr>
              <a:t>Repeat:</a:t>
            </a:r>
            <a:r>
              <a:rPr lang="en-US" dirty="0">
                <a:effectLst/>
              </a:rPr>
              <a:t> It continues to split these regions into smaller "leaves" (local models) until the error is acceptable everywhere [Source 0, 87].</a:t>
            </a:r>
          </a:p>
          <a:p>
            <a:endParaRPr lang="en-US" dirty="0">
              <a:effectLst/>
            </a:endParaRPr>
          </a:p>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Why for Gantry:</a:t>
            </a:r>
            <a:r>
              <a:rPr lang="en-US" sz="1200" b="0" i="0" kern="1200" dirty="0">
                <a:solidFill>
                  <a:schemeClr val="tx1"/>
                </a:solidFill>
                <a:effectLst/>
                <a:latin typeface="+mn-lt"/>
                <a:ea typeface="+mn-ea"/>
                <a:cs typeface="+mn-cs"/>
              </a:rPr>
              <a:t> This is ideal for position-dependent stiffness because it will automatically place more regime points in areas where the stiffness changes rapidly (likely near the center of the travel range) and fewer points where behavior is linear/consistent (near the supports) [Source 0, 87].</a:t>
            </a: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16</a:t>
            </a:fld>
            <a:endParaRPr lang="en-NL"/>
          </a:p>
        </p:txBody>
      </p:sp>
    </p:spTree>
    <p:extLst>
      <p:ext uri="{BB962C8B-B14F-4D97-AF65-F5344CB8AC3E}">
        <p14:creationId xmlns:p14="http://schemas.microsoft.com/office/powerpoint/2010/main" val="230865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12/02/2026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12/02/2026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12/02/2026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a:xfrm>
            <a:off x="838200" y="436246"/>
            <a:ext cx="10515600" cy="1097914"/>
          </a:xfrm>
        </p:spPr>
        <p:txBody>
          <a:bodyPr>
            <a:normAutofit fontScale="90000"/>
          </a:bodyPr>
          <a:lstStyle/>
          <a:p>
            <a:r>
              <a:rPr lang="en-US" dirty="0"/>
              <a:t>Meeting Week 2 – Hybrid modeling Dual-Gantry</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normAutofit fontScale="92500" lnSpcReduction="20000"/>
          </a:bodyPr>
          <a:lstStyle/>
          <a:p>
            <a:r>
              <a:rPr lang="en-US" dirty="0"/>
              <a:t>Last week summary</a:t>
            </a:r>
          </a:p>
          <a:p>
            <a:r>
              <a:rPr lang="en-US" dirty="0"/>
              <a:t>ASMPT meeting</a:t>
            </a:r>
          </a:p>
          <a:p>
            <a:pPr lvl="1"/>
            <a:r>
              <a:rPr lang="en-US" dirty="0"/>
              <a:t>Key metric</a:t>
            </a:r>
          </a:p>
          <a:p>
            <a:r>
              <a:rPr lang="en-US" dirty="0"/>
              <a:t>Action point 1</a:t>
            </a:r>
          </a:p>
          <a:p>
            <a:r>
              <a:rPr lang="en-US" dirty="0"/>
              <a:t>…</a:t>
            </a:r>
          </a:p>
          <a:p>
            <a:r>
              <a:rPr lang="en-US" dirty="0"/>
              <a:t>Question 1</a:t>
            </a:r>
          </a:p>
          <a:p>
            <a:r>
              <a:rPr lang="en-US" dirty="0"/>
              <a:t>…</a:t>
            </a:r>
          </a:p>
          <a:p>
            <a:r>
              <a:rPr lang="en-US" dirty="0"/>
              <a:t>Outline </a:t>
            </a:r>
            <a:r>
              <a:rPr lang="en-US" dirty="0" err="1"/>
              <a:t>ToDo</a:t>
            </a:r>
            <a:r>
              <a:rPr lang="en-US" dirty="0"/>
              <a:t> next week</a:t>
            </a:r>
          </a:p>
          <a:p>
            <a:pPr lvl="1"/>
            <a:r>
              <a:rPr lang="en-US" dirty="0"/>
              <a:t>Choose method </a:t>
            </a:r>
            <a:r>
              <a:rPr lang="en-US" dirty="0">
                <a:sym typeface="Wingdings" panose="05000000000000000000" pitchFamily="2" charset="2"/>
              </a:rPr>
              <a:t> research for that</a:t>
            </a:r>
          </a:p>
          <a:p>
            <a:pPr lvl="1"/>
            <a:r>
              <a:rPr lang="en-US" dirty="0">
                <a:sym typeface="Wingdings" panose="05000000000000000000" pitchFamily="2" charset="2"/>
              </a:rPr>
              <a:t>Look into estimating plant / SI for that application</a:t>
            </a:r>
          </a:p>
          <a:p>
            <a:pPr lvl="1"/>
            <a:r>
              <a:rPr lang="en-US" dirty="0">
                <a:sym typeface="Wingdings" panose="05000000000000000000" pitchFamily="2" charset="2"/>
              </a:rPr>
              <a:t>Currently “too vague” to have a clear planning?</a:t>
            </a:r>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p:txBody>
          <a:bodyPr/>
          <a:lstStyle/>
          <a:p>
            <a:r>
              <a:rPr lang="en-US" dirty="0"/>
              <a:t>Research plan</a:t>
            </a:r>
          </a:p>
          <a:p>
            <a:pPr lvl="1"/>
            <a:r>
              <a:rPr lang="en-US" dirty="0"/>
              <a:t>AI&amp;ES relevance: Machine learning on dual-gantry system suffices</a:t>
            </a:r>
          </a:p>
          <a:p>
            <a:r>
              <a:rPr lang="en-US" dirty="0"/>
              <a:t>Study guide graduation project</a:t>
            </a:r>
          </a:p>
          <a:p>
            <a:pPr lvl="1"/>
            <a:r>
              <a:rPr lang="en-US" dirty="0"/>
              <a:t>Track High-tech systems and robotics</a:t>
            </a:r>
          </a:p>
        </p:txBody>
      </p:sp>
      <p:pic>
        <p:nvPicPr>
          <p:cNvPr id="8" name="Picture 7">
            <a:extLst>
              <a:ext uri="{FF2B5EF4-FFF2-40B4-BE49-F238E27FC236}">
                <a16:creationId xmlns:a16="http://schemas.microsoft.com/office/drawing/2014/main" id="{C3EBA5F4-6F6A-4331-FB7B-95FE438C7B92}"/>
              </a:ext>
            </a:extLst>
          </p:cNvPr>
          <p:cNvPicPr>
            <a:picLocks noChangeAspect="1"/>
          </p:cNvPicPr>
          <p:nvPr/>
        </p:nvPicPr>
        <p:blipFill>
          <a:blip r:embed="rId2"/>
          <a:stretch>
            <a:fillRect/>
          </a:stretch>
        </p:blipFill>
        <p:spPr>
          <a:xfrm>
            <a:off x="451972" y="3727687"/>
            <a:ext cx="11288056" cy="1425260"/>
          </a:xfrm>
          <a:prstGeom prst="rect">
            <a:avLst/>
          </a:prstGeom>
        </p:spPr>
      </p:pic>
    </p:spTree>
    <p:extLst>
      <p:ext uri="{BB962C8B-B14F-4D97-AF65-F5344CB8AC3E}">
        <p14:creationId xmlns:p14="http://schemas.microsoft.com/office/powerpoint/2010/main" val="16172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CE95-3DF1-5CB2-03DA-CE8875CB8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C864D-0F5B-5F74-E63F-3A5D1146BFBC}"/>
              </a:ext>
            </a:extLst>
          </p:cNvPr>
          <p:cNvSpPr>
            <a:spLocks noGrp="1"/>
          </p:cNvSpPr>
          <p:nvPr>
            <p:ph type="title"/>
          </p:nvPr>
        </p:nvSpPr>
        <p:spPr/>
        <p:txBody>
          <a:bodyPr/>
          <a:lstStyle/>
          <a:p>
            <a:r>
              <a:rPr lang="en-US" dirty="0"/>
              <a:t>ASMPT</a:t>
            </a:r>
            <a:endParaRPr lang="en-NL" dirty="0"/>
          </a:p>
        </p:txBody>
      </p:sp>
      <p:sp>
        <p:nvSpPr>
          <p:cNvPr id="3" name="Content Placeholder 2">
            <a:extLst>
              <a:ext uri="{FF2B5EF4-FFF2-40B4-BE49-F238E27FC236}">
                <a16:creationId xmlns:a16="http://schemas.microsoft.com/office/drawing/2014/main" id="{4591D348-2668-1EDE-6E4C-881FE534826B}"/>
              </a:ext>
            </a:extLst>
          </p:cNvPr>
          <p:cNvSpPr>
            <a:spLocks noGrp="1"/>
          </p:cNvSpPr>
          <p:nvPr>
            <p:ph idx="1"/>
          </p:nvPr>
        </p:nvSpPr>
        <p:spPr>
          <a:xfrm>
            <a:off x="838200" y="1444625"/>
            <a:ext cx="10515600" cy="4351338"/>
          </a:xfrm>
        </p:spPr>
        <p:txBody>
          <a:bodyPr>
            <a:normAutofit fontScale="85000" lnSpcReduction="20000"/>
          </a:bodyPr>
          <a:lstStyle/>
          <a:p>
            <a:r>
              <a:rPr lang="en-US" dirty="0"/>
              <a:t>ASMPT will provide:</a:t>
            </a:r>
          </a:p>
          <a:p>
            <a:pPr lvl="1"/>
            <a:r>
              <a:rPr lang="en-US" dirty="0"/>
              <a:t>They will develop initial FP model in ~2 weeks</a:t>
            </a:r>
          </a:p>
          <a:p>
            <a:pPr lvl="1"/>
            <a:r>
              <a:rPr lang="en-US" dirty="0"/>
              <a:t>Will enable me to automate data collection on the dual-gantry setup (not data experiment design)</a:t>
            </a:r>
          </a:p>
          <a:p>
            <a:r>
              <a:rPr lang="en-US" dirty="0"/>
              <a:t>Critical metric: settling error bounds</a:t>
            </a:r>
          </a:p>
          <a:p>
            <a:pPr lvl="1"/>
            <a:r>
              <a:rPr lang="en-US" dirty="0"/>
              <a:t>For performance: initial movement reference tracking not as important</a:t>
            </a:r>
          </a:p>
          <a:p>
            <a:pPr lvl="2"/>
            <a:r>
              <a:rPr lang="en-US" dirty="0"/>
              <a:t>Hysteresis is also applicable (= previous movements effects gantry initial movement)</a:t>
            </a:r>
          </a:p>
          <a:p>
            <a:r>
              <a:rPr lang="en-US" dirty="0"/>
              <a:t>Generic approach for obtaining data for experiments experiment</a:t>
            </a:r>
          </a:p>
          <a:p>
            <a:pPr lvl="1"/>
            <a:r>
              <a:rPr lang="en-US" dirty="0"/>
              <a:t>Need to design “smart” tests rich in information and for unseen data validation</a:t>
            </a:r>
          </a:p>
          <a:p>
            <a:pPr lvl="1"/>
            <a:r>
              <a:rPr lang="en-US" dirty="0"/>
              <a:t>Would be beneficial for them if its also applicable on other setups</a:t>
            </a:r>
          </a:p>
          <a:p>
            <a:r>
              <a:rPr lang="en-US" dirty="0"/>
              <a:t>Augmentation </a:t>
            </a:r>
            <a:r>
              <a:rPr lang="en-US" dirty="0" err="1"/>
              <a:t>Kessels</a:t>
            </a:r>
            <a:r>
              <a:rPr lang="en-US" dirty="0"/>
              <a:t> was effective on wire bonder </a:t>
            </a:r>
            <a:r>
              <a:rPr lang="en-US" dirty="0">
                <a:sym typeface="Wingdings" panose="05000000000000000000" pitchFamily="2" charset="2"/>
              </a:rPr>
              <a:t> proposes orthogonality in limitations</a:t>
            </a:r>
            <a:endParaRPr lang="en-US" dirty="0"/>
          </a:p>
          <a:p>
            <a:r>
              <a:rPr lang="en-US" dirty="0"/>
              <a:t>(Look at mapping multiple nonlinearities, unseen flexible modes)</a:t>
            </a:r>
            <a:endParaRPr lang="en-NL" dirty="0"/>
          </a:p>
        </p:txBody>
      </p:sp>
    </p:spTree>
    <p:extLst>
      <p:ext uri="{BB962C8B-B14F-4D97-AF65-F5344CB8AC3E}">
        <p14:creationId xmlns:p14="http://schemas.microsoft.com/office/powerpoint/2010/main" val="2173437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1C141-1FEE-4C34-D74D-0903D9CBF62A}"/>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B6217803-295B-32FD-4D1B-9A566E687E08}"/>
              </a:ext>
            </a:extLst>
          </p:cNvPr>
          <p:cNvSpPr>
            <a:spLocks noGrp="1"/>
          </p:cNvSpPr>
          <p:nvPr>
            <p:ph idx="1"/>
          </p:nvPr>
        </p:nvSpPr>
        <p:spPr/>
        <p:txBody>
          <a:bodyPr>
            <a:normAutofit fontScale="77500" lnSpcReduction="20000"/>
          </a:bodyPr>
          <a:lstStyle/>
          <a:p>
            <a:r>
              <a:rPr lang="en-US" b="1" dirty="0"/>
              <a:t>maximum allowed deviation</a:t>
            </a:r>
            <a:r>
              <a:rPr lang="en-US" dirty="0"/>
              <a:t> of the system's output (position) from the reference trajectory after a specific amount of time has passed (the "settling time") / settling phase: the moments immediately after the reference profile reaches its target position.</a:t>
            </a:r>
          </a:p>
          <a:p>
            <a:r>
              <a:rPr lang="en-US" dirty="0">
                <a:solidFill>
                  <a:schemeClr val="bg1"/>
                </a:solidFill>
              </a:rPr>
              <a:t>FP often fails due to unmodeled dynamics</a:t>
            </a:r>
          </a:p>
          <a:p>
            <a:r>
              <a:rPr lang="en-US" dirty="0">
                <a:solidFill>
                  <a:schemeClr val="bg1"/>
                </a:solidFill>
              </a:rPr>
              <a:t>Goal of augmentation: reduce settling error bounds from FP model / </a:t>
            </a:r>
            <a:r>
              <a:rPr lang="en-US" dirty="0" err="1">
                <a:solidFill>
                  <a:schemeClr val="bg1"/>
                </a:solidFill>
              </a:rPr>
              <a:t>telica</a:t>
            </a:r>
            <a:r>
              <a:rPr lang="en-US" dirty="0">
                <a:solidFill>
                  <a:schemeClr val="bg1"/>
                </a:solidFill>
              </a:rPr>
              <a:t> settle times as baseline</a:t>
            </a:r>
          </a:p>
          <a:p>
            <a:r>
              <a:rPr lang="en-US" dirty="0">
                <a:solidFill>
                  <a:schemeClr val="bg1"/>
                </a:solidFill>
              </a:rPr>
              <a:t>Instead of RMSE </a:t>
            </a:r>
            <a:r>
              <a:rPr lang="en-US" dirty="0">
                <a:solidFill>
                  <a:schemeClr val="bg1"/>
                </a:solidFill>
                <a:sym typeface="Wingdings" panose="05000000000000000000" pitchFamily="2" charset="2"/>
              </a:rPr>
              <a:t> </a:t>
            </a:r>
            <a:r>
              <a:rPr lang="en-US" b="1" dirty="0">
                <a:solidFill>
                  <a:schemeClr val="bg1"/>
                </a:solidFill>
              </a:rPr>
              <a:t>Target the Peaks;</a:t>
            </a:r>
            <a:r>
              <a:rPr lang="en-US" dirty="0">
                <a:solidFill>
                  <a:schemeClr val="bg1"/>
                </a:solidFill>
              </a:rPr>
              <a:t> Settling time is determined by the last peak that exceeds the yellow limit line. Even with low RMSE peak could exceed</a:t>
            </a:r>
          </a:p>
          <a:p>
            <a:r>
              <a:rPr lang="en-US" dirty="0">
                <a:solidFill>
                  <a:schemeClr val="bg1"/>
                </a:solidFill>
              </a:rPr>
              <a:t>Feature selection </a:t>
            </a:r>
            <a:r>
              <a:rPr lang="en-US" b="1" dirty="0">
                <a:solidFill>
                  <a:schemeClr val="bg1"/>
                </a:solidFill>
              </a:rPr>
              <a:t>Time Extremum (TE): magnitude</a:t>
            </a:r>
            <a:r>
              <a:rPr lang="en-US" dirty="0">
                <a:solidFill>
                  <a:schemeClr val="bg1"/>
                </a:solidFill>
              </a:rPr>
              <a:t> and </a:t>
            </a:r>
            <a:r>
              <a:rPr lang="en-US" b="1" dirty="0">
                <a:solidFill>
                  <a:schemeClr val="bg1"/>
                </a:solidFill>
              </a:rPr>
              <a:t>temporal location</a:t>
            </a:r>
            <a:r>
              <a:rPr lang="en-US" dirty="0">
                <a:solidFill>
                  <a:schemeClr val="bg1"/>
                </a:solidFill>
              </a:rPr>
              <a:t> of local extrema (peaks and valleys) in the error signal; </a:t>
            </a:r>
            <a:r>
              <a:rPr lang="en-US" dirty="0" err="1">
                <a:solidFill>
                  <a:schemeClr val="bg1"/>
                </a:solidFill>
              </a:rPr>
              <a:t>Kessels</a:t>
            </a:r>
            <a:r>
              <a:rPr lang="en-US" dirty="0">
                <a:solidFill>
                  <a:schemeClr val="bg1"/>
                </a:solidFill>
              </a:rPr>
              <a:t> in application found not to be useful  </a:t>
            </a:r>
            <a:r>
              <a:rPr lang="en-US" dirty="0">
                <a:solidFill>
                  <a:schemeClr val="bg1"/>
                </a:solidFill>
                <a:sym typeface="Wingdings" panose="05000000000000000000" pitchFamily="2" charset="2"/>
              </a:rPr>
              <a:t> instead </a:t>
            </a:r>
            <a:r>
              <a:rPr lang="en-US" dirty="0">
                <a:solidFill>
                  <a:schemeClr val="bg1"/>
                </a:solidFill>
              </a:rPr>
              <a:t>weighted cost function for the peaks?</a:t>
            </a:r>
          </a:p>
          <a:p>
            <a:r>
              <a:rPr lang="en-US" dirty="0">
                <a:solidFill>
                  <a:schemeClr val="bg1"/>
                </a:solidFill>
              </a:rPr>
              <a:t>(Define start and end settling: reference trajectory velocity and acceleration 0 end when new movement begins)</a:t>
            </a:r>
            <a:endParaRPr lang="en-NL" dirty="0">
              <a:solidFill>
                <a:schemeClr val="bg1"/>
              </a:solidFill>
            </a:endParaRPr>
          </a:p>
        </p:txBody>
      </p:sp>
      <p:pic>
        <p:nvPicPr>
          <p:cNvPr id="7" name="Picture 6">
            <a:extLst>
              <a:ext uri="{FF2B5EF4-FFF2-40B4-BE49-F238E27FC236}">
                <a16:creationId xmlns:a16="http://schemas.microsoft.com/office/drawing/2014/main" id="{3466E8D9-4B4A-BD2A-C611-F49582C21511}"/>
              </a:ext>
            </a:extLst>
          </p:cNvPr>
          <p:cNvPicPr>
            <a:picLocks noChangeAspect="1"/>
          </p:cNvPicPr>
          <p:nvPr/>
        </p:nvPicPr>
        <p:blipFill>
          <a:blip r:embed="rId3"/>
          <a:srcRect t="2540"/>
          <a:stretch>
            <a:fillRect/>
          </a:stretch>
        </p:blipFill>
        <p:spPr>
          <a:xfrm>
            <a:off x="5120019" y="2655766"/>
            <a:ext cx="6967206" cy="4135559"/>
          </a:xfrm>
          <a:prstGeom prst="rect">
            <a:avLst/>
          </a:prstGeom>
        </p:spPr>
      </p:pic>
      <p:sp>
        <p:nvSpPr>
          <p:cNvPr id="15" name="TextBox 14">
            <a:extLst>
              <a:ext uri="{FF2B5EF4-FFF2-40B4-BE49-F238E27FC236}">
                <a16:creationId xmlns:a16="http://schemas.microsoft.com/office/drawing/2014/main" id="{ED9395B7-63A2-D899-26D9-5FFE50AE524C}"/>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737078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25254-1A55-53D7-F62F-BA13F829E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81E63-6A17-C7BB-6C31-3EC4C9D758FF}"/>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7A504FB4-5DC3-76F5-34DE-F3EC3EB2715F}"/>
              </a:ext>
            </a:extLst>
          </p:cNvPr>
          <p:cNvSpPr>
            <a:spLocks noGrp="1"/>
          </p:cNvSpPr>
          <p:nvPr>
            <p:ph idx="1"/>
          </p:nvPr>
        </p:nvSpPr>
        <p:spPr/>
        <p:txBody>
          <a:bodyPr>
            <a:normAutofit fontScale="77500" lnSpcReduction="20000"/>
          </a:bodyPr>
          <a:lstStyle/>
          <a:p>
            <a:r>
              <a:rPr lang="en-US" b="1" dirty="0"/>
              <a:t>maximum allowed deviation</a:t>
            </a:r>
            <a:r>
              <a:rPr lang="en-US" dirty="0"/>
              <a:t> of the system's output (position) from the reference trajectory after a specific amount of time has passed (the "settling time") / settling phase: the moments immediately after the reference profile reaches its target position.</a:t>
            </a:r>
          </a:p>
          <a:p>
            <a:r>
              <a:rPr lang="en-US" dirty="0"/>
              <a:t>FP often fails due to unmodeled dynamics</a:t>
            </a:r>
          </a:p>
          <a:p>
            <a:r>
              <a:rPr lang="en-US" dirty="0"/>
              <a:t>Goal of augmentation: reduce settling error bounds from FP model / </a:t>
            </a:r>
            <a:r>
              <a:rPr lang="en-US" dirty="0" err="1"/>
              <a:t>telica</a:t>
            </a:r>
            <a:r>
              <a:rPr lang="en-US" dirty="0"/>
              <a:t> settle times as baseline</a:t>
            </a:r>
          </a:p>
          <a:p>
            <a:r>
              <a:rPr lang="en-US" dirty="0">
                <a:solidFill>
                  <a:schemeClr val="bg1"/>
                </a:solidFill>
              </a:rPr>
              <a:t>Instead of RMSE </a:t>
            </a:r>
            <a:r>
              <a:rPr lang="en-US" dirty="0">
                <a:solidFill>
                  <a:schemeClr val="bg1"/>
                </a:solidFill>
                <a:sym typeface="Wingdings" panose="05000000000000000000" pitchFamily="2" charset="2"/>
              </a:rPr>
              <a:t> </a:t>
            </a:r>
            <a:r>
              <a:rPr lang="en-US" b="1" dirty="0">
                <a:solidFill>
                  <a:schemeClr val="bg1"/>
                </a:solidFill>
              </a:rPr>
              <a:t>Target the Peaks;</a:t>
            </a:r>
            <a:r>
              <a:rPr lang="en-US" dirty="0">
                <a:solidFill>
                  <a:schemeClr val="bg1"/>
                </a:solidFill>
              </a:rPr>
              <a:t> Settling time is determined by the last peak that exceeds the yellow limit line. Even with low RMSE peak could exceed</a:t>
            </a:r>
          </a:p>
          <a:p>
            <a:r>
              <a:rPr lang="en-US" dirty="0">
                <a:solidFill>
                  <a:schemeClr val="bg1"/>
                </a:solidFill>
              </a:rPr>
              <a:t>Feature selection </a:t>
            </a:r>
            <a:r>
              <a:rPr lang="en-US" b="1" dirty="0">
                <a:solidFill>
                  <a:schemeClr val="bg1"/>
                </a:solidFill>
              </a:rPr>
              <a:t>Time Extremum (TE): magnitude</a:t>
            </a:r>
            <a:r>
              <a:rPr lang="en-US" dirty="0">
                <a:solidFill>
                  <a:schemeClr val="bg1"/>
                </a:solidFill>
              </a:rPr>
              <a:t> and </a:t>
            </a:r>
            <a:r>
              <a:rPr lang="en-US" b="1" dirty="0">
                <a:solidFill>
                  <a:schemeClr val="bg1"/>
                </a:solidFill>
              </a:rPr>
              <a:t>temporal location</a:t>
            </a:r>
            <a:r>
              <a:rPr lang="en-US" dirty="0">
                <a:solidFill>
                  <a:schemeClr val="bg1"/>
                </a:solidFill>
              </a:rPr>
              <a:t> of local extrema (peaks and valleys) in the error signal; </a:t>
            </a:r>
            <a:r>
              <a:rPr lang="en-US" dirty="0" err="1">
                <a:solidFill>
                  <a:schemeClr val="bg1"/>
                </a:solidFill>
              </a:rPr>
              <a:t>Kessels</a:t>
            </a:r>
            <a:r>
              <a:rPr lang="en-US" dirty="0">
                <a:solidFill>
                  <a:schemeClr val="bg1"/>
                </a:solidFill>
              </a:rPr>
              <a:t> in application found not to be useful  </a:t>
            </a:r>
            <a:r>
              <a:rPr lang="en-US" dirty="0">
                <a:solidFill>
                  <a:schemeClr val="bg1"/>
                </a:solidFill>
                <a:sym typeface="Wingdings" panose="05000000000000000000" pitchFamily="2" charset="2"/>
              </a:rPr>
              <a:t> instead </a:t>
            </a:r>
            <a:r>
              <a:rPr lang="en-US" dirty="0">
                <a:solidFill>
                  <a:schemeClr val="bg1"/>
                </a:solidFill>
              </a:rPr>
              <a:t>weighted cost function for the peaks?</a:t>
            </a:r>
          </a:p>
          <a:p>
            <a:r>
              <a:rPr lang="en-US" dirty="0">
                <a:solidFill>
                  <a:schemeClr val="bg1"/>
                </a:solidFill>
              </a:rPr>
              <a:t>(Define start and end settling: reference trajectory velocity and acceleration 0 end when new movement begins)</a:t>
            </a:r>
            <a:endParaRPr lang="en-NL" dirty="0">
              <a:solidFill>
                <a:schemeClr val="bg1"/>
              </a:solidFill>
            </a:endParaRPr>
          </a:p>
        </p:txBody>
      </p:sp>
      <p:pic>
        <p:nvPicPr>
          <p:cNvPr id="7" name="Picture 6">
            <a:extLst>
              <a:ext uri="{FF2B5EF4-FFF2-40B4-BE49-F238E27FC236}">
                <a16:creationId xmlns:a16="http://schemas.microsoft.com/office/drawing/2014/main" id="{E9B88BC2-A97E-9CFE-4671-46A09A351146}"/>
              </a:ext>
            </a:extLst>
          </p:cNvPr>
          <p:cNvPicPr>
            <a:picLocks noChangeAspect="1"/>
          </p:cNvPicPr>
          <p:nvPr/>
        </p:nvPicPr>
        <p:blipFill>
          <a:blip r:embed="rId3"/>
          <a:srcRect t="2540"/>
          <a:stretch>
            <a:fillRect/>
          </a:stretch>
        </p:blipFill>
        <p:spPr>
          <a:xfrm>
            <a:off x="6591299" y="3529082"/>
            <a:ext cx="5495925" cy="3262243"/>
          </a:xfrm>
          <a:prstGeom prst="rect">
            <a:avLst/>
          </a:prstGeom>
        </p:spPr>
      </p:pic>
      <p:pic>
        <p:nvPicPr>
          <p:cNvPr id="11" name="Picture 10">
            <a:extLst>
              <a:ext uri="{FF2B5EF4-FFF2-40B4-BE49-F238E27FC236}">
                <a16:creationId xmlns:a16="http://schemas.microsoft.com/office/drawing/2014/main" id="{B2E28E10-2B3C-C8A9-C398-109729EBB936}"/>
              </a:ext>
            </a:extLst>
          </p:cNvPr>
          <p:cNvPicPr>
            <a:picLocks noChangeAspect="1"/>
          </p:cNvPicPr>
          <p:nvPr/>
        </p:nvPicPr>
        <p:blipFill>
          <a:blip r:embed="rId4"/>
          <a:stretch>
            <a:fillRect/>
          </a:stretch>
        </p:blipFill>
        <p:spPr>
          <a:xfrm>
            <a:off x="104776" y="3934619"/>
            <a:ext cx="6581774" cy="741734"/>
          </a:xfrm>
          <a:prstGeom prst="rect">
            <a:avLst/>
          </a:prstGeom>
        </p:spPr>
      </p:pic>
      <p:sp>
        <p:nvSpPr>
          <p:cNvPr id="15" name="TextBox 14">
            <a:extLst>
              <a:ext uri="{FF2B5EF4-FFF2-40B4-BE49-F238E27FC236}">
                <a16:creationId xmlns:a16="http://schemas.microsoft.com/office/drawing/2014/main" id="{7ED04C00-6564-CB91-208A-DE62DEAFB6FB}"/>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135646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963AF-A925-5D6F-6A48-5424C17A2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09993-D8C6-D49D-5B82-3FC0002B9F70}"/>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7FF6682C-4C0C-450E-30A5-14C29BD93E4B}"/>
              </a:ext>
            </a:extLst>
          </p:cNvPr>
          <p:cNvSpPr>
            <a:spLocks noGrp="1"/>
          </p:cNvSpPr>
          <p:nvPr>
            <p:ph idx="1"/>
          </p:nvPr>
        </p:nvSpPr>
        <p:spPr/>
        <p:txBody>
          <a:bodyPr>
            <a:normAutofit/>
          </a:bodyPr>
          <a:lstStyle/>
          <a:p>
            <a:r>
              <a:rPr lang="en-US" sz="2200" dirty="0"/>
              <a:t>Instead of RMSE </a:t>
            </a:r>
            <a:r>
              <a:rPr lang="en-US" sz="2200" dirty="0">
                <a:sym typeface="Wingdings" panose="05000000000000000000" pitchFamily="2" charset="2"/>
              </a:rPr>
              <a:t> </a:t>
            </a:r>
            <a:r>
              <a:rPr lang="en-US" sz="2200" b="1" dirty="0"/>
              <a:t>Target the Peaks;</a:t>
            </a:r>
            <a:r>
              <a:rPr lang="en-US" sz="2200" dirty="0"/>
              <a:t> Settling time is determined by the last peak that exceeds the yellow limit line. Even with low RMSE peak could exceed</a:t>
            </a:r>
          </a:p>
          <a:p>
            <a:r>
              <a:rPr lang="en-US" sz="2200" dirty="0"/>
              <a:t>Feature selection </a:t>
            </a:r>
            <a:r>
              <a:rPr lang="en-US" sz="2200" b="1" dirty="0"/>
              <a:t>Time Extremum (TE) Limitation: </a:t>
            </a:r>
            <a:r>
              <a:rPr lang="en-US" sz="2200" dirty="0" err="1"/>
              <a:t>Kessels</a:t>
            </a:r>
            <a:r>
              <a:rPr lang="en-US" sz="2200" dirty="0"/>
              <a:t> showed that extracting local extrema features is often suboptimal for industrial systems due to noise sensitivity and low information density</a:t>
            </a:r>
            <a:r>
              <a:rPr lang="en-US" sz="2200" dirty="0">
                <a:sym typeface="Wingdings" panose="05000000000000000000" pitchFamily="2" charset="2"/>
              </a:rPr>
              <a:t> For dual-</a:t>
            </a:r>
            <a:r>
              <a:rPr lang="en-US" sz="2200" dirty="0" err="1">
                <a:sym typeface="Wingdings" panose="05000000000000000000" pitchFamily="2" charset="2"/>
              </a:rPr>
              <a:t>grantry</a:t>
            </a:r>
            <a:r>
              <a:rPr lang="en-US" sz="2200" dirty="0">
                <a:sym typeface="Wingdings" panose="05000000000000000000" pitchFamily="2" charset="2"/>
              </a:rPr>
              <a:t>, instead peak-</a:t>
            </a:r>
            <a:r>
              <a:rPr lang="en-US" sz="2200" dirty="0"/>
              <a:t>weighted cost function for the peaks?</a:t>
            </a:r>
          </a:p>
          <a:p>
            <a:r>
              <a:rPr lang="en-US" sz="2200" dirty="0"/>
              <a:t>(Define start and end settling: reference trajectory velocity and acceleration 0 end when new movement begins)</a:t>
            </a:r>
            <a:endParaRPr lang="en-NL" sz="2200" dirty="0"/>
          </a:p>
        </p:txBody>
      </p:sp>
      <p:pic>
        <p:nvPicPr>
          <p:cNvPr id="9" name="Picture 8">
            <a:extLst>
              <a:ext uri="{FF2B5EF4-FFF2-40B4-BE49-F238E27FC236}">
                <a16:creationId xmlns:a16="http://schemas.microsoft.com/office/drawing/2014/main" id="{D443DE64-4448-BCF9-48A5-3AF48DC810FF}"/>
              </a:ext>
            </a:extLst>
          </p:cNvPr>
          <p:cNvPicPr>
            <a:picLocks noChangeAspect="1"/>
          </p:cNvPicPr>
          <p:nvPr/>
        </p:nvPicPr>
        <p:blipFill>
          <a:blip r:embed="rId3"/>
          <a:stretch>
            <a:fillRect/>
          </a:stretch>
        </p:blipFill>
        <p:spPr>
          <a:xfrm>
            <a:off x="6246726" y="4224450"/>
            <a:ext cx="5734463" cy="2633550"/>
          </a:xfrm>
          <a:prstGeom prst="rect">
            <a:avLst/>
          </a:prstGeom>
        </p:spPr>
      </p:pic>
      <p:sp>
        <p:nvSpPr>
          <p:cNvPr id="15" name="TextBox 14">
            <a:extLst>
              <a:ext uri="{FF2B5EF4-FFF2-40B4-BE49-F238E27FC236}">
                <a16:creationId xmlns:a16="http://schemas.microsoft.com/office/drawing/2014/main" id="{061A7988-B7BA-14CA-2137-373B480F72CF}"/>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160104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AC8F342-80DE-B099-4559-4A913DF3BC0F}"/>
              </a:ext>
            </a:extLst>
          </p:cNvPr>
          <p:cNvSpPr txBox="1"/>
          <p:nvPr/>
        </p:nvSpPr>
        <p:spPr>
          <a:xfrm>
            <a:off x="838200" y="1321356"/>
            <a:ext cx="6096000" cy="369332"/>
          </a:xfrm>
          <a:prstGeom prst="rect">
            <a:avLst/>
          </a:prstGeom>
          <a:noFill/>
        </p:spPr>
        <p:txBody>
          <a:bodyPr wrap="square">
            <a:spAutoFit/>
          </a:bodyPr>
          <a:lstStyle/>
          <a:p>
            <a:r>
              <a:rPr lang="en-US" b="1" dirty="0"/>
              <a:t>Schoukens &amp; Ljung</a:t>
            </a:r>
            <a:endParaRPr lang="en-NL" b="1" dirty="0"/>
          </a:p>
        </p:txBody>
      </p:sp>
      <p:sp>
        <p:nvSpPr>
          <p:cNvPr id="2" name="Title 1">
            <a:extLst>
              <a:ext uri="{FF2B5EF4-FFF2-40B4-BE49-F238E27FC236}">
                <a16:creationId xmlns:a16="http://schemas.microsoft.com/office/drawing/2014/main" id="{6232C9E1-3AC1-1E9B-2122-713A694F4E39}"/>
              </a:ext>
            </a:extLst>
          </p:cNvPr>
          <p:cNvSpPr>
            <a:spLocks noGrp="1"/>
          </p:cNvSpPr>
          <p:nvPr>
            <p:ph type="title"/>
          </p:nvPr>
        </p:nvSpPr>
        <p:spPr/>
        <p:txBody>
          <a:bodyPr/>
          <a:lstStyle/>
          <a:p>
            <a:r>
              <a:rPr lang="en-US" dirty="0"/>
              <a:t>Region of interest &amp; Targeting the peaks</a:t>
            </a:r>
            <a:endParaRPr lang="en-NL" dirty="0"/>
          </a:p>
        </p:txBody>
      </p:sp>
      <p:sp>
        <p:nvSpPr>
          <p:cNvPr id="3" name="Content Placeholder 2">
            <a:extLst>
              <a:ext uri="{FF2B5EF4-FFF2-40B4-BE49-F238E27FC236}">
                <a16:creationId xmlns:a16="http://schemas.microsoft.com/office/drawing/2014/main" id="{289D4F49-2D17-B4D7-827E-856E54E8E7C8}"/>
              </a:ext>
            </a:extLst>
          </p:cNvPr>
          <p:cNvSpPr>
            <a:spLocks noGrp="1"/>
          </p:cNvSpPr>
          <p:nvPr>
            <p:ph idx="1"/>
          </p:nvPr>
        </p:nvSpPr>
        <p:spPr>
          <a:xfrm>
            <a:off x="838200" y="1825625"/>
            <a:ext cx="7117080" cy="4595495"/>
          </a:xfrm>
        </p:spPr>
        <p:txBody>
          <a:bodyPr>
            <a:normAutofit fontScale="85000" lnSpcReduction="10000"/>
          </a:bodyPr>
          <a:lstStyle/>
          <a:p>
            <a:r>
              <a:rPr lang="en-US" dirty="0"/>
              <a:t>Wet-Clutch example: fast but smooth engagement </a:t>
            </a:r>
            <a:r>
              <a:rPr lang="en-US" dirty="0">
                <a:sym typeface="Wingdings" panose="05000000000000000000" pitchFamily="2" charset="2"/>
              </a:rPr>
              <a:t> designed “spiky signals”  forced the system into fast engagement state</a:t>
            </a:r>
          </a:p>
          <a:p>
            <a:pPr lvl="1"/>
            <a:r>
              <a:rPr lang="en-US" dirty="0">
                <a:sym typeface="Wingdings" panose="05000000000000000000" pitchFamily="2" charset="2"/>
              </a:rPr>
              <a:t>For dual-gantry: similar inputs for training data where the “settling </a:t>
            </a:r>
            <a:r>
              <a:rPr lang="en-US" dirty="0" err="1">
                <a:sym typeface="Wingdings" panose="05000000000000000000" pitchFamily="2" charset="2"/>
              </a:rPr>
              <a:t>behaviour</a:t>
            </a:r>
            <a:r>
              <a:rPr lang="en-US" dirty="0">
                <a:sym typeface="Wingdings" panose="05000000000000000000" pitchFamily="2" charset="2"/>
              </a:rPr>
              <a:t>” is dominant</a:t>
            </a:r>
          </a:p>
          <a:p>
            <a:r>
              <a:rPr lang="en-US" dirty="0">
                <a:sym typeface="Wingdings" panose="05000000000000000000" pitchFamily="2" charset="2"/>
              </a:rPr>
              <a:t>Weighting function L(q): pre-filter (≈ bandpass filter) on the error signal before the cost is calculated  minimize a “filtered error”</a:t>
            </a:r>
          </a:p>
          <a:p>
            <a:pPr lvl="1"/>
            <a:r>
              <a:rPr lang="en-US" dirty="0"/>
              <a:t>“The weighting function should reflect in what frequency band larger structural model errors can be tolerated and where small structural model errors are needed.” </a:t>
            </a:r>
            <a:r>
              <a:rPr lang="en-US" dirty="0">
                <a:sym typeface="Wingdings" panose="05000000000000000000" pitchFamily="2" charset="2"/>
              </a:rPr>
              <a:t> </a:t>
            </a:r>
          </a:p>
          <a:p>
            <a:pPr lvl="1"/>
            <a:r>
              <a:rPr lang="en-US" dirty="0">
                <a:sym typeface="Wingdings" panose="05000000000000000000" pitchFamily="2" charset="2"/>
              </a:rPr>
              <a:t>Use L to translate time-domain goal (stay within ±1.5 µm) into a frequency-domain instruction for the optimizer</a:t>
            </a:r>
          </a:p>
          <a:p>
            <a:r>
              <a:rPr lang="en-US" dirty="0"/>
              <a:t>Weighted loss function: NN training weight peaks more heavily in the cost function?</a:t>
            </a:r>
          </a:p>
        </p:txBody>
      </p:sp>
      <p:pic>
        <p:nvPicPr>
          <p:cNvPr id="11" name="Picture 10">
            <a:extLst>
              <a:ext uri="{FF2B5EF4-FFF2-40B4-BE49-F238E27FC236}">
                <a16:creationId xmlns:a16="http://schemas.microsoft.com/office/drawing/2014/main" id="{B42FB2AC-0B0C-AFBA-8087-B5D2B45A05F9}"/>
              </a:ext>
            </a:extLst>
          </p:cNvPr>
          <p:cNvPicPr>
            <a:picLocks noChangeAspect="1"/>
          </p:cNvPicPr>
          <p:nvPr/>
        </p:nvPicPr>
        <p:blipFill>
          <a:blip r:embed="rId2"/>
          <a:stretch>
            <a:fillRect/>
          </a:stretch>
        </p:blipFill>
        <p:spPr>
          <a:xfrm>
            <a:off x="7955280" y="2180525"/>
            <a:ext cx="4025900" cy="3885694"/>
          </a:xfrm>
          <a:prstGeom prst="rect">
            <a:avLst/>
          </a:prstGeom>
        </p:spPr>
      </p:pic>
    </p:spTree>
    <p:extLst>
      <p:ext uri="{BB962C8B-B14F-4D97-AF65-F5344CB8AC3E}">
        <p14:creationId xmlns:p14="http://schemas.microsoft.com/office/powerpoint/2010/main" val="424195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85E38-10EB-AF8C-3285-0F64DFA0050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B0E879E-B7A2-3363-8AAA-A192CF9B1BA4}"/>
              </a:ext>
            </a:extLst>
          </p:cNvPr>
          <p:cNvSpPr txBox="1"/>
          <p:nvPr/>
        </p:nvSpPr>
        <p:spPr>
          <a:xfrm>
            <a:off x="838200" y="1321356"/>
            <a:ext cx="6096000" cy="369332"/>
          </a:xfrm>
          <a:prstGeom prst="rect">
            <a:avLst/>
          </a:prstGeom>
          <a:noFill/>
        </p:spPr>
        <p:txBody>
          <a:bodyPr wrap="square">
            <a:spAutoFit/>
          </a:bodyPr>
          <a:lstStyle/>
          <a:p>
            <a:r>
              <a:rPr lang="en-US" b="1" dirty="0"/>
              <a:t>Schoukens &amp; Ljung</a:t>
            </a:r>
            <a:endParaRPr lang="en-NL" b="1" dirty="0"/>
          </a:p>
        </p:txBody>
      </p:sp>
      <p:sp>
        <p:nvSpPr>
          <p:cNvPr id="2" name="Title 1">
            <a:extLst>
              <a:ext uri="{FF2B5EF4-FFF2-40B4-BE49-F238E27FC236}">
                <a16:creationId xmlns:a16="http://schemas.microsoft.com/office/drawing/2014/main" id="{BE8D966F-33CB-7902-642F-5878A426E19E}"/>
              </a:ext>
            </a:extLst>
          </p:cNvPr>
          <p:cNvSpPr>
            <a:spLocks noGrp="1"/>
          </p:cNvSpPr>
          <p:nvPr>
            <p:ph type="title"/>
          </p:nvPr>
        </p:nvSpPr>
        <p:spPr/>
        <p:txBody>
          <a:bodyPr/>
          <a:lstStyle/>
          <a:p>
            <a:r>
              <a:rPr lang="en-US" dirty="0"/>
              <a:t>Region of interest &amp; Targeting the peaks</a:t>
            </a:r>
            <a:endParaRPr lang="en-NL" dirty="0"/>
          </a:p>
        </p:txBody>
      </p:sp>
      <p:graphicFrame>
        <p:nvGraphicFramePr>
          <p:cNvPr id="13" name="Content Placeholder 2">
            <a:extLst>
              <a:ext uri="{FF2B5EF4-FFF2-40B4-BE49-F238E27FC236}">
                <a16:creationId xmlns:a16="http://schemas.microsoft.com/office/drawing/2014/main" id="{4C32C220-74B6-6AE5-31B2-129D4662AA82}"/>
              </a:ext>
            </a:extLst>
          </p:cNvPr>
          <p:cNvGraphicFramePr>
            <a:graphicFrameLocks noGrp="1"/>
          </p:cNvGraphicFramePr>
          <p:nvPr>
            <p:ph idx="1"/>
          </p:nvPr>
        </p:nvGraphicFramePr>
        <p:xfrm>
          <a:off x="838200" y="1825625"/>
          <a:ext cx="7117080" cy="45954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a:extLst>
              <a:ext uri="{FF2B5EF4-FFF2-40B4-BE49-F238E27FC236}">
                <a16:creationId xmlns:a16="http://schemas.microsoft.com/office/drawing/2014/main" id="{7135B3A8-D53B-8A54-86BA-1EA00D745F11}"/>
              </a:ext>
            </a:extLst>
          </p:cNvPr>
          <p:cNvPicPr>
            <a:picLocks noChangeAspect="1"/>
          </p:cNvPicPr>
          <p:nvPr/>
        </p:nvPicPr>
        <p:blipFill>
          <a:blip r:embed="rId7"/>
          <a:stretch>
            <a:fillRect/>
          </a:stretch>
        </p:blipFill>
        <p:spPr>
          <a:xfrm>
            <a:off x="8026400" y="2180525"/>
            <a:ext cx="4025900" cy="3885694"/>
          </a:xfrm>
          <a:prstGeom prst="rect">
            <a:avLst/>
          </a:prstGeom>
        </p:spPr>
      </p:pic>
    </p:spTree>
    <p:extLst>
      <p:ext uri="{BB962C8B-B14F-4D97-AF65-F5344CB8AC3E}">
        <p14:creationId xmlns:p14="http://schemas.microsoft.com/office/powerpoint/2010/main" val="1526594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4BFCCA4-109C-4B21-816E-144FE75C3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3E4EC-CAB6-A914-9176-794A6CAC0673}"/>
              </a:ext>
            </a:extLst>
          </p:cNvPr>
          <p:cNvSpPr>
            <a:spLocks noGrp="1"/>
          </p:cNvSpPr>
          <p:nvPr>
            <p:ph type="title"/>
          </p:nvPr>
        </p:nvSpPr>
        <p:spPr>
          <a:xfrm>
            <a:off x="630918" y="643465"/>
            <a:ext cx="3895359" cy="1846615"/>
          </a:xfrm>
        </p:spPr>
        <p:txBody>
          <a:bodyPr anchor="b">
            <a:normAutofit/>
          </a:bodyPr>
          <a:lstStyle/>
          <a:p>
            <a:endParaRPr lang="en-NL" sz="5400"/>
          </a:p>
        </p:txBody>
      </p:sp>
      <p:sp>
        <p:nvSpPr>
          <p:cNvPr id="22" name="sketch line">
            <a:extLst>
              <a:ext uri="{FF2B5EF4-FFF2-40B4-BE49-F238E27FC236}">
                <a16:creationId xmlns:a16="http://schemas.microsoft.com/office/drawing/2014/main" id="{0059B5C0-FEC8-4370-AF45-02E3AEF6F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659144"/>
            <a:ext cx="3566160" cy="18288"/>
          </a:xfrm>
          <a:custGeom>
            <a:avLst/>
            <a:gdLst>
              <a:gd name="csX0" fmla="*/ 0 w 3566160"/>
              <a:gd name="csY0" fmla="*/ 0 h 18288"/>
              <a:gd name="csX1" fmla="*/ 665683 w 3566160"/>
              <a:gd name="csY1" fmla="*/ 0 h 18288"/>
              <a:gd name="csX2" fmla="*/ 1331366 w 3566160"/>
              <a:gd name="csY2" fmla="*/ 0 h 18288"/>
              <a:gd name="csX3" fmla="*/ 1818742 w 3566160"/>
              <a:gd name="csY3" fmla="*/ 0 h 18288"/>
              <a:gd name="csX4" fmla="*/ 2413102 w 3566160"/>
              <a:gd name="csY4" fmla="*/ 0 h 18288"/>
              <a:gd name="csX5" fmla="*/ 2936138 w 3566160"/>
              <a:gd name="csY5" fmla="*/ 0 h 18288"/>
              <a:gd name="csX6" fmla="*/ 3566160 w 3566160"/>
              <a:gd name="csY6" fmla="*/ 0 h 18288"/>
              <a:gd name="csX7" fmla="*/ 3566160 w 3566160"/>
              <a:gd name="csY7" fmla="*/ 18288 h 18288"/>
              <a:gd name="csX8" fmla="*/ 2971800 w 3566160"/>
              <a:gd name="csY8" fmla="*/ 18288 h 18288"/>
              <a:gd name="csX9" fmla="*/ 2448763 w 3566160"/>
              <a:gd name="csY9" fmla="*/ 18288 h 18288"/>
              <a:gd name="csX10" fmla="*/ 1854403 w 3566160"/>
              <a:gd name="csY10" fmla="*/ 18288 h 18288"/>
              <a:gd name="csX11" fmla="*/ 1295705 w 3566160"/>
              <a:gd name="csY11" fmla="*/ 18288 h 18288"/>
              <a:gd name="csX12" fmla="*/ 772668 w 3566160"/>
              <a:gd name="csY12" fmla="*/ 18288 h 18288"/>
              <a:gd name="csX13" fmla="*/ 0 w 3566160"/>
              <a:gd name="csY13" fmla="*/ 18288 h 18288"/>
              <a:gd name="csX14" fmla="*/ 0 w 356616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566160" h="18288" fill="none" extrusionOk="0">
                <a:moveTo>
                  <a:pt x="0" y="0"/>
                </a:moveTo>
                <a:cubicBezTo>
                  <a:pt x="222644" y="15773"/>
                  <a:pt x="447078" y="-30288"/>
                  <a:pt x="665683" y="0"/>
                </a:cubicBezTo>
                <a:cubicBezTo>
                  <a:pt x="884288" y="30288"/>
                  <a:pt x="1132425" y="-6167"/>
                  <a:pt x="1331366" y="0"/>
                </a:cubicBezTo>
                <a:cubicBezTo>
                  <a:pt x="1530307" y="6167"/>
                  <a:pt x="1680942" y="17562"/>
                  <a:pt x="1818742" y="0"/>
                </a:cubicBezTo>
                <a:cubicBezTo>
                  <a:pt x="1956542" y="-17562"/>
                  <a:pt x="2130227" y="23032"/>
                  <a:pt x="2413102" y="0"/>
                </a:cubicBezTo>
                <a:cubicBezTo>
                  <a:pt x="2695977" y="-23032"/>
                  <a:pt x="2679988" y="-13260"/>
                  <a:pt x="2936138" y="0"/>
                </a:cubicBezTo>
                <a:cubicBezTo>
                  <a:pt x="3192288" y="13260"/>
                  <a:pt x="3378668" y="16268"/>
                  <a:pt x="3566160" y="0"/>
                </a:cubicBezTo>
                <a:cubicBezTo>
                  <a:pt x="3566199" y="7328"/>
                  <a:pt x="3566779" y="9982"/>
                  <a:pt x="3566160" y="18288"/>
                </a:cubicBezTo>
                <a:cubicBezTo>
                  <a:pt x="3315478" y="45899"/>
                  <a:pt x="3188272" y="-7574"/>
                  <a:pt x="2971800" y="18288"/>
                </a:cubicBezTo>
                <a:cubicBezTo>
                  <a:pt x="2755328" y="44150"/>
                  <a:pt x="2598570" y="34692"/>
                  <a:pt x="2448763" y="18288"/>
                </a:cubicBezTo>
                <a:cubicBezTo>
                  <a:pt x="2298956" y="1884"/>
                  <a:pt x="2011344" y="-7043"/>
                  <a:pt x="1854403" y="18288"/>
                </a:cubicBezTo>
                <a:cubicBezTo>
                  <a:pt x="1697462" y="43619"/>
                  <a:pt x="1444994" y="618"/>
                  <a:pt x="1295705" y="18288"/>
                </a:cubicBezTo>
                <a:cubicBezTo>
                  <a:pt x="1146416" y="35958"/>
                  <a:pt x="965401" y="42167"/>
                  <a:pt x="772668" y="18288"/>
                </a:cubicBezTo>
                <a:cubicBezTo>
                  <a:pt x="579935" y="-5591"/>
                  <a:pt x="352420" y="-19381"/>
                  <a:pt x="0" y="18288"/>
                </a:cubicBezTo>
                <a:cubicBezTo>
                  <a:pt x="-593" y="9736"/>
                  <a:pt x="244" y="6610"/>
                  <a:pt x="0" y="0"/>
                </a:cubicBezTo>
                <a:close/>
              </a:path>
              <a:path w="3566160" h="18288" stroke="0" extrusionOk="0">
                <a:moveTo>
                  <a:pt x="0" y="0"/>
                </a:moveTo>
                <a:cubicBezTo>
                  <a:pt x="169947" y="-5008"/>
                  <a:pt x="340602" y="-17518"/>
                  <a:pt x="594360" y="0"/>
                </a:cubicBezTo>
                <a:cubicBezTo>
                  <a:pt x="848118" y="17518"/>
                  <a:pt x="997921" y="8866"/>
                  <a:pt x="1224382" y="0"/>
                </a:cubicBezTo>
                <a:cubicBezTo>
                  <a:pt x="1450843" y="-8866"/>
                  <a:pt x="1572343" y="8392"/>
                  <a:pt x="1783080" y="0"/>
                </a:cubicBezTo>
                <a:cubicBezTo>
                  <a:pt x="1993817" y="-8392"/>
                  <a:pt x="2266728" y="2126"/>
                  <a:pt x="2448763" y="0"/>
                </a:cubicBezTo>
                <a:cubicBezTo>
                  <a:pt x="2630798" y="-2126"/>
                  <a:pt x="2815508" y="-13843"/>
                  <a:pt x="3043123" y="0"/>
                </a:cubicBezTo>
                <a:cubicBezTo>
                  <a:pt x="3270738" y="13843"/>
                  <a:pt x="3420568" y="2184"/>
                  <a:pt x="3566160" y="0"/>
                </a:cubicBezTo>
                <a:cubicBezTo>
                  <a:pt x="3566487" y="8595"/>
                  <a:pt x="3566088" y="13110"/>
                  <a:pt x="3566160" y="18288"/>
                </a:cubicBezTo>
                <a:cubicBezTo>
                  <a:pt x="3421748" y="9323"/>
                  <a:pt x="3176383" y="-3939"/>
                  <a:pt x="2971800" y="18288"/>
                </a:cubicBezTo>
                <a:cubicBezTo>
                  <a:pt x="2767217" y="40515"/>
                  <a:pt x="2590769" y="4336"/>
                  <a:pt x="2306117" y="18288"/>
                </a:cubicBezTo>
                <a:cubicBezTo>
                  <a:pt x="2021465" y="32240"/>
                  <a:pt x="1860727" y="-9280"/>
                  <a:pt x="1676095" y="18288"/>
                </a:cubicBezTo>
                <a:cubicBezTo>
                  <a:pt x="1491463" y="45856"/>
                  <a:pt x="1329173" y="5765"/>
                  <a:pt x="1153058" y="18288"/>
                </a:cubicBezTo>
                <a:cubicBezTo>
                  <a:pt x="976943" y="30811"/>
                  <a:pt x="895178" y="4751"/>
                  <a:pt x="665683" y="18288"/>
                </a:cubicBezTo>
                <a:cubicBezTo>
                  <a:pt x="436189" y="31825"/>
                  <a:pt x="302924" y="2002"/>
                  <a:pt x="0" y="18288"/>
                </a:cubicBezTo>
                <a:cubicBezTo>
                  <a:pt x="822" y="10564"/>
                  <a:pt x="-23" y="457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1E4D52-92B5-67F7-0D6B-069226AB890A}"/>
              </a:ext>
            </a:extLst>
          </p:cNvPr>
          <p:cNvSpPr>
            <a:spLocks noGrp="1"/>
          </p:cNvSpPr>
          <p:nvPr>
            <p:ph idx="1"/>
          </p:nvPr>
        </p:nvSpPr>
        <p:spPr>
          <a:xfrm>
            <a:off x="630936" y="2807167"/>
            <a:ext cx="3895522" cy="3386399"/>
          </a:xfrm>
        </p:spPr>
        <p:txBody>
          <a:bodyPr>
            <a:normAutofit/>
          </a:bodyPr>
          <a:lstStyle/>
          <a:p>
            <a:r>
              <a:rPr lang="en-US" sz="1700" dirty="0"/>
              <a:t>Reference tracking not as important</a:t>
            </a:r>
          </a:p>
          <a:p>
            <a:pPr lvl="1"/>
            <a:r>
              <a:rPr lang="en-US" sz="1700" dirty="0"/>
              <a:t>So for training the model as metric / cost / optimization settling time</a:t>
            </a:r>
          </a:p>
          <a:p>
            <a:pPr lvl="1"/>
            <a:endParaRPr lang="en-US" sz="1700" dirty="0"/>
          </a:p>
          <a:p>
            <a:r>
              <a:rPr lang="en-US" sz="1700" dirty="0"/>
              <a:t>Weighting function; Bayesian optimization pdf 7?</a:t>
            </a:r>
          </a:p>
          <a:p>
            <a:pPr lvl="1"/>
            <a:r>
              <a:rPr lang="en-US" sz="1700" dirty="0" err="1"/>
              <a:t>Kijken</a:t>
            </a:r>
            <a:r>
              <a:rPr lang="en-US" sz="1700" dirty="0"/>
              <a:t> </a:t>
            </a:r>
            <a:r>
              <a:rPr lang="en-US" sz="1700" dirty="0" err="1"/>
              <a:t>weigthing</a:t>
            </a:r>
            <a:r>
              <a:rPr lang="en-US" sz="1700" dirty="0"/>
              <a:t> </a:t>
            </a:r>
            <a:r>
              <a:rPr lang="en-US" sz="1700" dirty="0" err="1"/>
              <a:t>specifieke</a:t>
            </a:r>
            <a:r>
              <a:rPr lang="en-US" sz="1700" dirty="0"/>
              <a:t> movements prioritize </a:t>
            </a:r>
            <a:r>
              <a:rPr lang="en-US" sz="1700" dirty="0" err="1"/>
              <a:t>nn</a:t>
            </a:r>
            <a:r>
              <a:rPr lang="en-US" sz="1700" dirty="0"/>
              <a:t>, </a:t>
            </a:r>
            <a:r>
              <a:rPr lang="en-US" sz="1700" dirty="0" err="1"/>
              <a:t>en</a:t>
            </a:r>
            <a:r>
              <a:rPr lang="en-US" sz="1700" dirty="0"/>
              <a:t> hoe </a:t>
            </a:r>
            <a:r>
              <a:rPr lang="en-US" sz="1700" dirty="0" err="1"/>
              <a:t>dat</a:t>
            </a:r>
            <a:r>
              <a:rPr lang="en-US" sz="1700" dirty="0"/>
              <a:t> </a:t>
            </a:r>
            <a:r>
              <a:rPr lang="en-US" sz="1700" dirty="0" err="1"/>
              <a:t>specifieke</a:t>
            </a:r>
            <a:r>
              <a:rPr lang="en-US" sz="1700" dirty="0"/>
              <a:t> moment te </a:t>
            </a:r>
            <a:r>
              <a:rPr lang="en-US" sz="1700" dirty="0" err="1"/>
              <a:t>labellen</a:t>
            </a:r>
            <a:r>
              <a:rPr lang="en-US" sz="1700" dirty="0"/>
              <a:t> / </a:t>
            </a:r>
            <a:r>
              <a:rPr lang="en-US" sz="1700" dirty="0" err="1"/>
              <a:t>identifyen</a:t>
            </a:r>
            <a:r>
              <a:rPr lang="en-US" sz="1700" dirty="0"/>
              <a:t> in training data</a:t>
            </a:r>
            <a:endParaRPr lang="en-NL" sz="1700" dirty="0"/>
          </a:p>
        </p:txBody>
      </p:sp>
      <p:pic>
        <p:nvPicPr>
          <p:cNvPr id="15" name="Picture 14">
            <a:extLst>
              <a:ext uri="{FF2B5EF4-FFF2-40B4-BE49-F238E27FC236}">
                <a16:creationId xmlns:a16="http://schemas.microsoft.com/office/drawing/2014/main" id="{B19CA375-29DD-B7AC-0CEC-B2A5FAAD664A}"/>
              </a:ext>
            </a:extLst>
          </p:cNvPr>
          <p:cNvPicPr>
            <a:picLocks noChangeAspect="1"/>
          </p:cNvPicPr>
          <p:nvPr/>
        </p:nvPicPr>
        <p:blipFill>
          <a:blip r:embed="rId3"/>
          <a:stretch>
            <a:fillRect/>
          </a:stretch>
        </p:blipFill>
        <p:spPr>
          <a:xfrm>
            <a:off x="4992624" y="780749"/>
            <a:ext cx="3099816" cy="2224118"/>
          </a:xfrm>
          <a:prstGeom prst="rect">
            <a:avLst/>
          </a:prstGeom>
        </p:spPr>
      </p:pic>
      <p:pic>
        <p:nvPicPr>
          <p:cNvPr id="7" name="Picture 6">
            <a:extLst>
              <a:ext uri="{FF2B5EF4-FFF2-40B4-BE49-F238E27FC236}">
                <a16:creationId xmlns:a16="http://schemas.microsoft.com/office/drawing/2014/main" id="{8C6B68D7-AE97-87D7-E2B7-5465199BDC4C}"/>
              </a:ext>
            </a:extLst>
          </p:cNvPr>
          <p:cNvPicPr>
            <a:picLocks noChangeAspect="1"/>
          </p:cNvPicPr>
          <p:nvPr/>
        </p:nvPicPr>
        <p:blipFill>
          <a:blip r:embed="rId4"/>
          <a:stretch>
            <a:fillRect/>
          </a:stretch>
        </p:blipFill>
        <p:spPr>
          <a:xfrm>
            <a:off x="8247888" y="771344"/>
            <a:ext cx="3785616" cy="1429070"/>
          </a:xfrm>
          <a:prstGeom prst="rect">
            <a:avLst/>
          </a:prstGeom>
        </p:spPr>
      </p:pic>
      <p:pic>
        <p:nvPicPr>
          <p:cNvPr id="13" name="Picture 12">
            <a:extLst>
              <a:ext uri="{FF2B5EF4-FFF2-40B4-BE49-F238E27FC236}">
                <a16:creationId xmlns:a16="http://schemas.microsoft.com/office/drawing/2014/main" id="{FE55EC33-2531-C94F-276D-23CBBF667B88}"/>
              </a:ext>
            </a:extLst>
          </p:cNvPr>
          <p:cNvPicPr>
            <a:picLocks noChangeAspect="1"/>
          </p:cNvPicPr>
          <p:nvPr/>
        </p:nvPicPr>
        <p:blipFill>
          <a:blip r:embed="rId5"/>
          <a:stretch>
            <a:fillRect/>
          </a:stretch>
        </p:blipFill>
        <p:spPr>
          <a:xfrm>
            <a:off x="4992624" y="4331958"/>
            <a:ext cx="3099816" cy="1325171"/>
          </a:xfrm>
          <a:prstGeom prst="rect">
            <a:avLst/>
          </a:prstGeom>
        </p:spPr>
      </p:pic>
      <p:pic>
        <p:nvPicPr>
          <p:cNvPr id="9" name="Picture 8">
            <a:extLst>
              <a:ext uri="{FF2B5EF4-FFF2-40B4-BE49-F238E27FC236}">
                <a16:creationId xmlns:a16="http://schemas.microsoft.com/office/drawing/2014/main" id="{D4FFB97E-2018-6D3A-FAB5-A209D6C0998D}"/>
              </a:ext>
            </a:extLst>
          </p:cNvPr>
          <p:cNvPicPr>
            <a:picLocks noChangeAspect="1"/>
          </p:cNvPicPr>
          <p:nvPr/>
        </p:nvPicPr>
        <p:blipFill>
          <a:blip r:embed="rId6"/>
          <a:stretch>
            <a:fillRect/>
          </a:stretch>
        </p:blipFill>
        <p:spPr>
          <a:xfrm>
            <a:off x="8247888" y="3584206"/>
            <a:ext cx="3785616" cy="1996912"/>
          </a:xfrm>
          <a:prstGeom prst="rect">
            <a:avLst/>
          </a:prstGeom>
        </p:spPr>
      </p:pic>
    </p:spTree>
    <p:extLst>
      <p:ext uri="{BB962C8B-B14F-4D97-AF65-F5344CB8AC3E}">
        <p14:creationId xmlns:p14="http://schemas.microsoft.com/office/powerpoint/2010/main" val="382248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91B8-BA56-19F8-8969-86F391AF04C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787748F-BB3A-D37F-32DB-EA9EA5323260}"/>
              </a:ext>
            </a:extLst>
          </p:cNvPr>
          <p:cNvSpPr>
            <a:spLocks noGrp="1"/>
          </p:cNvSpPr>
          <p:nvPr>
            <p:ph idx="1"/>
          </p:nvPr>
        </p:nvSpPr>
        <p:spPr/>
        <p:txBody>
          <a:bodyPr>
            <a:normAutofit fontScale="70000" lnSpcReduction="20000"/>
          </a:bodyPr>
          <a:lstStyle/>
          <a:p>
            <a:r>
              <a:rPr lang="en-US" b="1" dirty="0"/>
              <a:t>The "Trick" in </a:t>
            </a:r>
            <a:r>
              <a:rPr lang="en-US" b="1" dirty="0" err="1"/>
              <a:t>Kessels</a:t>
            </a:r>
            <a:r>
              <a:rPr lang="en-US" b="1" dirty="0"/>
              <a:t>:</a:t>
            </a:r>
            <a:r>
              <a:rPr lang="en-US" dirty="0"/>
              <a:t> Instead of random noise, he generates training data using </a:t>
            </a:r>
            <a:r>
              <a:rPr lang="en-US" b="1" dirty="0"/>
              <a:t>"alternating smoothed step-up and step-down profiles (closely resembling the steps in the reference profiles used during actual operation</a:t>
            </a:r>
          </a:p>
          <a:p>
            <a:r>
              <a:rPr lang="en-US" dirty="0" err="1"/>
              <a:t>Kessels</a:t>
            </a:r>
            <a:r>
              <a:rPr lang="en-US" dirty="0"/>
              <a:t> implements a modern version of this L through </a:t>
            </a:r>
            <a:r>
              <a:rPr lang="en-US" b="1" dirty="0"/>
              <a:t>Feature Selection</a:t>
            </a:r>
          </a:p>
          <a:p>
            <a:r>
              <a:rPr lang="en-US" dirty="0" err="1"/>
              <a:t>Kessels</a:t>
            </a:r>
            <a:r>
              <a:rPr lang="en-US" dirty="0"/>
              <a:t> does not simply feed raw time data into the neural network. He explicitly defines </a:t>
            </a:r>
            <a:r>
              <a:rPr lang="en-US" b="1" dirty="0"/>
              <a:t>"Frequency Bins of Interest (</a:t>
            </a:r>
            <a:r>
              <a:rPr lang="en-US" b="1" dirty="0" err="1"/>
              <a:t>FBoIs</a:t>
            </a:r>
            <a:r>
              <a:rPr lang="en-US" b="1" dirty="0"/>
              <a:t>)"</a:t>
            </a:r>
            <a:r>
              <a:rPr lang="en-US" dirty="0"/>
              <a:t>—indices of frequency bins located near eigenfrequencies or regions of high energy</a:t>
            </a:r>
          </a:p>
          <a:p>
            <a:r>
              <a:rPr lang="en-US" dirty="0"/>
              <a:t>The wet clutch example required "spiky signals" to force the valve open. </a:t>
            </a:r>
            <a:r>
              <a:rPr lang="en-US" dirty="0" err="1"/>
              <a:t>Kessels</a:t>
            </a:r>
            <a:r>
              <a:rPr lang="en-US" dirty="0"/>
              <a:t> uses </a:t>
            </a:r>
            <a:r>
              <a:rPr lang="en-US" b="1" dirty="0"/>
              <a:t>Closed-Loop Feedback</a:t>
            </a:r>
            <a:r>
              <a:rPr lang="en-US" dirty="0"/>
              <a:t> during training to force the system into the relevant state space.</a:t>
            </a:r>
          </a:p>
          <a:p>
            <a:r>
              <a:rPr lang="en-US" dirty="0"/>
              <a:t>1. </a:t>
            </a:r>
            <a:r>
              <a:rPr lang="en-US" b="1" dirty="0"/>
              <a:t>Imitating Operation:</a:t>
            </a:r>
            <a:r>
              <a:rPr lang="en-US" dirty="0"/>
              <a:t> Using realistic "step" profiles for training instead of abstract noise [Source 5, 345].</a:t>
            </a:r>
          </a:p>
          <a:p>
            <a:r>
              <a:rPr lang="en-US" dirty="0"/>
              <a:t>2. </a:t>
            </a:r>
            <a:r>
              <a:rPr lang="en-US" b="1" dirty="0"/>
              <a:t>Filtering:</a:t>
            </a:r>
            <a:r>
              <a:rPr lang="en-US" dirty="0"/>
              <a:t> Using Feature Selection to weight specific frequency bands (</a:t>
            </a:r>
            <a:r>
              <a:rPr lang="en-US" dirty="0" err="1"/>
              <a:t>FBoIs</a:t>
            </a:r>
            <a:r>
              <a:rPr lang="en-US" dirty="0"/>
              <a:t>) [Source 5, 310].</a:t>
            </a:r>
          </a:p>
          <a:p>
            <a:r>
              <a:rPr lang="en-US" dirty="0"/>
              <a:t>3. </a:t>
            </a:r>
            <a:r>
              <a:rPr lang="en-US" b="1" dirty="0"/>
              <a:t>Regime Forcing:</a:t>
            </a:r>
            <a:r>
              <a:rPr lang="en-US" dirty="0"/>
              <a:t> Using closed-loop control to force the model into the relevant high-precision settling regime [Source 5, 396].</a:t>
            </a:r>
          </a:p>
          <a:p>
            <a:endParaRPr lang="en-NL" dirty="0"/>
          </a:p>
        </p:txBody>
      </p:sp>
    </p:spTree>
    <p:extLst>
      <p:ext uri="{BB962C8B-B14F-4D97-AF65-F5344CB8AC3E}">
        <p14:creationId xmlns:p14="http://schemas.microsoft.com/office/powerpoint/2010/main" val="2247496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76AB-FBCF-A967-A29F-0D75FC271B94}"/>
              </a:ext>
            </a:extLst>
          </p:cNvPr>
          <p:cNvSpPr>
            <a:spLocks noGrp="1"/>
          </p:cNvSpPr>
          <p:nvPr>
            <p:ph type="title"/>
          </p:nvPr>
        </p:nvSpPr>
        <p:spPr/>
        <p:txBody>
          <a:bodyPr/>
          <a:lstStyle/>
          <a:p>
            <a:r>
              <a:rPr lang="en-US" dirty="0"/>
              <a:t>Extension and Augmentation (EA)</a:t>
            </a:r>
            <a:endParaRPr lang="en-NL" dirty="0"/>
          </a:p>
        </p:txBody>
      </p:sp>
      <p:sp>
        <p:nvSpPr>
          <p:cNvPr id="3" name="Content Placeholder 2">
            <a:extLst>
              <a:ext uri="{FF2B5EF4-FFF2-40B4-BE49-F238E27FC236}">
                <a16:creationId xmlns:a16="http://schemas.microsoft.com/office/drawing/2014/main" id="{FF938514-E70C-CAE0-46DB-B793E20F609E}"/>
              </a:ext>
            </a:extLst>
          </p:cNvPr>
          <p:cNvSpPr>
            <a:spLocks noGrp="1"/>
          </p:cNvSpPr>
          <p:nvPr>
            <p:ph idx="1"/>
          </p:nvPr>
        </p:nvSpPr>
        <p:spPr/>
        <p:txBody>
          <a:bodyPr>
            <a:normAutofit fontScale="92500" lnSpcReduction="10000"/>
          </a:bodyPr>
          <a:lstStyle/>
          <a:p>
            <a:r>
              <a:rPr lang="en-US" dirty="0"/>
              <a:t>Goal: fix mismatch between theoretical First Principles (FP) model and the real physical system</a:t>
            </a:r>
          </a:p>
          <a:p>
            <a:r>
              <a:rPr lang="en-US" dirty="0"/>
              <a:t>Extension: introduce new state variables that capture unmodeled dynamics</a:t>
            </a:r>
          </a:p>
          <a:p>
            <a:pPr lvl="1"/>
            <a:r>
              <a:rPr lang="en-US" dirty="0"/>
              <a:t>Subspace Encoder (NN) looks at past data and estimates hidden states</a:t>
            </a:r>
          </a:p>
          <a:p>
            <a:r>
              <a:rPr lang="en-US" dirty="0" err="1"/>
              <a:t>Augmenation</a:t>
            </a:r>
            <a:r>
              <a:rPr lang="en-US" dirty="0"/>
              <a:t>: Physical model might have incorrect parameters (or simplified equations)</a:t>
            </a:r>
          </a:p>
          <a:p>
            <a:pPr lvl="1"/>
            <a:r>
              <a:rPr lang="en-US" dirty="0"/>
              <a:t>EA adds RNNs directly into the force/accelerations equations of the physical model</a:t>
            </a:r>
          </a:p>
          <a:p>
            <a:r>
              <a:rPr lang="en-US" b="1" dirty="0"/>
              <a:t>Negation Problem:</a:t>
            </a:r>
            <a:r>
              <a:rPr lang="en-US" dirty="0"/>
              <a:t> NN cancels out physical parameters; NN might take easy route and learn simple dynamics and not the nonlinearities</a:t>
            </a:r>
            <a:endParaRPr lang="en-NL" dirty="0"/>
          </a:p>
          <a:p>
            <a:pPr lvl="1"/>
            <a:r>
              <a:rPr lang="en-US" dirty="0"/>
              <a:t>Mentions for further research Orthogonality to improve on negation effect</a:t>
            </a:r>
          </a:p>
        </p:txBody>
      </p:sp>
      <p:sp>
        <p:nvSpPr>
          <p:cNvPr id="5" name="TextBox 4">
            <a:extLst>
              <a:ext uri="{FF2B5EF4-FFF2-40B4-BE49-F238E27FC236}">
                <a16:creationId xmlns:a16="http://schemas.microsoft.com/office/drawing/2014/main" id="{CDA2C041-CEE7-0BEB-CAF0-4A44EED06506}"/>
              </a:ext>
            </a:extLst>
          </p:cNvPr>
          <p:cNvSpPr txBox="1"/>
          <p:nvPr/>
        </p:nvSpPr>
        <p:spPr>
          <a:xfrm>
            <a:off x="838200" y="1321356"/>
            <a:ext cx="6096000" cy="369332"/>
          </a:xfrm>
          <a:prstGeom prst="rect">
            <a:avLst/>
          </a:prstGeom>
          <a:noFill/>
        </p:spPr>
        <p:txBody>
          <a:bodyPr wrap="square">
            <a:spAutoFit/>
          </a:bodyPr>
          <a:lstStyle/>
          <a:p>
            <a:r>
              <a:rPr lang="en-US" b="1" dirty="0" err="1"/>
              <a:t>Kessels</a:t>
            </a:r>
            <a:endParaRPr lang="en-NL" b="1" dirty="0"/>
          </a:p>
        </p:txBody>
      </p:sp>
    </p:spTree>
    <p:extLst>
      <p:ext uri="{BB962C8B-B14F-4D97-AF65-F5344CB8AC3E}">
        <p14:creationId xmlns:p14="http://schemas.microsoft.com/office/powerpoint/2010/main" val="764761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3B69B-5FCD-FDCC-67AB-8556B68BE71F}"/>
              </a:ext>
            </a:extLst>
          </p:cNvPr>
          <p:cNvSpPr>
            <a:spLocks noGrp="1"/>
          </p:cNvSpPr>
          <p:nvPr>
            <p:ph type="title"/>
          </p:nvPr>
        </p:nvSpPr>
        <p:spPr/>
        <p:txBody>
          <a:bodyPr/>
          <a:lstStyle/>
          <a:p>
            <a:r>
              <a:rPr lang="en-US" dirty="0"/>
              <a:t>Orthogonality</a:t>
            </a:r>
            <a:endParaRPr lang="en-NL" dirty="0"/>
          </a:p>
        </p:txBody>
      </p:sp>
      <p:sp>
        <p:nvSpPr>
          <p:cNvPr id="3" name="Content Placeholder 2">
            <a:extLst>
              <a:ext uri="{FF2B5EF4-FFF2-40B4-BE49-F238E27FC236}">
                <a16:creationId xmlns:a16="http://schemas.microsoft.com/office/drawing/2014/main" id="{C0F58C0A-7FE3-A126-F60B-344A340D6B50}"/>
              </a:ext>
            </a:extLst>
          </p:cNvPr>
          <p:cNvSpPr>
            <a:spLocks noGrp="1"/>
          </p:cNvSpPr>
          <p:nvPr>
            <p:ph idx="1"/>
          </p:nvPr>
        </p:nvSpPr>
        <p:spPr>
          <a:xfrm>
            <a:off x="838200" y="1559407"/>
            <a:ext cx="10515600" cy="4351338"/>
          </a:xfrm>
        </p:spPr>
        <p:txBody>
          <a:bodyPr/>
          <a:lstStyle/>
          <a:p>
            <a:r>
              <a:rPr lang="en-US" dirty="0"/>
              <a:t>Orthogonal by construction (</a:t>
            </a:r>
            <a:r>
              <a:rPr lang="en-US" dirty="0" err="1"/>
              <a:t>ObC</a:t>
            </a:r>
            <a:r>
              <a:rPr lang="en-US" dirty="0"/>
              <a:t>) requires input-output, realistic for the dual-gantry system?</a:t>
            </a:r>
          </a:p>
          <a:p>
            <a:r>
              <a:rPr lang="en-US" dirty="0"/>
              <a:t>Dual-gantry system has position-dependent stiffness </a:t>
            </a:r>
            <a:r>
              <a:rPr lang="en-US" dirty="0">
                <a:sym typeface="Wingdings" panose="05000000000000000000" pitchFamily="2" charset="2"/>
              </a:rPr>
              <a:t> resonance frequencies move  state space</a:t>
            </a:r>
          </a:p>
          <a:p>
            <a:endParaRPr lang="en-US" dirty="0"/>
          </a:p>
        </p:txBody>
      </p:sp>
      <p:pic>
        <p:nvPicPr>
          <p:cNvPr id="13" name="Picture 12">
            <a:extLst>
              <a:ext uri="{FF2B5EF4-FFF2-40B4-BE49-F238E27FC236}">
                <a16:creationId xmlns:a16="http://schemas.microsoft.com/office/drawing/2014/main" id="{36C7A3D5-FC0E-21A2-61EC-5925F344FA6F}"/>
              </a:ext>
            </a:extLst>
          </p:cNvPr>
          <p:cNvPicPr>
            <a:picLocks noChangeAspect="1"/>
          </p:cNvPicPr>
          <p:nvPr/>
        </p:nvPicPr>
        <p:blipFill>
          <a:blip r:embed="rId3"/>
          <a:stretch>
            <a:fillRect/>
          </a:stretch>
        </p:blipFill>
        <p:spPr>
          <a:xfrm>
            <a:off x="1092842" y="3429000"/>
            <a:ext cx="5066105" cy="3266589"/>
          </a:xfrm>
          <a:prstGeom prst="rect">
            <a:avLst/>
          </a:prstGeom>
        </p:spPr>
      </p:pic>
      <p:pic>
        <p:nvPicPr>
          <p:cNvPr id="15" name="Picture 14">
            <a:extLst>
              <a:ext uri="{FF2B5EF4-FFF2-40B4-BE49-F238E27FC236}">
                <a16:creationId xmlns:a16="http://schemas.microsoft.com/office/drawing/2014/main" id="{B735C519-F479-13A3-861B-A0704157C722}"/>
              </a:ext>
            </a:extLst>
          </p:cNvPr>
          <p:cNvPicPr>
            <a:picLocks noChangeAspect="1"/>
          </p:cNvPicPr>
          <p:nvPr/>
        </p:nvPicPr>
        <p:blipFill>
          <a:blip r:embed="rId4"/>
          <a:stretch>
            <a:fillRect/>
          </a:stretch>
        </p:blipFill>
        <p:spPr>
          <a:xfrm>
            <a:off x="6542339" y="3429000"/>
            <a:ext cx="4932681" cy="3266589"/>
          </a:xfrm>
          <a:prstGeom prst="rect">
            <a:avLst/>
          </a:prstGeom>
        </p:spPr>
      </p:pic>
      <p:pic>
        <p:nvPicPr>
          <p:cNvPr id="16" name="Picture 15">
            <a:extLst>
              <a:ext uri="{FF2B5EF4-FFF2-40B4-BE49-F238E27FC236}">
                <a16:creationId xmlns:a16="http://schemas.microsoft.com/office/drawing/2014/main" id="{56E18AF8-8D53-4580-0640-00EA6A6639BA}"/>
              </a:ext>
            </a:extLst>
          </p:cNvPr>
          <p:cNvPicPr>
            <a:picLocks noChangeAspect="1"/>
          </p:cNvPicPr>
          <p:nvPr/>
        </p:nvPicPr>
        <p:blipFill>
          <a:blip r:embed="rId5"/>
          <a:stretch>
            <a:fillRect/>
          </a:stretch>
        </p:blipFill>
        <p:spPr>
          <a:xfrm>
            <a:off x="12759160" y="858347"/>
            <a:ext cx="7881911" cy="4678509"/>
          </a:xfrm>
          <a:prstGeom prst="rect">
            <a:avLst/>
          </a:prstGeom>
        </p:spPr>
      </p:pic>
    </p:spTree>
    <p:extLst>
      <p:ext uri="{BB962C8B-B14F-4D97-AF65-F5344CB8AC3E}">
        <p14:creationId xmlns:p14="http://schemas.microsoft.com/office/powerpoint/2010/main" val="2666628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1A1C9-1170-D722-5E92-80269F8D2A7B}"/>
              </a:ext>
            </a:extLst>
          </p:cNvPr>
          <p:cNvSpPr>
            <a:spLocks noGrp="1"/>
          </p:cNvSpPr>
          <p:nvPr>
            <p:ph type="title"/>
          </p:nvPr>
        </p:nvSpPr>
        <p:spPr/>
        <p:txBody>
          <a:bodyPr/>
          <a:lstStyle/>
          <a:p>
            <a:r>
              <a:rPr lang="en-US" dirty="0"/>
              <a:t>Orthogonal Regularization (State-Space)</a:t>
            </a:r>
            <a:endParaRPr lang="en-NL" dirty="0"/>
          </a:p>
        </p:txBody>
      </p:sp>
      <p:sp>
        <p:nvSpPr>
          <p:cNvPr id="3" name="Content Placeholder 2">
            <a:extLst>
              <a:ext uri="{FF2B5EF4-FFF2-40B4-BE49-F238E27FC236}">
                <a16:creationId xmlns:a16="http://schemas.microsoft.com/office/drawing/2014/main" id="{449DF795-9254-8119-777E-77B504FA86EC}"/>
              </a:ext>
            </a:extLst>
          </p:cNvPr>
          <p:cNvSpPr>
            <a:spLocks noGrp="1"/>
          </p:cNvSpPr>
          <p:nvPr>
            <p:ph idx="1"/>
          </p:nvPr>
        </p:nvSpPr>
        <p:spPr>
          <a:xfrm>
            <a:off x="838200" y="1790901"/>
            <a:ext cx="10515600" cy="4351338"/>
          </a:xfrm>
        </p:spPr>
        <p:txBody>
          <a:bodyPr/>
          <a:lstStyle/>
          <a:p>
            <a:r>
              <a:rPr lang="en-US" dirty="0"/>
              <a:t>Add penalty term to the optimization cost function for predictions that look like rigid-body physics</a:t>
            </a:r>
          </a:p>
          <a:p>
            <a:r>
              <a:rPr lang="en-US" dirty="0"/>
              <a:t>Use simulated states generated by FP model to construct projection matrix </a:t>
            </a:r>
            <a:r>
              <a:rPr lang="en-US" dirty="0">
                <a:sym typeface="Wingdings" panose="05000000000000000000" pitchFamily="2" charset="2"/>
              </a:rPr>
              <a:t> </a:t>
            </a:r>
            <a:r>
              <a:rPr lang="en-US" dirty="0"/>
              <a:t>compatible with </a:t>
            </a:r>
            <a:r>
              <a:rPr lang="en-US" b="1" dirty="0"/>
              <a:t>Nonlinear State-Space</a:t>
            </a:r>
          </a:p>
          <a:p>
            <a:r>
              <a:rPr lang="en-US" dirty="0"/>
              <a:t>Linearization point can be updated at each iteration using the current estimate</a:t>
            </a:r>
          </a:p>
          <a:p>
            <a:pPr lvl="1"/>
            <a:r>
              <a:rPr lang="en-US" dirty="0"/>
              <a:t>Requires recomputing SVD and projection matrix every time the cost function is evaluated </a:t>
            </a:r>
            <a:r>
              <a:rPr lang="en-US" dirty="0">
                <a:sym typeface="Wingdings" panose="05000000000000000000" pitchFamily="2" charset="2"/>
              </a:rPr>
              <a:t> computation expensive</a:t>
            </a:r>
          </a:p>
          <a:p>
            <a:pPr lvl="1"/>
            <a:r>
              <a:rPr lang="en-US" dirty="0">
                <a:sym typeface="Wingdings" panose="05000000000000000000" pitchFamily="2" charset="2"/>
              </a:rPr>
              <a:t>Only initialize projection matrix at the start of training with initial best guess estimate of the physical parameters  </a:t>
            </a:r>
            <a:r>
              <a:rPr lang="en-US" dirty="0" err="1">
                <a:sym typeface="Wingdings" panose="05000000000000000000" pitchFamily="2" charset="2"/>
              </a:rPr>
              <a:t>telica</a:t>
            </a:r>
            <a:r>
              <a:rPr lang="en-US" dirty="0">
                <a:sym typeface="Wingdings" panose="05000000000000000000" pitchFamily="2" charset="2"/>
              </a:rPr>
              <a:t> datasheets available</a:t>
            </a:r>
            <a:endParaRPr lang="en-US" dirty="0"/>
          </a:p>
          <a:p>
            <a:endParaRPr lang="en-NL" dirty="0"/>
          </a:p>
        </p:txBody>
      </p:sp>
      <p:pic>
        <p:nvPicPr>
          <p:cNvPr id="5" name="Picture 4">
            <a:extLst>
              <a:ext uri="{FF2B5EF4-FFF2-40B4-BE49-F238E27FC236}">
                <a16:creationId xmlns:a16="http://schemas.microsoft.com/office/drawing/2014/main" id="{F1FDCF18-9932-4778-E83C-D40025579E0A}"/>
              </a:ext>
            </a:extLst>
          </p:cNvPr>
          <p:cNvPicPr>
            <a:picLocks noChangeAspect="1"/>
          </p:cNvPicPr>
          <p:nvPr/>
        </p:nvPicPr>
        <p:blipFill>
          <a:blip r:embed="rId3"/>
          <a:stretch>
            <a:fillRect/>
          </a:stretch>
        </p:blipFill>
        <p:spPr>
          <a:xfrm>
            <a:off x="12742762" y="868287"/>
            <a:ext cx="8015868" cy="4542692"/>
          </a:xfrm>
          <a:prstGeom prst="rect">
            <a:avLst/>
          </a:prstGeom>
        </p:spPr>
      </p:pic>
      <p:pic>
        <p:nvPicPr>
          <p:cNvPr id="8" name="Picture 7">
            <a:extLst>
              <a:ext uri="{FF2B5EF4-FFF2-40B4-BE49-F238E27FC236}">
                <a16:creationId xmlns:a16="http://schemas.microsoft.com/office/drawing/2014/main" id="{753364AF-CA39-7B48-9B91-47FC42049225}"/>
              </a:ext>
            </a:extLst>
          </p:cNvPr>
          <p:cNvPicPr>
            <a:picLocks noChangeAspect="1"/>
          </p:cNvPicPr>
          <p:nvPr/>
        </p:nvPicPr>
        <p:blipFill>
          <a:blip r:embed="rId4"/>
          <a:stretch>
            <a:fillRect/>
          </a:stretch>
        </p:blipFill>
        <p:spPr>
          <a:xfrm>
            <a:off x="13011794" y="5835283"/>
            <a:ext cx="10729890" cy="2377646"/>
          </a:xfrm>
          <a:prstGeom prst="rect">
            <a:avLst/>
          </a:prstGeom>
        </p:spPr>
      </p:pic>
    </p:spTree>
    <p:extLst>
      <p:ext uri="{BB962C8B-B14F-4D97-AF65-F5344CB8AC3E}">
        <p14:creationId xmlns:p14="http://schemas.microsoft.com/office/powerpoint/2010/main" val="2762510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50B96-3F58-453F-C993-0CAF6249023E}"/>
              </a:ext>
            </a:extLst>
          </p:cNvPr>
          <p:cNvSpPr>
            <a:spLocks noGrp="1"/>
          </p:cNvSpPr>
          <p:nvPr>
            <p:ph type="title"/>
          </p:nvPr>
        </p:nvSpPr>
        <p:spPr/>
        <p:txBody>
          <a:bodyPr/>
          <a:lstStyle/>
          <a:p>
            <a:r>
              <a:rPr lang="en-US" dirty="0"/>
              <a:t>LPV-LFR</a:t>
            </a:r>
            <a:endParaRPr lang="en-NL" dirty="0"/>
          </a:p>
        </p:txBody>
      </p:sp>
      <p:sp>
        <p:nvSpPr>
          <p:cNvPr id="3" name="Content Placeholder 2">
            <a:extLst>
              <a:ext uri="{FF2B5EF4-FFF2-40B4-BE49-F238E27FC236}">
                <a16:creationId xmlns:a16="http://schemas.microsoft.com/office/drawing/2014/main" id="{8C3F7A0A-7882-4BD3-CFF8-BB9B0A66696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26111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1820-23E9-F04F-2BED-D30E0E2635C1}"/>
              </a:ext>
            </a:extLst>
          </p:cNvPr>
          <p:cNvSpPr>
            <a:spLocks noGrp="1"/>
          </p:cNvSpPr>
          <p:nvPr>
            <p:ph type="title"/>
          </p:nvPr>
        </p:nvSpPr>
        <p:spPr/>
        <p:txBody>
          <a:bodyPr/>
          <a:lstStyle/>
          <a:p>
            <a:r>
              <a:rPr lang="en-US" dirty="0"/>
              <a:t>Combining EA with Orthogonality</a:t>
            </a:r>
            <a:endParaRPr lang="en-NL" dirty="0"/>
          </a:p>
        </p:txBody>
      </p:sp>
      <p:sp>
        <p:nvSpPr>
          <p:cNvPr id="3" name="Content Placeholder 2">
            <a:extLst>
              <a:ext uri="{FF2B5EF4-FFF2-40B4-BE49-F238E27FC236}">
                <a16:creationId xmlns:a16="http://schemas.microsoft.com/office/drawing/2014/main" id="{E01F4637-9DED-3B77-1819-84C80A233E91}"/>
              </a:ext>
            </a:extLst>
          </p:cNvPr>
          <p:cNvSpPr>
            <a:spLocks noGrp="1"/>
          </p:cNvSpPr>
          <p:nvPr>
            <p:ph idx="1"/>
          </p:nvPr>
        </p:nvSpPr>
        <p:spPr/>
        <p:txBody>
          <a:bodyPr/>
          <a:lstStyle/>
          <a:p>
            <a:r>
              <a:rPr lang="en-US" dirty="0"/>
              <a:t>EA continuously updates physical parameters </a:t>
            </a:r>
          </a:p>
          <a:p>
            <a:r>
              <a:rPr lang="en-US" dirty="0"/>
              <a:t>Nominal approximation: Initialize SVD once to build projection matrix </a:t>
            </a:r>
            <a:r>
              <a:rPr lang="el-GR" dirty="0"/>
              <a:t>Π</a:t>
            </a:r>
            <a:r>
              <a:rPr lang="en-US" dirty="0"/>
              <a:t>. </a:t>
            </a:r>
          </a:p>
          <a:p>
            <a:pPr lvl="1"/>
            <a:r>
              <a:rPr lang="en-US" dirty="0"/>
              <a:t>Ideally we would update the SVD at every update step</a:t>
            </a:r>
            <a:endParaRPr lang="en-NL" dirty="0"/>
          </a:p>
        </p:txBody>
      </p:sp>
      <p:pic>
        <p:nvPicPr>
          <p:cNvPr id="5" name="Picture 4">
            <a:extLst>
              <a:ext uri="{FF2B5EF4-FFF2-40B4-BE49-F238E27FC236}">
                <a16:creationId xmlns:a16="http://schemas.microsoft.com/office/drawing/2014/main" id="{D3122D91-0A95-169F-67DC-C1B544E3C265}"/>
              </a:ext>
            </a:extLst>
          </p:cNvPr>
          <p:cNvPicPr>
            <a:picLocks noChangeAspect="1"/>
          </p:cNvPicPr>
          <p:nvPr/>
        </p:nvPicPr>
        <p:blipFill>
          <a:blip r:embed="rId2"/>
          <a:stretch>
            <a:fillRect/>
          </a:stretch>
        </p:blipFill>
        <p:spPr>
          <a:xfrm>
            <a:off x="12616966" y="688022"/>
            <a:ext cx="10871237" cy="4486275"/>
          </a:xfrm>
          <a:prstGeom prst="rect">
            <a:avLst/>
          </a:prstGeom>
        </p:spPr>
      </p:pic>
      <p:graphicFrame>
        <p:nvGraphicFramePr>
          <p:cNvPr id="6" name="Table 5">
            <a:extLst>
              <a:ext uri="{FF2B5EF4-FFF2-40B4-BE49-F238E27FC236}">
                <a16:creationId xmlns:a16="http://schemas.microsoft.com/office/drawing/2014/main" id="{DC653B8B-8F61-2744-7728-027FC0A33819}"/>
              </a:ext>
            </a:extLst>
          </p:cNvPr>
          <p:cNvGraphicFramePr>
            <a:graphicFrameLocks noGrp="1"/>
          </p:cNvGraphicFramePr>
          <p:nvPr>
            <p:extLst>
              <p:ext uri="{D42A27DB-BD31-4B8C-83A1-F6EECF244321}">
                <p14:modId xmlns:p14="http://schemas.microsoft.com/office/powerpoint/2010/main" val="3934671944"/>
              </p:ext>
            </p:extLst>
          </p:nvPr>
        </p:nvGraphicFramePr>
        <p:xfrm>
          <a:off x="12440856" y="4643291"/>
          <a:ext cx="8518968" cy="3067344"/>
        </p:xfrm>
        <a:graphic>
          <a:graphicData uri="http://schemas.openxmlformats.org/drawingml/2006/table">
            <a:tbl>
              <a:tblPr>
                <a:tableStyleId>{616DA210-FB5B-4158-B5E0-FEB733F419BA}</a:tableStyleId>
              </a:tblPr>
              <a:tblGrid>
                <a:gridCol w="2217956">
                  <a:extLst>
                    <a:ext uri="{9D8B030D-6E8A-4147-A177-3AD203B41FA5}">
                      <a16:colId xmlns:a16="http://schemas.microsoft.com/office/drawing/2014/main" val="2192580235"/>
                    </a:ext>
                  </a:extLst>
                </a:gridCol>
                <a:gridCol w="3150506">
                  <a:extLst>
                    <a:ext uri="{9D8B030D-6E8A-4147-A177-3AD203B41FA5}">
                      <a16:colId xmlns:a16="http://schemas.microsoft.com/office/drawing/2014/main" val="1773691568"/>
                    </a:ext>
                  </a:extLst>
                </a:gridCol>
                <a:gridCol w="3150506">
                  <a:extLst>
                    <a:ext uri="{9D8B030D-6E8A-4147-A177-3AD203B41FA5}">
                      <a16:colId xmlns:a16="http://schemas.microsoft.com/office/drawing/2014/main" val="874563661"/>
                    </a:ext>
                  </a:extLst>
                </a:gridCol>
              </a:tblGrid>
              <a:tr h="338608">
                <a:tc>
                  <a:txBody>
                    <a:bodyPr/>
                    <a:lstStyle/>
                    <a:p>
                      <a:pPr>
                        <a:buNone/>
                      </a:pPr>
                      <a:r>
                        <a:rPr lang="en-US" sz="1400" dirty="0">
                          <a:effectLst/>
                        </a:rPr>
                        <a:t>Feature</a:t>
                      </a:r>
                    </a:p>
                  </a:txBody>
                  <a:tcPr anchor="ctr"/>
                </a:tc>
                <a:tc>
                  <a:txBody>
                    <a:bodyPr/>
                    <a:lstStyle/>
                    <a:p>
                      <a:pPr>
                        <a:buNone/>
                      </a:pPr>
                      <a:r>
                        <a:rPr lang="en-US" sz="1400" b="1" dirty="0">
                          <a:effectLst/>
                        </a:rPr>
                        <a:t>EA Method</a:t>
                      </a:r>
                      <a:endParaRPr lang="en-US" sz="1400" dirty="0">
                        <a:effectLst/>
                      </a:endParaRPr>
                    </a:p>
                  </a:txBody>
                  <a:tcPr anchor="ctr"/>
                </a:tc>
                <a:tc>
                  <a:txBody>
                    <a:bodyPr/>
                    <a:lstStyle/>
                    <a:p>
                      <a:pPr>
                        <a:buNone/>
                      </a:pPr>
                      <a:r>
                        <a:rPr lang="en-US" sz="1400" b="1" dirty="0">
                          <a:effectLst/>
                        </a:rPr>
                        <a:t>Orthogonal Method</a:t>
                      </a:r>
                      <a:endParaRPr lang="en-US" sz="1400" dirty="0">
                        <a:effectLst/>
                      </a:endParaRPr>
                    </a:p>
                  </a:txBody>
                  <a:tcPr anchor="ctr"/>
                </a:tc>
                <a:extLst>
                  <a:ext uri="{0D108BD9-81ED-4DB2-BD59-A6C34878D82A}">
                    <a16:rowId xmlns:a16="http://schemas.microsoft.com/office/drawing/2014/main" val="94872144"/>
                  </a:ext>
                </a:extLst>
              </a:tr>
              <a:tr h="592564">
                <a:tc>
                  <a:txBody>
                    <a:bodyPr/>
                    <a:lstStyle/>
                    <a:p>
                      <a:pPr>
                        <a:buNone/>
                      </a:pPr>
                      <a:r>
                        <a:rPr lang="en-US" sz="1400" b="1" dirty="0">
                          <a:effectLst/>
                        </a:rPr>
                        <a:t>Primary Goal</a:t>
                      </a:r>
                      <a:endParaRPr lang="en-US" sz="1400" dirty="0">
                        <a:effectLst/>
                      </a:endParaRPr>
                    </a:p>
                  </a:txBody>
                  <a:tcPr anchor="ctr"/>
                </a:tc>
                <a:tc>
                  <a:txBody>
                    <a:bodyPr/>
                    <a:lstStyle/>
                    <a:p>
                      <a:pPr>
                        <a:buNone/>
                      </a:pPr>
                      <a:r>
                        <a:rPr lang="en-US" sz="1400" dirty="0">
                          <a:effectLst/>
                        </a:rPr>
                        <a:t>Maximize prediction accuracy.</a:t>
                      </a:r>
                    </a:p>
                  </a:txBody>
                  <a:tcPr anchor="ctr"/>
                </a:tc>
                <a:tc>
                  <a:txBody>
                    <a:bodyPr/>
                    <a:lstStyle/>
                    <a:p>
                      <a:pPr>
                        <a:buNone/>
                      </a:pPr>
                      <a:r>
                        <a:rPr lang="en-US" sz="1400">
                          <a:effectLst/>
                        </a:rPr>
                        <a:t>Maximize parameter accuracy &amp; interpretability.</a:t>
                      </a:r>
                    </a:p>
                  </a:txBody>
                  <a:tcPr anchor="ctr"/>
                </a:tc>
                <a:extLst>
                  <a:ext uri="{0D108BD9-81ED-4DB2-BD59-A6C34878D82A}">
                    <a16:rowId xmlns:a16="http://schemas.microsoft.com/office/drawing/2014/main" val="2421798069"/>
                  </a:ext>
                </a:extLst>
              </a:tr>
              <a:tr h="592564">
                <a:tc>
                  <a:txBody>
                    <a:bodyPr/>
                    <a:lstStyle/>
                    <a:p>
                      <a:pPr>
                        <a:buNone/>
                      </a:pPr>
                      <a:r>
                        <a:rPr lang="en-US" sz="1400" b="1" dirty="0">
                          <a:effectLst/>
                        </a:rPr>
                        <a:t>Parameter Update</a:t>
                      </a:r>
                      <a:endParaRPr lang="en-US" sz="1400" dirty="0">
                        <a:effectLst/>
                      </a:endParaRPr>
                    </a:p>
                  </a:txBody>
                  <a:tcPr anchor="ctr"/>
                </a:tc>
                <a:tc>
                  <a:txBody>
                    <a:bodyPr/>
                    <a:lstStyle/>
                    <a:p>
                      <a:pPr>
                        <a:buNone/>
                      </a:pPr>
                      <a:r>
                        <a:rPr lang="en-US" sz="1400" dirty="0">
                          <a:effectLst/>
                        </a:rPr>
                        <a:t>NN </a:t>
                      </a:r>
                      <a:r>
                        <a:rPr lang="en-US" sz="1400" b="1" dirty="0">
                          <a:effectLst/>
                        </a:rPr>
                        <a:t>compensates</a:t>
                      </a:r>
                      <a:r>
                        <a:rPr lang="en-US" sz="1400" dirty="0">
                          <a:effectLst/>
                        </a:rPr>
                        <a:t> for wrong parameters.</a:t>
                      </a:r>
                    </a:p>
                  </a:txBody>
                  <a:tcPr anchor="ctr"/>
                </a:tc>
                <a:tc>
                  <a:txBody>
                    <a:bodyPr/>
                    <a:lstStyle/>
                    <a:p>
                      <a:pPr>
                        <a:buNone/>
                      </a:pPr>
                      <a:r>
                        <a:rPr lang="en-US" sz="1400">
                          <a:effectLst/>
                        </a:rPr>
                        <a:t>Optimizer </a:t>
                      </a:r>
                      <a:r>
                        <a:rPr lang="en-US" sz="1400" b="1">
                          <a:effectLst/>
                        </a:rPr>
                        <a:t>corrects</a:t>
                      </a:r>
                      <a:r>
                        <a:rPr lang="en-US" sz="1400">
                          <a:effectLst/>
                        </a:rPr>
                        <a:t> parameters because NN is restricted.</a:t>
                      </a:r>
                    </a:p>
                  </a:txBody>
                  <a:tcPr anchor="ctr"/>
                </a:tc>
                <a:extLst>
                  <a:ext uri="{0D108BD9-81ED-4DB2-BD59-A6C34878D82A}">
                    <a16:rowId xmlns:a16="http://schemas.microsoft.com/office/drawing/2014/main" val="721144444"/>
                  </a:ext>
                </a:extLst>
              </a:tr>
              <a:tr h="358480">
                <a:tc>
                  <a:txBody>
                    <a:bodyPr/>
                    <a:lstStyle/>
                    <a:p>
                      <a:pPr>
                        <a:buNone/>
                      </a:pPr>
                      <a:r>
                        <a:rPr lang="en-US" sz="1400" b="1" dirty="0">
                          <a:effectLst/>
                        </a:rPr>
                        <a:t>Interaction</a:t>
                      </a:r>
                      <a:endParaRPr lang="en-US" sz="1400" dirty="0">
                        <a:effectLst/>
                      </a:endParaRPr>
                    </a:p>
                  </a:txBody>
                  <a:tcPr anchor="ctr"/>
                </a:tc>
                <a:tc>
                  <a:txBody>
                    <a:bodyPr/>
                    <a:lstStyle/>
                    <a:p>
                      <a:pPr>
                        <a:buNone/>
                      </a:pPr>
                      <a:r>
                        <a:rPr lang="en-US" sz="1400" dirty="0">
                          <a:effectLst/>
                        </a:rPr>
                        <a:t>Competitive (Negation possible).</a:t>
                      </a:r>
                    </a:p>
                  </a:txBody>
                  <a:tcPr anchor="ctr"/>
                </a:tc>
                <a:tc>
                  <a:txBody>
                    <a:bodyPr/>
                    <a:lstStyle/>
                    <a:p>
                      <a:pPr>
                        <a:buNone/>
                      </a:pPr>
                      <a:r>
                        <a:rPr lang="en-US" sz="1400">
                          <a:effectLst/>
                        </a:rPr>
                        <a:t>Complementary (Orthogonal).</a:t>
                      </a:r>
                    </a:p>
                  </a:txBody>
                  <a:tcPr anchor="ctr"/>
                </a:tc>
                <a:extLst>
                  <a:ext uri="{0D108BD9-81ED-4DB2-BD59-A6C34878D82A}">
                    <a16:rowId xmlns:a16="http://schemas.microsoft.com/office/drawing/2014/main" val="3726113545"/>
                  </a:ext>
                </a:extLst>
              </a:tr>
              <a:tr h="592564">
                <a:tc>
                  <a:txBody>
                    <a:bodyPr/>
                    <a:lstStyle/>
                    <a:p>
                      <a:pPr>
                        <a:buNone/>
                      </a:pPr>
                      <a:r>
                        <a:rPr lang="en-US" sz="1400" b="1" dirty="0">
                          <a:effectLst/>
                        </a:rPr>
                        <a:t>Cost Function</a:t>
                      </a:r>
                      <a:endParaRPr lang="en-US" sz="1400" dirty="0">
                        <a:effectLst/>
                      </a:endParaRPr>
                    </a:p>
                  </a:txBody>
                  <a:tcPr anchor="ctr"/>
                </a:tc>
                <a:tc>
                  <a:txBody>
                    <a:bodyPr/>
                    <a:lstStyle/>
                    <a:p>
                      <a:pPr>
                        <a:buNone/>
                      </a:pPr>
                      <a:r>
                        <a:rPr lang="en-US" sz="1400">
                          <a:effectLst/>
                        </a:rPr>
                        <a:t>Prediction Error only.</a:t>
                      </a:r>
                    </a:p>
                  </a:txBody>
                  <a:tcPr anchor="ctr"/>
                </a:tc>
                <a:tc>
                  <a:txBody>
                    <a:bodyPr/>
                    <a:lstStyle/>
                    <a:p>
                      <a:pPr>
                        <a:buNone/>
                      </a:pPr>
                      <a:r>
                        <a:rPr lang="en-US" sz="1400" dirty="0">
                          <a:effectLst/>
                        </a:rPr>
                        <a:t>Prediction Error + Orthogonality Penalty.</a:t>
                      </a:r>
                    </a:p>
                  </a:txBody>
                  <a:tcPr anchor="ctr"/>
                </a:tc>
                <a:extLst>
                  <a:ext uri="{0D108BD9-81ED-4DB2-BD59-A6C34878D82A}">
                    <a16:rowId xmlns:a16="http://schemas.microsoft.com/office/drawing/2014/main" val="1727771090"/>
                  </a:ext>
                </a:extLst>
              </a:tr>
              <a:tr h="592564">
                <a:tc>
                  <a:txBody>
                    <a:bodyPr/>
                    <a:lstStyle/>
                    <a:p>
                      <a:pPr>
                        <a:buNone/>
                      </a:pPr>
                      <a:r>
                        <a:rPr lang="en-US" sz="1400" b="1">
                          <a:effectLst/>
                        </a:rPr>
                        <a:t>Best For</a:t>
                      </a:r>
                      <a:endParaRPr lang="en-US" sz="1400">
                        <a:effectLst/>
                      </a:endParaRPr>
                    </a:p>
                  </a:txBody>
                  <a:tcPr anchor="ctr"/>
                </a:tc>
                <a:tc>
                  <a:txBody>
                    <a:bodyPr/>
                    <a:lstStyle/>
                    <a:p>
                      <a:pPr>
                        <a:buNone/>
                      </a:pPr>
                      <a:r>
                        <a:rPr lang="en-US" sz="1400">
                          <a:effectLst/>
                        </a:rPr>
                        <a:t>Complex systems with missing states (flexibility).</a:t>
                      </a:r>
                    </a:p>
                  </a:txBody>
                  <a:tcPr anchor="ctr"/>
                </a:tc>
                <a:tc>
                  <a:txBody>
                    <a:bodyPr/>
                    <a:lstStyle/>
                    <a:p>
                      <a:pPr>
                        <a:buNone/>
                      </a:pPr>
                      <a:r>
                        <a:rPr lang="en-US" sz="1400" dirty="0">
                          <a:effectLst/>
                        </a:rPr>
                        <a:t>Interpretable Digital Twins where </a:t>
                      </a:r>
                      <a:r>
                        <a:rPr lang="en-US" sz="1400" dirty="0" err="1">
                          <a:effectLst/>
                        </a:rPr>
                        <a:t>m,k</a:t>
                      </a:r>
                      <a:r>
                        <a:rPr lang="en-US" sz="1400" dirty="0">
                          <a:effectLst/>
                        </a:rPr>
                        <a:t> must be correct.</a:t>
                      </a:r>
                    </a:p>
                  </a:txBody>
                  <a:tcPr anchor="ctr"/>
                </a:tc>
                <a:extLst>
                  <a:ext uri="{0D108BD9-81ED-4DB2-BD59-A6C34878D82A}">
                    <a16:rowId xmlns:a16="http://schemas.microsoft.com/office/drawing/2014/main" val="3530299953"/>
                  </a:ext>
                </a:extLst>
              </a:tr>
            </a:tbl>
          </a:graphicData>
        </a:graphic>
      </p:graphicFrame>
    </p:spTree>
    <p:extLst>
      <p:ext uri="{BB962C8B-B14F-4D97-AF65-F5344CB8AC3E}">
        <p14:creationId xmlns:p14="http://schemas.microsoft.com/office/powerpoint/2010/main" val="132494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343F-6342-0E27-294B-993538F48FC7}"/>
              </a:ext>
            </a:extLst>
          </p:cNvPr>
          <p:cNvSpPr>
            <a:spLocks noGrp="1"/>
          </p:cNvSpPr>
          <p:nvPr>
            <p:ph type="title"/>
          </p:nvPr>
        </p:nvSpPr>
        <p:spPr/>
        <p:txBody>
          <a:bodyPr/>
          <a:lstStyle/>
          <a:p>
            <a:r>
              <a:rPr lang="en-US" dirty="0"/>
              <a:t>Nonlinear System Identification</a:t>
            </a:r>
            <a:endParaRPr lang="en-NL" dirty="0"/>
          </a:p>
        </p:txBody>
      </p:sp>
      <p:sp>
        <p:nvSpPr>
          <p:cNvPr id="3" name="Content Placeholder 2">
            <a:extLst>
              <a:ext uri="{FF2B5EF4-FFF2-40B4-BE49-F238E27FC236}">
                <a16:creationId xmlns:a16="http://schemas.microsoft.com/office/drawing/2014/main" id="{3E6D4B73-9CA9-B601-1057-ADAE5F5F5DE7}"/>
              </a:ext>
            </a:extLst>
          </p:cNvPr>
          <p:cNvSpPr>
            <a:spLocks noGrp="1"/>
          </p:cNvSpPr>
          <p:nvPr>
            <p:ph idx="1"/>
          </p:nvPr>
        </p:nvSpPr>
        <p:spPr/>
        <p:txBody>
          <a:bodyPr/>
          <a:lstStyle/>
          <a:p>
            <a:r>
              <a:rPr lang="en-US" dirty="0"/>
              <a:t>OMNIPUS (</a:t>
            </a:r>
            <a:r>
              <a:rPr lang="en-US" dirty="0" err="1"/>
              <a:t>OptiMized</a:t>
            </a:r>
            <a:r>
              <a:rPr lang="en-US" dirty="0"/>
              <a:t> Nonlinear </a:t>
            </a:r>
            <a:r>
              <a:rPr lang="en-US" dirty="0" err="1"/>
              <a:t>InPUt</a:t>
            </a:r>
            <a:r>
              <a:rPr lang="en-US" dirty="0"/>
              <a:t> Signal):  Instead of random noise, generates </a:t>
            </a:r>
            <a:r>
              <a:rPr lang="en-US" b="1" dirty="0"/>
              <a:t>randomized step-like sequences</a:t>
            </a:r>
          </a:p>
          <a:p>
            <a:pPr lvl="1"/>
            <a:r>
              <a:rPr lang="en-US" dirty="0"/>
              <a:t>Models better to unseen data</a:t>
            </a:r>
          </a:p>
          <a:p>
            <a:pPr lvl="1"/>
            <a:r>
              <a:rPr lang="en-US" dirty="0"/>
              <a:t>OMNIPUS responsible for global movement. Combine with “Wet-Clutch Trick” for local excitation?</a:t>
            </a:r>
          </a:p>
          <a:p>
            <a:r>
              <a:rPr lang="en-US" dirty="0"/>
              <a:t>Selecting regime points for the dual-gantry system</a:t>
            </a:r>
          </a:p>
          <a:p>
            <a:pPr lvl="1"/>
            <a:r>
              <a:rPr lang="en-US" dirty="0"/>
              <a:t>Need to select specific coordinates that represent extreme cases</a:t>
            </a:r>
          </a:p>
          <a:p>
            <a:pPr lvl="1"/>
            <a:r>
              <a:rPr lang="en-US" dirty="0"/>
              <a:t>Automate with </a:t>
            </a:r>
            <a:r>
              <a:rPr lang="en-US" b="1" dirty="0"/>
              <a:t>HILOMOT (</a:t>
            </a:r>
            <a:r>
              <a:rPr lang="en-US" b="1" dirty="0" err="1"/>
              <a:t>HIerarchical</a:t>
            </a:r>
            <a:r>
              <a:rPr lang="en-US" b="1" dirty="0"/>
              <a:t> </a:t>
            </a:r>
            <a:r>
              <a:rPr lang="en-US" b="1" dirty="0" err="1"/>
              <a:t>LOcal</a:t>
            </a:r>
            <a:r>
              <a:rPr lang="en-US" b="1" dirty="0"/>
              <a:t> </a:t>
            </a:r>
            <a:r>
              <a:rPr lang="en-US" b="1" dirty="0" err="1"/>
              <a:t>MOdel</a:t>
            </a:r>
            <a:r>
              <a:rPr lang="en-US" b="1" dirty="0"/>
              <a:t> Tree) </a:t>
            </a:r>
            <a:r>
              <a:rPr lang="en-US" dirty="0"/>
              <a:t>algorithm</a:t>
            </a:r>
            <a:endParaRPr lang="en-NL" dirty="0"/>
          </a:p>
        </p:txBody>
      </p:sp>
      <p:sp>
        <p:nvSpPr>
          <p:cNvPr id="9" name="TextBox 8">
            <a:extLst>
              <a:ext uri="{FF2B5EF4-FFF2-40B4-BE49-F238E27FC236}">
                <a16:creationId xmlns:a16="http://schemas.microsoft.com/office/drawing/2014/main" id="{21DCAAFD-807C-BF4F-B247-4072BEF85085}"/>
              </a:ext>
            </a:extLst>
          </p:cNvPr>
          <p:cNvSpPr txBox="1"/>
          <p:nvPr/>
        </p:nvSpPr>
        <p:spPr>
          <a:xfrm>
            <a:off x="838200" y="1387396"/>
            <a:ext cx="6096000" cy="369332"/>
          </a:xfrm>
          <a:prstGeom prst="rect">
            <a:avLst/>
          </a:prstGeom>
          <a:noFill/>
        </p:spPr>
        <p:txBody>
          <a:bodyPr wrap="square">
            <a:spAutoFit/>
          </a:bodyPr>
          <a:lstStyle/>
          <a:p>
            <a:r>
              <a:rPr lang="en-US" b="1" dirty="0"/>
              <a:t>Schoukens &amp; Ljung, </a:t>
            </a:r>
            <a:r>
              <a:rPr lang="en-US" b="1" dirty="0" err="1"/>
              <a:t>Kessels</a:t>
            </a:r>
            <a:endParaRPr lang="en-NL" b="1" dirty="0"/>
          </a:p>
        </p:txBody>
      </p:sp>
      <p:pic>
        <p:nvPicPr>
          <p:cNvPr id="11" name="Picture 10">
            <a:extLst>
              <a:ext uri="{FF2B5EF4-FFF2-40B4-BE49-F238E27FC236}">
                <a16:creationId xmlns:a16="http://schemas.microsoft.com/office/drawing/2014/main" id="{58E8C3D2-141E-273E-A607-CF4C4B457C6D}"/>
              </a:ext>
            </a:extLst>
          </p:cNvPr>
          <p:cNvPicPr>
            <a:picLocks noChangeAspect="1"/>
          </p:cNvPicPr>
          <p:nvPr/>
        </p:nvPicPr>
        <p:blipFill>
          <a:blip r:embed="rId3"/>
          <a:stretch>
            <a:fillRect/>
          </a:stretch>
        </p:blipFill>
        <p:spPr>
          <a:xfrm>
            <a:off x="12656612" y="1027906"/>
            <a:ext cx="5845047" cy="1127858"/>
          </a:xfrm>
          <a:prstGeom prst="rect">
            <a:avLst/>
          </a:prstGeom>
        </p:spPr>
      </p:pic>
      <p:pic>
        <p:nvPicPr>
          <p:cNvPr id="13" name="Picture 12">
            <a:extLst>
              <a:ext uri="{FF2B5EF4-FFF2-40B4-BE49-F238E27FC236}">
                <a16:creationId xmlns:a16="http://schemas.microsoft.com/office/drawing/2014/main" id="{44A35463-F8B1-54DC-8B26-34DC81CE9D28}"/>
              </a:ext>
            </a:extLst>
          </p:cNvPr>
          <p:cNvPicPr>
            <a:picLocks noChangeAspect="1"/>
          </p:cNvPicPr>
          <p:nvPr/>
        </p:nvPicPr>
        <p:blipFill>
          <a:blip r:embed="rId4"/>
          <a:stretch>
            <a:fillRect/>
          </a:stretch>
        </p:blipFill>
        <p:spPr>
          <a:xfrm>
            <a:off x="12656612" y="3294655"/>
            <a:ext cx="6492803" cy="2796782"/>
          </a:xfrm>
          <a:prstGeom prst="rect">
            <a:avLst/>
          </a:prstGeom>
        </p:spPr>
      </p:pic>
    </p:spTree>
    <p:extLst>
      <p:ext uri="{BB962C8B-B14F-4D97-AF65-F5344CB8AC3E}">
        <p14:creationId xmlns:p14="http://schemas.microsoft.com/office/powerpoint/2010/main" val="2171402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094FF-9745-21DD-EC38-79A3E85E5024}"/>
              </a:ext>
            </a:extLst>
          </p:cNvPr>
          <p:cNvSpPr>
            <a:spLocks noGrp="1"/>
          </p:cNvSpPr>
          <p:nvPr>
            <p:ph type="title"/>
          </p:nvPr>
        </p:nvSpPr>
        <p:spPr>
          <a:xfrm>
            <a:off x="838200" y="505803"/>
            <a:ext cx="10515600" cy="740194"/>
          </a:xfrm>
        </p:spPr>
        <p:txBody>
          <a:bodyPr>
            <a:normAutofit fontScale="90000"/>
          </a:bodyPr>
          <a:lstStyle/>
          <a:p>
            <a:r>
              <a:rPr lang="en-US" dirty="0"/>
              <a:t>Regularized Prediction Error Minimization (PEM)</a:t>
            </a:r>
            <a:endParaRPr lang="en-NL" dirty="0"/>
          </a:p>
        </p:txBody>
      </p:sp>
      <p:sp>
        <p:nvSpPr>
          <p:cNvPr id="3" name="Content Placeholder 2">
            <a:extLst>
              <a:ext uri="{FF2B5EF4-FFF2-40B4-BE49-F238E27FC236}">
                <a16:creationId xmlns:a16="http://schemas.microsoft.com/office/drawing/2014/main" id="{4A4999C4-3730-7D53-0C64-72FFBDDC60B1}"/>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2995530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AA34F-6B6A-E2F3-C85A-9CA012E848B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F154779-D673-8CFD-CCA8-5A2D30F71784}"/>
              </a:ext>
            </a:extLst>
          </p:cNvPr>
          <p:cNvSpPr>
            <a:spLocks noGrp="1"/>
          </p:cNvSpPr>
          <p:nvPr>
            <p:ph idx="1"/>
          </p:nvPr>
        </p:nvSpPr>
        <p:spPr/>
        <p:txBody>
          <a:bodyPr/>
          <a:lstStyle/>
          <a:p>
            <a:r>
              <a:rPr lang="en-US" dirty="0"/>
              <a:t>1. </a:t>
            </a:r>
            <a:r>
              <a:rPr lang="en-US" b="1" dirty="0"/>
              <a:t>NIXO Method: Swept-Sine vs. Burst Random (Source: </a:t>
            </a:r>
            <a:r>
              <a:rPr lang="en-US" b="1" i="1" dirty="0"/>
              <a:t>NIXO file</a:t>
            </a:r>
            <a:r>
              <a:rPr lang="en-US" b="1" dirty="0"/>
              <a:t>)</a:t>
            </a:r>
          </a:p>
          <a:p>
            <a:pPr lvl="1"/>
            <a:r>
              <a:rPr lang="en-US" dirty="0"/>
              <a:t>• </a:t>
            </a:r>
            <a:r>
              <a:rPr lang="en-US" b="1" dirty="0"/>
              <a:t>Constraint:</a:t>
            </a:r>
            <a:r>
              <a:rPr lang="en-US" dirty="0"/>
              <a:t> Unlike other frequency-domain methods that estimate complex-valued parameters that fluctuate at every frequency line, NIXO solves a global overdetermined system. This forces the identified nonlinear stiffness parameters to be </a:t>
            </a:r>
            <a:r>
              <a:rPr lang="en-US" b="1" dirty="0"/>
              <a:t>real-valued and constant</a:t>
            </a:r>
            <a:r>
              <a:rPr lang="en-US" dirty="0"/>
              <a:t> across the entire frequency range</a:t>
            </a:r>
          </a:p>
          <a:p>
            <a:br>
              <a:rPr lang="en-US" dirty="0"/>
            </a:br>
            <a:endParaRPr lang="en-NL" dirty="0"/>
          </a:p>
        </p:txBody>
      </p:sp>
      <p:pic>
        <p:nvPicPr>
          <p:cNvPr id="5" name="Picture 4">
            <a:extLst>
              <a:ext uri="{FF2B5EF4-FFF2-40B4-BE49-F238E27FC236}">
                <a16:creationId xmlns:a16="http://schemas.microsoft.com/office/drawing/2014/main" id="{FCCCCD72-BB39-4457-69F2-40457AF39E4E}"/>
              </a:ext>
            </a:extLst>
          </p:cNvPr>
          <p:cNvPicPr>
            <a:picLocks noChangeAspect="1"/>
          </p:cNvPicPr>
          <p:nvPr/>
        </p:nvPicPr>
        <p:blipFill>
          <a:blip r:embed="rId2"/>
          <a:stretch>
            <a:fillRect/>
          </a:stretch>
        </p:blipFill>
        <p:spPr>
          <a:xfrm>
            <a:off x="11820983" y="0"/>
            <a:ext cx="5039303" cy="6459072"/>
          </a:xfrm>
          <a:prstGeom prst="rect">
            <a:avLst/>
          </a:prstGeom>
        </p:spPr>
      </p:pic>
      <p:pic>
        <p:nvPicPr>
          <p:cNvPr id="7" name="Picture 6">
            <a:extLst>
              <a:ext uri="{FF2B5EF4-FFF2-40B4-BE49-F238E27FC236}">
                <a16:creationId xmlns:a16="http://schemas.microsoft.com/office/drawing/2014/main" id="{41A2F915-7B07-755E-A548-6EED326BB034}"/>
              </a:ext>
            </a:extLst>
          </p:cNvPr>
          <p:cNvPicPr>
            <a:picLocks noChangeAspect="1"/>
          </p:cNvPicPr>
          <p:nvPr/>
        </p:nvPicPr>
        <p:blipFill>
          <a:blip r:embed="rId3"/>
          <a:stretch>
            <a:fillRect/>
          </a:stretch>
        </p:blipFill>
        <p:spPr>
          <a:xfrm>
            <a:off x="5318526" y="3861982"/>
            <a:ext cx="5395428" cy="2019475"/>
          </a:xfrm>
          <a:prstGeom prst="rect">
            <a:avLst/>
          </a:prstGeom>
        </p:spPr>
      </p:pic>
      <p:pic>
        <p:nvPicPr>
          <p:cNvPr id="9" name="Picture 8">
            <a:extLst>
              <a:ext uri="{FF2B5EF4-FFF2-40B4-BE49-F238E27FC236}">
                <a16:creationId xmlns:a16="http://schemas.microsoft.com/office/drawing/2014/main" id="{C40AE27D-DCE3-6EE9-A942-0A7B6644EE3C}"/>
              </a:ext>
            </a:extLst>
          </p:cNvPr>
          <p:cNvPicPr>
            <a:picLocks noChangeAspect="1"/>
          </p:cNvPicPr>
          <p:nvPr/>
        </p:nvPicPr>
        <p:blipFill>
          <a:blip r:embed="rId4"/>
          <a:stretch>
            <a:fillRect/>
          </a:stretch>
        </p:blipFill>
        <p:spPr>
          <a:xfrm>
            <a:off x="575442" y="5256438"/>
            <a:ext cx="5928874" cy="2110923"/>
          </a:xfrm>
          <a:prstGeom prst="rect">
            <a:avLst/>
          </a:prstGeom>
        </p:spPr>
      </p:pic>
    </p:spTree>
    <p:extLst>
      <p:ext uri="{BB962C8B-B14F-4D97-AF65-F5344CB8AC3E}">
        <p14:creationId xmlns:p14="http://schemas.microsoft.com/office/powerpoint/2010/main" val="4127840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8AAB5-A973-95A7-CA2F-073AACDA4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BFFEC5-2873-2C9A-BF38-1C05866DCB81}"/>
              </a:ext>
            </a:extLst>
          </p:cNvPr>
          <p:cNvSpPr>
            <a:spLocks noGrp="1"/>
          </p:cNvSpPr>
          <p:nvPr>
            <p:ph type="title"/>
          </p:nvPr>
        </p:nvSpPr>
        <p:spPr/>
        <p:txBody>
          <a:bodyPr/>
          <a:lstStyle/>
          <a:p>
            <a:r>
              <a:rPr lang="en-US" dirty="0"/>
              <a:t>Nonlinear System Identification</a:t>
            </a:r>
            <a:endParaRPr lang="en-NL" dirty="0"/>
          </a:p>
        </p:txBody>
      </p:sp>
      <p:sp>
        <p:nvSpPr>
          <p:cNvPr id="3" name="Content Placeholder 2">
            <a:extLst>
              <a:ext uri="{FF2B5EF4-FFF2-40B4-BE49-F238E27FC236}">
                <a16:creationId xmlns:a16="http://schemas.microsoft.com/office/drawing/2014/main" id="{4F878AEE-558F-83D2-0F3A-47BD3D4EC3EA}"/>
              </a:ext>
            </a:extLst>
          </p:cNvPr>
          <p:cNvSpPr>
            <a:spLocks noGrp="1"/>
          </p:cNvSpPr>
          <p:nvPr>
            <p:ph idx="1"/>
          </p:nvPr>
        </p:nvSpPr>
        <p:spPr/>
        <p:txBody>
          <a:bodyPr/>
          <a:lstStyle/>
          <a:p>
            <a:r>
              <a:rPr lang="en-US" dirty="0" err="1"/>
              <a:t>Verband</a:t>
            </a:r>
            <a:r>
              <a:rPr lang="en-US" dirty="0"/>
              <a:t> </a:t>
            </a:r>
            <a:r>
              <a:rPr lang="en-US" dirty="0" err="1"/>
              <a:t>leggen</a:t>
            </a:r>
            <a:r>
              <a:rPr lang="en-US" dirty="0"/>
              <a:t> lectures maar voor non linear</a:t>
            </a:r>
            <a:endParaRPr lang="en-NL" dirty="0"/>
          </a:p>
        </p:txBody>
      </p:sp>
      <p:pic>
        <p:nvPicPr>
          <p:cNvPr id="5" name="Picture 4">
            <a:extLst>
              <a:ext uri="{FF2B5EF4-FFF2-40B4-BE49-F238E27FC236}">
                <a16:creationId xmlns:a16="http://schemas.microsoft.com/office/drawing/2014/main" id="{AD83068C-5AE7-8A48-B633-BD0E4309AEDE}"/>
              </a:ext>
            </a:extLst>
          </p:cNvPr>
          <p:cNvPicPr>
            <a:picLocks noChangeAspect="1"/>
          </p:cNvPicPr>
          <p:nvPr/>
        </p:nvPicPr>
        <p:blipFill>
          <a:blip r:embed="rId2"/>
          <a:stretch>
            <a:fillRect/>
          </a:stretch>
        </p:blipFill>
        <p:spPr>
          <a:xfrm>
            <a:off x="0" y="3005489"/>
            <a:ext cx="6340389" cy="4541914"/>
          </a:xfrm>
          <a:prstGeom prst="rect">
            <a:avLst/>
          </a:prstGeom>
        </p:spPr>
      </p:pic>
      <p:pic>
        <p:nvPicPr>
          <p:cNvPr id="7" name="Picture 6">
            <a:extLst>
              <a:ext uri="{FF2B5EF4-FFF2-40B4-BE49-F238E27FC236}">
                <a16:creationId xmlns:a16="http://schemas.microsoft.com/office/drawing/2014/main" id="{50A4DB92-84D8-29FA-2069-FD9AE8739A8A}"/>
              </a:ext>
            </a:extLst>
          </p:cNvPr>
          <p:cNvPicPr>
            <a:picLocks noChangeAspect="1"/>
          </p:cNvPicPr>
          <p:nvPr/>
        </p:nvPicPr>
        <p:blipFill>
          <a:blip r:embed="rId3"/>
          <a:stretch>
            <a:fillRect/>
          </a:stretch>
        </p:blipFill>
        <p:spPr>
          <a:xfrm>
            <a:off x="6232644" y="2635568"/>
            <a:ext cx="5959356" cy="3208298"/>
          </a:xfrm>
          <a:prstGeom prst="rect">
            <a:avLst/>
          </a:prstGeom>
        </p:spPr>
      </p:pic>
      <p:sp>
        <p:nvSpPr>
          <p:cNvPr id="4" name="TextBox 3">
            <a:extLst>
              <a:ext uri="{FF2B5EF4-FFF2-40B4-BE49-F238E27FC236}">
                <a16:creationId xmlns:a16="http://schemas.microsoft.com/office/drawing/2014/main" id="{B387FFED-230A-E90D-B71E-6F61A90BF764}"/>
              </a:ext>
            </a:extLst>
          </p:cNvPr>
          <p:cNvSpPr txBox="1"/>
          <p:nvPr/>
        </p:nvSpPr>
        <p:spPr>
          <a:xfrm>
            <a:off x="5396697" y="5576798"/>
            <a:ext cx="6096000" cy="1200329"/>
          </a:xfrm>
          <a:prstGeom prst="rect">
            <a:avLst/>
          </a:prstGeom>
          <a:noFill/>
        </p:spPr>
        <p:txBody>
          <a:bodyPr wrap="square">
            <a:spAutoFit/>
          </a:bodyPr>
          <a:lstStyle/>
          <a:p>
            <a:r>
              <a:rPr lang="en-US" b="0" i="1" dirty="0">
                <a:solidFill>
                  <a:srgbClr val="303030"/>
                </a:solidFill>
                <a:effectLst/>
                <a:latin typeface="Google Sans Text"/>
              </a:rPr>
              <a:t>Implication for SI:</a:t>
            </a:r>
            <a:r>
              <a:rPr lang="en-US" b="0" i="0" dirty="0">
                <a:solidFill>
                  <a:srgbClr val="303030"/>
                </a:solidFill>
                <a:effectLst/>
                <a:latin typeface="Google Sans Text"/>
              </a:rPr>
              <a:t> You must identify the "unmodeled terms" subspace. Your experiment must be designed so that the regressor matrix of the baseline model is orthogonal to the unmodeled terms in the data</a:t>
            </a:r>
            <a:endParaRPr lang="en-NL" dirty="0"/>
          </a:p>
        </p:txBody>
      </p:sp>
    </p:spTree>
    <p:extLst>
      <p:ext uri="{BB962C8B-B14F-4D97-AF65-F5344CB8AC3E}">
        <p14:creationId xmlns:p14="http://schemas.microsoft.com/office/powerpoint/2010/main" val="1249120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BAD5A-E81C-C902-6FBD-68096712D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EB7E4-A6C7-4AB9-79B4-CFC1CF8AC6D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BD5C120-75DC-6B8A-8EF7-6746038EC0A0}"/>
              </a:ext>
            </a:extLst>
          </p:cNvPr>
          <p:cNvSpPr>
            <a:spLocks noGrp="1"/>
          </p:cNvSpPr>
          <p:nvPr>
            <p:ph idx="1"/>
          </p:nvPr>
        </p:nvSpPr>
        <p:spPr/>
        <p:txBody>
          <a:bodyPr/>
          <a:lstStyle/>
          <a:p>
            <a:r>
              <a:rPr lang="en-US" dirty="0"/>
              <a:t>1. </a:t>
            </a:r>
            <a:r>
              <a:rPr lang="en-US" b="1" dirty="0"/>
              <a:t>NIXO Method: Swept-Sine vs. Burst Random (Source: </a:t>
            </a:r>
            <a:r>
              <a:rPr lang="en-US" b="1" i="1" dirty="0"/>
              <a:t>NIXO file</a:t>
            </a:r>
            <a:r>
              <a:rPr lang="en-US" b="1" dirty="0"/>
              <a:t>)</a:t>
            </a:r>
            <a:endParaRPr lang="en-US" dirty="0"/>
          </a:p>
          <a:p>
            <a:br>
              <a:rPr lang="en-US" dirty="0"/>
            </a:br>
            <a:endParaRPr lang="en-NL" dirty="0"/>
          </a:p>
        </p:txBody>
      </p:sp>
      <p:pic>
        <p:nvPicPr>
          <p:cNvPr id="5" name="Picture 4">
            <a:extLst>
              <a:ext uri="{FF2B5EF4-FFF2-40B4-BE49-F238E27FC236}">
                <a16:creationId xmlns:a16="http://schemas.microsoft.com/office/drawing/2014/main" id="{3E7FA473-EA21-160E-B333-8273B96D86C5}"/>
              </a:ext>
            </a:extLst>
          </p:cNvPr>
          <p:cNvPicPr>
            <a:picLocks noChangeAspect="1"/>
          </p:cNvPicPr>
          <p:nvPr/>
        </p:nvPicPr>
        <p:blipFill>
          <a:blip r:embed="rId2"/>
          <a:stretch>
            <a:fillRect/>
          </a:stretch>
        </p:blipFill>
        <p:spPr>
          <a:xfrm>
            <a:off x="10794823" y="483944"/>
            <a:ext cx="5039303" cy="6459072"/>
          </a:xfrm>
          <a:prstGeom prst="rect">
            <a:avLst/>
          </a:prstGeom>
        </p:spPr>
      </p:pic>
      <p:pic>
        <p:nvPicPr>
          <p:cNvPr id="7" name="Picture 6">
            <a:extLst>
              <a:ext uri="{FF2B5EF4-FFF2-40B4-BE49-F238E27FC236}">
                <a16:creationId xmlns:a16="http://schemas.microsoft.com/office/drawing/2014/main" id="{949F3259-2FFA-238D-F7FB-526AB69BBD17}"/>
              </a:ext>
            </a:extLst>
          </p:cNvPr>
          <p:cNvPicPr>
            <a:picLocks noChangeAspect="1"/>
          </p:cNvPicPr>
          <p:nvPr/>
        </p:nvPicPr>
        <p:blipFill>
          <a:blip r:embed="rId3"/>
          <a:stretch>
            <a:fillRect/>
          </a:stretch>
        </p:blipFill>
        <p:spPr>
          <a:xfrm>
            <a:off x="5318526" y="3861982"/>
            <a:ext cx="5395428" cy="2019475"/>
          </a:xfrm>
          <a:prstGeom prst="rect">
            <a:avLst/>
          </a:prstGeom>
        </p:spPr>
      </p:pic>
      <p:pic>
        <p:nvPicPr>
          <p:cNvPr id="9" name="Picture 8">
            <a:extLst>
              <a:ext uri="{FF2B5EF4-FFF2-40B4-BE49-F238E27FC236}">
                <a16:creationId xmlns:a16="http://schemas.microsoft.com/office/drawing/2014/main" id="{B6AC5251-01C2-FE6D-A48C-9FF3CE4B1966}"/>
              </a:ext>
            </a:extLst>
          </p:cNvPr>
          <p:cNvPicPr>
            <a:picLocks noChangeAspect="1"/>
          </p:cNvPicPr>
          <p:nvPr/>
        </p:nvPicPr>
        <p:blipFill>
          <a:blip r:embed="rId4"/>
          <a:stretch>
            <a:fillRect/>
          </a:stretch>
        </p:blipFill>
        <p:spPr>
          <a:xfrm>
            <a:off x="838200" y="4213793"/>
            <a:ext cx="5928874" cy="2110923"/>
          </a:xfrm>
          <a:prstGeom prst="rect">
            <a:avLst/>
          </a:prstGeom>
        </p:spPr>
      </p:pic>
    </p:spTree>
    <p:extLst>
      <p:ext uri="{BB962C8B-B14F-4D97-AF65-F5344CB8AC3E}">
        <p14:creationId xmlns:p14="http://schemas.microsoft.com/office/powerpoint/2010/main" val="2280281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C034-AA62-C07E-84A0-125772551F7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C0D887-D446-C6D0-E064-F2C6F34D198C}"/>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61906661-46C5-74BC-AC9D-B3BB0AE1AAF0}"/>
              </a:ext>
            </a:extLst>
          </p:cNvPr>
          <p:cNvPicPr>
            <a:picLocks noChangeAspect="1"/>
          </p:cNvPicPr>
          <p:nvPr/>
        </p:nvPicPr>
        <p:blipFill>
          <a:blip r:embed="rId2"/>
          <a:stretch>
            <a:fillRect/>
          </a:stretch>
        </p:blipFill>
        <p:spPr>
          <a:xfrm>
            <a:off x="1685022" y="-108174"/>
            <a:ext cx="8129538" cy="6766261"/>
          </a:xfrm>
          <a:prstGeom prst="rect">
            <a:avLst/>
          </a:prstGeom>
        </p:spPr>
      </p:pic>
    </p:spTree>
    <p:extLst>
      <p:ext uri="{BB962C8B-B14F-4D97-AF65-F5344CB8AC3E}">
        <p14:creationId xmlns:p14="http://schemas.microsoft.com/office/powerpoint/2010/main" val="1097161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7AD83-F279-02D7-5453-33F2EDEB736E}"/>
              </a:ext>
            </a:extLst>
          </p:cNvPr>
          <p:cNvSpPr>
            <a:spLocks noGrp="1"/>
          </p:cNvSpPr>
          <p:nvPr>
            <p:ph type="title"/>
          </p:nvPr>
        </p:nvSpPr>
        <p:spPr/>
        <p:txBody>
          <a:bodyPr/>
          <a:lstStyle/>
          <a:p>
            <a:r>
              <a:rPr lang="en-US" dirty="0"/>
              <a:t>Identification for control (I4C) settling time</a:t>
            </a:r>
            <a:endParaRPr lang="en-NL" dirty="0"/>
          </a:p>
        </p:txBody>
      </p:sp>
      <p:sp>
        <p:nvSpPr>
          <p:cNvPr id="3" name="Content Placeholder 2">
            <a:extLst>
              <a:ext uri="{FF2B5EF4-FFF2-40B4-BE49-F238E27FC236}">
                <a16:creationId xmlns:a16="http://schemas.microsoft.com/office/drawing/2014/main" id="{50FE1E27-919D-5C02-8C44-5D659EED0D6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605520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D478D-BBF2-262D-2307-7002F4808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27961-8EEA-13F3-133A-99FFBAC28CAE}"/>
              </a:ext>
            </a:extLst>
          </p:cNvPr>
          <p:cNvSpPr>
            <a:spLocks noGrp="1"/>
          </p:cNvSpPr>
          <p:nvPr>
            <p:ph type="title"/>
          </p:nvPr>
        </p:nvSpPr>
        <p:spPr/>
        <p:txBody>
          <a:bodyPr/>
          <a:lstStyle/>
          <a:p>
            <a:r>
              <a:rPr lang="en-US" dirty="0"/>
              <a:t>Dual-gantry limitations / setup / limited to hardware</a:t>
            </a:r>
          </a:p>
        </p:txBody>
      </p:sp>
      <p:sp>
        <p:nvSpPr>
          <p:cNvPr id="3" name="Content Placeholder 2">
            <a:extLst>
              <a:ext uri="{FF2B5EF4-FFF2-40B4-BE49-F238E27FC236}">
                <a16:creationId xmlns:a16="http://schemas.microsoft.com/office/drawing/2014/main" id="{50DC861E-8EB0-25AF-ECEC-AEB533686807}"/>
              </a:ext>
            </a:extLst>
          </p:cNvPr>
          <p:cNvSpPr>
            <a:spLocks noGrp="1"/>
          </p:cNvSpPr>
          <p:nvPr>
            <p:ph idx="1"/>
          </p:nvPr>
        </p:nvSpPr>
        <p:spPr/>
        <p:txBody>
          <a:bodyPr/>
          <a:lstStyle/>
          <a:p>
            <a:r>
              <a:rPr lang="en-US" dirty="0"/>
              <a:t>You should have a Gantt-chart or some other planning with what should be the next steps in the research.</a:t>
            </a:r>
          </a:p>
          <a:p>
            <a:r>
              <a:rPr lang="en-US" dirty="0"/>
              <a:t>Questions can also be put here</a:t>
            </a:r>
            <a:endParaRPr lang="en-NL" dirty="0"/>
          </a:p>
        </p:txBody>
      </p:sp>
      <p:sp>
        <p:nvSpPr>
          <p:cNvPr id="4" name="Rectangle 3">
            <a:extLst>
              <a:ext uri="{FF2B5EF4-FFF2-40B4-BE49-F238E27FC236}">
                <a16:creationId xmlns:a16="http://schemas.microsoft.com/office/drawing/2014/main" id="{AAF60AAA-CF54-66D3-3C00-B5930825DEC0}"/>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showing the result achieved like a plot or some theory.</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1380003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CBB4-4332-CC27-31DC-1118749DC9EE}"/>
              </a:ext>
            </a:extLst>
          </p:cNvPr>
          <p:cNvSpPr>
            <a:spLocks noGrp="1"/>
          </p:cNvSpPr>
          <p:nvPr>
            <p:ph type="title"/>
          </p:nvPr>
        </p:nvSpPr>
        <p:spPr/>
        <p:txBody>
          <a:bodyPr/>
          <a:lstStyle/>
          <a:p>
            <a:r>
              <a:rPr lang="en-US" dirty="0"/>
              <a:t>Action point 1</a:t>
            </a:r>
            <a:endParaRPr lang="en-NL" dirty="0"/>
          </a:p>
        </p:txBody>
      </p:sp>
      <p:sp>
        <p:nvSpPr>
          <p:cNvPr id="3" name="Content Placeholder 2">
            <a:extLst>
              <a:ext uri="{FF2B5EF4-FFF2-40B4-BE49-F238E27FC236}">
                <a16:creationId xmlns:a16="http://schemas.microsoft.com/office/drawing/2014/main" id="{EF5F3971-08E2-AD39-C334-D1FA58F77EB2}"/>
              </a:ext>
            </a:extLst>
          </p:cNvPr>
          <p:cNvSpPr>
            <a:spLocks noGrp="1"/>
          </p:cNvSpPr>
          <p:nvPr>
            <p:ph idx="1"/>
          </p:nvPr>
        </p:nvSpPr>
        <p:spPr/>
        <p:txBody>
          <a:bodyPr/>
          <a:lstStyle/>
          <a:p>
            <a:r>
              <a:rPr lang="en-US" dirty="0"/>
              <a:t>You should have a Gantt-chart or some other planning with what should be the next steps in the research.</a:t>
            </a:r>
          </a:p>
          <a:p>
            <a:r>
              <a:rPr lang="en-US" dirty="0"/>
              <a:t>Questions can also be put here</a:t>
            </a:r>
            <a:endParaRPr lang="en-NL" dirty="0"/>
          </a:p>
        </p:txBody>
      </p:sp>
      <p:sp>
        <p:nvSpPr>
          <p:cNvPr id="4" name="Rectangle 3">
            <a:extLst>
              <a:ext uri="{FF2B5EF4-FFF2-40B4-BE49-F238E27FC236}">
                <a16:creationId xmlns:a16="http://schemas.microsoft.com/office/drawing/2014/main" id="{B119E904-9495-8CB1-E838-D562CF8BB5D9}"/>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showing the result achieved like a plot or some theory.</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2138626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C62EB2-310E-EF56-D574-1CDC94451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FBAE8-E5DF-81F0-6899-40687149776E}"/>
              </a:ext>
            </a:extLst>
          </p:cNvPr>
          <p:cNvSpPr>
            <a:spLocks noGrp="1"/>
          </p:cNvSpPr>
          <p:nvPr>
            <p:ph type="title"/>
          </p:nvPr>
        </p:nvSpPr>
        <p:spPr/>
        <p:txBody>
          <a:bodyPr/>
          <a:lstStyle/>
          <a:p>
            <a:r>
              <a:rPr lang="en-US" dirty="0"/>
              <a:t>Action point 1</a:t>
            </a:r>
            <a:endParaRPr lang="en-NL" dirty="0"/>
          </a:p>
        </p:txBody>
      </p:sp>
      <p:sp>
        <p:nvSpPr>
          <p:cNvPr id="3" name="Content Placeholder 2">
            <a:extLst>
              <a:ext uri="{FF2B5EF4-FFF2-40B4-BE49-F238E27FC236}">
                <a16:creationId xmlns:a16="http://schemas.microsoft.com/office/drawing/2014/main" id="{B7082DE2-456D-B3E0-7C03-46628B5E9284}"/>
              </a:ext>
            </a:extLst>
          </p:cNvPr>
          <p:cNvSpPr>
            <a:spLocks noGrp="1"/>
          </p:cNvSpPr>
          <p:nvPr>
            <p:ph idx="1"/>
          </p:nvPr>
        </p:nvSpPr>
        <p:spPr/>
        <p:txBody>
          <a:bodyPr/>
          <a:lstStyle/>
          <a:p>
            <a:r>
              <a:rPr lang="en-US" dirty="0"/>
              <a:t>Settling time is the main importance for them. Initial motion not relevant</a:t>
            </a:r>
          </a:p>
          <a:p>
            <a:pPr lvl="1"/>
            <a:r>
              <a:rPr lang="en-US" dirty="0"/>
              <a:t>Also </a:t>
            </a:r>
            <a:r>
              <a:rPr lang="en-US" dirty="0" err="1"/>
              <a:t>hysterese</a:t>
            </a:r>
            <a:r>
              <a:rPr lang="en-US" dirty="0"/>
              <a:t> can appear where the previous motion interferes with the initial movement. But that error is not really relevant for them.</a:t>
            </a:r>
          </a:p>
          <a:p>
            <a:r>
              <a:rPr lang="en-US" dirty="0" err="1"/>
              <a:t>Voornamelijk</a:t>
            </a:r>
            <a:r>
              <a:rPr lang="en-US" dirty="0"/>
              <a:t> </a:t>
            </a:r>
            <a:r>
              <a:rPr lang="en-US" dirty="0" err="1"/>
              <a:t>presenteren</a:t>
            </a:r>
            <a:r>
              <a:rPr lang="en-US" dirty="0"/>
              <a:t> hoe de </a:t>
            </a:r>
            <a:r>
              <a:rPr lang="en-US" dirty="0" err="1"/>
              <a:t>gegeven</a:t>
            </a:r>
            <a:r>
              <a:rPr lang="en-US" dirty="0"/>
              <a:t> </a:t>
            </a:r>
            <a:r>
              <a:rPr lang="en-US" dirty="0" err="1"/>
              <a:t>bronnen</a:t>
            </a:r>
            <a:r>
              <a:rPr lang="en-US" dirty="0"/>
              <a:t> toe te </a:t>
            </a:r>
            <a:r>
              <a:rPr lang="en-US" dirty="0" err="1"/>
              <a:t>passen</a:t>
            </a:r>
            <a:r>
              <a:rPr lang="en-US" dirty="0"/>
              <a:t> op mijn problem? De dual gantry?</a:t>
            </a:r>
          </a:p>
          <a:p>
            <a:pPr lvl="1"/>
            <a:r>
              <a:rPr lang="en-US" dirty="0"/>
              <a:t>Of wat </a:t>
            </a:r>
            <a:r>
              <a:rPr lang="en-US" dirty="0" err="1"/>
              <a:t>ik</a:t>
            </a:r>
            <a:r>
              <a:rPr lang="en-US" dirty="0"/>
              <a:t> </a:t>
            </a:r>
            <a:r>
              <a:rPr lang="en-US" dirty="0" err="1"/>
              <a:t>hier</a:t>
            </a:r>
            <a:r>
              <a:rPr lang="en-US" dirty="0"/>
              <a:t> </a:t>
            </a:r>
            <a:r>
              <a:rPr lang="en-US" dirty="0" err="1"/>
              <a:t>uit</a:t>
            </a:r>
            <a:r>
              <a:rPr lang="en-US" dirty="0"/>
              <a:t> </a:t>
            </a:r>
            <a:r>
              <a:rPr lang="en-US" dirty="0" err="1"/>
              <a:t>opgemaakt</a:t>
            </a:r>
            <a:r>
              <a:rPr lang="en-US" dirty="0"/>
              <a:t> </a:t>
            </a:r>
            <a:r>
              <a:rPr lang="en-US" dirty="0" err="1"/>
              <a:t>heb</a:t>
            </a:r>
            <a:r>
              <a:rPr lang="en-US" dirty="0"/>
              <a:t>?</a:t>
            </a:r>
          </a:p>
          <a:p>
            <a:r>
              <a:rPr lang="en-US" dirty="0"/>
              <a:t>En dan </a:t>
            </a:r>
            <a:r>
              <a:rPr lang="en-US" dirty="0" err="1"/>
              <a:t>nieuwe</a:t>
            </a:r>
            <a:r>
              <a:rPr lang="en-US" dirty="0"/>
              <a:t> </a:t>
            </a:r>
            <a:r>
              <a:rPr lang="en-US" dirty="0" err="1"/>
              <a:t>bronnen</a:t>
            </a:r>
            <a:r>
              <a:rPr lang="en-US" dirty="0"/>
              <a:t>? En hoe </a:t>
            </a:r>
            <a:r>
              <a:rPr lang="en-US" dirty="0" err="1"/>
              <a:t>toepasbaar</a:t>
            </a:r>
            <a:r>
              <a:rPr lang="en-US" dirty="0"/>
              <a:t>?</a:t>
            </a:r>
            <a:endParaRPr lang="en-NL" dirty="0"/>
          </a:p>
        </p:txBody>
      </p:sp>
    </p:spTree>
    <p:extLst>
      <p:ext uri="{BB962C8B-B14F-4D97-AF65-F5344CB8AC3E}">
        <p14:creationId xmlns:p14="http://schemas.microsoft.com/office/powerpoint/2010/main" val="3256194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5DA82-033F-A5A9-8242-2D5896D94857}"/>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07C68050-ABAC-21A7-30BB-2C997CD155E6}"/>
              </a:ext>
            </a:extLst>
          </p:cNvPr>
          <p:cNvSpPr>
            <a:spLocks noGrp="1"/>
          </p:cNvSpPr>
          <p:nvPr>
            <p:ph idx="1"/>
          </p:nvPr>
        </p:nvSpPr>
        <p:spPr/>
        <p:txBody>
          <a:bodyPr/>
          <a:lstStyle/>
          <a:p>
            <a:r>
              <a:rPr lang="en-US" dirty="0"/>
              <a:t>If a question needs to be answered. Make clear here what the problem/question is that needs to be answered. Questions can always be asked outside the meeting, but we may say prepare to explain what you really mean.</a:t>
            </a:r>
            <a:endParaRPr lang="en-NL" dirty="0"/>
          </a:p>
        </p:txBody>
      </p:sp>
      <p:sp>
        <p:nvSpPr>
          <p:cNvPr id="4" name="Rectangle 3">
            <a:extLst>
              <a:ext uri="{FF2B5EF4-FFF2-40B4-BE49-F238E27FC236}">
                <a16:creationId xmlns:a16="http://schemas.microsoft.com/office/drawing/2014/main" id="{C22B2196-272F-FC1F-4220-C87739CBF73F}"/>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explaining the concept</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2175299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38AA7-BCEE-8555-7244-9EF32F668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E0F83-5414-99C9-E8EE-89A478CF8894}"/>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8C96BAF6-B3A8-CF9A-3600-B4610649C80A}"/>
              </a:ext>
            </a:extLst>
          </p:cNvPr>
          <p:cNvSpPr>
            <a:spLocks noGrp="1"/>
          </p:cNvSpPr>
          <p:nvPr>
            <p:ph idx="1"/>
          </p:nvPr>
        </p:nvSpPr>
        <p:spPr/>
        <p:txBody>
          <a:bodyPr>
            <a:normAutofit fontScale="62500" lnSpcReduction="20000"/>
          </a:bodyPr>
          <a:lstStyle/>
          <a:p>
            <a:r>
              <a:rPr lang="en-US" dirty="0"/>
              <a:t>What to do about the hidden modes for the </a:t>
            </a:r>
            <a:r>
              <a:rPr lang="en-US" dirty="0" err="1"/>
              <a:t>nn</a:t>
            </a:r>
            <a:r>
              <a:rPr lang="en-US" dirty="0"/>
              <a:t>?/unseen flexible modes, can you anticipate this?</a:t>
            </a:r>
          </a:p>
          <a:p>
            <a:pPr lvl="1"/>
            <a:r>
              <a:rPr lang="en-US" dirty="0"/>
              <a:t>(</a:t>
            </a:r>
            <a:r>
              <a:rPr lang="en-US" b="1" dirty="0"/>
              <a:t>The Solution (Dynamic Augmentation):</a:t>
            </a:r>
            <a:r>
              <a:rPr lang="en-US" dirty="0"/>
              <a:t> You must use a </a:t>
            </a:r>
            <a:r>
              <a:rPr lang="en-US" b="1" dirty="0"/>
              <a:t>Dynamic Augmentation</a:t>
            </a:r>
            <a:r>
              <a:rPr lang="en-US" dirty="0"/>
              <a:t> structure (specifically an </a:t>
            </a:r>
            <a:r>
              <a:rPr lang="en-US" b="1" dirty="0"/>
              <a:t>LFR with augmented states</a:t>
            </a:r>
            <a:r>
              <a:rPr lang="en-US" dirty="0"/>
              <a:t>)).</a:t>
            </a:r>
          </a:p>
          <a:p>
            <a:pPr lvl="2"/>
            <a:r>
              <a:rPr lang="en-US" dirty="0"/>
              <a:t>So model keeps improving?</a:t>
            </a:r>
          </a:p>
          <a:p>
            <a:r>
              <a:rPr lang="en-US" dirty="0"/>
              <a:t>Do we prioritize certain motions? Like anticipating the “clicking in to place” during hybrid bonding</a:t>
            </a:r>
          </a:p>
          <a:p>
            <a:pPr lvl="1"/>
            <a:r>
              <a:rPr lang="en-US" b="1" dirty="0"/>
              <a:t>Weighting the Loss Function; </a:t>
            </a:r>
            <a:r>
              <a:rPr lang="en-US" dirty="0"/>
              <a:t>should weight the data samples around the "touchdown" event higher in your training loss function. This forces the NN to focus on minimizing error during that specific impact event, rather than averaging error over the long, easy travel phase.</a:t>
            </a:r>
          </a:p>
          <a:p>
            <a:pPr lvl="1"/>
            <a:r>
              <a:rPr lang="en-US" b="1" dirty="0"/>
              <a:t>Input Design:</a:t>
            </a:r>
            <a:r>
              <a:rPr lang="en-US" dirty="0"/>
              <a:t> Your training data must contain many examples of this specific "M2 (Camera to Target)" trajectory mentioned in the datasheet. If you only train on random noise, the model will not learn the specific impact dynamics of the bonding event</a:t>
            </a:r>
          </a:p>
          <a:p>
            <a:r>
              <a:rPr lang="en-US" dirty="0"/>
              <a:t>How do you model the First Principal model in combination with the augmented model?</a:t>
            </a:r>
          </a:p>
          <a:p>
            <a:pPr lvl="1"/>
            <a:r>
              <a:rPr lang="en-US" dirty="0"/>
              <a:t>You collect data based on the FP model; how to account for mismatch with input and actual output for when modeling the augmented model? </a:t>
            </a:r>
          </a:p>
          <a:p>
            <a:pPr lvl="2"/>
            <a:r>
              <a:rPr lang="en-US" b="1" dirty="0"/>
              <a:t>Linear Fractional Representation (LFR); The Structure:</a:t>
            </a:r>
            <a:r>
              <a:rPr lang="en-US" dirty="0"/>
              <a:t> Instead of just adding outputs (</a:t>
            </a:r>
            <a:r>
              <a:rPr lang="en-US" i="1" dirty="0"/>
              <a:t>y</a:t>
            </a:r>
            <a:r>
              <a:rPr lang="en-US" dirty="0"/>
              <a:t>=</a:t>
            </a:r>
            <a:r>
              <a:rPr lang="en-US" i="1" dirty="0" err="1"/>
              <a:t>yphys</a:t>
            </a:r>
            <a:r>
              <a:rPr lang="en-US" dirty="0"/>
              <a:t>​+</a:t>
            </a:r>
            <a:r>
              <a:rPr lang="en-US" i="1" dirty="0" err="1"/>
              <a:t>yNN</a:t>
            </a:r>
            <a:r>
              <a:rPr lang="en-US" dirty="0"/>
              <a:t>​), you wrap the physics model and the NN into a single feedback loop</a:t>
            </a:r>
          </a:p>
          <a:p>
            <a:pPr lvl="3"/>
            <a:r>
              <a:rPr lang="en-US" b="1" dirty="0"/>
              <a:t>Block 1 (Physics):</a:t>
            </a:r>
            <a:r>
              <a:rPr lang="en-US" dirty="0"/>
              <a:t> You implement your rigid-body equations (</a:t>
            </a:r>
            <a:r>
              <a:rPr lang="en-US" i="1" dirty="0"/>
              <a:t>M</a:t>
            </a:r>
            <a:r>
              <a:rPr lang="en-US" dirty="0"/>
              <a:t>,</a:t>
            </a:r>
            <a:r>
              <a:rPr lang="en-US" i="1" dirty="0"/>
              <a:t>C</a:t>
            </a:r>
            <a:r>
              <a:rPr lang="en-US" dirty="0"/>
              <a:t>,</a:t>
            </a:r>
            <a:r>
              <a:rPr lang="en-US" i="1" dirty="0"/>
              <a:t>K</a:t>
            </a:r>
            <a:r>
              <a:rPr lang="en-US" dirty="0"/>
              <a:t> matrices) as the baseline block.</a:t>
            </a:r>
          </a:p>
          <a:p>
            <a:pPr lvl="3"/>
            <a:r>
              <a:rPr lang="en-US" b="1" dirty="0"/>
              <a:t>Block 2 (Augmentation):</a:t>
            </a:r>
            <a:r>
              <a:rPr lang="en-US" dirty="0"/>
              <a:t> You place the Neural Network in the feedback path.</a:t>
            </a:r>
          </a:p>
          <a:p>
            <a:pPr lvl="3"/>
            <a:r>
              <a:rPr lang="en-US" b="1" dirty="0"/>
              <a:t>Interconnection (</a:t>
            </a:r>
            <a:r>
              <a:rPr lang="en-US" i="1" dirty="0"/>
              <a:t>S</a:t>
            </a:r>
            <a:r>
              <a:rPr lang="en-US" b="1" dirty="0"/>
              <a:t>):</a:t>
            </a:r>
            <a:r>
              <a:rPr lang="en-US" dirty="0"/>
              <a:t> You define a matrix </a:t>
            </a:r>
            <a:r>
              <a:rPr lang="en-US" i="1" dirty="0"/>
              <a:t>S</a:t>
            </a:r>
            <a:r>
              <a:rPr lang="en-US" dirty="0"/>
              <a:t> that routes specific signals (like position error or velocity) from the Physics block into the NN, and routes the NN's output (force corrections) back into the Physics block</a:t>
            </a:r>
          </a:p>
        </p:txBody>
      </p:sp>
    </p:spTree>
    <p:extLst>
      <p:ext uri="{BB962C8B-B14F-4D97-AF65-F5344CB8AC3E}">
        <p14:creationId xmlns:p14="http://schemas.microsoft.com/office/powerpoint/2010/main" val="4269621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345D4-3442-AA0E-1E92-782F0F72A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E8708-6B34-9273-4A1F-ABED9AA4DEA2}"/>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F0CA3F04-D874-8744-8CB1-8DD112A82F41}"/>
              </a:ext>
            </a:extLst>
          </p:cNvPr>
          <p:cNvSpPr>
            <a:spLocks noGrp="1"/>
          </p:cNvSpPr>
          <p:nvPr>
            <p:ph idx="1"/>
          </p:nvPr>
        </p:nvSpPr>
        <p:spPr/>
        <p:txBody>
          <a:bodyPr>
            <a:normAutofit fontScale="55000" lnSpcReduction="20000"/>
          </a:bodyPr>
          <a:lstStyle/>
          <a:p>
            <a:r>
              <a:rPr lang="en-US" dirty="0"/>
              <a:t>Simulation model Dragan discarded?</a:t>
            </a:r>
          </a:p>
          <a:p>
            <a:pPr lvl="1"/>
            <a:r>
              <a:rPr lang="en-US" dirty="0"/>
              <a:t>Any baseline/template models? Or code from scratch?</a:t>
            </a:r>
          </a:p>
          <a:p>
            <a:pPr lvl="2"/>
            <a:r>
              <a:rPr lang="en-US" b="1" dirty="0" err="1"/>
              <a:t>PyTorch</a:t>
            </a:r>
            <a:r>
              <a:rPr lang="en-US" dirty="0"/>
              <a:t> or </a:t>
            </a:r>
            <a:r>
              <a:rPr lang="en-US" b="1" dirty="0"/>
              <a:t>JAX</a:t>
            </a:r>
            <a:endParaRPr lang="en-US" dirty="0"/>
          </a:p>
          <a:p>
            <a:pPr lvl="1"/>
            <a:r>
              <a:rPr lang="en-US" dirty="0"/>
              <a:t>How important is simulating a physical setup?</a:t>
            </a:r>
          </a:p>
          <a:p>
            <a:pPr lvl="2"/>
            <a:r>
              <a:rPr lang="en-US" dirty="0"/>
              <a:t>Simulation Models are much harder to train than Prediction Models </a:t>
            </a:r>
            <a:r>
              <a:rPr lang="en-US" dirty="0">
                <a:sym typeface="Wingdings" panose="05000000000000000000" pitchFamily="2" charset="2"/>
              </a:rPr>
              <a:t> </a:t>
            </a:r>
            <a:r>
              <a:rPr lang="en-US" b="1" dirty="0"/>
              <a:t>Truncated Loss</a:t>
            </a:r>
            <a:r>
              <a:rPr lang="en-US" dirty="0"/>
              <a:t> method </a:t>
            </a:r>
          </a:p>
          <a:p>
            <a:r>
              <a:rPr lang="en-US" dirty="0"/>
              <a:t>This is the </a:t>
            </a:r>
            <a:r>
              <a:rPr lang="en-US" b="1" dirty="0"/>
              <a:t>Simulation vs. Prediction</a:t>
            </a:r>
            <a:r>
              <a:rPr lang="en-US" dirty="0"/>
              <a:t> problem. If you feed the measured input </a:t>
            </a:r>
            <a:r>
              <a:rPr lang="en-US" i="1" dirty="0"/>
              <a:t>u</a:t>
            </a:r>
            <a:r>
              <a:rPr lang="en-US" dirty="0"/>
              <a:t> into your model, the model's simulated state </a:t>
            </a:r>
            <a:r>
              <a:rPr lang="en-US" i="1" dirty="0"/>
              <a:t>x</a:t>
            </a:r>
            <a:r>
              <a:rPr lang="en-US" dirty="0"/>
              <a:t>^ will drift away from the real state </a:t>
            </a:r>
            <a:r>
              <a:rPr lang="en-US" i="1" dirty="0"/>
              <a:t>x</a:t>
            </a:r>
            <a:r>
              <a:rPr lang="en-US" dirty="0"/>
              <a:t> over time due to errors.</a:t>
            </a:r>
          </a:p>
          <a:p>
            <a:pPr lvl="1"/>
            <a:r>
              <a:rPr lang="en-US" dirty="0"/>
              <a:t>• </a:t>
            </a:r>
            <a:r>
              <a:rPr lang="en-US" b="1" dirty="0"/>
              <a:t>The Solution (Truncated Simulation / SUBNET):</a:t>
            </a:r>
            <a:endParaRPr lang="en-US" dirty="0"/>
          </a:p>
          <a:p>
            <a:pPr lvl="1"/>
            <a:r>
              <a:rPr lang="en-US" dirty="0"/>
              <a:t>    ◦ Do not simulate the whole dataset at once (Single Shooting) as gradients will explode.</a:t>
            </a:r>
          </a:p>
          <a:p>
            <a:pPr lvl="1"/>
            <a:r>
              <a:rPr lang="en-US" dirty="0"/>
              <a:t>    ◦ Do not just predict one step ahead (Prediction Error) as this doesn't learn long-term dynamics</a:t>
            </a:r>
          </a:p>
          <a:p>
            <a:pPr lvl="2"/>
            <a:r>
              <a:rPr lang="en-US" dirty="0"/>
              <a:t>Method: Use Truncated Simulation with an Encoder (Source 1 and 5). Break your data into short bursts (e.g., 100 steps). Use a separate Neural Network (the "Encoder") to look at the past data and guess the optimal starting state for the model for that burst</a:t>
            </a:r>
          </a:p>
          <a:p>
            <a:r>
              <a:rPr lang="en-US" dirty="0"/>
              <a:t>How to extract individual nonlinearities to specific physical aspects? / How to separatee multiple non linearities?</a:t>
            </a:r>
          </a:p>
          <a:p>
            <a:r>
              <a:rPr lang="en-US" dirty="0"/>
              <a:t>How important is fast computation for the model, is this something I should take into account beforehand? Like:</a:t>
            </a:r>
          </a:p>
          <a:p>
            <a:pPr lvl="1"/>
            <a:r>
              <a:rPr lang="en-US" b="1" dirty="0"/>
              <a:t>Pre-compute Matrices:</a:t>
            </a:r>
            <a:r>
              <a:rPr lang="en-US" dirty="0"/>
              <a:t> If you use </a:t>
            </a:r>
            <a:r>
              <a:rPr lang="en-US" b="1" dirty="0"/>
              <a:t>Orthogonal Projection</a:t>
            </a:r>
            <a:r>
              <a:rPr lang="en-US" dirty="0"/>
              <a:t> to constrain your neural network</a:t>
            </a:r>
          </a:p>
          <a:p>
            <a:r>
              <a:rPr lang="en-US" dirty="0"/>
              <a:t>Decoupling and orthogonalization, how to combine? Does decoupling the FP model change anything?</a:t>
            </a:r>
          </a:p>
          <a:p>
            <a:r>
              <a:rPr lang="en-US" dirty="0"/>
              <a:t>The dual gantry system is inherently coupled so even if the FP model is decoupled how do you anticipate this coupling while training the neural network? since you extract data from a coupled system</a:t>
            </a:r>
          </a:p>
          <a:p>
            <a:endParaRPr lang="en-NL" dirty="0"/>
          </a:p>
        </p:txBody>
      </p:sp>
    </p:spTree>
    <p:extLst>
      <p:ext uri="{BB962C8B-B14F-4D97-AF65-F5344CB8AC3E}">
        <p14:creationId xmlns:p14="http://schemas.microsoft.com/office/powerpoint/2010/main" val="4185069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1A222-30E3-7F01-196A-B919D7AC853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4D75212-AC81-12AE-6679-919D59EDC3E5}"/>
              </a:ext>
            </a:extLst>
          </p:cNvPr>
          <p:cNvSpPr>
            <a:spLocks noGrp="1"/>
          </p:cNvSpPr>
          <p:nvPr>
            <p:ph idx="1"/>
          </p:nvPr>
        </p:nvSpPr>
        <p:spPr/>
        <p:txBody>
          <a:bodyPr>
            <a:normAutofit fontScale="92500" lnSpcReduction="20000"/>
          </a:bodyPr>
          <a:lstStyle/>
          <a:p>
            <a:r>
              <a:rPr lang="en-US" dirty="0"/>
              <a:t>Orthogonal Regularization?</a:t>
            </a:r>
          </a:p>
          <a:p>
            <a:pPr lvl="1"/>
            <a:r>
              <a:rPr lang="en-US" dirty="0"/>
              <a:t>B. The "Orthogonal-by-Construction" Approach (Source 3)</a:t>
            </a:r>
          </a:p>
          <a:p>
            <a:pPr lvl="1"/>
            <a:r>
              <a:rPr lang="en-US" dirty="0"/>
              <a:t>This method (proposed for your specific type of project) </a:t>
            </a:r>
            <a:r>
              <a:rPr lang="en-US" b="1" dirty="0"/>
              <a:t>hard-codes</a:t>
            </a:r>
            <a:r>
              <a:rPr lang="en-US" dirty="0"/>
              <a:t> the orthogonality into the model structure, removing the need for the </a:t>
            </a:r>
            <a:r>
              <a:rPr lang="en-US" i="1" dirty="0"/>
              <a:t>β</a:t>
            </a:r>
            <a:r>
              <a:rPr lang="en-US" dirty="0"/>
              <a:t> parameter. </a:t>
            </a:r>
          </a:p>
          <a:p>
            <a:pPr lvl="1"/>
            <a:r>
              <a:rPr lang="en-US" dirty="0"/>
              <a:t>1. </a:t>
            </a:r>
            <a:r>
              <a:rPr lang="en-US" b="1" dirty="0"/>
              <a:t>Jointly estimate</a:t>
            </a:r>
            <a:r>
              <a:rPr lang="en-US" dirty="0"/>
              <a:t> the gantry's mass/stiffness and the NN weights.</a:t>
            </a:r>
          </a:p>
          <a:p>
            <a:pPr lvl="1"/>
            <a:r>
              <a:rPr lang="en-US" dirty="0"/>
              <a:t>2. </a:t>
            </a:r>
            <a:r>
              <a:rPr lang="en-US" b="1" dirty="0"/>
              <a:t>Guarantee</a:t>
            </a:r>
            <a:r>
              <a:rPr lang="en-US" dirty="0"/>
              <a:t> that the found mass/stiffness values remain physically realistic (interpretable).</a:t>
            </a:r>
          </a:p>
          <a:p>
            <a:pPr lvl="1"/>
            <a:r>
              <a:rPr lang="en-US" dirty="0"/>
              <a:t>3. Ensure the NN focuses purely on the </a:t>
            </a:r>
            <a:r>
              <a:rPr lang="en-US" b="1" dirty="0"/>
              <a:t>"residuals"</a:t>
            </a:r>
            <a:r>
              <a:rPr lang="en-US" dirty="0"/>
              <a:t> (friction, flexible modes, cogging) rather than relearning Newton's law</a:t>
            </a:r>
          </a:p>
          <a:p>
            <a:r>
              <a:rPr lang="en-US" dirty="0" err="1"/>
              <a:t>Semiphysical</a:t>
            </a:r>
            <a:r>
              <a:rPr lang="en-US" dirty="0"/>
              <a:t> Modeling (Custom Regressors)</a:t>
            </a:r>
          </a:p>
          <a:p>
            <a:r>
              <a:rPr lang="en-US" dirty="0"/>
              <a:t>Decoupling Multivariate Functions</a:t>
            </a:r>
          </a:p>
          <a:p>
            <a:pPr lvl="1"/>
            <a:r>
              <a:rPr lang="en-US" dirty="0"/>
              <a:t>You can "decouple" the error sources. You can structure your neural network so one branch takes only </a:t>
            </a:r>
            <a:r>
              <a:rPr lang="en-US" b="1" dirty="0"/>
              <a:t>Position (</a:t>
            </a:r>
            <a:r>
              <a:rPr lang="en-US" i="1" dirty="0"/>
              <a:t>Y</a:t>
            </a:r>
            <a:r>
              <a:rPr lang="en-US" b="1" dirty="0"/>
              <a:t>)</a:t>
            </a:r>
            <a:r>
              <a:rPr lang="en-US" dirty="0"/>
              <a:t> (to learn magnetic cogging) and another branch takes only </a:t>
            </a:r>
            <a:r>
              <a:rPr lang="en-US" b="1" dirty="0"/>
              <a:t>Velocity (</a:t>
            </a:r>
            <a:r>
              <a:rPr lang="en-US" i="1" dirty="0"/>
              <a:t>X</a:t>
            </a:r>
            <a:r>
              <a:rPr lang="en-US" dirty="0"/>
              <a:t>˙</a:t>
            </a:r>
            <a:r>
              <a:rPr lang="en-US" b="1" dirty="0"/>
              <a:t>)</a:t>
            </a:r>
            <a:r>
              <a:rPr lang="en-US" dirty="0"/>
              <a:t> (to learn friction).</a:t>
            </a:r>
          </a:p>
          <a:p>
            <a:endParaRPr lang="en-US" dirty="0"/>
          </a:p>
          <a:p>
            <a:endParaRPr lang="en-NL" dirty="0"/>
          </a:p>
        </p:txBody>
      </p:sp>
    </p:spTree>
    <p:extLst>
      <p:ext uri="{BB962C8B-B14F-4D97-AF65-F5344CB8AC3E}">
        <p14:creationId xmlns:p14="http://schemas.microsoft.com/office/powerpoint/2010/main" val="2691118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47DE5-8BFF-2C91-4106-364EEB416520}"/>
              </a:ext>
            </a:extLst>
          </p:cNvPr>
          <p:cNvSpPr>
            <a:spLocks noGrp="1"/>
          </p:cNvSpPr>
          <p:nvPr>
            <p:ph type="title"/>
          </p:nvPr>
        </p:nvSpPr>
        <p:spPr/>
        <p:txBody>
          <a:bodyPr>
            <a:normAutofit fontScale="90000"/>
          </a:bodyPr>
          <a:lstStyle/>
          <a:p>
            <a:r>
              <a:rPr lang="en-US" dirty="0"/>
              <a:t>Question: Best weighting technique? Experiments design, cost function, combination?</a:t>
            </a:r>
            <a:endParaRPr lang="en-NL" dirty="0"/>
          </a:p>
        </p:txBody>
      </p:sp>
      <p:sp>
        <p:nvSpPr>
          <p:cNvPr id="3" name="Content Placeholder 2">
            <a:extLst>
              <a:ext uri="{FF2B5EF4-FFF2-40B4-BE49-F238E27FC236}">
                <a16:creationId xmlns:a16="http://schemas.microsoft.com/office/drawing/2014/main" id="{4F064FF6-05E7-6A0E-314E-44F0D1D4FA57}"/>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06317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8401F-E54D-613D-B456-681D50F64EB0}"/>
              </a:ext>
            </a:extLst>
          </p:cNvPr>
          <p:cNvSpPr>
            <a:spLocks noGrp="1"/>
          </p:cNvSpPr>
          <p:nvPr>
            <p:ph type="title"/>
          </p:nvPr>
        </p:nvSpPr>
        <p:spPr/>
        <p:txBody>
          <a:bodyPr/>
          <a:lstStyle/>
          <a:p>
            <a:r>
              <a:rPr lang="en-US" dirty="0"/>
              <a:t>Design process</a:t>
            </a:r>
            <a:endParaRPr lang="en-NL" dirty="0"/>
          </a:p>
        </p:txBody>
      </p:sp>
      <p:sp>
        <p:nvSpPr>
          <p:cNvPr id="3" name="Content Placeholder 2">
            <a:extLst>
              <a:ext uri="{FF2B5EF4-FFF2-40B4-BE49-F238E27FC236}">
                <a16:creationId xmlns:a16="http://schemas.microsoft.com/office/drawing/2014/main" id="{258C8B5B-BC30-D945-5267-49FB52C93289}"/>
              </a:ext>
            </a:extLst>
          </p:cNvPr>
          <p:cNvSpPr>
            <a:spLocks noGrp="1"/>
          </p:cNvSpPr>
          <p:nvPr>
            <p:ph idx="1"/>
          </p:nvPr>
        </p:nvSpPr>
        <p:spPr/>
        <p:txBody>
          <a:bodyPr/>
          <a:lstStyle/>
          <a:p>
            <a:r>
              <a:rPr lang="en-US" dirty="0"/>
              <a:t>Look at model augmentation methods </a:t>
            </a:r>
            <a:r>
              <a:rPr lang="en-US" dirty="0">
                <a:sym typeface="Wingdings" panose="05000000000000000000" pitchFamily="2" charset="2"/>
              </a:rPr>
              <a:t> what do I want in time domain  what do I need in frequency domain  what do I need to get from system identification</a:t>
            </a:r>
          </a:p>
          <a:p>
            <a:r>
              <a:rPr lang="en-US" dirty="0">
                <a:sym typeface="Wingdings" panose="05000000000000000000" pitchFamily="2" charset="2"/>
              </a:rPr>
              <a:t>How much should I currently look for / keep into mind for online computational time for choosing methods / solutions? Since they want to maximize throughput</a:t>
            </a:r>
          </a:p>
          <a:p>
            <a:r>
              <a:rPr lang="en-US" dirty="0"/>
              <a:t>(Look at mapping multiple nonlinearities, unseen flexible modes)</a:t>
            </a:r>
            <a:endParaRPr lang="en-NL" dirty="0"/>
          </a:p>
          <a:p>
            <a:endParaRPr lang="en-US" dirty="0">
              <a:sym typeface="Wingdings" panose="05000000000000000000" pitchFamily="2" charset="2"/>
            </a:endParaRPr>
          </a:p>
          <a:p>
            <a:pPr marL="0" indent="0">
              <a:buNone/>
            </a:pPr>
            <a:endParaRPr lang="en-NL" dirty="0"/>
          </a:p>
        </p:txBody>
      </p:sp>
      <p:pic>
        <p:nvPicPr>
          <p:cNvPr id="5" name="Picture 4">
            <a:extLst>
              <a:ext uri="{FF2B5EF4-FFF2-40B4-BE49-F238E27FC236}">
                <a16:creationId xmlns:a16="http://schemas.microsoft.com/office/drawing/2014/main" id="{41D15B55-4EDD-C018-178B-B00052C25440}"/>
              </a:ext>
            </a:extLst>
          </p:cNvPr>
          <p:cNvPicPr>
            <a:picLocks noChangeAspect="1"/>
          </p:cNvPicPr>
          <p:nvPr/>
        </p:nvPicPr>
        <p:blipFill>
          <a:blip r:embed="rId2"/>
          <a:stretch>
            <a:fillRect/>
          </a:stretch>
        </p:blipFill>
        <p:spPr>
          <a:xfrm>
            <a:off x="2302222" y="4866641"/>
            <a:ext cx="9977679" cy="1709420"/>
          </a:xfrm>
          <a:prstGeom prst="rect">
            <a:avLst/>
          </a:prstGeom>
        </p:spPr>
      </p:pic>
    </p:spTree>
    <p:extLst>
      <p:ext uri="{BB962C8B-B14F-4D97-AF65-F5344CB8AC3E}">
        <p14:creationId xmlns:p14="http://schemas.microsoft.com/office/powerpoint/2010/main" val="2918633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What is next on the planning and how is that going to be solved</a:t>
            </a:r>
          </a:p>
          <a:p>
            <a:r>
              <a:rPr lang="en-US" dirty="0"/>
              <a:t>This is also where new action points are formulated. What are you going to do next week.</a:t>
            </a:r>
          </a:p>
        </p:txBody>
      </p:sp>
    </p:spTree>
    <p:extLst>
      <p:ext uri="{BB962C8B-B14F-4D97-AF65-F5344CB8AC3E}">
        <p14:creationId xmlns:p14="http://schemas.microsoft.com/office/powerpoint/2010/main" val="41339758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E796-708B-909C-F9F8-D1C4E09DB0F7}"/>
              </a:ext>
            </a:extLst>
          </p:cNvPr>
          <p:cNvSpPr>
            <a:spLocks noGrp="1"/>
          </p:cNvSpPr>
          <p:nvPr>
            <p:ph type="title"/>
          </p:nvPr>
        </p:nvSpPr>
        <p:spPr/>
        <p:txBody>
          <a:bodyPr/>
          <a:lstStyle/>
          <a:p>
            <a:r>
              <a:rPr lang="en-US" dirty="0"/>
              <a:t>Possible Gantt-chart or Planning</a:t>
            </a:r>
            <a:endParaRPr lang="en-NL" dirty="0"/>
          </a:p>
        </p:txBody>
      </p:sp>
      <p:sp>
        <p:nvSpPr>
          <p:cNvPr id="3" name="Content Placeholder 2">
            <a:extLst>
              <a:ext uri="{FF2B5EF4-FFF2-40B4-BE49-F238E27FC236}">
                <a16:creationId xmlns:a16="http://schemas.microsoft.com/office/drawing/2014/main" id="{322F13D6-AF08-9392-A25C-ED43A705A9E8}"/>
              </a:ext>
            </a:extLst>
          </p:cNvPr>
          <p:cNvSpPr>
            <a:spLocks noGrp="1"/>
          </p:cNvSpPr>
          <p:nvPr>
            <p:ph idx="1"/>
          </p:nvPr>
        </p:nvSpPr>
        <p:spPr/>
        <p:txBody>
          <a:bodyPr/>
          <a:lstStyle/>
          <a:p>
            <a:r>
              <a:rPr lang="en-US" dirty="0"/>
              <a:t>To keep an overview of what the progress overall is.</a:t>
            </a:r>
            <a:endParaRPr lang="en-NL" dirty="0"/>
          </a:p>
        </p:txBody>
      </p:sp>
    </p:spTree>
    <p:extLst>
      <p:ext uri="{BB962C8B-B14F-4D97-AF65-F5344CB8AC3E}">
        <p14:creationId xmlns:p14="http://schemas.microsoft.com/office/powerpoint/2010/main" val="35038973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E6E7-37CD-918C-617C-42FB330ED79F}"/>
              </a:ext>
            </a:extLst>
          </p:cNvPr>
          <p:cNvSpPr>
            <a:spLocks noGrp="1"/>
          </p:cNvSpPr>
          <p:nvPr>
            <p:ph type="title"/>
          </p:nvPr>
        </p:nvSpPr>
        <p:spPr/>
        <p:txBody>
          <a:bodyPr/>
          <a:lstStyle/>
          <a:p>
            <a:r>
              <a:rPr lang="en-US" dirty="0"/>
              <a:t>How to combine EA with orthogonalization?</a:t>
            </a:r>
            <a:endParaRPr lang="en-NL" dirty="0"/>
          </a:p>
        </p:txBody>
      </p:sp>
      <p:sp>
        <p:nvSpPr>
          <p:cNvPr id="3" name="Content Placeholder 2">
            <a:extLst>
              <a:ext uri="{FF2B5EF4-FFF2-40B4-BE49-F238E27FC236}">
                <a16:creationId xmlns:a16="http://schemas.microsoft.com/office/drawing/2014/main" id="{E3A75092-153D-3178-0839-EA876D516B6D}"/>
              </a:ext>
            </a:extLst>
          </p:cNvPr>
          <p:cNvSpPr>
            <a:spLocks noGrp="1"/>
          </p:cNvSpPr>
          <p:nvPr>
            <p:ph idx="1"/>
          </p:nvPr>
        </p:nvSpPr>
        <p:spPr/>
        <p:txBody>
          <a:bodyPr/>
          <a:lstStyle/>
          <a:p>
            <a:r>
              <a:rPr lang="en-US" dirty="0"/>
              <a:t>Or focus on identifying or performance?</a:t>
            </a:r>
            <a:endParaRPr lang="en-NL" dirty="0"/>
          </a:p>
        </p:txBody>
      </p:sp>
      <p:pic>
        <p:nvPicPr>
          <p:cNvPr id="5" name="Picture 4">
            <a:extLst>
              <a:ext uri="{FF2B5EF4-FFF2-40B4-BE49-F238E27FC236}">
                <a16:creationId xmlns:a16="http://schemas.microsoft.com/office/drawing/2014/main" id="{E3FE3DD1-7CB3-56DA-1C45-E92400D7E662}"/>
              </a:ext>
            </a:extLst>
          </p:cNvPr>
          <p:cNvPicPr>
            <a:picLocks noChangeAspect="1"/>
          </p:cNvPicPr>
          <p:nvPr/>
        </p:nvPicPr>
        <p:blipFill>
          <a:blip r:embed="rId2"/>
          <a:stretch>
            <a:fillRect/>
          </a:stretch>
        </p:blipFill>
        <p:spPr>
          <a:xfrm>
            <a:off x="163865" y="-53975"/>
            <a:ext cx="7039575" cy="3346209"/>
          </a:xfrm>
          <a:prstGeom prst="rect">
            <a:avLst/>
          </a:prstGeom>
        </p:spPr>
      </p:pic>
      <p:pic>
        <p:nvPicPr>
          <p:cNvPr id="7" name="Picture 6">
            <a:extLst>
              <a:ext uri="{FF2B5EF4-FFF2-40B4-BE49-F238E27FC236}">
                <a16:creationId xmlns:a16="http://schemas.microsoft.com/office/drawing/2014/main" id="{253BCF37-0859-661D-3CC7-DE97A7F003EB}"/>
              </a:ext>
            </a:extLst>
          </p:cNvPr>
          <p:cNvPicPr>
            <a:picLocks noChangeAspect="1"/>
          </p:cNvPicPr>
          <p:nvPr/>
        </p:nvPicPr>
        <p:blipFill>
          <a:blip r:embed="rId3"/>
          <a:stretch>
            <a:fillRect/>
          </a:stretch>
        </p:blipFill>
        <p:spPr>
          <a:xfrm>
            <a:off x="-1291288" y="3429000"/>
            <a:ext cx="8494728" cy="5101454"/>
          </a:xfrm>
          <a:prstGeom prst="rect">
            <a:avLst/>
          </a:prstGeom>
        </p:spPr>
      </p:pic>
      <p:pic>
        <p:nvPicPr>
          <p:cNvPr id="9" name="Picture 8">
            <a:extLst>
              <a:ext uri="{FF2B5EF4-FFF2-40B4-BE49-F238E27FC236}">
                <a16:creationId xmlns:a16="http://schemas.microsoft.com/office/drawing/2014/main" id="{2400915B-E220-F2D6-66D8-F8E7056ACFE5}"/>
              </a:ext>
            </a:extLst>
          </p:cNvPr>
          <p:cNvPicPr>
            <a:picLocks noChangeAspect="1"/>
          </p:cNvPicPr>
          <p:nvPr/>
        </p:nvPicPr>
        <p:blipFill>
          <a:blip r:embed="rId4"/>
          <a:stretch>
            <a:fillRect/>
          </a:stretch>
        </p:blipFill>
        <p:spPr>
          <a:xfrm>
            <a:off x="760893" y="4733668"/>
            <a:ext cx="11431107" cy="2032892"/>
          </a:xfrm>
          <a:prstGeom prst="rect">
            <a:avLst/>
          </a:prstGeom>
        </p:spPr>
      </p:pic>
      <p:pic>
        <p:nvPicPr>
          <p:cNvPr id="11" name="Picture 10">
            <a:extLst>
              <a:ext uri="{FF2B5EF4-FFF2-40B4-BE49-F238E27FC236}">
                <a16:creationId xmlns:a16="http://schemas.microsoft.com/office/drawing/2014/main" id="{48E96DEF-D6B2-D1CA-BFEA-FDB92D073E22}"/>
              </a:ext>
            </a:extLst>
          </p:cNvPr>
          <p:cNvPicPr>
            <a:picLocks noChangeAspect="1"/>
          </p:cNvPicPr>
          <p:nvPr/>
        </p:nvPicPr>
        <p:blipFill>
          <a:blip r:embed="rId5"/>
          <a:stretch>
            <a:fillRect/>
          </a:stretch>
        </p:blipFill>
        <p:spPr>
          <a:xfrm>
            <a:off x="4439920" y="773091"/>
            <a:ext cx="10515600" cy="5173223"/>
          </a:xfrm>
          <a:prstGeom prst="rect">
            <a:avLst/>
          </a:prstGeom>
        </p:spPr>
      </p:pic>
    </p:spTree>
    <p:extLst>
      <p:ext uri="{BB962C8B-B14F-4D97-AF65-F5344CB8AC3E}">
        <p14:creationId xmlns:p14="http://schemas.microsoft.com/office/powerpoint/2010/main" val="3941174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997B5-55A5-07AB-52D5-7BF3F74017CA}"/>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E251B03A-FF6C-165F-6F97-F1A7FFEECA5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4849539-88DE-B5DB-77F5-EAD795D894ED}"/>
              </a:ext>
            </a:extLst>
          </p:cNvPr>
          <p:cNvPicPr>
            <a:picLocks noChangeAspect="1"/>
          </p:cNvPicPr>
          <p:nvPr/>
        </p:nvPicPr>
        <p:blipFill>
          <a:blip r:embed="rId2"/>
          <a:stretch>
            <a:fillRect/>
          </a:stretch>
        </p:blipFill>
        <p:spPr>
          <a:xfrm>
            <a:off x="595413" y="956811"/>
            <a:ext cx="5006774" cy="5220152"/>
          </a:xfrm>
          <a:prstGeom prst="rect">
            <a:avLst/>
          </a:prstGeom>
        </p:spPr>
      </p:pic>
      <p:pic>
        <p:nvPicPr>
          <p:cNvPr id="7" name="Picture 6">
            <a:extLst>
              <a:ext uri="{FF2B5EF4-FFF2-40B4-BE49-F238E27FC236}">
                <a16:creationId xmlns:a16="http://schemas.microsoft.com/office/drawing/2014/main" id="{524E2003-C921-B17F-3509-D204E566F4E1}"/>
              </a:ext>
            </a:extLst>
          </p:cNvPr>
          <p:cNvPicPr>
            <a:picLocks noChangeAspect="1"/>
          </p:cNvPicPr>
          <p:nvPr/>
        </p:nvPicPr>
        <p:blipFill>
          <a:blip r:embed="rId3"/>
          <a:stretch>
            <a:fillRect/>
          </a:stretch>
        </p:blipFill>
        <p:spPr>
          <a:xfrm>
            <a:off x="6096000" y="993253"/>
            <a:ext cx="6583635" cy="4993809"/>
          </a:xfrm>
          <a:prstGeom prst="rect">
            <a:avLst/>
          </a:prstGeom>
        </p:spPr>
      </p:pic>
    </p:spTree>
    <p:extLst>
      <p:ext uri="{BB962C8B-B14F-4D97-AF65-F5344CB8AC3E}">
        <p14:creationId xmlns:p14="http://schemas.microsoft.com/office/powerpoint/2010/main" val="2195772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F7628-5681-0DEF-4711-08CD7DA86CC0}"/>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3D685302-C9E2-D865-E1C6-5A563DF41644}"/>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CDFA9D7A-A429-6992-A1E2-826703047B9A}"/>
              </a:ext>
            </a:extLst>
          </p:cNvPr>
          <p:cNvPicPr>
            <a:picLocks noChangeAspect="1"/>
          </p:cNvPicPr>
          <p:nvPr/>
        </p:nvPicPr>
        <p:blipFill>
          <a:blip r:embed="rId2"/>
          <a:stretch>
            <a:fillRect/>
          </a:stretch>
        </p:blipFill>
        <p:spPr>
          <a:xfrm>
            <a:off x="8329169" y="2006599"/>
            <a:ext cx="9670519" cy="2593881"/>
          </a:xfrm>
          <a:prstGeom prst="rect">
            <a:avLst/>
          </a:prstGeom>
        </p:spPr>
      </p:pic>
      <p:pic>
        <p:nvPicPr>
          <p:cNvPr id="7" name="Picture 6">
            <a:extLst>
              <a:ext uri="{FF2B5EF4-FFF2-40B4-BE49-F238E27FC236}">
                <a16:creationId xmlns:a16="http://schemas.microsoft.com/office/drawing/2014/main" id="{EE985610-2250-AF90-3F40-CFF227C71BA0}"/>
              </a:ext>
            </a:extLst>
          </p:cNvPr>
          <p:cNvPicPr>
            <a:picLocks noChangeAspect="1"/>
          </p:cNvPicPr>
          <p:nvPr/>
        </p:nvPicPr>
        <p:blipFill>
          <a:blip r:embed="rId3"/>
          <a:stretch>
            <a:fillRect/>
          </a:stretch>
        </p:blipFill>
        <p:spPr>
          <a:xfrm>
            <a:off x="439181" y="681036"/>
            <a:ext cx="9274531" cy="1862614"/>
          </a:xfrm>
          <a:prstGeom prst="rect">
            <a:avLst/>
          </a:prstGeom>
        </p:spPr>
      </p:pic>
      <p:pic>
        <p:nvPicPr>
          <p:cNvPr id="11" name="Picture 10">
            <a:extLst>
              <a:ext uri="{FF2B5EF4-FFF2-40B4-BE49-F238E27FC236}">
                <a16:creationId xmlns:a16="http://schemas.microsoft.com/office/drawing/2014/main" id="{6FD2A4CE-39B3-9B12-D794-E4B13448145D}"/>
              </a:ext>
            </a:extLst>
          </p:cNvPr>
          <p:cNvPicPr>
            <a:picLocks noChangeAspect="1"/>
          </p:cNvPicPr>
          <p:nvPr/>
        </p:nvPicPr>
        <p:blipFill>
          <a:blip r:embed="rId4"/>
          <a:stretch>
            <a:fillRect/>
          </a:stretch>
        </p:blipFill>
        <p:spPr>
          <a:xfrm>
            <a:off x="603683" y="3093575"/>
            <a:ext cx="8711843" cy="3389822"/>
          </a:xfrm>
          <a:prstGeom prst="rect">
            <a:avLst/>
          </a:prstGeom>
        </p:spPr>
      </p:pic>
    </p:spTree>
    <p:extLst>
      <p:ext uri="{BB962C8B-B14F-4D97-AF65-F5344CB8AC3E}">
        <p14:creationId xmlns:p14="http://schemas.microsoft.com/office/powerpoint/2010/main" val="2591472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8EB1A-94A5-E013-95B6-0F3695601BD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3931ECD-4293-6E38-150A-D16FF517E90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0DB8B83-F055-2520-CF47-AEF6BF6B4C84}"/>
              </a:ext>
            </a:extLst>
          </p:cNvPr>
          <p:cNvPicPr>
            <a:picLocks noChangeAspect="1"/>
          </p:cNvPicPr>
          <p:nvPr/>
        </p:nvPicPr>
        <p:blipFill>
          <a:blip r:embed="rId2"/>
          <a:stretch>
            <a:fillRect/>
          </a:stretch>
        </p:blipFill>
        <p:spPr>
          <a:xfrm>
            <a:off x="1409441" y="388138"/>
            <a:ext cx="9605441" cy="6104737"/>
          </a:xfrm>
          <a:prstGeom prst="rect">
            <a:avLst/>
          </a:prstGeom>
        </p:spPr>
      </p:pic>
    </p:spTree>
    <p:extLst>
      <p:ext uri="{BB962C8B-B14F-4D97-AF65-F5344CB8AC3E}">
        <p14:creationId xmlns:p14="http://schemas.microsoft.com/office/powerpoint/2010/main" val="4075904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5997</TotalTime>
  <Words>3086</Words>
  <Application>Microsoft Office PowerPoint</Application>
  <PresentationFormat>Widescreen</PresentationFormat>
  <Paragraphs>226</Paragraphs>
  <Slides>37</Slides>
  <Notes>8</Notes>
  <HiddenSlides>10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Google Sans Text</vt:lpstr>
      <vt:lpstr>Wingdings</vt:lpstr>
      <vt:lpstr>Office Theme</vt:lpstr>
      <vt:lpstr>Meeting Week 2 – Hybrid modeling Dual-Gantry</vt:lpstr>
      <vt:lpstr>Last week summary</vt:lpstr>
      <vt:lpstr>ASMPT</vt:lpstr>
      <vt:lpstr>Settling error bound for Dual-Gantry</vt:lpstr>
      <vt:lpstr>Settling error bound for Dual-Gantry</vt:lpstr>
      <vt:lpstr>Settling error bound for Dual-Gantry</vt:lpstr>
      <vt:lpstr>Region of interest &amp; Targeting the peaks</vt:lpstr>
      <vt:lpstr>Region of interest &amp; Targeting the peaks</vt:lpstr>
      <vt:lpstr>PowerPoint Presentation</vt:lpstr>
      <vt:lpstr>PowerPoint Presentation</vt:lpstr>
      <vt:lpstr>Extension and Augmentation (EA)</vt:lpstr>
      <vt:lpstr>Orthogonality</vt:lpstr>
      <vt:lpstr>Orthogonal Regularization (State-Space)</vt:lpstr>
      <vt:lpstr>LPV-LFR</vt:lpstr>
      <vt:lpstr>Combining EA with Orthogonality</vt:lpstr>
      <vt:lpstr>Nonlinear System Identification</vt:lpstr>
      <vt:lpstr>Regularized Prediction Error Minimization (PEM)</vt:lpstr>
      <vt:lpstr>PowerPoint Presentation</vt:lpstr>
      <vt:lpstr>Nonlinear System Identification</vt:lpstr>
      <vt:lpstr>PowerPoint Presentation</vt:lpstr>
      <vt:lpstr>PowerPoint Presentation</vt:lpstr>
      <vt:lpstr>Identification for control (I4C) settling time</vt:lpstr>
      <vt:lpstr>Dual-gantry limitations / setup / limited to hardware</vt:lpstr>
      <vt:lpstr>Action point 1</vt:lpstr>
      <vt:lpstr>Action point 1</vt:lpstr>
      <vt:lpstr>Question 1</vt:lpstr>
      <vt:lpstr>Question 1</vt:lpstr>
      <vt:lpstr>Question 1</vt:lpstr>
      <vt:lpstr>PowerPoint Presentation</vt:lpstr>
      <vt:lpstr>Question: Best weighting technique? Experiments design, cost function, combination?</vt:lpstr>
      <vt:lpstr>Design process</vt:lpstr>
      <vt:lpstr>Outline next week</vt:lpstr>
      <vt:lpstr>Possible Gantt-chart or Planning</vt:lpstr>
      <vt:lpstr>How to combine EA with orthogonalization?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282</cp:revision>
  <dcterms:created xsi:type="dcterms:W3CDTF">2026-02-02T15:14:22Z</dcterms:created>
  <dcterms:modified xsi:type="dcterms:W3CDTF">2026-02-13T09:10:58Z</dcterms:modified>
</cp:coreProperties>
</file>