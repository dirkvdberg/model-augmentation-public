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9144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LPV-LFR Model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07D00"/>
                </a:solidFill>
              </a:rPr>
              <a:t>Progress Update for ASMPT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CCDD"/>
                </a:solidFill>
              </a:rPr>
              <a:t>Dual-Gantry First-Principles Model → Data-Augmented LPV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Graduation Project — TU Eindhoven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23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Supervisors: A. Mesbah  |  Industry partner: ASMPT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1.   Project context &amp; goal</a:t>
            </a:r>
          </a:p>
          <a:p>
            <a:pPr>
              <a:spcBef>
                <a:spcPts val="400"/>
              </a:spcBef>
            </a:pPr>
            <a:r>
              <a:t>• 2.   Step 1 — Frozen LTI baseline  ✓</a:t>
            </a:r>
          </a:p>
          <a:p>
            <a:pPr>
              <a:spcBef>
                <a:spcPts val="400"/>
              </a:spcBef>
            </a:pPr>
            <a:r>
              <a:t>• 3.   Step 2 — LPV extension &amp; ZOH validation  ✓</a:t>
            </a:r>
          </a:p>
          <a:p>
            <a:pPr>
              <a:spcBef>
                <a:spcPts val="400"/>
              </a:spcBef>
            </a:pPr>
            <a:r>
              <a:t>• 4.   Step 3 — CT + RK4 approach decision</a:t>
            </a:r>
          </a:p>
          <a:p>
            <a:pPr>
              <a:spcBef>
                <a:spcPts val="400"/>
              </a:spcBef>
            </a:pPr>
            <a:r>
              <a:t>• 5.   LPV-LFR structure</a:t>
            </a:r>
          </a:p>
          <a:p>
            <a:pPr>
              <a:spcBef>
                <a:spcPts val="400"/>
              </a:spcBef>
            </a:pPr>
            <a:r>
              <a:t>• 6.   Open items &amp; what we need from ASMPT</a:t>
            </a:r>
          </a:p>
          <a:p>
            <a:pPr>
              <a:spcBef>
                <a:spcPts val="400"/>
              </a:spcBef>
            </a:pPr>
            <a:r>
              <a:t>• 7.  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7D00"/>
                </a:solidFill>
              </a:rPr>
              <a:t>Goal: augment the gantry FP model with data-driven corrections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Physics Baseline (known)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ASMPT dual-gantry FP model (García-Herreros et al.)</a:t>
            </a:r>
          </a:p>
          <a:p>
            <a:pPr>
              <a:spcBef>
                <a:spcPts val="400"/>
              </a:spcBef>
            </a:pPr>
            <a:r>
              <a:t>• Euler-Lagrange formulation</a:t>
            </a:r>
          </a:p>
          <a:p>
            <a:pPr>
              <a:spcBef>
                <a:spcPts val="400"/>
              </a:spcBef>
            </a:pPr>
            <a:r>
              <a:t>• 3 DOF: X1, X2, Y axes</a:t>
            </a:r>
          </a:p>
          <a:p>
            <a:pPr>
              <a:spcBef>
                <a:spcPts val="400"/>
              </a:spcBef>
            </a:pPr>
            <a:r>
              <a:t>• CT ODE: M(Y)·ẍ + C·ẋ + K·x = P·u</a:t>
            </a:r>
          </a:p>
          <a:p>
            <a:pPr>
              <a:spcBef>
                <a:spcPts val="400"/>
              </a:spcBef>
            </a:pPr>
            <a:r>
              <a:t>• Y-dependent inertia → quasi-LPV</a:t>
            </a:r>
          </a:p>
          <a:p>
            <a:pPr>
              <a:spcBef>
                <a:spcPts val="400"/>
              </a:spcBef>
            </a:pPr>
            <a:r>
              <a:t>• Linearisation gap: Coriolis + Coulomb friction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53949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4447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Augmentation Framework (learned)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56232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LFR-based model augmentation (Hoekstra EJC 2025)</a:t>
            </a:r>
          </a:p>
          <a:p>
            <a:pPr>
              <a:spcBef>
                <a:spcPts val="400"/>
              </a:spcBef>
            </a:pPr>
            <a:r>
              <a:t>• Baseline + data-driven correction</a:t>
            </a:r>
          </a:p>
          <a:p>
            <a:pPr>
              <a:spcBef>
                <a:spcPts val="400"/>
              </a:spcBef>
            </a:pPr>
            <a:r>
              <a:t>• Interconnection matrix S couples physics + network</a:t>
            </a:r>
          </a:p>
          <a:p>
            <a:pPr>
              <a:spcBef>
                <a:spcPts val="400"/>
              </a:spcBef>
            </a:pPr>
            <a:r>
              <a:t>• Training on experimental gantry data</a:t>
            </a:r>
          </a:p>
          <a:p>
            <a:pPr>
              <a:spcBef>
                <a:spcPts val="400"/>
              </a:spcBef>
            </a:pPr>
            <a:r>
              <a:t>• Target: learn Coriolis + Coulomb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1 — Frozen LTI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7D00"/>
                </a:solidFill>
              </a:rPr>
              <a:t>Python translation of MATLAB FP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137160"/>
            <a:ext cx="1188720" cy="2926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1645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3385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56232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Y fixed at operating point Y = 0.3 m (linearisation point from main.m)</a:t>
            </a:r>
          </a:p>
          <a:p>
            <a:pPr>
              <a:spcBef>
                <a:spcPts val="400"/>
              </a:spcBef>
            </a:pPr>
            <a:r>
              <a:t>• ZOH discretisation at fs = 16 kHz  →  A, B, C, D matrices</a:t>
            </a:r>
          </a:p>
          <a:p>
            <a:pPr>
              <a:spcBef>
                <a:spcPts val="400"/>
              </a:spcBef>
            </a:pPr>
            <a:r>
              <a:t>• Stage coordinate transform via P matrix applied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0440"/>
            <a:ext cx="113385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478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Validation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59352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Python A, B, C, D match MATLAB to &lt; 1×10⁻¹⁰  (actual: ~1×10⁻¹⁹)  ✓</a:t>
            </a:r>
          </a:p>
          <a:p>
            <a:pPr>
              <a:spcBef>
                <a:spcPts val="400"/>
              </a:spcBef>
            </a:pPr>
            <a:r>
              <a:t>• Open-loop simulation vs Simscape (nonlinear ground truth):</a:t>
            </a:r>
          </a:p>
          <a:p>
            <a:pPr lvl="1"/>
            <a:r>
              <a:t>    ◦ X1 residual: 4.86 µm RMS  —  X2: 3.19 µm  —  Y: 0.10 µm</a:t>
            </a:r>
          </a:p>
          <a:p>
            <a:pPr lvl="1"/>
            <a:r>
              <a:t>    ◦ Bounded linearisation gap, dominant dynamics captured</a:t>
            </a:r>
          </a:p>
          <a:p>
            <a:pPr>
              <a:spcBef>
                <a:spcPts val="400"/>
              </a:spcBef>
            </a:pPr>
            <a:r>
              <a:t>• Linearisation gap (Coriolis + Coulomb) = augmentation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2 — LPV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7D00"/>
                </a:solidFill>
              </a:rPr>
              <a:t>Y-dependent inertia M(Y) as scheduling 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137160"/>
            <a:ext cx="1188720" cy="2926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1645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3385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Method: Frozen-at-sampling-instant ZOH  (Tóth 2010)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56232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At each sample k: evaluate A(Y_k), B(Y_k) via ZOH from CT model</a:t>
            </a:r>
          </a:p>
          <a:p>
            <a:pPr>
              <a:spcBef>
                <a:spcPts val="400"/>
              </a:spcBef>
            </a:pPr>
            <a:r>
              <a:t>• Justified at 16 kHz: ΔY ≤ 0.125 mm/sample  →  220:1 timescale separation</a:t>
            </a:r>
          </a:p>
          <a:p>
            <a:pPr>
              <a:spcBef>
                <a:spcPts val="400"/>
              </a:spcBef>
            </a:pPr>
            <a:r>
              <a:t>• Matrix exponential used: torch.linalg.matrix_exp  (differentiable, exact)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13385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935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Validation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05072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DT-LPV (Python) vs CT reference q1 (MATLAB ode45):</a:t>
            </a:r>
          </a:p>
          <a:p>
            <a:pPr lvl="1"/>
            <a:r>
              <a:t>    ◦ BFR:  X1 = 99.99%    X2 = 99.98%    Y = 100.00%</a:t>
            </a:r>
          </a:p>
          <a:p>
            <a:pPr lvl="1"/>
            <a:r>
              <a:t>    ◦ Sub-nanometre residual — ZOH discretisation confirmed correct</a:t>
            </a:r>
          </a:p>
          <a:p>
            <a:pPr>
              <a:spcBef>
                <a:spcPts val="400"/>
              </a:spcBef>
            </a:pPr>
            <a:r>
              <a:t>• What this proves: Python physics matches MATLAB to numerical precision</a:t>
            </a:r>
          </a:p>
          <a:p>
            <a:pPr>
              <a:spcBef>
                <a:spcPts val="400"/>
              </a:spcBef>
            </a:pPr>
            <a:r>
              <a:t>• Next: compare DT-LPV vs Simscape  →  defines augmentation target (Coriolis + Coulomb)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3 — Discretisation Approach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7D00"/>
                </a:solidFill>
              </a:rPr>
              <a:t>ZOH (Steps 1–2) → CT + RK4 (training loop)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Original Plan: Tóth (2010) ZOH for LPV-DT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Tóth (2010): 'Parameter-Varying Systems'</a:t>
            </a:r>
          </a:p>
          <a:p>
            <a:pPr>
              <a:spcBef>
                <a:spcPts val="400"/>
              </a:spcBef>
            </a:pPr>
            <a:r>
              <a:t>• Frozen-at-sampling-instant ZOH</a:t>
            </a:r>
          </a:p>
          <a:p>
            <a:pPr>
              <a:spcBef>
                <a:spcPts val="400"/>
              </a:spcBef>
            </a:pPr>
            <a:r>
              <a:t>• Gives exact DT LPV matrices A(Y_k), B(Y_k)</a:t>
            </a:r>
          </a:p>
          <a:p>
            <a:pPr>
              <a:spcBef>
                <a:spcPts val="400"/>
              </a:spcBef>
            </a:pPr>
            <a:r>
              <a:t>• Used and validated in Steps 1–2  ✓</a:t>
            </a:r>
          </a:p>
          <a:p>
            <a:pPr>
              <a:spcBef>
                <a:spcPts val="400"/>
              </a:spcBef>
            </a:pPr>
            <a:r>
              <a:t>• Pre-discretise before training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7D0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17320"/>
            <a:ext cx="53949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447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Supervisor Decision: Keep CT, Use RK4  (2026-03-20)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56232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Keep model in continuous time</a:t>
            </a:r>
          </a:p>
          <a:p>
            <a:pPr>
              <a:spcBef>
                <a:spcPts val="400"/>
              </a:spcBef>
            </a:pPr>
            <a:r>
              <a:t>• RK4 with fixed step inside training loop</a:t>
            </a:r>
          </a:p>
          <a:p>
            <a:pPr>
              <a:spcBef>
                <a:spcPts val="400"/>
              </a:spcBef>
            </a:pPr>
            <a:r>
              <a:t>• ZOH held for validation (Steps 1–2) only</a:t>
            </a:r>
          </a:p>
          <a:p>
            <a:pPr>
              <a:spcBef>
                <a:spcPts val="400"/>
              </a:spcBef>
            </a:pPr>
            <a:r>
              <a:t>• No pre-discretisation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1133856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593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CT + RK4 is preferred for the training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70832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Steps 1–2 validated the physics with ZOH — that goal is achieved. No need to keep ZOH.</a:t>
            </a:r>
          </a:p>
          <a:p>
            <a:pPr>
              <a:spcBef>
                <a:spcPts val="400"/>
              </a:spcBef>
            </a:pPr>
            <a:r>
              <a:t>• Pre-discretising with frozen ZOH before the LFR is constructed gets messy: scheduling enters via Δ(p), not via A(p) matrices in the training graph.</a:t>
            </a:r>
          </a:p>
          <a:p>
            <a:pPr>
              <a:spcBef>
                <a:spcPts val="400"/>
              </a:spcBef>
            </a:pPr>
            <a:r>
              <a:t>• RK4 integrates the CT ODE directly at each time step — clean, no approximation error.</a:t>
            </a:r>
          </a:p>
          <a:p>
            <a:pPr>
              <a:spcBef>
                <a:spcPts val="400"/>
              </a:spcBef>
            </a:pPr>
            <a:r>
              <a:t>• CT model keeps all physics intact; ZOH (zero-order hold on input) still assumed within each RK4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LPV-LFR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7D00"/>
                </a:solidFill>
              </a:rPr>
              <a:t>Linear Fractional Representation for LPV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3385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LFR Definition  (Drenth 2025, Hoekstra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LFR = pair  { G_b, Δ(p) }   where G_b is constant,  Δ(p) = diag(p·I_η)  is scheduling</a:t>
            </a:r>
          </a:p>
          <a:p>
            <a:pPr>
              <a:spcBef>
                <a:spcPts val="400"/>
              </a:spcBef>
            </a:pPr>
            <a:r>
              <a:t>• Scheduling variable p = Y  (gantry Y-position) — directly measured state</a:t>
            </a:r>
          </a:p>
          <a:p>
            <a:pPr>
              <a:spcBef>
                <a:spcPts val="400"/>
              </a:spcBef>
            </a:pPr>
            <a:r>
              <a:t>• Well-posedness: det(I − D_zw · Δ(p)) ≠ 0  for all p  →  enforced by D_zw = exp(−N), N &gt;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53949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Baseline LFR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Physics ODE:  M(Y)·ẍ + C·ẋ + K·x = P·u</a:t>
            </a:r>
          </a:p>
          <a:p>
            <a:pPr>
              <a:spcBef>
                <a:spcPts val="400"/>
              </a:spcBef>
            </a:pPr>
            <a:r>
              <a:t>• A_c(Y) has rational Y-entries  (via M(Y)⁻¹)</a:t>
            </a:r>
          </a:p>
          <a:p>
            <a:pPr>
              <a:spcBef>
                <a:spcPts val="400"/>
              </a:spcBef>
            </a:pPr>
            <a:r>
              <a:t>• LFT realization pulls Y-dependence into Δ(Y)</a:t>
            </a:r>
          </a:p>
          <a:p>
            <a:pPr>
              <a:spcBef>
                <a:spcPts val="400"/>
              </a:spcBef>
            </a:pPr>
            <a:r>
              <a:t>• Open: Zhou, Doyle &amp; Glover (1996) Ch.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37560"/>
            <a:ext cx="53949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3649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Augmentation LFR (learned)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490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Neural network correction Δf(x, u)</a:t>
            </a:r>
          </a:p>
          <a:p>
            <a:pPr>
              <a:spcBef>
                <a:spcPts val="400"/>
              </a:spcBef>
            </a:pPr>
            <a:r>
              <a:t>• Wired via interconnection matrix S</a:t>
            </a:r>
          </a:p>
          <a:p>
            <a:pPr>
              <a:spcBef>
                <a:spcPts val="400"/>
              </a:spcBef>
            </a:pPr>
            <a:r>
              <a:t>• Learns Coriolis + Coulomb gap from data</a:t>
            </a:r>
          </a:p>
          <a:p>
            <a:pPr>
              <a:spcBef>
                <a:spcPts val="400"/>
              </a:spcBef>
            </a:pPr>
            <a:r>
              <a:t>• Ref: Hoekstra EJC Fig. 1 — block diagram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113385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509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M(Y) Invertibility  (required for LFR realization)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Proved analytically: M(Y) is positive definite for ALL Y ∈ ℝ  (Sylvester's criterion)</a:t>
            </a:r>
          </a:p>
          <a:p>
            <a:pPr lvl="1"/>
            <a:r>
              <a:t>    ◦ Leading minors: D₁ = 53.8  |  D₂ = 441Y²−3.66Y+210  |  D₃ = 4458Y²−37Y+2063</a:t>
            </a:r>
          </a:p>
          <a:p>
            <a:pPr lvl="1"/>
            <a:r>
              <a:t>    ◦ All discriminants negative  →  no real roots  →  M(Y) invertible everywhere 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Items &amp; What We Need from ASMPT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347472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 Technical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56232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Baseline LFR realization</a:t>
            </a:r>
          </a:p>
          <a:p>
            <a:pPr lvl="1"/>
            <a:r>
              <a:t>    ◦ Converting rational M(Y)⁻¹ physics to LFR form</a:t>
            </a:r>
          </a:p>
          <a:p>
            <a:pPr lvl="1"/>
            <a:r>
              <a:t>    ◦ Ref: Zhou, Doyle &amp; Glover (1996) — being resolved</a:t>
            </a:r>
          </a:p>
          <a:p>
            <a:pPr>
              <a:spcBef>
                <a:spcPts val="400"/>
              </a:spcBef>
            </a:pPr>
            <a:r>
              <a:t>• Discretising LFRs</a:t>
            </a:r>
          </a:p>
          <a:p>
            <a:pPr lvl="1"/>
            <a:r>
              <a:t>    ◦ Interaction between RK4 step and Δ(p) block</a:t>
            </a:r>
          </a:p>
          <a:p>
            <a:pPr lvl="1"/>
            <a:r>
              <a:t>    ◦ Supervisor action item (2026-03-20): paper needed</a:t>
            </a:r>
          </a:p>
          <a:p>
            <a:pPr>
              <a:spcBef>
                <a:spcPts val="400"/>
              </a:spcBef>
            </a:pPr>
            <a:r>
              <a:t>• η choice: scheduling repetition count in Δ(Y)</a:t>
            </a:r>
          </a:p>
          <a:p>
            <a:pPr>
              <a:spcBef>
                <a:spcPts val="400"/>
              </a:spcBef>
            </a:pPr>
            <a:r>
              <a:t>• Sample rate: 16 kHz (measured) vs 20 kHz (spec)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394960" cy="347472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Needed from ASMPT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t>• Experimental measurement data</a:t>
            </a:r>
          </a:p>
          <a:p>
            <a:pPr lvl="1"/>
            <a:r>
              <a:t>    ◦ Signals: [X1, X2, Y] position + applied forces [F_X1, F_X2, F_Y]</a:t>
            </a:r>
          </a:p>
          <a:p>
            <a:pPr lvl="1"/>
            <a:r>
              <a:t>    ◦ Y must sweep operational range  (±350 mm)</a:t>
            </a:r>
          </a:p>
          <a:p>
            <a:pPr>
              <a:spcBef>
                <a:spcPts val="400"/>
              </a:spcBef>
            </a:pPr>
            <a:r>
              <a:t>• Excitation variety</a:t>
            </a:r>
          </a:p>
          <a:p>
            <a:pPr lvl="1"/>
            <a:r>
              <a:t>    ◦ Step responses, PRBS, sinusoidal — ideally multiple</a:t>
            </a:r>
          </a:p>
          <a:p>
            <a:pPr>
              <a:spcBef>
                <a:spcPts val="400"/>
              </a:spcBef>
            </a:pPr>
            <a:r>
              <a:t>• Closed-loop controller (optional)</a:t>
            </a:r>
          </a:p>
          <a:p>
            <a:pPr lvl="1"/>
            <a:r>
              <a:t>    ◦ Cfb matrix for full closed-loop simulation</a:t>
            </a:r>
          </a:p>
          <a:p>
            <a:pPr>
              <a:spcBef>
                <a:spcPts val="400"/>
              </a:spcBef>
            </a:pPr>
            <a:r>
              <a:t>• Confirmation: sample rate 16 kHz or 20 kHz?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Graduation Project — ASMPT Update    |    23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00584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45336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087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Frozen LTI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5087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Feb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41480" y="150876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1005840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112264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07568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LPV Extension &amp; ZOH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756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Mar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41480" y="207568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42616"/>
            <a:ext cx="1005840" cy="384048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679192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64261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CT + RK4 + LFR 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426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Mar–Apr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41480" y="264261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7D0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9544"/>
            <a:ext cx="1005840" cy="384048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246120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20954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Three Research Novelties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095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Apr–May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41480" y="320954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7D0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76472"/>
            <a:ext cx="1005840" cy="384048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813048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77647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April 9 Supervisor Meeting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7764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09 Apr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41480" y="3776472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7D0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43400"/>
            <a:ext cx="1005840" cy="384048"/>
          </a:xfrm>
          <a:prstGeom prst="rect">
            <a:avLst/>
          </a:prstGeom>
          <a:solidFill>
            <a:srgbClr val="0056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379976"/>
            <a:ext cx="9692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3434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ASMPT Data Integration &amp;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343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41480" y="434340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7D00"/>
                </a:solidFill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